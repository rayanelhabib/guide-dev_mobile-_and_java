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6858000" cx="12192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Poppins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Fira Code"/>
      <p:regular r:id="rId50"/>
      <p:bold r:id="rId51"/>
    </p:embeddedFont>
    <p:embeddedFont>
      <p:font typeface="Poppins SemiBold"/>
      <p:regular r:id="rId52"/>
      <p:bold r:id="rId53"/>
      <p:italic r:id="rId54"/>
      <p:boldItalic r:id="rId55"/>
    </p:embeddedFont>
    <p:embeddedFont>
      <p:font typeface="Fira Sans Extra Condensed"/>
      <p:regular r:id="rId56"/>
      <p:bold r:id="rId57"/>
      <p:italic r:id="rId58"/>
      <p:boldItalic r:id="rId59"/>
    </p:embeddedFont>
    <p:embeddedFont>
      <p:font typeface="DM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448C8D-84E7-45A1-AB39-C642B3BB0C68}">
  <a:tblStyle styleId="{3D448C8D-84E7-45A1-AB39-C642B3BB0C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Poppins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Lato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62" Type="http://schemas.openxmlformats.org/officeDocument/2006/relationships/font" Target="fonts/DMSans-italic.fntdata"/><Relationship Id="rId61" Type="http://schemas.openxmlformats.org/officeDocument/2006/relationships/font" Target="fonts/DMSans-bold.fntdata"/><Relationship Id="rId20" Type="http://schemas.openxmlformats.org/officeDocument/2006/relationships/slide" Target="slides/slide13.xml"/><Relationship Id="rId63" Type="http://schemas.openxmlformats.org/officeDocument/2006/relationships/font" Target="fonts/DMSans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DMSans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FiraCode-bold.fntdata"/><Relationship Id="rId50" Type="http://schemas.openxmlformats.org/officeDocument/2006/relationships/font" Target="fonts/FiraCode-regular.fntdata"/><Relationship Id="rId53" Type="http://schemas.openxmlformats.org/officeDocument/2006/relationships/font" Target="fonts/PoppinsSemiBold-bold.fntdata"/><Relationship Id="rId52" Type="http://schemas.openxmlformats.org/officeDocument/2006/relationships/font" Target="fonts/PoppinsSemiBold-regular.fntdata"/><Relationship Id="rId11" Type="http://schemas.openxmlformats.org/officeDocument/2006/relationships/slide" Target="slides/slide4.xml"/><Relationship Id="rId55" Type="http://schemas.openxmlformats.org/officeDocument/2006/relationships/font" Target="fonts/PoppinsSemiBold-boldItalic.fntdata"/><Relationship Id="rId10" Type="http://schemas.openxmlformats.org/officeDocument/2006/relationships/slide" Target="slides/slide3.xml"/><Relationship Id="rId54" Type="http://schemas.openxmlformats.org/officeDocument/2006/relationships/font" Target="fonts/PoppinsSemiBold-italic.fntdata"/><Relationship Id="rId13" Type="http://schemas.openxmlformats.org/officeDocument/2006/relationships/slide" Target="slides/slide6.xml"/><Relationship Id="rId57" Type="http://schemas.openxmlformats.org/officeDocument/2006/relationships/font" Target="fonts/FiraSansExtraCondensed-bold.fntdata"/><Relationship Id="rId12" Type="http://schemas.openxmlformats.org/officeDocument/2006/relationships/slide" Target="slides/slide5.xml"/><Relationship Id="rId56" Type="http://schemas.openxmlformats.org/officeDocument/2006/relationships/font" Target="fonts/FiraSansExtraCondensed-regular.fntdata"/><Relationship Id="rId15" Type="http://schemas.openxmlformats.org/officeDocument/2006/relationships/slide" Target="slides/slide8.xml"/><Relationship Id="rId59" Type="http://schemas.openxmlformats.org/officeDocument/2006/relationships/font" Target="fonts/FiraSansExtraCondensed-boldItalic.fntdata"/><Relationship Id="rId14" Type="http://schemas.openxmlformats.org/officeDocument/2006/relationships/slide" Target="slides/slide7.xml"/><Relationship Id="rId58" Type="http://schemas.openxmlformats.org/officeDocument/2006/relationships/font" Target="fonts/FiraSansExtraCondensed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056c9ed5_0_78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a056c9ed5_0_78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904d5ef1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904d5ef1c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9" name="Google Shape;89;p14"/>
          <p:cNvCxnSpPr/>
          <p:nvPr/>
        </p:nvCxnSpPr>
        <p:spPr>
          <a:xfrm rot="10800000">
            <a:off x="8386843" y="526410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4646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pplication Development Services | Web &amp; Mobile Apps" id="90" name="Google Shape;9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-1" y="-2309"/>
            <a:ext cx="12192000" cy="4803000"/>
          </a:xfrm>
          <a:prstGeom prst="rect">
            <a:avLst/>
          </a:prstGeom>
          <a:solidFill>
            <a:schemeClr val="dk1">
              <a:alpha val="470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-14933" y="-50433"/>
            <a:ext cx="12206700" cy="135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r>
              <a:t/>
            </a: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415600" y="22776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15600" y="14350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000"/>
              <a:buAutoNum type="alphaLcPeriod"/>
              <a:defRPr sz="2667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188236" y="4574539"/>
            <a:ext cx="9489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rgbClr val="4080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00" name="Google Shape;100;p16"/>
          <p:cNvCxnSpPr/>
          <p:nvPr/>
        </p:nvCxnSpPr>
        <p:spPr>
          <a:xfrm flipH="1" rot="10800000">
            <a:off x="194000" y="5381233"/>
            <a:ext cx="9483300" cy="27000"/>
          </a:xfrm>
          <a:prstGeom prst="straightConnector1">
            <a:avLst/>
          </a:prstGeom>
          <a:noFill/>
          <a:ln cap="flat" cmpd="sng" w="38100">
            <a:solidFill>
              <a:srgbClr val="408043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1" name="Google Shape;101;p16"/>
          <p:cNvSpPr/>
          <p:nvPr/>
        </p:nvSpPr>
        <p:spPr>
          <a:xfrm>
            <a:off x="0" y="373316"/>
            <a:ext cx="9829800" cy="914400"/>
          </a:xfrm>
          <a:prstGeom prst="rect">
            <a:avLst/>
          </a:prstGeom>
          <a:gradFill>
            <a:gsLst>
              <a:gs pos="0">
                <a:srgbClr val="224C23"/>
              </a:gs>
              <a:gs pos="50000">
                <a:srgbClr val="306F34"/>
              </a:gs>
              <a:gs pos="100000">
                <a:srgbClr val="3B843E"/>
              </a:gs>
            </a:gsLst>
            <a:lin ang="5400012" scaled="0"/>
          </a:gradFill>
          <a:ln cap="flat" cmpd="sng" w="25400">
            <a:solidFill>
              <a:srgbClr val="408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9067800" y="0"/>
            <a:ext cx="3142200" cy="2971800"/>
          </a:xfrm>
          <a:prstGeom prst="teardrop">
            <a:avLst>
              <a:gd fmla="val 100000" name="adj"/>
            </a:avLst>
          </a:prstGeom>
          <a:gradFill>
            <a:gsLst>
              <a:gs pos="0">
                <a:srgbClr val="224C23"/>
              </a:gs>
              <a:gs pos="50000">
                <a:srgbClr val="306F34"/>
              </a:gs>
              <a:gs pos="100000">
                <a:srgbClr val="3B843E"/>
              </a:gs>
            </a:gsLst>
            <a:lin ang="5400012" scaled="0"/>
          </a:gra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609600" y="1536633"/>
            <a:ext cx="10972800" cy="4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17"/>
          <p:cNvSpPr/>
          <p:nvPr/>
        </p:nvSpPr>
        <p:spPr>
          <a:xfrm>
            <a:off x="0" y="22967"/>
            <a:ext cx="12192000" cy="1043700"/>
          </a:xfrm>
          <a:prstGeom prst="rect">
            <a:avLst/>
          </a:prstGeom>
          <a:gradFill>
            <a:gsLst>
              <a:gs pos="0">
                <a:srgbClr val="408043"/>
              </a:gs>
              <a:gs pos="100000">
                <a:srgbClr val="408043"/>
              </a:gs>
            </a:gsLst>
            <a:lin ang="5400012" scaled="0"/>
          </a:gradFill>
          <a:ln cap="flat" cmpd="sng" w="25400">
            <a:solidFill>
              <a:srgbClr val="8097A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  <a:reflection blurRad="0" dir="5400000" dist="50800" endA="0" endPos="20000" fadeDir="5400012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457200" y="29728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ableau" type="tbl">
  <p:cSld name="TAB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1117602" y="342901"/>
            <a:ext cx="10809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415611" y="1342391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69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415600" y="4128457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37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4" name="Google Shape;13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7"/>
          <p:cNvSpPr txBox="1"/>
          <p:nvPr>
            <p:ph idx="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7"/>
          <p:cNvSpPr txBox="1"/>
          <p:nvPr>
            <p:ph type="title"/>
          </p:nvPr>
        </p:nvSpPr>
        <p:spPr>
          <a:xfrm>
            <a:off x="354000" y="2570681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56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38" name="Google Shape;138;p27"/>
          <p:cNvSpPr txBox="1"/>
          <p:nvPr>
            <p:ph idx="1" type="subTitle"/>
          </p:nvPr>
        </p:nvSpPr>
        <p:spPr>
          <a:xfrm>
            <a:off x="354000" y="4663881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39" name="Google Shape;139;p27"/>
          <p:cNvSpPr txBox="1"/>
          <p:nvPr>
            <p:ph idx="3" type="subTitle"/>
          </p:nvPr>
        </p:nvSpPr>
        <p:spPr>
          <a:xfrm>
            <a:off x="354000" y="752167"/>
            <a:ext cx="5393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FAFAF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ooter.png" id="140" name="Google Shape;1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idx="4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7"/>
          <p:cNvSpPr txBox="1"/>
          <p:nvPr/>
        </p:nvSpPr>
        <p:spPr>
          <a:xfrm>
            <a:off x="3175567" y="6348500"/>
            <a:ext cx="2877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33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7592967" y="6168500"/>
            <a:ext cx="28779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i="1" lang="en-U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-US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i="1"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9433" y="6369818"/>
            <a:ext cx="1210800" cy="423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5876300" y="6337200"/>
            <a:ext cx="17169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33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Database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09600" y="1536633"/>
            <a:ext cx="10972800" cy="4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42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Relationship Id="rId6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0" y="5383864"/>
            <a:ext cx="876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</a:rPr>
              <a:t>Cours de Développement Mobile</a:t>
            </a:r>
            <a:endParaRPr b="1" sz="2400">
              <a:solidFill>
                <a:srgbClr val="002060"/>
              </a:solidFill>
            </a:endParaRPr>
          </a:p>
        </p:txBody>
      </p:sp>
      <p:sp>
        <p:nvSpPr>
          <p:cNvPr id="151" name="Google Shape;151;p2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AMINA ABOULMIRA</a:t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87086" y="5988567"/>
            <a:ext cx="5486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 fontScale="47500"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4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Firebase Realtime Database</a:t>
            </a:r>
            <a:endParaRPr i="0" sz="1850" u="none" cap="none" strike="noStrike">
              <a:solidFill>
                <a:srgbClr val="0596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8511419" y="5195259"/>
            <a:ext cx="32004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AMINA ABOULMIRA</a:t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8903305" y="4119015"/>
            <a:ext cx="2819400" cy="99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sx="103000" rotWithShape="0" algn="tl" dir="27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9735" y="4219282"/>
            <a:ext cx="2226539" cy="792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19337"/>
            <a:ext cx="538162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319337"/>
            <a:ext cx="53816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QU'EST-CE QUE FIREBASE RTDB ?</a:t>
            </a:r>
            <a:endParaRPr/>
          </a:p>
        </p:txBody>
      </p:sp>
      <p:sp>
        <p:nvSpPr>
          <p:cNvPr id="164" name="Google Shape;164;p29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952500" y="3462337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Base NoSQL</a:t>
            </a:r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952500" y="4110037"/>
            <a:ext cx="4619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Les données sont stockées sous forme de JSON et synchronisées en temps réel avec tous les clients connectés.</a:t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6619875" y="3462337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Temps Réel</a:t>
            </a:r>
            <a:endParaRPr/>
          </a:p>
        </p:txBody>
      </p:sp>
      <p:sp>
        <p:nvSpPr>
          <p:cNvPr id="168" name="Google Shape;168;p29"/>
          <p:cNvSpPr txBox="1"/>
          <p:nvPr/>
        </p:nvSpPr>
        <p:spPr>
          <a:xfrm>
            <a:off x="6619875" y="4110037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Chaque modification est propagée instantanément (en quelques millisecondes) sans rafraîchir la page.</a:t>
            </a:r>
            <a:endParaRPr/>
          </a:p>
        </p:txBody>
      </p:sp>
      <p:pic>
        <p:nvPicPr>
          <p:cNvPr descr="image.png" id="169" name="Google Shape;1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7479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2747962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COMPRENDRE LA LATENCE</a:t>
            </a: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571500" y="3214687"/>
            <a:ext cx="5010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100ms</a:t>
            </a:r>
            <a:endParaRPr sz="1200"/>
          </a:p>
        </p:txBody>
      </p:sp>
      <p:sp>
        <p:nvSpPr>
          <p:cNvPr id="179" name="Google Shape;179;p30"/>
          <p:cNvSpPr txBox="1"/>
          <p:nvPr/>
        </p:nvSpPr>
        <p:spPr>
          <a:xfrm>
            <a:off x="6153150" y="2724150"/>
            <a:ext cx="57407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C'est quoi la Latence ?</a:t>
            </a:r>
            <a:endParaRPr/>
          </a:p>
        </p:txBody>
      </p:sp>
      <p:sp>
        <p:nvSpPr>
          <p:cNvPr id="180" name="Google Shape;180;p30"/>
          <p:cNvSpPr txBox="1"/>
          <p:nvPr/>
        </p:nvSpPr>
        <p:spPr>
          <a:xfrm>
            <a:off x="6153150" y="3371850"/>
            <a:ext cx="54673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La latence est le délai nécessaire pour qu'une donnée voyage de votre application vers le serveur Firebase et revienne vers l'utilisateur.</a:t>
            </a:r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6153150" y="4457700"/>
            <a:ext cx="54673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Impact 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Une latence élevée nuit à l'expérience utilisateur, surtout pour les applications de chat ou de jeux.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de Synchronisation</a:t>
            </a:r>
            <a:endParaRPr/>
          </a:p>
        </p:txBody>
      </p:sp>
      <p:sp>
        <p:nvSpPr>
          <p:cNvPr id="188" name="Google Shape;188;p31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571500" y="569118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Firebase maintient une latence inférieure à 200ms pour plus de 95% des transactions réseau.</a:t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571500" y="186213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Latence de propagation mondiale (ms)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0716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FACTEURS DE LATENCE</a:t>
            </a:r>
            <a:endParaRPr/>
          </a:p>
        </p:txBody>
      </p:sp>
      <p:sp>
        <p:nvSpPr>
          <p:cNvPr id="198" name="Google Shape;198;p32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16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2"/>
          <p:cNvSpPr txBox="1"/>
          <p:nvPr/>
        </p:nvSpPr>
        <p:spPr>
          <a:xfrm>
            <a:off x="1000125" y="2224087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Connexion Réseau 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Type de réseau (4G/5G/Wi-Fi).</a:t>
            </a:r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1000125" y="2776537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Localisation 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Distance entre l'utilisateur et le centre de données Firebase.</a:t>
            </a:r>
            <a:endParaRPr/>
          </a:p>
        </p:txBody>
      </p:sp>
      <p:sp>
        <p:nvSpPr>
          <p:cNvPr id="202" name="Google Shape;202;p32"/>
          <p:cNvSpPr txBox="1"/>
          <p:nvPr/>
        </p:nvSpPr>
        <p:spPr>
          <a:xfrm>
            <a:off x="1000125" y="3643312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Taille des données 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Plus le JSON est lourd, plus le transfert est long.</a:t>
            </a:r>
            <a:endParaRPr/>
          </a:p>
        </p:txBody>
      </p:sp>
      <p:pic>
        <p:nvPicPr>
          <p:cNvPr descr="image.png" id="203" name="Google Shape;20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6695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19400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8617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CONFIGURATION : ÉTAPE 1</a:t>
            </a:r>
            <a:endParaRPr/>
          </a:p>
        </p:txBody>
      </p:sp>
      <p:sp>
        <p:nvSpPr>
          <p:cNvPr id="212" name="Google Shape;212;p33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71500" y="2395537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Firebase Console</a:t>
            </a:r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1000125" y="319563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Créer un nouveau projet sur </a:t>
            </a:r>
            <a:r>
              <a:rPr b="0" i="0" lang="en-US" sz="1650" u="none" cap="none" strike="noStrike">
                <a:solidFill>
                  <a:srgbClr val="0000EE"/>
                </a:solidFill>
                <a:latin typeface="Lato"/>
                <a:ea typeface="Lato"/>
                <a:cs typeface="Lato"/>
                <a:sym typeface="Lato"/>
              </a:rPr>
              <a:t>console.firebase.google.com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5" name="Google Shape;215;p33"/>
          <p:cNvSpPr txBox="1"/>
          <p:nvPr/>
        </p:nvSpPr>
        <p:spPr>
          <a:xfrm>
            <a:off x="1000125" y="374808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Ajouter une application Android (nom du package requis).</a:t>
            </a:r>
            <a:endParaRPr/>
          </a:p>
        </p:txBody>
      </p:sp>
      <p:sp>
        <p:nvSpPr>
          <p:cNvPr id="216" name="Google Shape;216;p33"/>
          <p:cNvSpPr txBox="1"/>
          <p:nvPr/>
        </p:nvSpPr>
        <p:spPr>
          <a:xfrm>
            <a:off x="1000125" y="430053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Enregistrer l'empreinte numérique SHA-1 (optionnel mais recommandé pour Auth).</a:t>
            </a:r>
            <a:endParaRPr/>
          </a:p>
        </p:txBody>
      </p:sp>
      <p:sp>
        <p:nvSpPr>
          <p:cNvPr id="217" name="Google Shape;217;p33"/>
          <p:cNvSpPr txBox="1"/>
          <p:nvPr/>
        </p:nvSpPr>
        <p:spPr>
          <a:xfrm>
            <a:off x="1000125" y="485298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Télécharger le fichier google-services.json.</a:t>
            </a:r>
            <a:endParaRPr/>
          </a:p>
        </p:txBody>
      </p:sp>
      <p:pic>
        <p:nvPicPr>
          <p:cNvPr descr="image.png" id="218" name="Google Shape;2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385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0950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434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9585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4"/>
          <p:cNvSpPr txBox="1"/>
          <p:nvPr/>
        </p:nvSpPr>
        <p:spPr>
          <a:xfrm>
            <a:off x="762000" y="2252662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FICHIER JSON</a:t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>
            <a:off x="571500" y="2252662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571500" y="325278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Déplacez le fichier google-services.json dans le répertoire </a:t>
            </a: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app/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 votre projet Android Studio.</a:t>
            </a:r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571500" y="4024312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Ce fichier contient les identifiants de configuration uniques liant votre code au backend Firebase.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CONFIGURATION GRADLE (PROJET)</a:t>
            </a:r>
            <a:endParaRPr/>
          </a:p>
        </p:txBody>
      </p:sp>
      <p:sp>
        <p:nvSpPr>
          <p:cNvPr id="238" name="Google Shape;238;p35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571500" y="2395537"/>
            <a:ext cx="11049000" cy="3162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35"/>
          <p:cNvGraphicFramePr/>
          <p:nvPr/>
        </p:nvGraphicFramePr>
        <p:xfrm>
          <a:off x="571500" y="2395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{3D448C8D-84E7-45A1-AB39-C642B3BB0C68}</a:tableStyleId>
              </a:tblPr>
              <a:tblGrid>
                <a:gridCol w="11049000"/>
              </a:tblGrid>
              <a:tr h="158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Fichier : build.gradle (Project)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</a:tr>
              <a:tr h="158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buildscript {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    dependencies {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        // Ajouter le plugin Google Services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        classpath 'com.google.gms:google-services:4.4.0'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    }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35"/>
          <p:cNvSpPr/>
          <p:nvPr/>
        </p:nvSpPr>
        <p:spPr>
          <a:xfrm>
            <a:off x="571500" y="55435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CONFIGURATION GRADLE (APP)</a:t>
            </a:r>
            <a:endParaRPr/>
          </a:p>
        </p:txBody>
      </p:sp>
      <p:sp>
        <p:nvSpPr>
          <p:cNvPr id="248" name="Google Shape;248;p36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6"/>
          <p:cNvSpPr/>
          <p:nvPr/>
        </p:nvSpPr>
        <p:spPr>
          <a:xfrm>
            <a:off x="571500" y="2395537"/>
            <a:ext cx="11049000" cy="3162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36"/>
          <p:cNvGraphicFramePr/>
          <p:nvPr/>
        </p:nvGraphicFramePr>
        <p:xfrm>
          <a:off x="571500" y="2395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{3D448C8D-84E7-45A1-AB39-C642B3BB0C68}</a:tableStyleId>
              </a:tblPr>
              <a:tblGrid>
                <a:gridCol w="11049000"/>
              </a:tblGrid>
              <a:tr h="158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Fichier : build.gradle (Module :app)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</a:tr>
              <a:tr h="158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plugins {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    id 'com.google.gms.google-services'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}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dependencies {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    implementation 'com.google.firebase:firebase-database:20.3.0'</a:t>
                      </a:r>
                      <a:b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36"/>
          <p:cNvSpPr/>
          <p:nvPr/>
        </p:nvSpPr>
        <p:spPr>
          <a:xfrm>
            <a:off x="571500" y="55435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INITIALISATION EN JAVA</a:t>
            </a:r>
            <a:endParaRPr/>
          </a:p>
        </p:txBody>
      </p:sp>
      <p:sp>
        <p:nvSpPr>
          <p:cNvPr id="258" name="Google Shape;258;p37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7"/>
          <p:cNvSpPr txBox="1"/>
          <p:nvPr/>
        </p:nvSpPr>
        <p:spPr>
          <a:xfrm>
            <a:off x="571500" y="3109912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Accéder à l'instance</a:t>
            </a:r>
            <a:endParaRPr/>
          </a:p>
        </p:txBody>
      </p:sp>
      <p:sp>
        <p:nvSpPr>
          <p:cNvPr id="260" name="Google Shape;260;p37"/>
          <p:cNvSpPr txBox="1"/>
          <p:nvPr/>
        </p:nvSpPr>
        <p:spPr>
          <a:xfrm>
            <a:off x="571500" y="3757612"/>
            <a:ext cx="5334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Pour interagir avec la base de données, vous devez récupérer une instance de FirebaseDatabase et obtenir une référence.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0716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STRUCTURE DES DONNÉES JSON</a:t>
            </a:r>
            <a:endParaRPr/>
          </a:p>
        </p:txBody>
      </p:sp>
      <p:sp>
        <p:nvSpPr>
          <p:cNvPr id="268" name="Google Shape;268;p38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571500" y="2071687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Arbre de données</a:t>
            </a:r>
            <a:endParaRPr/>
          </a:p>
        </p:txBody>
      </p:sp>
      <p:sp>
        <p:nvSpPr>
          <p:cNvPr id="270" name="Google Shape;270;p38"/>
          <p:cNvSpPr txBox="1"/>
          <p:nvPr/>
        </p:nvSpPr>
        <p:spPr>
          <a:xfrm>
            <a:off x="571500" y="2719387"/>
            <a:ext cx="533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Tout est un objet JSON. Évitez les structures profondes.</a:t>
            </a:r>
            <a:endParaRPr/>
          </a:p>
        </p:txBody>
      </p:sp>
      <p:pic>
        <p:nvPicPr>
          <p:cNvPr descr="image.png" id="271" name="Google Shape;27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16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/>
        </p:nvSpPr>
        <p:spPr>
          <a:xfrm>
            <a:off x="464950" y="3429000"/>
            <a:ext cx="52383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"messages":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"msg1": { "text": "Hello", "user": "Ali" },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"msg2": { "text": "Salut", "user": "Sara"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9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ÉCRIRE DES DONNÉES (DOC)</a:t>
            </a:r>
            <a:endParaRPr/>
          </a:p>
        </p:txBody>
      </p:sp>
      <p:sp>
        <p:nvSpPr>
          <p:cNvPr id="279" name="Google Shape;279;p39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6286500" y="3267075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Exemple Officiel</a:t>
            </a:r>
            <a:endParaRPr/>
          </a:p>
        </p:txBody>
      </p:sp>
      <p:sp>
        <p:nvSpPr>
          <p:cNvPr id="281" name="Google Shape;281;p39"/>
          <p:cNvSpPr txBox="1"/>
          <p:nvPr/>
        </p:nvSpPr>
        <p:spPr>
          <a:xfrm>
            <a:off x="6286500" y="3914775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Ce code simple remplace ou crée la valeur située au nœud "message".</a:t>
            </a:r>
            <a:endParaRPr/>
          </a:p>
        </p:txBody>
      </p:sp>
      <p:sp>
        <p:nvSpPr>
          <p:cNvPr id="282" name="Google Shape;282;p39"/>
          <p:cNvSpPr txBox="1"/>
          <p:nvPr/>
        </p:nvSpPr>
        <p:spPr>
          <a:xfrm>
            <a:off x="209225" y="2904225"/>
            <a:ext cx="59592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// Write a message to the database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FirebaseDatabase database = FirebaseDatabase.getInstance();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DatabaseReference myRef = database.getReference("message");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myRef.setValue("Hello, World!");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0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EXPLICATION DE L'ÉCRITURE</a:t>
            </a:r>
            <a:endParaRPr/>
          </a:p>
        </p:txBody>
      </p:sp>
      <p:sp>
        <p:nvSpPr>
          <p:cNvPr id="289" name="Google Shape;289;p40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0"/>
          <p:cNvSpPr txBox="1"/>
          <p:nvPr/>
        </p:nvSpPr>
        <p:spPr>
          <a:xfrm>
            <a:off x="1000125" y="314801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getInstance() : Point d'entrée de l'API Firebase.</a:t>
            </a:r>
            <a:endParaRPr/>
          </a:p>
        </p:txBody>
      </p:sp>
      <p:sp>
        <p:nvSpPr>
          <p:cNvPr id="291" name="Google Shape;291;p40"/>
          <p:cNvSpPr txBox="1"/>
          <p:nvPr/>
        </p:nvSpPr>
        <p:spPr>
          <a:xfrm>
            <a:off x="1000125" y="370046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getReference("message") : Pointeur vers le nœud spécifique dans votre arbre JSON.</a:t>
            </a:r>
            <a:endParaRPr/>
          </a:p>
        </p:txBody>
      </p:sp>
      <p:sp>
        <p:nvSpPr>
          <p:cNvPr id="292" name="Google Shape;292;p40"/>
          <p:cNvSpPr txBox="1"/>
          <p:nvPr/>
        </p:nvSpPr>
        <p:spPr>
          <a:xfrm>
            <a:off x="1000125" y="425291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setValue() : Remplace les données à l'emplacement spécifié, y compris les nœuds enfants.</a:t>
            </a:r>
            <a:endParaRPr/>
          </a:p>
        </p:txBody>
      </p:sp>
      <p:pic>
        <p:nvPicPr>
          <p:cNvPr descr="image.png" id="293" name="Google Shape;29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9087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332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9577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1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LIRE DES DONNÉES (DOC)</a:t>
            </a:r>
            <a:endParaRPr/>
          </a:p>
        </p:txBody>
      </p:sp>
      <p:sp>
        <p:nvSpPr>
          <p:cNvPr id="302" name="Google Shape;302;p41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1"/>
          <p:cNvSpPr txBox="1"/>
          <p:nvPr/>
        </p:nvSpPr>
        <p:spPr>
          <a:xfrm>
            <a:off x="571500" y="2089950"/>
            <a:ext cx="7935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// Read from the database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myRef.addValueEventListener(new ValueEventListener()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@Override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public void onDataChange(DataSnapshot dataSnapshot)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    String value = dataSnapshot.getValue(String.class);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    Log.d(TAG, "Value is: " + value);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@Override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public void onCancelled(DatabaseError error)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    Log.w(TAG, "Failed to read value.", error.toException());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});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2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EXPLICATION DE LA LECTURE</a:t>
            </a:r>
            <a:endParaRPr/>
          </a:p>
        </p:txBody>
      </p:sp>
      <p:sp>
        <p:nvSpPr>
          <p:cNvPr id="310" name="Google Shape;310;p42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1000125" y="314801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onDataChange : Déclenché immédiatement et à chaque modification de la donnée.</a:t>
            </a:r>
            <a:endParaRPr/>
          </a:p>
        </p:txBody>
      </p:sp>
      <p:sp>
        <p:nvSpPr>
          <p:cNvPr id="312" name="Google Shape;312;p42"/>
          <p:cNvSpPr txBox="1"/>
          <p:nvPr/>
        </p:nvSpPr>
        <p:spPr>
          <a:xfrm>
            <a:off x="1000125" y="370046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DataSnapshot : Contient les données au moment de l'événement.</a:t>
            </a:r>
            <a:endParaRPr/>
          </a:p>
        </p:txBody>
      </p:sp>
      <p:sp>
        <p:nvSpPr>
          <p:cNvPr id="313" name="Google Shape;313;p42"/>
          <p:cNvSpPr txBox="1"/>
          <p:nvPr/>
        </p:nvSpPr>
        <p:spPr>
          <a:xfrm>
            <a:off x="1000125" y="425291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onCancelled : Déclenché si l'utilisateur n'a pas les droits de lecture (Règles de sécurité).</a:t>
            </a:r>
            <a:endParaRPr/>
          </a:p>
        </p:txBody>
      </p:sp>
      <p:pic>
        <p:nvPicPr>
          <p:cNvPr descr="image.png" id="314" name="Google Shape;3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908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3325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9577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3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CRUD : CREATE (SETVALUE)</a:t>
            </a:r>
            <a:endParaRPr/>
          </a:p>
        </p:txBody>
      </p:sp>
      <p:sp>
        <p:nvSpPr>
          <p:cNvPr id="323" name="Google Shape;323;p43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3"/>
          <p:cNvSpPr txBox="1"/>
          <p:nvPr/>
        </p:nvSpPr>
        <p:spPr>
          <a:xfrm>
            <a:off x="571500" y="3267075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Utilisation d'objets Java</a:t>
            </a:r>
            <a:endParaRPr/>
          </a:p>
        </p:txBody>
      </p:sp>
      <p:sp>
        <p:nvSpPr>
          <p:cNvPr id="325" name="Google Shape;325;p43"/>
          <p:cNvSpPr txBox="1"/>
          <p:nvPr/>
        </p:nvSpPr>
        <p:spPr>
          <a:xfrm>
            <a:off x="571500" y="3914775"/>
            <a:ext cx="5334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Firebase peut convertir automatiquement des objets en JSON.</a:t>
            </a:r>
            <a:endParaRPr/>
          </a:p>
        </p:txBody>
      </p:sp>
      <p:sp>
        <p:nvSpPr>
          <p:cNvPr id="326" name="Google Shape;326;p43"/>
          <p:cNvSpPr txBox="1"/>
          <p:nvPr/>
        </p:nvSpPr>
        <p:spPr>
          <a:xfrm>
            <a:off x="6346550" y="3429000"/>
            <a:ext cx="509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User user = new User("John", "john@mail.com");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myRef.child("user1").setValue(user);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CRUD : CREATE (PUSH)</a:t>
            </a:r>
            <a:endParaRPr/>
          </a:p>
        </p:txBody>
      </p:sp>
      <p:sp>
        <p:nvSpPr>
          <p:cNvPr id="333" name="Google Shape;333;p44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4"/>
          <p:cNvSpPr txBox="1"/>
          <p:nvPr/>
        </p:nvSpPr>
        <p:spPr>
          <a:xfrm>
            <a:off x="571500" y="3214687"/>
            <a:ext cx="1562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ID</a:t>
            </a:r>
            <a:endParaRPr/>
          </a:p>
        </p:txBody>
      </p:sp>
      <p:sp>
        <p:nvSpPr>
          <p:cNvPr id="335" name="Google Shape;335;p44"/>
          <p:cNvSpPr txBox="1"/>
          <p:nvPr/>
        </p:nvSpPr>
        <p:spPr>
          <a:xfrm>
            <a:off x="2705100" y="2895600"/>
            <a:ext cx="93611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Générer des listes</a:t>
            </a:r>
            <a:endParaRPr/>
          </a:p>
        </p:txBody>
      </p:sp>
      <p:sp>
        <p:nvSpPr>
          <p:cNvPr id="336" name="Google Shape;336;p44"/>
          <p:cNvSpPr txBox="1"/>
          <p:nvPr/>
        </p:nvSpPr>
        <p:spPr>
          <a:xfrm>
            <a:off x="2705100" y="3543300"/>
            <a:ext cx="8915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La méthode push() génère un identifiant unique basé sur le timestamp.</a:t>
            </a:r>
            <a:endParaRPr/>
          </a:p>
        </p:txBody>
      </p:sp>
      <p:sp>
        <p:nvSpPr>
          <p:cNvPr id="337" name="Google Shape;337;p44"/>
          <p:cNvSpPr txBox="1"/>
          <p:nvPr/>
        </p:nvSpPr>
        <p:spPr>
          <a:xfrm>
            <a:off x="2836200" y="4207775"/>
            <a:ext cx="628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String id = myRef.push().getKey();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myRef.child(id).setValue(data);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5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CRUD : READ (GET)</a:t>
            </a:r>
            <a:endParaRPr/>
          </a:p>
        </p:txBody>
      </p:sp>
      <p:sp>
        <p:nvSpPr>
          <p:cNvPr id="344" name="Google Shape;344;p45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5"/>
          <p:cNvSpPr txBox="1"/>
          <p:nvPr/>
        </p:nvSpPr>
        <p:spPr>
          <a:xfrm>
            <a:off x="571500" y="3033712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Lecture unique (Snapshot)</a:t>
            </a:r>
            <a:endParaRPr/>
          </a:p>
        </p:txBody>
      </p:sp>
      <p:sp>
        <p:nvSpPr>
          <p:cNvPr id="346" name="Google Shape;346;p45"/>
          <p:cNvSpPr txBox="1"/>
          <p:nvPr/>
        </p:nvSpPr>
        <p:spPr>
          <a:xfrm>
            <a:off x="571500" y="3681412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Utilisez get() pour récupérer les données une seule fois sans écoute continue.</a:t>
            </a:r>
            <a:endParaRPr/>
          </a:p>
        </p:txBody>
      </p:sp>
      <p:sp>
        <p:nvSpPr>
          <p:cNvPr id="347" name="Google Shape;347;p45"/>
          <p:cNvSpPr txBox="1"/>
          <p:nvPr/>
        </p:nvSpPr>
        <p:spPr>
          <a:xfrm>
            <a:off x="6346550" y="2789700"/>
            <a:ext cx="56007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myRef.get().addOnCompleteListener(task -&gt;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if (task.isSuccessful())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    DataSnapshot snapshot = task.getResult();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});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6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CRUD : UPDATE</a:t>
            </a:r>
            <a:endParaRPr/>
          </a:p>
        </p:txBody>
      </p:sp>
      <p:sp>
        <p:nvSpPr>
          <p:cNvPr id="354" name="Google Shape;354;p46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6"/>
          <p:cNvSpPr txBox="1"/>
          <p:nvPr/>
        </p:nvSpPr>
        <p:spPr>
          <a:xfrm>
            <a:off x="571500" y="3033712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Mises à jour sélectives</a:t>
            </a:r>
            <a:endParaRPr/>
          </a:p>
        </p:txBody>
      </p:sp>
      <p:sp>
        <p:nvSpPr>
          <p:cNvPr id="356" name="Google Shape;356;p46"/>
          <p:cNvSpPr txBox="1"/>
          <p:nvPr/>
        </p:nvSpPr>
        <p:spPr>
          <a:xfrm>
            <a:off x="571500" y="3681412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updateChildren() permet de mettre à jour des nœuds spécifiques sans écraser tout l'objet.</a:t>
            </a:r>
            <a:endParaRPr/>
          </a:p>
        </p:txBody>
      </p:sp>
      <p:sp>
        <p:nvSpPr>
          <p:cNvPr id="357" name="Google Shape;357;p46"/>
          <p:cNvSpPr txBox="1"/>
          <p:nvPr/>
        </p:nvSpPr>
        <p:spPr>
          <a:xfrm>
            <a:off x="5788600" y="2817150"/>
            <a:ext cx="54942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Map&lt;String, Object&gt; updates = new HashMap&lt;&gt;();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updates.put("username", "NewName");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updates.put("email", "new@mail.com");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myRef.updateChildren(updates);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CRUD : DELETE</a:t>
            </a:r>
            <a:endParaRPr/>
          </a:p>
        </p:txBody>
      </p:sp>
      <p:sp>
        <p:nvSpPr>
          <p:cNvPr id="364" name="Google Shape;364;p47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1000125" y="270986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removeValue() 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Supprime complètement le nœud et ses enfants.</a:t>
            </a:r>
            <a:endParaRPr/>
          </a:p>
        </p:txBody>
      </p:sp>
      <p:sp>
        <p:nvSpPr>
          <p:cNvPr id="366" name="Google Shape;366;p47"/>
          <p:cNvSpPr txBox="1"/>
          <p:nvPr/>
        </p:nvSpPr>
        <p:spPr>
          <a:xfrm>
            <a:off x="1000125" y="326231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null 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Passer null à setValue() a le même effet qu'une suppression.</a:t>
            </a:r>
            <a:endParaRPr/>
          </a:p>
        </p:txBody>
      </p:sp>
      <p:pic>
        <p:nvPicPr>
          <p:cNvPr descr="image.png" id="367" name="Google Shape;36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527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5175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7"/>
          <p:cNvSpPr txBox="1"/>
          <p:nvPr/>
        </p:nvSpPr>
        <p:spPr>
          <a:xfrm>
            <a:off x="3835825" y="4184550"/>
            <a:ext cx="6191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myRef.child("user1").removeValue();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// OU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myRef.child("user1").setValue(null);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00337"/>
            <a:ext cx="53816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700337"/>
            <a:ext cx="538162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TYPE DE LISTENERS (1)</a:t>
            </a:r>
            <a:endParaRPr/>
          </a:p>
        </p:txBody>
      </p:sp>
      <p:sp>
        <p:nvSpPr>
          <p:cNvPr id="378" name="Google Shape;378;p48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8"/>
          <p:cNvSpPr txBox="1"/>
          <p:nvPr/>
        </p:nvSpPr>
        <p:spPr>
          <a:xfrm>
            <a:off x="952500" y="3081337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ValueEventListener</a:t>
            </a:r>
            <a:endParaRPr/>
          </a:p>
        </p:txBody>
      </p:sp>
      <p:sp>
        <p:nvSpPr>
          <p:cNvPr id="380" name="Google Shape;380;p48"/>
          <p:cNvSpPr txBox="1"/>
          <p:nvPr/>
        </p:nvSpPr>
        <p:spPr>
          <a:xfrm>
            <a:off x="952500" y="3729037"/>
            <a:ext cx="4619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Écoute tout changement sur un nœud entier. Idéal pour des paramètres ou un profil utilisateur unique.</a:t>
            </a:r>
            <a:endParaRPr/>
          </a:p>
        </p:txBody>
      </p:sp>
      <p:sp>
        <p:nvSpPr>
          <p:cNvPr id="381" name="Google Shape;381;p48"/>
          <p:cNvSpPr txBox="1"/>
          <p:nvPr/>
        </p:nvSpPr>
        <p:spPr>
          <a:xfrm>
            <a:off x="6619875" y="3081337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ChildEventListener</a:t>
            </a:r>
            <a:endParaRPr/>
          </a:p>
        </p:txBody>
      </p:sp>
      <p:sp>
        <p:nvSpPr>
          <p:cNvPr id="382" name="Google Shape;382;p48"/>
          <p:cNvSpPr txBox="1"/>
          <p:nvPr/>
        </p:nvSpPr>
        <p:spPr>
          <a:xfrm>
            <a:off x="6619875" y="3729037"/>
            <a:ext cx="4619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Écoute les modifications sur les enfants (ajout, modification, suppression, déplacement). Idéal pour les listes (Chat, Feed).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9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CHILDEVENTLISTENER CODE</a:t>
            </a:r>
            <a:endParaRPr/>
          </a:p>
        </p:txBody>
      </p:sp>
      <p:sp>
        <p:nvSpPr>
          <p:cNvPr id="389" name="Google Shape;389;p49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9"/>
          <p:cNvSpPr txBox="1"/>
          <p:nvPr/>
        </p:nvSpPr>
        <p:spPr>
          <a:xfrm>
            <a:off x="1557600" y="2929175"/>
            <a:ext cx="86325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myRef.addChildEventListener(new ChildEventListener()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public void onChildAdded(DataSnapshot s, String prev) { /* Ajout */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public void onChildChanged(DataSnapshot s, String prev) { /* Modif */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public void onChildRemoved(DataSnapshot s) { /* Suppr */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public void onChildMoved(DataSnapshot s, String prev) {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public void onCancelled(DatabaseError e) {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});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76500"/>
            <a:ext cx="538162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476500"/>
            <a:ext cx="5381625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0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SÉCURITÉ &amp; PERSISTANCE</a:t>
            </a:r>
            <a:endParaRPr/>
          </a:p>
        </p:txBody>
      </p:sp>
      <p:sp>
        <p:nvSpPr>
          <p:cNvPr id="399" name="Google Shape;399;p50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0"/>
          <p:cNvSpPr txBox="1"/>
          <p:nvPr/>
        </p:nvSpPr>
        <p:spPr>
          <a:xfrm>
            <a:off x="952500" y="3619500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Sécurité</a:t>
            </a:r>
            <a:endParaRPr/>
          </a:p>
        </p:txBody>
      </p:sp>
      <p:sp>
        <p:nvSpPr>
          <p:cNvPr id="401" name="Google Shape;401;p50"/>
          <p:cNvSpPr txBox="1"/>
          <p:nvPr/>
        </p:nvSpPr>
        <p:spPr>
          <a:xfrm>
            <a:off x="952500" y="4267200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Définit qui peut lire ou écrire via des règles JSON sur la console Firebase.</a:t>
            </a:r>
            <a:endParaRPr/>
          </a:p>
        </p:txBody>
      </p:sp>
      <p:sp>
        <p:nvSpPr>
          <p:cNvPr id="402" name="Google Shape;402;p50"/>
          <p:cNvSpPr txBox="1"/>
          <p:nvPr/>
        </p:nvSpPr>
        <p:spPr>
          <a:xfrm>
            <a:off x="6619875" y="3619500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Persistance</a:t>
            </a:r>
            <a:endParaRPr/>
          </a:p>
        </p:txBody>
      </p:sp>
      <p:sp>
        <p:nvSpPr>
          <p:cNvPr id="403" name="Google Shape;403;p50"/>
          <p:cNvSpPr txBox="1"/>
          <p:nvPr/>
        </p:nvSpPr>
        <p:spPr>
          <a:xfrm>
            <a:off x="6619875" y="4267200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Permet à l'application de fonctionner même sans connexion internet.</a:t>
            </a:r>
            <a:endParaRPr/>
          </a:p>
        </p:txBody>
      </p:sp>
      <p:pic>
        <p:nvPicPr>
          <p:cNvPr descr="image.png" id="404" name="Google Shape;40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9051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2905125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1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ACTIVER LA PERSISTANCE</a:t>
            </a:r>
            <a:endParaRPr/>
          </a:p>
        </p:txBody>
      </p:sp>
      <p:sp>
        <p:nvSpPr>
          <p:cNvPr id="412" name="Google Shape;412;p51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1"/>
          <p:cNvSpPr txBox="1"/>
          <p:nvPr/>
        </p:nvSpPr>
        <p:spPr>
          <a:xfrm>
            <a:off x="571500" y="28765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Ajoutez ceci dans votre classe Application ou au début de votre MainActivity :</a:t>
            </a:r>
            <a:endParaRPr/>
          </a:p>
        </p:txBody>
      </p:sp>
      <p:sp>
        <p:nvSpPr>
          <p:cNvPr id="414" name="Google Shape;414;p51"/>
          <p:cNvSpPr txBox="1"/>
          <p:nvPr/>
        </p:nvSpPr>
        <p:spPr>
          <a:xfrm>
            <a:off x="571500" y="4305300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Firebase crée un cache local pour stocker les données lues. Les écritures hors-ligne sont mises en file d'attente et synchronisées dès que la connexion revient.</a:t>
            </a:r>
            <a:endParaRPr/>
          </a:p>
        </p:txBody>
      </p:sp>
      <p:sp>
        <p:nvSpPr>
          <p:cNvPr id="415" name="Google Shape;415;p51"/>
          <p:cNvSpPr txBox="1"/>
          <p:nvPr/>
        </p:nvSpPr>
        <p:spPr>
          <a:xfrm>
            <a:off x="1441350" y="3551888"/>
            <a:ext cx="6935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FirebaseDatabase.getInstance().setPersistenceEnabled(true);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0716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2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RÈGLES DE SÉCURITÉ</a:t>
            </a:r>
            <a:endParaRPr/>
          </a:p>
        </p:txBody>
      </p:sp>
      <p:sp>
        <p:nvSpPr>
          <p:cNvPr id="423" name="Google Shape;423;p52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2"/>
          <p:cNvSpPr txBox="1"/>
          <p:nvPr/>
        </p:nvSpPr>
        <p:spPr>
          <a:xfrm>
            <a:off x="571500" y="2071687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Structure des Règles</a:t>
            </a:r>
            <a:endParaRPr/>
          </a:p>
        </p:txBody>
      </p:sp>
      <p:sp>
        <p:nvSpPr>
          <p:cNvPr id="425" name="Google Shape;425;p52"/>
          <p:cNvSpPr txBox="1"/>
          <p:nvPr/>
        </p:nvSpPr>
        <p:spPr>
          <a:xfrm>
            <a:off x="571500" y="4662487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Ces règles interdisent l'accès aux utilisateurs non authentifiés.</a:t>
            </a:r>
            <a:endParaRPr/>
          </a:p>
        </p:txBody>
      </p:sp>
      <p:pic>
        <p:nvPicPr>
          <p:cNvPr descr="image.png" id="426" name="Google Shape;42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16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2"/>
          <p:cNvSpPr txBox="1"/>
          <p:nvPr/>
        </p:nvSpPr>
        <p:spPr>
          <a:xfrm>
            <a:off x="571500" y="2879875"/>
            <a:ext cx="5334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"rules": {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".read": "auth != null",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  ".write": "auth != null"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  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highlight>
                  <a:srgbClr val="F1F5F9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350">
              <a:solidFill>
                <a:srgbClr val="1E293B"/>
              </a:solidFill>
              <a:highlight>
                <a:srgbClr val="F1F5F9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 DE RÈGLES</a:t>
            </a:r>
            <a:endParaRPr/>
          </a:p>
        </p:txBody>
      </p:sp>
      <p:sp>
        <p:nvSpPr>
          <p:cNvPr id="434" name="Google Shape;434;p53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3"/>
          <p:cNvSpPr/>
          <p:nvPr/>
        </p:nvSpPr>
        <p:spPr>
          <a:xfrm>
            <a:off x="571500" y="2690812"/>
            <a:ext cx="11049000" cy="25717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53"/>
          <p:cNvGraphicFramePr/>
          <p:nvPr/>
        </p:nvGraphicFramePr>
        <p:xfrm>
          <a:off x="571500" y="2690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{3D448C8D-84E7-45A1-AB39-C642B3BB0C68}</a:tableStyleId>
              </a:tblPr>
              <a:tblGrid>
                <a:gridCol w="1789800"/>
                <a:gridCol w="9259200"/>
              </a:tblGrid>
              <a:tr h="6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</a:tr>
              <a:tr h="6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auth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Contient le jeton d'authentification de l'utilisateur.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Représente la donnée existante en base.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newData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A1A1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Représente la donnée en cours d'écriture.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7" name="Google Shape;437;p53"/>
          <p:cNvSpPr/>
          <p:nvPr/>
        </p:nvSpPr>
        <p:spPr>
          <a:xfrm>
            <a:off x="571500" y="3971925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3"/>
          <p:cNvSpPr/>
          <p:nvPr/>
        </p:nvSpPr>
        <p:spPr>
          <a:xfrm>
            <a:off x="2361307" y="3971925"/>
            <a:ext cx="925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3"/>
          <p:cNvSpPr/>
          <p:nvPr/>
        </p:nvSpPr>
        <p:spPr>
          <a:xfrm>
            <a:off x="571500" y="4610100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3"/>
          <p:cNvSpPr/>
          <p:nvPr/>
        </p:nvSpPr>
        <p:spPr>
          <a:xfrm>
            <a:off x="2361307" y="4610100"/>
            <a:ext cx="925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3"/>
          <p:cNvSpPr/>
          <p:nvPr/>
        </p:nvSpPr>
        <p:spPr>
          <a:xfrm>
            <a:off x="571500" y="5248275"/>
            <a:ext cx="1789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3"/>
          <p:cNvSpPr/>
          <p:nvPr/>
        </p:nvSpPr>
        <p:spPr>
          <a:xfrm>
            <a:off x="2361307" y="5248275"/>
            <a:ext cx="925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8" name="Google Shape;44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4"/>
          <p:cNvSpPr txBox="1"/>
          <p:nvPr/>
        </p:nvSpPr>
        <p:spPr>
          <a:xfrm>
            <a:off x="762000" y="2252662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 HORS-LIGNE</a:t>
            </a:r>
            <a:endParaRPr/>
          </a:p>
        </p:txBody>
      </p:sp>
      <p:sp>
        <p:nvSpPr>
          <p:cNvPr id="450" name="Google Shape;450;p54"/>
          <p:cNvSpPr/>
          <p:nvPr/>
        </p:nvSpPr>
        <p:spPr>
          <a:xfrm>
            <a:off x="571500" y="2252662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4"/>
          <p:cNvSpPr txBox="1"/>
          <p:nvPr/>
        </p:nvSpPr>
        <p:spPr>
          <a:xfrm>
            <a:off x="571500" y="325278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Grâce à la persistance, l'interface utilisateur reste fluide.</a:t>
            </a:r>
            <a:endParaRPr/>
          </a:p>
        </p:txBody>
      </p:sp>
      <p:sp>
        <p:nvSpPr>
          <p:cNvPr id="452" name="Google Shape;452;p54"/>
          <p:cNvSpPr txBox="1"/>
          <p:nvPr/>
        </p:nvSpPr>
        <p:spPr>
          <a:xfrm>
            <a:off x="571500" y="4024312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Firebase gère automatiquement les conflits de synchronisation en utilisant les timestamps.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7" name="Google Shape;45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71687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071687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5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PROJET FINAL : RECYCLERVIEW</a:t>
            </a:r>
            <a:endParaRPr/>
          </a:p>
        </p:txBody>
      </p:sp>
      <p:sp>
        <p:nvSpPr>
          <p:cNvPr id="461" name="Google Shape;461;p55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2" name="Google Shape;46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71687"/>
            <a:ext cx="53816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6"/>
          <p:cNvSpPr txBox="1"/>
          <p:nvPr/>
        </p:nvSpPr>
        <p:spPr>
          <a:xfrm>
            <a:off x="762000" y="66675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LOGIQUE RECYCLERVIEW</a:t>
            </a:r>
            <a:endParaRPr/>
          </a:p>
        </p:txBody>
      </p:sp>
      <p:sp>
        <p:nvSpPr>
          <p:cNvPr id="470" name="Google Shape;470;p56"/>
          <p:cNvSpPr/>
          <p:nvPr/>
        </p:nvSpPr>
        <p:spPr>
          <a:xfrm>
            <a:off x="571500" y="66675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6"/>
          <p:cNvSpPr txBox="1"/>
          <p:nvPr/>
        </p:nvSpPr>
        <p:spPr>
          <a:xfrm>
            <a:off x="1000125" y="287178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1. Créez une liste ArrayList.</a:t>
            </a:r>
            <a:endParaRPr/>
          </a:p>
        </p:txBody>
      </p:sp>
      <p:sp>
        <p:nvSpPr>
          <p:cNvPr id="472" name="Google Shape;472;p56"/>
          <p:cNvSpPr txBox="1"/>
          <p:nvPr/>
        </p:nvSpPr>
        <p:spPr>
          <a:xfrm>
            <a:off x="1000125" y="342423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2. Utilisez onChildAdded pour ajouter chaque nouvel utilisateur à la liste.</a:t>
            </a:r>
            <a:endParaRPr/>
          </a:p>
        </p:txBody>
      </p:sp>
      <p:sp>
        <p:nvSpPr>
          <p:cNvPr id="473" name="Google Shape;473;p56"/>
          <p:cNvSpPr txBox="1"/>
          <p:nvPr/>
        </p:nvSpPr>
        <p:spPr>
          <a:xfrm>
            <a:off x="1000125" y="397668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3. Appelez adapter.notifyDataSetChanged() pour mettre à jour la vue.</a:t>
            </a:r>
            <a:endParaRPr/>
          </a:p>
        </p:txBody>
      </p:sp>
      <p:sp>
        <p:nvSpPr>
          <p:cNvPr id="474" name="Google Shape;474;p56"/>
          <p:cNvSpPr txBox="1"/>
          <p:nvPr/>
        </p:nvSpPr>
        <p:spPr>
          <a:xfrm>
            <a:off x="1000125" y="452913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 Tip : Utilisez </a:t>
            </a:r>
            <a:r>
              <a:rPr b="1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FirebaseRecyclerAdapter</a:t>
            </a:r>
            <a:r>
              <a:rPr b="0" i="0" lang="en-US" sz="16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 la librairie FirebaseUI.</a:t>
            </a:r>
            <a:endParaRPr/>
          </a:p>
        </p:txBody>
      </p:sp>
      <p:pic>
        <p:nvPicPr>
          <p:cNvPr descr="image.png" id="475" name="Google Shape;47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146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671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95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72000"/>
            <a:ext cx="3048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66750"/>
            <a:ext cx="11049000" cy="56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7"/>
          <p:cNvSpPr/>
          <p:nvPr/>
        </p:nvSpPr>
        <p:spPr>
          <a:xfrm>
            <a:off x="-476250" y="4953000"/>
            <a:ext cx="2381250" cy="2381250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7"/>
          <p:cNvSpPr txBox="1"/>
          <p:nvPr/>
        </p:nvSpPr>
        <p:spPr>
          <a:xfrm>
            <a:off x="4575810" y="1843087"/>
            <a:ext cx="30403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MERCI !</a:t>
            </a:r>
            <a:endParaRPr/>
          </a:p>
        </p:txBody>
      </p:sp>
      <p:sp>
        <p:nvSpPr>
          <p:cNvPr id="487" name="Google Shape;487;p57"/>
          <p:cNvSpPr txBox="1"/>
          <p:nvPr/>
        </p:nvSpPr>
        <p:spPr>
          <a:xfrm>
            <a:off x="4433887" y="3176587"/>
            <a:ext cx="3324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Des questions sur Firebase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ter Transport Infographics by Slidesgo">
  <a:themeElements>
    <a:clrScheme name="Personnalisé 3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B0D0E2"/>
      </a:accent1>
      <a:accent2>
        <a:srgbClr val="C0000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