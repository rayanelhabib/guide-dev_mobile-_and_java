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6858000" cx="12192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Fira Sans Extra Condense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9BD48C-AD4F-45C0-B421-2034DE4D8680}">
  <a:tblStyle styleId="{129BD48C-AD4F-45C0-B421-2034DE4D86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4.xml"/><Relationship Id="rId33" Type="http://schemas.openxmlformats.org/officeDocument/2006/relationships/font" Target="fonts/Poppins-italic.fntdata"/><Relationship Id="rId10" Type="http://schemas.openxmlformats.org/officeDocument/2006/relationships/slide" Target="slides/slide3.xml"/><Relationship Id="rId32" Type="http://schemas.openxmlformats.org/officeDocument/2006/relationships/font" Target="fonts/Poppins-bold.fntdata"/><Relationship Id="rId13" Type="http://schemas.openxmlformats.org/officeDocument/2006/relationships/slide" Target="slides/slide6.xml"/><Relationship Id="rId35" Type="http://schemas.openxmlformats.org/officeDocument/2006/relationships/font" Target="fonts/FiraSansExtraCondensed-regular.fntdata"/><Relationship Id="rId12" Type="http://schemas.openxmlformats.org/officeDocument/2006/relationships/slide" Target="slides/slide5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8.xml"/><Relationship Id="rId37" Type="http://schemas.openxmlformats.org/officeDocument/2006/relationships/font" Target="fonts/FiraSansExtraCondensed-italic.fntdata"/><Relationship Id="rId14" Type="http://schemas.openxmlformats.org/officeDocument/2006/relationships/slide" Target="slides/slide7.xml"/><Relationship Id="rId36" Type="http://schemas.openxmlformats.org/officeDocument/2006/relationships/font" Target="fonts/FiraSansExtraCondensed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FiraSansExtraCondensed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a0b8827ec_0_245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ca0b8827ec_0_245:notes"/>
          <p:cNvSpPr/>
          <p:nvPr>
            <p:ph idx="2" type="sldImg"/>
          </p:nvPr>
        </p:nvSpPr>
        <p:spPr>
          <a:xfrm>
            <a:off x="2271713" y="1143000"/>
            <a:ext cx="2314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a0b8827ec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ca0b8827ec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a0b8827e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ca0b8827e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a0b8827e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ca0b8827ec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a0b8827e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ca0b8827ec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57200" y="4960137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8610600" y="4960137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9" name="Google Shape;89;p14"/>
          <p:cNvCxnSpPr/>
          <p:nvPr/>
        </p:nvCxnSpPr>
        <p:spPr>
          <a:xfrm rot="10800000">
            <a:off x="8386843" y="526410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4646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pplication Development Services | Web &amp; Mobile Apps" id="90" name="Google Shape;9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-1" y="-2309"/>
            <a:ext cx="12192000" cy="4803000"/>
          </a:xfrm>
          <a:prstGeom prst="rect">
            <a:avLst/>
          </a:prstGeom>
          <a:solidFill>
            <a:schemeClr val="dk1">
              <a:alpha val="470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0" y="4419600"/>
            <a:ext cx="12192000" cy="381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-14933" y="-50433"/>
            <a:ext cx="12206700" cy="135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r>
              <a:t/>
            </a:r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 txBox="1"/>
          <p:nvPr>
            <p:ph type="title"/>
          </p:nvPr>
        </p:nvSpPr>
        <p:spPr>
          <a:xfrm>
            <a:off x="415600" y="22776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15600" y="14350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000"/>
              <a:buAutoNum type="alphaLcPeriod"/>
              <a:defRPr sz="2667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188236" y="4574539"/>
            <a:ext cx="9489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rgbClr val="4080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00" name="Google Shape;100;p16"/>
          <p:cNvCxnSpPr/>
          <p:nvPr/>
        </p:nvCxnSpPr>
        <p:spPr>
          <a:xfrm flipH="1" rot="10800000">
            <a:off x="194000" y="5381233"/>
            <a:ext cx="9483300" cy="27000"/>
          </a:xfrm>
          <a:prstGeom prst="straightConnector1">
            <a:avLst/>
          </a:prstGeom>
          <a:noFill/>
          <a:ln cap="flat" cmpd="sng" w="38100">
            <a:solidFill>
              <a:srgbClr val="408043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01" name="Google Shape;101;p16"/>
          <p:cNvSpPr/>
          <p:nvPr/>
        </p:nvSpPr>
        <p:spPr>
          <a:xfrm>
            <a:off x="0" y="373316"/>
            <a:ext cx="9829800" cy="914400"/>
          </a:xfrm>
          <a:prstGeom prst="rect">
            <a:avLst/>
          </a:prstGeom>
          <a:gradFill>
            <a:gsLst>
              <a:gs pos="0">
                <a:srgbClr val="224C23"/>
              </a:gs>
              <a:gs pos="50000">
                <a:srgbClr val="306F34"/>
              </a:gs>
              <a:gs pos="100000">
                <a:srgbClr val="3B843E"/>
              </a:gs>
            </a:gsLst>
            <a:lin ang="5400012" scaled="0"/>
          </a:gradFill>
          <a:ln cap="flat" cmpd="sng" w="25400">
            <a:solidFill>
              <a:srgbClr val="408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9067800" y="0"/>
            <a:ext cx="3142200" cy="2971800"/>
          </a:xfrm>
          <a:prstGeom prst="teardrop">
            <a:avLst>
              <a:gd fmla="val 100000" name="adj"/>
            </a:avLst>
          </a:prstGeom>
          <a:gradFill>
            <a:gsLst>
              <a:gs pos="0">
                <a:srgbClr val="224C23"/>
              </a:gs>
              <a:gs pos="50000">
                <a:srgbClr val="306F34"/>
              </a:gs>
              <a:gs pos="100000">
                <a:srgbClr val="3B843E"/>
              </a:gs>
            </a:gsLst>
            <a:lin ang="5400012" scaled="0"/>
          </a:gra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609600" y="1536633"/>
            <a:ext cx="10972800" cy="4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17"/>
          <p:cNvSpPr/>
          <p:nvPr/>
        </p:nvSpPr>
        <p:spPr>
          <a:xfrm>
            <a:off x="0" y="22967"/>
            <a:ext cx="12192000" cy="1043700"/>
          </a:xfrm>
          <a:prstGeom prst="rect">
            <a:avLst/>
          </a:prstGeom>
          <a:gradFill>
            <a:gsLst>
              <a:gs pos="0">
                <a:srgbClr val="408043"/>
              </a:gs>
              <a:gs pos="100000">
                <a:srgbClr val="408043"/>
              </a:gs>
            </a:gsLst>
            <a:lin ang="5400012" scaled="0"/>
          </a:gradFill>
          <a:ln cap="flat" cmpd="sng" w="25400">
            <a:solidFill>
              <a:srgbClr val="8097A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  <a:reflection blurRad="0" dir="5400000" dist="50800" endA="0" endPos="20000" fadeDir="5400012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457200" y="29728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609600" y="54863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121" name="Google Shape;121;p22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ableau" type="tbl">
  <p:cSld name="TAB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1117602" y="342901"/>
            <a:ext cx="108099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ctrTitle"/>
          </p:nvPr>
        </p:nvSpPr>
        <p:spPr>
          <a:xfrm>
            <a:off x="415611" y="1342391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6933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31" name="Google Shape;131;p26"/>
          <p:cNvSpPr txBox="1"/>
          <p:nvPr>
            <p:ph idx="1" type="subTitle"/>
          </p:nvPr>
        </p:nvSpPr>
        <p:spPr>
          <a:xfrm>
            <a:off x="415600" y="4128457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3733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34" name="Google Shape;13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7"/>
          <p:cNvSpPr txBox="1"/>
          <p:nvPr>
            <p:ph idx="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7"/>
          <p:cNvSpPr txBox="1"/>
          <p:nvPr>
            <p:ph type="title"/>
          </p:nvPr>
        </p:nvSpPr>
        <p:spPr>
          <a:xfrm>
            <a:off x="354000" y="2570681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56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138" name="Google Shape;138;p27"/>
          <p:cNvSpPr txBox="1"/>
          <p:nvPr>
            <p:ph idx="1" type="subTitle"/>
          </p:nvPr>
        </p:nvSpPr>
        <p:spPr>
          <a:xfrm>
            <a:off x="354000" y="4663881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39" name="Google Shape;139;p27"/>
          <p:cNvSpPr txBox="1"/>
          <p:nvPr>
            <p:ph idx="3" type="subTitle"/>
          </p:nvPr>
        </p:nvSpPr>
        <p:spPr>
          <a:xfrm>
            <a:off x="354000" y="752167"/>
            <a:ext cx="5393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rgbClr val="FAFAF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footer.png" id="140" name="Google Shape;1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idx="4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27"/>
          <p:cNvSpPr txBox="1"/>
          <p:nvPr/>
        </p:nvSpPr>
        <p:spPr>
          <a:xfrm>
            <a:off x="3175567" y="6348500"/>
            <a:ext cx="28779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33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7592967" y="6168500"/>
            <a:ext cx="28779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"/>
              <a:buNone/>
            </a:pPr>
            <a:r>
              <a:rPr i="1" lang="en-U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-US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Creative Commons Attribution-NonCommercial 4.0 International License</a:t>
            </a:r>
            <a:endParaRPr i="1"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19433" y="6369818"/>
            <a:ext cx="1210800" cy="42363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5876300" y="6337200"/>
            <a:ext cx="17169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33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SQLite Database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09600" y="54863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09600" y="1536633"/>
            <a:ext cx="10972800" cy="4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33.png"/><Relationship Id="rId6" Type="http://schemas.openxmlformats.org/officeDocument/2006/relationships/image" Target="../media/image15.png"/><Relationship Id="rId7" Type="http://schemas.openxmlformats.org/officeDocument/2006/relationships/image" Target="../media/image27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9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42.png"/><Relationship Id="rId5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30.png"/><Relationship Id="rId5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38.png"/><Relationship Id="rId9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36.png"/><Relationship Id="rId7" Type="http://schemas.openxmlformats.org/officeDocument/2006/relationships/image" Target="../media/image47.png"/><Relationship Id="rId8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0" y="5383864"/>
            <a:ext cx="876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</a:rPr>
              <a:t>Cours de Développement Mobile</a:t>
            </a:r>
            <a:endParaRPr b="1" sz="2400">
              <a:solidFill>
                <a:srgbClr val="002060"/>
              </a:solidFill>
            </a:endParaRPr>
          </a:p>
        </p:txBody>
      </p:sp>
      <p:sp>
        <p:nvSpPr>
          <p:cNvPr id="151" name="Google Shape;151;p2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AMINA ABOULMIRA</a:t>
            </a:r>
            <a:endParaRPr/>
          </a:p>
        </p:txBody>
      </p:sp>
      <p:sp>
        <p:nvSpPr>
          <p:cNvPr id="152" name="Google Shape;152;p28"/>
          <p:cNvSpPr txBox="1"/>
          <p:nvPr/>
        </p:nvSpPr>
        <p:spPr>
          <a:xfrm>
            <a:off x="87086" y="5988567"/>
            <a:ext cx="5486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40">
                <a:solidFill>
                  <a:srgbClr val="1B5E20"/>
                </a:solidFill>
                <a:latin typeface="Roboto"/>
                <a:ea typeface="Roboto"/>
                <a:cs typeface="Roboto"/>
                <a:sym typeface="Roboto"/>
              </a:rPr>
              <a:t>Maîtriser les </a:t>
            </a:r>
            <a:r>
              <a:rPr b="1" lang="en-US" sz="204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rPr>
              <a:t>SharedPreferences</a:t>
            </a:r>
            <a:endParaRPr b="1" i="0" sz="417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8511419" y="5195259"/>
            <a:ext cx="32004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AMINA ABOULMIRA</a:t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8903305" y="4119015"/>
            <a:ext cx="2819400" cy="99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sx="103000" rotWithShape="0" algn="tl" dir="2700000" dist="38100" sy="10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9735" y="4219282"/>
            <a:ext cx="2226539" cy="792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0000" y="1735562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8100" y="1773662"/>
            <a:ext cx="5257799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9"/>
          <p:cNvSpPr txBox="1"/>
          <p:nvPr/>
        </p:nvSpPr>
        <p:spPr>
          <a:xfrm>
            <a:off x="525000" y="3585012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Format XML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Les données sont stockées dans un fichier XML privé sur le téléphone.</a:t>
            </a:r>
            <a:endParaRPr/>
          </a:p>
        </p:txBody>
      </p:sp>
      <p:sp>
        <p:nvSpPr>
          <p:cNvPr id="164" name="Google Shape;164;p29"/>
          <p:cNvSpPr txBox="1"/>
          <p:nvPr/>
        </p:nvSpPr>
        <p:spPr>
          <a:xfrm>
            <a:off x="525000" y="4432737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Clé / Valeur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Système simple de paires (ex: "username" -&gt; "Durand").</a:t>
            </a:r>
            <a:endParaRPr/>
          </a:p>
        </p:txBody>
      </p:sp>
      <p:sp>
        <p:nvSpPr>
          <p:cNvPr id="165" name="Google Shape;165;p29"/>
          <p:cNvSpPr txBox="1"/>
          <p:nvPr/>
        </p:nvSpPr>
        <p:spPr>
          <a:xfrm>
            <a:off x="525000" y="5280462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Données Primitives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Supporte String, int, boolean, float, long.</a:t>
            </a:r>
            <a:endParaRPr/>
          </a:p>
        </p:txBody>
      </p:sp>
      <p:pic>
        <p:nvPicPr>
          <p:cNvPr descr="image.png" id="166" name="Google Shape;16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000" y="364692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5000" y="4494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5000" y="534237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762000" y="6667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1. Définition et Concepts</a:t>
            </a:r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571500" y="666750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232475" y="2273225"/>
            <a:ext cx="5563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Les </a:t>
            </a:r>
            <a:r>
              <a:rPr b="1" lang="en-US" sz="1500">
                <a:solidFill>
                  <a:schemeClr val="dk1"/>
                </a:solidFill>
              </a:rPr>
              <a:t>SharedPreferences</a:t>
            </a:r>
            <a:r>
              <a:rPr lang="en-US" sz="1500">
                <a:solidFill>
                  <a:schemeClr val="dk1"/>
                </a:solidFill>
              </a:rPr>
              <a:t> permettent de stocker des données sous forme de couples </a:t>
            </a:r>
            <a:r>
              <a:rPr b="1" lang="en-US" sz="1500">
                <a:solidFill>
                  <a:schemeClr val="dk1"/>
                </a:solidFill>
              </a:rPr>
              <a:t>Clé/Valeur</a:t>
            </a:r>
            <a:r>
              <a:rPr lang="en-US" sz="1500">
                <a:solidFill>
                  <a:schemeClr val="dk1"/>
                </a:solidFill>
              </a:rPr>
              <a:t> (Key/Value). Les données sont enregistrées dans un fichier XML directement sur le stockage interne du téléphone.</a:t>
            </a:r>
            <a:endParaRPr sz="1800"/>
          </a:p>
        </p:txBody>
      </p:sp>
      <p:sp>
        <p:nvSpPr>
          <p:cNvPr id="172" name="Google Shape;172;p29"/>
          <p:cNvSpPr txBox="1"/>
          <p:nvPr/>
        </p:nvSpPr>
        <p:spPr>
          <a:xfrm>
            <a:off x="478505" y="5990812"/>
            <a:ext cx="53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Usage idéal</a:t>
            </a:r>
            <a:r>
              <a:rPr b="1" lang="en-US" sz="1100">
                <a:solidFill>
                  <a:schemeClr val="dk1"/>
                </a:solidFill>
              </a:rPr>
              <a:t> :</a:t>
            </a:r>
            <a:r>
              <a:rPr lang="en-US" sz="1500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Paramètres (mode sombre, langue), jetons de connexion (tokens), score d'un jeu.</a:t>
            </a:r>
            <a:endParaRPr sz="1500">
              <a:solidFill>
                <a:srgbClr val="33691E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29187"/>
            <a:ext cx="11049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571500" y="2289312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Pour accéder au fichier, on utilise le contexte de l'applicatio</a:t>
            </a:r>
            <a:r>
              <a:rPr lang="en-US" sz="1500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n, et pour utiliser SharedPreferences, on appelle la méthode getSharedPreferences(). :</a:t>
            </a:r>
            <a:endParaRPr sz="1500">
              <a:solidFill>
                <a:srgbClr val="33691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762000" y="6667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2. Création et Initialisation</a:t>
            </a:r>
            <a:endParaRPr/>
          </a:p>
        </p:txBody>
      </p:sp>
      <p:sp>
        <p:nvSpPr>
          <p:cNvPr id="182" name="Google Shape;182;p30"/>
          <p:cNvSpPr/>
          <p:nvPr/>
        </p:nvSpPr>
        <p:spPr>
          <a:xfrm>
            <a:off x="571500" y="666750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8400"/>
            <a:ext cx="533400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31"/>
          <p:cNvPicPr preferRelativeResize="0"/>
          <p:nvPr/>
        </p:nvPicPr>
        <p:blipFill rotWithShape="1">
          <a:blip r:embed="rId5">
            <a:alphaModFix/>
          </a:blip>
          <a:srcRect b="4460" l="0" r="0" t="-4460"/>
          <a:stretch/>
        </p:blipFill>
        <p:spPr>
          <a:xfrm>
            <a:off x="6286500" y="2438400"/>
            <a:ext cx="533400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809625" y="2676525"/>
            <a:ext cx="51006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Écriture</a:t>
            </a:r>
            <a:endParaRPr/>
          </a:p>
        </p:txBody>
      </p:sp>
      <p:sp>
        <p:nvSpPr>
          <p:cNvPr id="192" name="Google Shape;192;p31"/>
          <p:cNvSpPr txBox="1"/>
          <p:nvPr/>
        </p:nvSpPr>
        <p:spPr>
          <a:xfrm>
            <a:off x="6524625" y="2676525"/>
            <a:ext cx="51006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Lecture</a:t>
            </a:r>
            <a:endParaRPr/>
          </a:p>
        </p:txBody>
      </p:sp>
      <p:pic>
        <p:nvPicPr>
          <p:cNvPr descr="image.png" id="193" name="Google Shape;19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2724150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2724150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1"/>
          <p:cNvSpPr txBox="1"/>
          <p:nvPr/>
        </p:nvSpPr>
        <p:spPr>
          <a:xfrm>
            <a:off x="762000" y="6667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3. Lecture et Écriture</a:t>
            </a:r>
            <a:endParaRPr/>
          </a:p>
        </p:txBody>
      </p:sp>
      <p:sp>
        <p:nvSpPr>
          <p:cNvPr id="196" name="Google Shape;196;p31"/>
          <p:cNvSpPr/>
          <p:nvPr/>
        </p:nvSpPr>
        <p:spPr>
          <a:xfrm>
            <a:off x="571500" y="666750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571500" y="1591025"/>
            <a:ext cx="595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 stockage se fait via une interface nommée </a:t>
            </a:r>
            <a:r>
              <a:rPr lang="en-US" sz="13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Editor</a:t>
            </a: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32"/>
          <p:cNvGraphicFramePr/>
          <p:nvPr/>
        </p:nvGraphicFramePr>
        <p:xfrm>
          <a:off x="571500" y="2519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{129BD48C-AD4F-45C0-B421-2034DE4D8680}</a:tableStyleId>
              </a:tblPr>
              <a:tblGrid>
                <a:gridCol w="2670575"/>
                <a:gridCol w="3922075"/>
                <a:gridCol w="4456350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Caractéristique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apply()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commit()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Exécution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Asynchrone (Arrière-plan)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Synchrone (Thread principal)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Valeur de retour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Rien (void)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Boolean (Succès ou Échec)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Plus rapide (recommandé)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Plus lent (bloque l'UI)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Dans 99% des cas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 vous devez vérifier l'écriture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</a:tr>
            </a:tbl>
          </a:graphicData>
        </a:graphic>
      </p:graphicFrame>
      <p:sp>
        <p:nvSpPr>
          <p:cNvPr id="205" name="Google Shape;205;p32"/>
          <p:cNvSpPr/>
          <p:nvPr/>
        </p:nvSpPr>
        <p:spPr>
          <a:xfrm>
            <a:off x="571500" y="3695700"/>
            <a:ext cx="2670571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2"/>
          <p:cNvSpPr/>
          <p:nvPr/>
        </p:nvSpPr>
        <p:spPr>
          <a:xfrm>
            <a:off x="3242071" y="3695700"/>
            <a:ext cx="3922067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7164139" y="3695700"/>
            <a:ext cx="4456360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2"/>
          <p:cNvSpPr/>
          <p:nvPr/>
        </p:nvSpPr>
        <p:spPr>
          <a:xfrm>
            <a:off x="571500" y="4295775"/>
            <a:ext cx="2670571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3242071" y="4295775"/>
            <a:ext cx="3922067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7164139" y="4295775"/>
            <a:ext cx="4456360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2"/>
          <p:cNvSpPr/>
          <p:nvPr/>
        </p:nvSpPr>
        <p:spPr>
          <a:xfrm>
            <a:off x="571500" y="4895850"/>
            <a:ext cx="2670571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3242071" y="4895850"/>
            <a:ext cx="3922067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7164139" y="4895850"/>
            <a:ext cx="4456360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571500" y="5495925"/>
            <a:ext cx="2670571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3242071" y="5495925"/>
            <a:ext cx="3922067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7164139" y="5495925"/>
            <a:ext cx="4456360" cy="9525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762000" y="6667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4. apply() vs commit()</a:t>
            </a:r>
            <a:endParaRPr/>
          </a:p>
        </p:txBody>
      </p:sp>
      <p:sp>
        <p:nvSpPr>
          <p:cNvPr id="218" name="Google Shape;218;p32"/>
          <p:cNvSpPr/>
          <p:nvPr/>
        </p:nvSpPr>
        <p:spPr>
          <a:xfrm>
            <a:off x="571500" y="666750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248275"/>
            <a:ext cx="11049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81200"/>
            <a:ext cx="542925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1981200"/>
            <a:ext cx="542925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3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809625" y="2486025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Utilisez apply() si...</a:t>
            </a:r>
            <a:endParaRPr/>
          </a:p>
        </p:txBody>
      </p:sp>
      <p:sp>
        <p:nvSpPr>
          <p:cNvPr id="229" name="Google Shape;229;p33"/>
          <p:cNvSpPr txBox="1"/>
          <p:nvPr/>
        </p:nvSpPr>
        <p:spPr>
          <a:xfrm>
            <a:off x="809625" y="3152775"/>
            <a:ext cx="49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Vous voulez que l'application reste fluide (Asynchrone). C'est le choix par défaut pour </a:t>
            </a: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99% des cas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(scores, thèmes, flags).</a:t>
            </a:r>
            <a:endParaRPr/>
          </a:p>
        </p:txBody>
      </p:sp>
      <p:sp>
        <p:nvSpPr>
          <p:cNvPr id="230" name="Google Shape;230;p33"/>
          <p:cNvSpPr txBox="1"/>
          <p:nvPr/>
        </p:nvSpPr>
        <p:spPr>
          <a:xfrm>
            <a:off x="809625" y="420052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Aucun risque de freeze de l'interface utilisateur.</a:t>
            </a:r>
            <a:endParaRPr/>
          </a:p>
        </p:txBody>
      </p:sp>
      <p:sp>
        <p:nvSpPr>
          <p:cNvPr id="231" name="Google Shape;231;p33"/>
          <p:cNvSpPr txBox="1"/>
          <p:nvPr/>
        </p:nvSpPr>
        <p:spPr>
          <a:xfrm>
            <a:off x="6429375" y="2486025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Utilisez commit() si...</a:t>
            </a:r>
            <a:endParaRPr/>
          </a:p>
        </p:txBody>
      </p:sp>
      <p:sp>
        <p:nvSpPr>
          <p:cNvPr id="232" name="Google Shape;232;p33"/>
          <p:cNvSpPr txBox="1"/>
          <p:nvPr/>
        </p:nvSpPr>
        <p:spPr>
          <a:xfrm>
            <a:off x="6429375" y="3152775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Vous avez </a:t>
            </a: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immédiatement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besoin de savoir si l'écriture a réussi avant d'exécuter la ligne de code suivante.</a:t>
            </a:r>
            <a:endParaRPr/>
          </a:p>
        </p:txBody>
      </p:sp>
      <p:sp>
        <p:nvSpPr>
          <p:cNvPr id="233" name="Google Shape;233;p33"/>
          <p:cNvSpPr txBox="1"/>
          <p:nvPr/>
        </p:nvSpPr>
        <p:spPr>
          <a:xfrm>
            <a:off x="6429375" y="3914775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Exemple : Une modification de paramètres système critique qui conditionne l'affichage immédiat.</a:t>
            </a:r>
            <a:endParaRPr/>
          </a:p>
        </p:txBody>
      </p:sp>
      <p:pic>
        <p:nvPicPr>
          <p:cNvPr descr="image.png" id="234" name="Google Shape;23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486025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375" y="2486025"/>
            <a:ext cx="2952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 txBox="1"/>
          <p:nvPr/>
        </p:nvSpPr>
        <p:spPr>
          <a:xfrm>
            <a:off x="762000" y="6667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4.</a:t>
            </a: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 Décision : apply() vs commit()</a:t>
            </a:r>
            <a:endParaRPr/>
          </a:p>
        </p:txBody>
      </p:sp>
      <p:sp>
        <p:nvSpPr>
          <p:cNvPr id="237" name="Google Shape;237;p33"/>
          <p:cNvSpPr/>
          <p:nvPr/>
        </p:nvSpPr>
        <p:spPr>
          <a:xfrm>
            <a:off x="571500" y="666750"/>
            <a:ext cx="76200" cy="60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571500" y="4711005"/>
            <a:ext cx="11049000" cy="312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Attention : clear() vide complètement votre fichier XML.</a:t>
            </a:r>
            <a:endParaRPr/>
          </a:p>
        </p:txBody>
      </p:sp>
      <p:pic>
        <p:nvPicPr>
          <p:cNvPr descr="image.png" id="245" name="Google Shape;24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7768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4"/>
          <p:cNvSpPr txBox="1"/>
          <p:nvPr/>
        </p:nvSpPr>
        <p:spPr>
          <a:xfrm>
            <a:off x="571500" y="2625030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Supprimer une clé</a:t>
            </a:r>
            <a:endParaRPr/>
          </a:p>
        </p:txBody>
      </p:sp>
      <p:sp>
        <p:nvSpPr>
          <p:cNvPr id="247" name="Google Shape;247;p34"/>
          <p:cNvSpPr txBox="1"/>
          <p:nvPr/>
        </p:nvSpPr>
        <p:spPr>
          <a:xfrm>
            <a:off x="6191250" y="2625030"/>
            <a:ext cx="57007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Tout effacer</a:t>
            </a:r>
            <a:endParaRPr/>
          </a:p>
        </p:txBody>
      </p:sp>
      <p:sp>
        <p:nvSpPr>
          <p:cNvPr id="248" name="Google Shape;248;p34"/>
          <p:cNvSpPr txBox="1"/>
          <p:nvPr/>
        </p:nvSpPr>
        <p:spPr>
          <a:xfrm>
            <a:off x="762000" y="6667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5. Suppression des données</a:t>
            </a:r>
            <a:endParaRPr/>
          </a:p>
        </p:txBody>
      </p:sp>
      <p:sp>
        <p:nvSpPr>
          <p:cNvPr id="249" name="Google Shape;249;p34"/>
          <p:cNvSpPr/>
          <p:nvPr/>
        </p:nvSpPr>
        <p:spPr>
          <a:xfrm>
            <a:off x="571500" y="666750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571500" y="1740150"/>
            <a:ext cx="699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Vous pouvez supprimer une clé spécifique ou vider tout le fichier.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4150"/>
            <a:ext cx="35559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724150"/>
            <a:ext cx="35559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724150"/>
            <a:ext cx="355595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732632" y="3562350"/>
            <a:ext cx="32336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Paramètres</a:t>
            </a:r>
            <a:endParaRPr/>
          </a:p>
        </p:txBody>
      </p:sp>
      <p:sp>
        <p:nvSpPr>
          <p:cNvPr id="261" name="Google Shape;261;p35"/>
          <p:cNvSpPr txBox="1"/>
          <p:nvPr/>
        </p:nvSpPr>
        <p:spPr>
          <a:xfrm>
            <a:off x="809625" y="4029075"/>
            <a:ext cx="3079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Mémoriser le mode sombre, la langue ou les notifications.</a:t>
            </a:r>
            <a:endParaRPr/>
          </a:p>
        </p:txBody>
      </p:sp>
      <p:sp>
        <p:nvSpPr>
          <p:cNvPr id="262" name="Google Shape;262;p35"/>
          <p:cNvSpPr txBox="1"/>
          <p:nvPr/>
        </p:nvSpPr>
        <p:spPr>
          <a:xfrm>
            <a:off x="4479082" y="3562350"/>
            <a:ext cx="32336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Session Login</a:t>
            </a:r>
            <a:endParaRPr/>
          </a:p>
        </p:txBody>
      </p:sp>
      <p:sp>
        <p:nvSpPr>
          <p:cNvPr id="263" name="Google Shape;263;p35"/>
          <p:cNvSpPr txBox="1"/>
          <p:nvPr/>
        </p:nvSpPr>
        <p:spPr>
          <a:xfrm>
            <a:off x="4556075" y="4029075"/>
            <a:ext cx="3079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Stocker un Token d'authentification ou le nom d'utilisateur.</a:t>
            </a:r>
            <a:endParaRPr/>
          </a:p>
        </p:txBody>
      </p:sp>
      <p:sp>
        <p:nvSpPr>
          <p:cNvPr id="264" name="Google Shape;264;p35"/>
          <p:cNvSpPr txBox="1"/>
          <p:nvPr/>
        </p:nvSpPr>
        <p:spPr>
          <a:xfrm>
            <a:off x="8225533" y="3562350"/>
            <a:ext cx="32336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Mini-jeux</a:t>
            </a:r>
            <a:endParaRPr/>
          </a:p>
        </p:txBody>
      </p:sp>
      <p:sp>
        <p:nvSpPr>
          <p:cNvPr id="265" name="Google Shape;265;p35"/>
          <p:cNvSpPr txBox="1"/>
          <p:nvPr/>
        </p:nvSpPr>
        <p:spPr>
          <a:xfrm>
            <a:off x="8302525" y="4029075"/>
            <a:ext cx="3079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Enregistrer le meilleur score ou le dernier niveau débloqué.</a:t>
            </a:r>
            <a:endParaRPr/>
          </a:p>
        </p:txBody>
      </p:sp>
      <p:pic>
        <p:nvPicPr>
          <p:cNvPr descr="image.png" id="266" name="Google Shape;266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8900" y="30003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30003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7989" y="30003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5"/>
          <p:cNvSpPr txBox="1"/>
          <p:nvPr/>
        </p:nvSpPr>
        <p:spPr>
          <a:xfrm>
            <a:off x="762000" y="6667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6. Cas Pratiques Réels</a:t>
            </a:r>
            <a:endParaRPr/>
          </a:p>
        </p:txBody>
      </p:sp>
      <p:sp>
        <p:nvSpPr>
          <p:cNvPr id="270" name="Google Shape;270;p35"/>
          <p:cNvSpPr/>
          <p:nvPr/>
        </p:nvSpPr>
        <p:spPr>
          <a:xfrm>
            <a:off x="571500" y="666750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2575"/>
            <a:ext cx="110490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6"/>
          <p:cNvSpPr txBox="1"/>
          <p:nvPr/>
        </p:nvSpPr>
        <p:spPr>
          <a:xfrm>
            <a:off x="571500" y="47910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Utilisez SQLite pour les données structurées et complexes, SharedPreferences pour les petits réglages.</a:t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762000" y="6667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7. SQLite vs SharedPreferences</a:t>
            </a:r>
            <a:endParaRPr/>
          </a:p>
        </p:txBody>
      </p:sp>
      <p:sp>
        <p:nvSpPr>
          <p:cNvPr id="280" name="Google Shape;280;p36"/>
          <p:cNvSpPr/>
          <p:nvPr/>
        </p:nvSpPr>
        <p:spPr>
          <a:xfrm>
            <a:off x="571500" y="666750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8950"/>
            <a:ext cx="53340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028950"/>
            <a:ext cx="533400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828675" y="3286125"/>
            <a:ext cx="5060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SharedPreferences 🏠</a:t>
            </a:r>
            <a:endParaRPr/>
          </a:p>
        </p:txBody>
      </p:sp>
      <p:sp>
        <p:nvSpPr>
          <p:cNvPr id="290" name="Google Shape;290;p37"/>
          <p:cNvSpPr txBox="1"/>
          <p:nvPr/>
        </p:nvSpPr>
        <p:spPr>
          <a:xfrm>
            <a:off x="828675" y="3752850"/>
            <a:ext cx="4819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Stockage </a:t>
            </a: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local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pur. Les données restent sur l'appareil et sont perdues si l'app est supprimée (sans backup).</a:t>
            </a:r>
            <a:endParaRPr/>
          </a:p>
        </p:txBody>
      </p:sp>
      <p:sp>
        <p:nvSpPr>
          <p:cNvPr id="291" name="Google Shape;291;p37"/>
          <p:cNvSpPr txBox="1"/>
          <p:nvPr/>
        </p:nvSpPr>
        <p:spPr>
          <a:xfrm>
            <a:off x="6543675" y="3286125"/>
            <a:ext cx="506063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Firebase Persistence ☁️</a:t>
            </a:r>
            <a:endParaRPr/>
          </a:p>
        </p:txBody>
      </p:sp>
      <p:sp>
        <p:nvSpPr>
          <p:cNvPr id="292" name="Google Shape;292;p37"/>
          <p:cNvSpPr txBox="1"/>
          <p:nvPr/>
        </p:nvSpPr>
        <p:spPr>
          <a:xfrm>
            <a:off x="6543675" y="3752850"/>
            <a:ext cx="48198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C'est un cache local pour une base de données distante. Il permet de travailler hors-ligne et de synchroniser les données dès que le réseau revient.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691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762000" y="66675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8. vs Firebase Persistence</a:t>
            </a:r>
            <a:endParaRPr/>
          </a:p>
        </p:txBody>
      </p:sp>
      <p:sp>
        <p:nvSpPr>
          <p:cNvPr id="294" name="Google Shape;294;p37"/>
          <p:cNvSpPr/>
          <p:nvPr/>
        </p:nvSpPr>
        <p:spPr>
          <a:xfrm>
            <a:off x="571500" y="666750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762000" y="1404937"/>
            <a:ext cx="50006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9. L'avenir : DataStore</a:t>
            </a:r>
            <a:endParaRPr/>
          </a:p>
        </p:txBody>
      </p:sp>
      <p:sp>
        <p:nvSpPr>
          <p:cNvPr id="302" name="Google Shape;302;p38"/>
          <p:cNvSpPr/>
          <p:nvPr/>
        </p:nvSpPr>
        <p:spPr>
          <a:xfrm>
            <a:off x="571500" y="1404937"/>
            <a:ext cx="76200" cy="60007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571500" y="24812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Google recommande désormais d'utiliser </a:t>
            </a: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Jetpack DataStore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pour remplacer SharedPreferences.</a:t>
            </a:r>
            <a:endParaRPr/>
          </a:p>
        </p:txBody>
      </p:sp>
      <p:sp>
        <p:nvSpPr>
          <p:cNvPr id="304" name="Google Shape;304;p38"/>
          <p:cNvSpPr txBox="1"/>
          <p:nvPr/>
        </p:nvSpPr>
        <p:spPr>
          <a:xfrm>
            <a:off x="571500" y="34718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Gère les flux de données (Coroutines/Flow).</a:t>
            </a:r>
            <a:endParaRPr/>
          </a:p>
        </p:txBody>
      </p:sp>
      <p:sp>
        <p:nvSpPr>
          <p:cNvPr id="305" name="Google Shape;305;p38"/>
          <p:cNvSpPr txBox="1"/>
          <p:nvPr/>
        </p:nvSpPr>
        <p:spPr>
          <a:xfrm>
            <a:off x="571500" y="415766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Plus sécurisé et évite les blocages d'UI.</a:t>
            </a:r>
            <a:endParaRPr/>
          </a:p>
        </p:txBody>
      </p:sp>
      <p:sp>
        <p:nvSpPr>
          <p:cNvPr id="306" name="Google Shape;306;p38"/>
          <p:cNvSpPr txBox="1"/>
          <p:nvPr/>
        </p:nvSpPr>
        <p:spPr>
          <a:xfrm>
            <a:off x="571500" y="48434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Mais SharedPreferences reste un standard incontournable en Java.</a:t>
            </a:r>
            <a:endParaRPr/>
          </a:p>
        </p:txBody>
      </p:sp>
      <p:pic>
        <p:nvPicPr>
          <p:cNvPr descr="image.png" id="307" name="Google Shape;30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385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243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101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9337"/>
            <a:ext cx="355595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319337"/>
            <a:ext cx="355595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19337"/>
            <a:ext cx="35559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9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0" name="Google Shape;320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2557462"/>
            <a:ext cx="3714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9"/>
          <p:cNvSpPr txBox="1"/>
          <p:nvPr/>
        </p:nvSpPr>
        <p:spPr>
          <a:xfrm>
            <a:off x="809625" y="3300412"/>
            <a:ext cx="32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Login Record</a:t>
            </a:r>
            <a:endParaRPr/>
          </a:p>
        </p:txBody>
      </p:sp>
      <p:sp>
        <p:nvSpPr>
          <p:cNvPr id="322" name="Google Shape;322;p39"/>
          <p:cNvSpPr txBox="1"/>
          <p:nvPr/>
        </p:nvSpPr>
        <p:spPr>
          <a:xfrm>
            <a:off x="809625" y="3890962"/>
            <a:ext cx="30798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Stocker l'identifiant sur l'écran de connexion pour le "Remember Me". Améliore l'UX en évitant la saisie répétitive.</a:t>
            </a:r>
            <a:endParaRPr/>
          </a:p>
        </p:txBody>
      </p:sp>
      <p:pic>
        <p:nvPicPr>
          <p:cNvPr descr="image.png" id="323" name="Google Shape;323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6075" y="2557462"/>
            <a:ext cx="2952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9"/>
          <p:cNvSpPr txBox="1"/>
          <p:nvPr/>
        </p:nvSpPr>
        <p:spPr>
          <a:xfrm>
            <a:off x="4556075" y="3300412"/>
            <a:ext cx="32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Tuto Onboarding</a:t>
            </a:r>
            <a:endParaRPr/>
          </a:p>
        </p:txBody>
      </p:sp>
      <p:sp>
        <p:nvSpPr>
          <p:cNvPr id="325" name="Google Shape;325;p39"/>
          <p:cNvSpPr txBox="1"/>
          <p:nvPr/>
        </p:nvSpPr>
        <p:spPr>
          <a:xfrm>
            <a:off x="4556075" y="3890962"/>
            <a:ext cx="3079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Stocker isFirstRun = false après la première visite. Évite d'afficher le tutoriel à chaque lancement de l'app.</a:t>
            </a:r>
            <a:endParaRPr/>
          </a:p>
        </p:txBody>
      </p:sp>
      <p:pic>
        <p:nvPicPr>
          <p:cNvPr descr="image.png" id="326" name="Google Shape;326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02525" y="2557462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9"/>
          <p:cNvSpPr txBox="1"/>
          <p:nvPr/>
        </p:nvSpPr>
        <p:spPr>
          <a:xfrm>
            <a:off x="8302525" y="3300412"/>
            <a:ext cx="32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Thème App</a:t>
            </a:r>
            <a:endParaRPr/>
          </a:p>
        </p:txBody>
      </p:sp>
      <p:sp>
        <p:nvSpPr>
          <p:cNvPr id="328" name="Google Shape;328;p39"/>
          <p:cNvSpPr txBox="1"/>
          <p:nvPr/>
        </p:nvSpPr>
        <p:spPr>
          <a:xfrm>
            <a:off x="8302525" y="3890962"/>
            <a:ext cx="30798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Enregistrer l'ID du thème (Clair/Sombre/Vert). Permet d'appliquer le style choisi par l'utilisateur dès le onCreate().</a:t>
            </a:r>
            <a:endParaRPr/>
          </a:p>
        </p:txBody>
      </p:sp>
      <p:sp>
        <p:nvSpPr>
          <p:cNvPr id="329" name="Google Shape;329;p39"/>
          <p:cNvSpPr txBox="1"/>
          <p:nvPr/>
        </p:nvSpPr>
        <p:spPr>
          <a:xfrm>
            <a:off x="762000" y="6667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10. Cas Pratiques Réels</a:t>
            </a:r>
            <a:endParaRPr/>
          </a:p>
        </p:txBody>
      </p:sp>
      <p:sp>
        <p:nvSpPr>
          <p:cNvPr id="330" name="Google Shape;330;p39"/>
          <p:cNvSpPr/>
          <p:nvPr/>
        </p:nvSpPr>
        <p:spPr>
          <a:xfrm>
            <a:off x="571500" y="666750"/>
            <a:ext cx="76200" cy="60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0978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0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571500" y="2871787"/>
            <a:ext cx="56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Pourquoi l'utiliser ?</a:t>
            </a:r>
            <a:endParaRPr/>
          </a:p>
        </p:txBody>
      </p:sp>
      <p:sp>
        <p:nvSpPr>
          <p:cNvPr id="339" name="Google Shape;339;p40"/>
          <p:cNvSpPr txBox="1"/>
          <p:nvPr/>
        </p:nvSpPr>
        <p:spPr>
          <a:xfrm>
            <a:off x="571500" y="3462337"/>
            <a:ext cx="5334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Le fichier XML classique est lisible en clair sur les téléphones "Rootés". Pour des données sensibles, utilisez </a:t>
            </a: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Jetpack Security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40" name="Google Shape;340;p40"/>
          <p:cNvSpPr txBox="1"/>
          <p:nvPr/>
        </p:nvSpPr>
        <p:spPr>
          <a:xfrm>
            <a:off x="762000" y="4224337"/>
            <a:ext cx="514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Chiffre les clés et les valeurs.</a:t>
            </a:r>
            <a:endParaRPr/>
          </a:p>
        </p:txBody>
      </p:sp>
      <p:sp>
        <p:nvSpPr>
          <p:cNvPr id="341" name="Google Shape;341;p40"/>
          <p:cNvSpPr txBox="1"/>
          <p:nvPr/>
        </p:nvSpPr>
        <p:spPr>
          <a:xfrm>
            <a:off x="762000" y="4510087"/>
            <a:ext cx="514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Stockage matériel des clés (Keystore).</a:t>
            </a:r>
            <a:endParaRPr/>
          </a:p>
        </p:txBody>
      </p:sp>
      <p:sp>
        <p:nvSpPr>
          <p:cNvPr id="342" name="Google Shape;342;p40"/>
          <p:cNvSpPr txBox="1"/>
          <p:nvPr/>
        </p:nvSpPr>
        <p:spPr>
          <a:xfrm>
            <a:off x="762000" y="4795837"/>
            <a:ext cx="514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Utilisation identique à l'API standard.</a:t>
            </a:r>
            <a:endParaRPr/>
          </a:p>
        </p:txBody>
      </p:sp>
      <p:sp>
        <p:nvSpPr>
          <p:cNvPr id="343" name="Google Shape;343;p40"/>
          <p:cNvSpPr txBox="1"/>
          <p:nvPr/>
        </p:nvSpPr>
        <p:spPr>
          <a:xfrm>
            <a:off x="762000" y="6667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11. Sécurité : EncryptedSharedPreferences</a:t>
            </a:r>
            <a:endParaRPr/>
          </a:p>
        </p:txBody>
      </p:sp>
      <p:sp>
        <p:nvSpPr>
          <p:cNvPr id="344" name="Google Shape;344;p40"/>
          <p:cNvSpPr/>
          <p:nvPr/>
        </p:nvSpPr>
        <p:spPr>
          <a:xfrm>
            <a:off x="571500" y="666750"/>
            <a:ext cx="76200" cy="60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9" name="Google Shape;34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1"/>
          <p:cNvSpPr/>
          <p:nvPr/>
        </p:nvSpPr>
        <p:spPr>
          <a:xfrm>
            <a:off x="0" y="0"/>
            <a:ext cx="12192000" cy="95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1"/>
          <p:cNvSpPr txBox="1"/>
          <p:nvPr/>
        </p:nvSpPr>
        <p:spPr>
          <a:xfrm>
            <a:off x="571500" y="3248025"/>
            <a:ext cx="5334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Règle d'or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Ne tapez jamais les noms de clés sous forme de chaînes de caractères brutes (Hardcoded Strings).</a:t>
            </a:r>
            <a:endParaRPr/>
          </a:p>
        </p:txBody>
      </p:sp>
      <p:sp>
        <p:nvSpPr>
          <p:cNvPr id="352" name="Google Shape;352;p41"/>
          <p:cNvSpPr txBox="1"/>
          <p:nvPr/>
        </p:nvSpPr>
        <p:spPr>
          <a:xfrm>
            <a:off x="571500" y="4010025"/>
            <a:ext cx="5334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Créez une classe dédiée pour centraliser vos clés. Cela évite les erreurs de frappe fatales : "username" vs "user_name".</a:t>
            </a:r>
            <a:endParaRPr/>
          </a:p>
        </p:txBody>
      </p:sp>
      <p:sp>
        <p:nvSpPr>
          <p:cNvPr id="353" name="Google Shape;353;p41"/>
          <p:cNvSpPr txBox="1"/>
          <p:nvPr/>
        </p:nvSpPr>
        <p:spPr>
          <a:xfrm>
            <a:off x="762000" y="6667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12. Architecture : L'astuce des Constantes</a:t>
            </a:r>
            <a:endParaRPr/>
          </a:p>
        </p:txBody>
      </p:sp>
      <p:sp>
        <p:nvSpPr>
          <p:cNvPr id="354" name="Google Shape;354;p41"/>
          <p:cNvSpPr/>
          <p:nvPr/>
        </p:nvSpPr>
        <p:spPr>
          <a:xfrm>
            <a:off x="571500" y="666750"/>
            <a:ext cx="76200" cy="600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2"/>
          <p:cNvSpPr txBox="1"/>
          <p:nvPr/>
        </p:nvSpPr>
        <p:spPr>
          <a:xfrm>
            <a:off x="3700700" y="2250727"/>
            <a:ext cx="479059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Questions ?</a:t>
            </a:r>
            <a:endParaRPr/>
          </a:p>
        </p:txBody>
      </p:sp>
      <p:sp>
        <p:nvSpPr>
          <p:cNvPr id="361" name="Google Shape;361;p42"/>
          <p:cNvSpPr txBox="1"/>
          <p:nvPr/>
        </p:nvSpPr>
        <p:spPr>
          <a:xfrm>
            <a:off x="3814762" y="4521398"/>
            <a:ext cx="456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CAF50"/>
                </a:solidFill>
                <a:latin typeface="Lato"/>
                <a:ea typeface="Lato"/>
                <a:cs typeface="Lato"/>
                <a:sym typeface="Lato"/>
              </a:rPr>
              <a:t>Support de cours - BTS </a:t>
            </a:r>
            <a:r>
              <a:rPr lang="en-US" sz="1200">
                <a:solidFill>
                  <a:srgbClr val="4CAF50"/>
                </a:solidFill>
                <a:latin typeface="Lato"/>
                <a:ea typeface="Lato"/>
                <a:cs typeface="Lato"/>
                <a:sym typeface="Lato"/>
              </a:rPr>
              <a:t>DAI</a:t>
            </a:r>
            <a:endParaRPr/>
          </a:p>
        </p:txBody>
      </p:sp>
      <p:pic>
        <p:nvPicPr>
          <p:cNvPr descr="image.png" id="362" name="Google Shape;36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4540448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ater Transport Infographics by Slidesgo">
  <a:themeElements>
    <a:clrScheme name="Personnalisé 3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B0D0E2"/>
      </a:accent1>
      <a:accent2>
        <a:srgbClr val="C00000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