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268" r:id="rId20"/>
    <p:sldId id="269" r:id="rId21"/>
    <p:sldId id="270" r:id="rId22"/>
    <p:sldId id="271" r:id="rId23"/>
    <p:sldId id="274" r:id="rId24"/>
    <p:sldId id="272" r:id="rId25"/>
    <p:sldId id="273" r:id="rId26"/>
    <p:sldId id="266" r:id="rId27"/>
    <p:sldId id="267" r:id="rId28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963" y="33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14B3-67E1-467A-B937-2787C2860C82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7"/>
            <a:ext cx="0" cy="91440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Application Development Services | Web &amp; Mobile Apps">
            <a:extLst>
              <a:ext uri="{FF2B5EF4-FFF2-40B4-BE49-F238E27FC236}">
                <a16:creationId xmlns:a16="http://schemas.microsoft.com/office/drawing/2014/main" id="{7FF2CECF-2DD2-4D12-81ED-725A02EC6D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3E46C9BB-2184-49F6-929C-B63DCCC43EC0}"/>
              </a:ext>
            </a:extLst>
          </p:cNvPr>
          <p:cNvSpPr/>
          <p:nvPr userDrawn="1"/>
        </p:nvSpPr>
        <p:spPr>
          <a:xfrm>
            <a:off x="-1" y="-2309"/>
            <a:ext cx="12192001" cy="4802909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F99D5-362B-4E9D-827E-12E0AEE28714}"/>
              </a:ext>
            </a:extLst>
          </p:cNvPr>
          <p:cNvSpPr/>
          <p:nvPr userDrawn="1"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25177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3266"/>
            <a:ext cx="12192000" cy="71641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2000" cy="6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763" y="7366"/>
            <a:ext cx="9867053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1582" y="3120009"/>
            <a:ext cx="7742767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6906" y="6584391"/>
            <a:ext cx="2103119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 spc="-10"/>
              <a:t>Université</a:t>
            </a:r>
            <a:r>
              <a:rPr lang="fr-FR" spc="20"/>
              <a:t> </a:t>
            </a:r>
            <a:r>
              <a:rPr lang="fr-FR" spc="-10"/>
              <a:t>Constantine</a:t>
            </a:r>
            <a:r>
              <a:rPr lang="fr-FR" spc="20"/>
              <a:t> </a:t>
            </a:r>
            <a:r>
              <a:rPr lang="fr-FR" spc="-50"/>
              <a:t>2</a:t>
            </a:r>
            <a:endParaRPr lang="fr-FR"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250602" y="6589877"/>
            <a:ext cx="1779693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©</a:t>
            </a:r>
            <a:r>
              <a:rPr lang="fr-FR" spc="-15"/>
              <a:t> </a:t>
            </a:r>
            <a:r>
              <a:rPr lang="fr-FR" spc="-40"/>
              <a:t>Dr.</a:t>
            </a:r>
            <a:r>
              <a:rPr lang="fr-FR" spc="-25"/>
              <a:t> </a:t>
            </a:r>
            <a:r>
              <a:rPr lang="fr-FR"/>
              <a:t>Chaouche</a:t>
            </a:r>
            <a:r>
              <a:rPr lang="fr-FR" spc="-25"/>
              <a:t> </a:t>
            </a:r>
            <a:r>
              <a:rPr lang="fr-FR"/>
              <a:t>A.-</a:t>
            </a:r>
            <a:r>
              <a:rPr lang="fr-FR" spc="-25"/>
              <a:t>C.</a:t>
            </a:r>
            <a:endParaRPr lang="fr-FR"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82043" y="6560769"/>
            <a:ext cx="357293" cy="2080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5.png"/><Relationship Id="rId5" Type="http://schemas.openxmlformats.org/officeDocument/2006/relationships/image" Target="../media/image2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5" Type="http://schemas.openxmlformats.org/officeDocument/2006/relationships/image" Target="../media/image2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2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8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47.png"/><Relationship Id="rId2" Type="http://schemas.openxmlformats.org/officeDocument/2006/relationships/image" Target="../media/image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46.png"/><Relationship Id="rId5" Type="http://schemas.openxmlformats.org/officeDocument/2006/relationships/image" Target="../media/image2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8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46.png"/><Relationship Id="rId5" Type="http://schemas.openxmlformats.org/officeDocument/2006/relationships/image" Target="../media/image2.png"/><Relationship Id="rId15" Type="http://schemas.openxmlformats.org/officeDocument/2006/relationships/image" Target="../media/image55.png"/><Relationship Id="rId10" Type="http://schemas.openxmlformats.org/officeDocument/2006/relationships/image" Target="../media/image53.png"/><Relationship Id="rId4" Type="http://schemas.openxmlformats.org/officeDocument/2006/relationships/image" Target="../media/image9.png"/><Relationship Id="rId9" Type="http://schemas.openxmlformats.org/officeDocument/2006/relationships/image" Target="../media/image52.png"/><Relationship Id="rId1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5.jp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11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8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88.png"/><Relationship Id="rId5" Type="http://schemas.openxmlformats.org/officeDocument/2006/relationships/image" Target="../media/image83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103.png"/><Relationship Id="rId18" Type="http://schemas.openxmlformats.org/officeDocument/2006/relationships/image" Target="../media/image107.png"/><Relationship Id="rId26" Type="http://schemas.openxmlformats.org/officeDocument/2006/relationships/image" Target="../media/image115.png"/><Relationship Id="rId3" Type="http://schemas.openxmlformats.org/officeDocument/2006/relationships/image" Target="../media/image81.png"/><Relationship Id="rId21" Type="http://schemas.openxmlformats.org/officeDocument/2006/relationships/image" Target="../media/image110.png"/><Relationship Id="rId7" Type="http://schemas.openxmlformats.org/officeDocument/2006/relationships/image" Target="../media/image99.png"/><Relationship Id="rId12" Type="http://schemas.openxmlformats.org/officeDocument/2006/relationships/image" Target="../media/image102.png"/><Relationship Id="rId17" Type="http://schemas.openxmlformats.org/officeDocument/2006/relationships/image" Target="../media/image106.png"/><Relationship Id="rId25" Type="http://schemas.openxmlformats.org/officeDocument/2006/relationships/image" Target="../media/image114.png"/><Relationship Id="rId2" Type="http://schemas.openxmlformats.org/officeDocument/2006/relationships/image" Target="../media/image80.png"/><Relationship Id="rId16" Type="http://schemas.openxmlformats.org/officeDocument/2006/relationships/image" Target="../media/image73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101.png"/><Relationship Id="rId24" Type="http://schemas.openxmlformats.org/officeDocument/2006/relationships/image" Target="../media/image113.png"/><Relationship Id="rId5" Type="http://schemas.openxmlformats.org/officeDocument/2006/relationships/image" Target="../media/image98.png"/><Relationship Id="rId15" Type="http://schemas.openxmlformats.org/officeDocument/2006/relationships/image" Target="../media/image105.png"/><Relationship Id="rId23" Type="http://schemas.openxmlformats.org/officeDocument/2006/relationships/image" Target="../media/image112.png"/><Relationship Id="rId10" Type="http://schemas.openxmlformats.org/officeDocument/2006/relationships/image" Target="../media/image91.png"/><Relationship Id="rId19" Type="http://schemas.openxmlformats.org/officeDocument/2006/relationships/image" Target="../media/image108.png"/><Relationship Id="rId4" Type="http://schemas.openxmlformats.org/officeDocument/2006/relationships/image" Target="../media/image97.png"/><Relationship Id="rId9" Type="http://schemas.openxmlformats.org/officeDocument/2006/relationships/image" Target="../media/image100.png"/><Relationship Id="rId14" Type="http://schemas.openxmlformats.org/officeDocument/2006/relationships/image" Target="../media/image104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8.jp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4.png"/><Relationship Id="rId5" Type="http://schemas.openxmlformats.org/officeDocument/2006/relationships/image" Target="../media/image119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4" Type="http://schemas.openxmlformats.org/officeDocument/2006/relationships/image" Target="../media/image110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129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c.chaouche@misc-umc.org" TargetMode="External"/><Relationship Id="rId4" Type="http://schemas.openxmlformats.org/officeDocument/2006/relationships/hyperlink" Target="http://elearning.univ-constantine2.d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://vogella.developpez.com/tutoriels/android/utilisation-inte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upinfo.com/articles/single/1550-serialisation-objet-android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hyperlink" Target="http://developer.android.com/reference/android/view/View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upertos.free.fr/supertos.php?page=1091" TargetMode="External"/><Relationship Id="rId5" Type="http://schemas.openxmlformats.org/officeDocument/2006/relationships/image" Target="../media/image5.jpg"/><Relationship Id="rId4" Type="http://schemas.openxmlformats.org/officeDocument/2006/relationships/hyperlink" Target="https://cyrilmottier.com/2009/03/11/utilisation-des-logx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2EA3E-A478-45AF-8BCF-AA318BB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5405703"/>
            <a:ext cx="7181850" cy="461692"/>
          </a:xfrm>
        </p:spPr>
        <p:txBody>
          <a:bodyPr>
            <a:noAutofit/>
          </a:bodyPr>
          <a:lstStyle/>
          <a:p>
            <a:pPr algn="l"/>
            <a:r>
              <a:rPr lang="en" sz="3200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Cours de </a:t>
            </a:r>
            <a:r>
              <a:rPr lang="en-US" sz="3200" b="1" dirty="0" err="1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Développement</a:t>
            </a:r>
            <a:r>
              <a:rPr lang="en-US" sz="3200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Mobile</a:t>
            </a:r>
            <a:endParaRPr lang="en-IN" sz="2000" b="1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8800" y="5711327"/>
            <a:ext cx="2103119" cy="156068"/>
          </a:xfrm>
        </p:spPr>
        <p:txBody>
          <a:bodyPr/>
          <a:lstStyle/>
          <a:p>
            <a:pPr algn="l" defTabSz="914355" rtl="0">
              <a:buClr>
                <a:srgbClr val="000000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rPr>
              <a:t>AMINA ABOULMIRA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21A536-FAB3-A183-8059-3F83B2F9B295}"/>
              </a:ext>
            </a:extLst>
          </p:cNvPr>
          <p:cNvSpPr txBox="1">
            <a:spLocks/>
          </p:cNvSpPr>
          <p:nvPr/>
        </p:nvSpPr>
        <p:spPr>
          <a:xfrm>
            <a:off x="933333" y="5859230"/>
            <a:ext cx="4496463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914355">
              <a:buClr>
                <a:srgbClr val="000000"/>
              </a:buClr>
            </a:pPr>
            <a:r>
              <a:rPr lang="fr-FR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Evènements et intentions</a:t>
            </a:r>
            <a:endParaRPr lang="en" sz="1600" b="1" dirty="0">
              <a:solidFill>
                <a:srgbClr val="00B0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1DCF9-588E-4536-BE09-9F9C6D554AD1}"/>
              </a:ext>
            </a:extLst>
          </p:cNvPr>
          <p:cNvSpPr/>
          <p:nvPr/>
        </p:nvSpPr>
        <p:spPr>
          <a:xfrm>
            <a:off x="8201479" y="3946512"/>
            <a:ext cx="2114550" cy="7445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342900" rtl="0"/>
            <a:endParaRPr lang="ar-MA" sz="1350" kern="1200">
              <a:solidFill>
                <a:prstClr val="white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3F4EF88-02C2-421B-A5A3-19CFFE18F05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23802" y="4021712"/>
            <a:ext cx="1669904" cy="5941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4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2091183"/>
            <a:ext cx="109728" cy="1249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87067" y="1504431"/>
            <a:ext cx="4870450" cy="11131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spcBef>
                <a:spcPts val="434"/>
              </a:spcBef>
            </a:pPr>
            <a:r>
              <a:rPr sz="2400" b="1" spc="-10" dirty="0">
                <a:solidFill>
                  <a:srgbClr val="3A8B39"/>
                </a:solidFill>
                <a:latin typeface="Calibri"/>
                <a:cs typeface="Calibri"/>
              </a:rPr>
              <a:t>Prérequis</a:t>
            </a:r>
            <a:endParaRPr sz="2400">
              <a:latin typeface="Calibri"/>
              <a:cs typeface="Calibri"/>
            </a:endParaRPr>
          </a:p>
          <a:p>
            <a:pPr marL="570230">
              <a:spcBef>
                <a:spcPts val="280"/>
              </a:spcBef>
            </a:pPr>
            <a:r>
              <a:rPr sz="2000" dirty="0">
                <a:latin typeface="Calibri"/>
                <a:cs typeface="Calibri"/>
              </a:rPr>
              <a:t>Maîtrise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Android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Studio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265"/>
              </a:spcBef>
            </a:pPr>
            <a:r>
              <a:rPr sz="2000" dirty="0">
                <a:latin typeface="Calibri"/>
                <a:cs typeface="Calibri"/>
              </a:rPr>
              <a:t>Création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exécution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Android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2429637"/>
            <a:ext cx="109728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4354448"/>
            <a:ext cx="109728" cy="1249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7068" y="3769199"/>
            <a:ext cx="7905115" cy="214584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spcBef>
                <a:spcPts val="425"/>
              </a:spcBef>
            </a:pP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Objectifs</a:t>
            </a:r>
            <a:r>
              <a:rPr sz="24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du</a:t>
            </a:r>
            <a:r>
              <a:rPr sz="24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A8B39"/>
                </a:solidFill>
                <a:latin typeface="Calibri"/>
                <a:cs typeface="Calibri"/>
              </a:rPr>
              <a:t>cours</a:t>
            </a:r>
            <a:endParaRPr sz="2400" dirty="0">
              <a:latin typeface="Calibri"/>
              <a:cs typeface="Calibri"/>
            </a:endParaRPr>
          </a:p>
          <a:p>
            <a:pPr marL="547370">
              <a:spcBef>
                <a:spcPts val="280"/>
              </a:spcBef>
            </a:pPr>
            <a:r>
              <a:rPr sz="2000" dirty="0">
                <a:latin typeface="Calibri"/>
                <a:cs typeface="Calibri"/>
              </a:rPr>
              <a:t>Gérer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évènements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(click,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key,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...)</a:t>
            </a:r>
            <a:endParaRPr sz="2000" dirty="0">
              <a:latin typeface="Calibri"/>
              <a:cs typeface="Calibri"/>
            </a:endParaRPr>
          </a:p>
          <a:p>
            <a:pPr marL="547370">
              <a:spcBef>
                <a:spcPts val="265"/>
              </a:spcBef>
            </a:pPr>
            <a:r>
              <a:rPr sz="2000" dirty="0">
                <a:latin typeface="Calibri"/>
                <a:cs typeface="Calibri"/>
              </a:rPr>
              <a:t>Afficher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journalisation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(Logs)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d’information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(Toasts)</a:t>
            </a:r>
            <a:endParaRPr lang="fr-FR" sz="2000" spc="-10" dirty="0">
              <a:latin typeface="Calibri"/>
              <a:cs typeface="Calibri"/>
            </a:endParaRPr>
          </a:p>
          <a:p>
            <a:pPr marL="547370">
              <a:spcBef>
                <a:spcPts val="265"/>
              </a:spcBef>
            </a:pPr>
            <a:r>
              <a:rPr lang="fr-FR" sz="2000" spc="-10" dirty="0">
                <a:latin typeface="Calibri"/>
                <a:cs typeface="Calibri"/>
              </a:rPr>
              <a:t>Passer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d’une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activité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à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une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autre </a:t>
            </a:r>
            <a:r>
              <a:rPr lang="fr-FR" sz="2000" spc="-30" dirty="0">
                <a:latin typeface="Calibri"/>
                <a:cs typeface="Calibri"/>
              </a:rPr>
              <a:t>Transférer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des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données</a:t>
            </a:r>
            <a:r>
              <a:rPr lang="fr-FR" sz="2000" spc="-7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entre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les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activités </a:t>
            </a:r>
            <a:r>
              <a:rPr lang="fr-FR" sz="2000" dirty="0">
                <a:latin typeface="Calibri"/>
                <a:cs typeface="Calibri"/>
              </a:rPr>
              <a:t>Détecter</a:t>
            </a:r>
            <a:r>
              <a:rPr lang="fr-FR" sz="2000" spc="-6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et</a:t>
            </a:r>
            <a:r>
              <a:rPr lang="fr-FR" sz="2000" spc="-6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résoudre</a:t>
            </a:r>
            <a:r>
              <a:rPr lang="fr-FR" sz="2000" spc="-6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des</a:t>
            </a:r>
            <a:r>
              <a:rPr lang="fr-FR" sz="2000" spc="-6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exceptions</a:t>
            </a:r>
            <a:endParaRPr lang="fr-FR" sz="2000" dirty="0">
              <a:latin typeface="Calibri"/>
              <a:cs typeface="Calibri"/>
            </a:endParaRPr>
          </a:p>
          <a:p>
            <a:pPr marL="547370">
              <a:spcBef>
                <a:spcPts val="265"/>
              </a:spcBef>
            </a:pPr>
            <a:endParaRPr sz="20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4692650"/>
            <a:ext cx="109728" cy="1249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140462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Résumé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0701" y="1757172"/>
            <a:ext cx="586739" cy="61417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pic>
        <p:nvPicPr>
          <p:cNvPr id="13" name="object 7">
            <a:extLst>
              <a:ext uri="{FF2B5EF4-FFF2-40B4-BE49-F238E27FC236}">
                <a16:creationId xmlns:a16="http://schemas.microsoft.com/office/drawing/2014/main" id="{1F971C65-BBF1-4049-BD3A-22BA50C0B2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5030852"/>
            <a:ext cx="109728" cy="124968"/>
          </a:xfrm>
          <a:prstGeom prst="rect">
            <a:avLst/>
          </a:prstGeom>
        </p:spPr>
      </p:pic>
      <p:pic>
        <p:nvPicPr>
          <p:cNvPr id="14" name="object 7">
            <a:extLst>
              <a:ext uri="{FF2B5EF4-FFF2-40B4-BE49-F238E27FC236}">
                <a16:creationId xmlns:a16="http://schemas.microsoft.com/office/drawing/2014/main" id="{6862CC77-5B74-4A6F-BB61-0F2258418D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5337369"/>
            <a:ext cx="109728" cy="124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4391" y="2068703"/>
            <a:ext cx="109537" cy="1249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87067" y="1428597"/>
            <a:ext cx="5090160" cy="8280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Abonner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l’activité</a:t>
            </a:r>
            <a:r>
              <a:rPr sz="2000" b="1" spc="-7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à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des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évènements</a:t>
            </a:r>
            <a:r>
              <a:rPr sz="2000" b="1" spc="-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spécifiques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760"/>
              </a:spcBef>
            </a:pPr>
            <a:r>
              <a:rPr sz="2000" b="1" dirty="0">
                <a:latin typeface="Calibri"/>
                <a:cs typeface="Calibri"/>
              </a:rPr>
              <a:t>Listener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Observer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pattern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Gestion</a:t>
            </a:r>
            <a:r>
              <a:rPr spc="-70" dirty="0"/>
              <a:t> </a:t>
            </a:r>
            <a:r>
              <a:rPr dirty="0"/>
              <a:t>des</a:t>
            </a:r>
            <a:r>
              <a:rPr spc="-55" dirty="0"/>
              <a:t> </a:t>
            </a:r>
            <a:r>
              <a:rPr dirty="0"/>
              <a:t>événements</a:t>
            </a:r>
            <a:r>
              <a:rPr spc="-80" dirty="0"/>
              <a:t> </a:t>
            </a:r>
            <a:r>
              <a:rPr dirty="0"/>
              <a:t>(1/2)</a:t>
            </a:r>
            <a:r>
              <a:rPr spc="-6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spc="-20" dirty="0"/>
              <a:t>Clic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2572" y="683514"/>
            <a:ext cx="4291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8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1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: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En</a:t>
            </a:r>
            <a:r>
              <a:rPr sz="2400" spc="-2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utilisant</a:t>
            </a:r>
            <a:r>
              <a:rPr sz="2400" spc="-4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un</a:t>
            </a:r>
            <a:r>
              <a:rPr sz="2400" spc="-2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listener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79092" y="2625789"/>
            <a:ext cx="3518535" cy="630555"/>
            <a:chOff x="355091" y="2625788"/>
            <a:chExt cx="3518535" cy="63055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19" y="2656092"/>
              <a:ext cx="3513670" cy="4995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091" y="2625788"/>
              <a:ext cx="3173730" cy="6301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4903" y="2671572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19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24887" y="2693671"/>
            <a:ext cx="27622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69948" y="2993124"/>
            <a:ext cx="8570595" cy="3076575"/>
            <a:chOff x="345947" y="2993123"/>
            <a:chExt cx="8570595" cy="307657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947" y="2993123"/>
              <a:ext cx="8570214" cy="30289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8619" y="3066275"/>
              <a:ext cx="6198870" cy="300304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4903" y="3022092"/>
              <a:ext cx="8394700" cy="2853055"/>
            </a:xfrm>
            <a:custGeom>
              <a:avLst/>
              <a:gdLst/>
              <a:ahLst/>
              <a:cxnLst/>
              <a:rect l="l" t="t" r="r" b="b"/>
              <a:pathLst>
                <a:path w="8394700" h="2853054">
                  <a:moveTo>
                    <a:pt x="8145907" y="0"/>
                  </a:moveTo>
                  <a:lnTo>
                    <a:pt x="0" y="0"/>
                  </a:lnTo>
                  <a:lnTo>
                    <a:pt x="0" y="2604693"/>
                  </a:lnTo>
                  <a:lnTo>
                    <a:pt x="5043" y="2654721"/>
                  </a:lnTo>
                  <a:lnTo>
                    <a:pt x="19507" y="2701317"/>
                  </a:lnTo>
                  <a:lnTo>
                    <a:pt x="42394" y="2743484"/>
                  </a:lnTo>
                  <a:lnTo>
                    <a:pt x="72705" y="2780222"/>
                  </a:lnTo>
                  <a:lnTo>
                    <a:pt x="109443" y="2810533"/>
                  </a:lnTo>
                  <a:lnTo>
                    <a:pt x="151610" y="2833420"/>
                  </a:lnTo>
                  <a:lnTo>
                    <a:pt x="198206" y="2847884"/>
                  </a:lnTo>
                  <a:lnTo>
                    <a:pt x="248234" y="2852928"/>
                  </a:lnTo>
                  <a:lnTo>
                    <a:pt x="8394192" y="2852928"/>
                  </a:lnTo>
                  <a:lnTo>
                    <a:pt x="8394192" y="248285"/>
                  </a:lnTo>
                  <a:lnTo>
                    <a:pt x="8389149" y="198236"/>
                  </a:lnTo>
                  <a:lnTo>
                    <a:pt x="8374685" y="151626"/>
                  </a:lnTo>
                  <a:lnTo>
                    <a:pt x="8351798" y="109450"/>
                  </a:lnTo>
                  <a:lnTo>
                    <a:pt x="8321484" y="72707"/>
                  </a:lnTo>
                  <a:lnTo>
                    <a:pt x="8284741" y="42393"/>
                  </a:lnTo>
                  <a:lnTo>
                    <a:pt x="8242565" y="19506"/>
                  </a:lnTo>
                  <a:lnTo>
                    <a:pt x="8195955" y="5042"/>
                  </a:lnTo>
                  <a:lnTo>
                    <a:pt x="8145907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xfrm>
            <a:off x="2225583" y="3120010"/>
            <a:ext cx="7742767" cy="269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pc="-10" dirty="0"/>
              <a:t>@Override</a:t>
            </a:r>
          </a:p>
          <a:p>
            <a:pPr marL="12700">
              <a:lnSpc>
                <a:spcPts val="1910"/>
              </a:lnSpc>
            </a:pPr>
            <a:r>
              <a:rPr sz="1600" dirty="0">
                <a:solidFill>
                  <a:srgbClr val="7E0054"/>
                </a:solidFill>
              </a:rPr>
              <a:t>public</a:t>
            </a:r>
            <a:r>
              <a:rPr sz="1600" spc="-65" dirty="0">
                <a:solidFill>
                  <a:srgbClr val="7E0054"/>
                </a:solidFill>
              </a:rPr>
              <a:t> </a:t>
            </a:r>
            <a:r>
              <a:rPr sz="1600" dirty="0">
                <a:solidFill>
                  <a:srgbClr val="0000FF"/>
                </a:solidFill>
              </a:rPr>
              <a:t>void</a:t>
            </a:r>
            <a:r>
              <a:rPr sz="1600" spc="-55" dirty="0">
                <a:solidFill>
                  <a:srgbClr val="0000FF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onCreate(</a:t>
            </a:r>
            <a:r>
              <a:rPr sz="1600" dirty="0">
                <a:solidFill>
                  <a:srgbClr val="006FC0"/>
                </a:solidFill>
              </a:rPr>
              <a:t>Bundle</a:t>
            </a:r>
            <a:r>
              <a:rPr sz="1600" spc="-65" dirty="0">
                <a:solidFill>
                  <a:srgbClr val="006FC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savedInstanceState)</a:t>
            </a:r>
            <a:r>
              <a:rPr sz="1600" spc="-60" dirty="0">
                <a:solidFill>
                  <a:srgbClr val="000000"/>
                </a:solidFill>
              </a:rPr>
              <a:t> </a:t>
            </a:r>
            <a:r>
              <a:rPr sz="1600" spc="-50" dirty="0">
                <a:solidFill>
                  <a:srgbClr val="000000"/>
                </a:solidFill>
              </a:rPr>
              <a:t>{</a:t>
            </a:r>
            <a:endParaRPr sz="1600"/>
          </a:p>
          <a:p>
            <a:pPr marL="346075"/>
            <a:r>
              <a:rPr sz="1600" spc="-25" dirty="0">
                <a:solidFill>
                  <a:srgbClr val="001F5F"/>
                </a:solidFill>
              </a:rPr>
              <a:t>...</a:t>
            </a:r>
            <a:endParaRPr sz="1600"/>
          </a:p>
          <a:p>
            <a:pPr marL="346075" marR="5080"/>
            <a:r>
              <a:rPr sz="1600" dirty="0">
                <a:solidFill>
                  <a:srgbClr val="006FC0"/>
                </a:solidFill>
              </a:rPr>
              <a:t>Button</a:t>
            </a:r>
            <a:r>
              <a:rPr sz="1600" spc="-35" dirty="0">
                <a:solidFill>
                  <a:srgbClr val="006FC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b</a:t>
            </a:r>
            <a:r>
              <a:rPr sz="1600" spc="-20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=</a:t>
            </a:r>
            <a:r>
              <a:rPr sz="1600" spc="-35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(</a:t>
            </a:r>
            <a:r>
              <a:rPr sz="1600" dirty="0">
                <a:solidFill>
                  <a:srgbClr val="006FC0"/>
                </a:solidFill>
              </a:rPr>
              <a:t>Button</a:t>
            </a:r>
            <a:r>
              <a:rPr sz="1600" dirty="0">
                <a:solidFill>
                  <a:srgbClr val="000000"/>
                </a:solidFill>
              </a:rPr>
              <a:t>)</a:t>
            </a:r>
            <a:r>
              <a:rPr sz="1600" spc="-25" dirty="0">
                <a:solidFill>
                  <a:srgbClr val="000000"/>
                </a:solidFill>
              </a:rPr>
              <a:t> </a:t>
            </a:r>
            <a:r>
              <a:rPr sz="1600" spc="-10" dirty="0">
                <a:solidFill>
                  <a:srgbClr val="000000"/>
                </a:solidFill>
              </a:rPr>
              <a:t>findViewById(</a:t>
            </a:r>
            <a:r>
              <a:rPr sz="1600" spc="-10" dirty="0">
                <a:solidFill>
                  <a:srgbClr val="006FC0"/>
                </a:solidFill>
              </a:rPr>
              <a:t>R</a:t>
            </a:r>
            <a:r>
              <a:rPr sz="1600" spc="-10" dirty="0">
                <a:solidFill>
                  <a:srgbClr val="000000"/>
                </a:solidFill>
              </a:rPr>
              <a:t>.</a:t>
            </a:r>
            <a:r>
              <a:rPr sz="1600" spc="-10" dirty="0">
                <a:solidFill>
                  <a:srgbClr val="006FC0"/>
                </a:solidFill>
              </a:rPr>
              <a:t>id</a:t>
            </a:r>
            <a:r>
              <a:rPr sz="1600" spc="-10" dirty="0">
                <a:solidFill>
                  <a:srgbClr val="000000"/>
                </a:solidFill>
              </a:rPr>
              <a:t>.btn); </a:t>
            </a:r>
            <a:r>
              <a:rPr sz="1600" dirty="0">
                <a:solidFill>
                  <a:srgbClr val="000000"/>
                </a:solidFill>
              </a:rPr>
              <a:t>b</a:t>
            </a:r>
            <a:r>
              <a:rPr sz="1600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.setOnClickListener</a:t>
            </a:r>
            <a:r>
              <a:rPr sz="1600" dirty="0">
                <a:solidFill>
                  <a:srgbClr val="000000"/>
                </a:solidFill>
              </a:rPr>
              <a:t>(</a:t>
            </a:r>
            <a:r>
              <a:rPr sz="1600" dirty="0">
                <a:solidFill>
                  <a:srgbClr val="0000FF"/>
                </a:solidFill>
              </a:rPr>
              <a:t>new</a:t>
            </a:r>
            <a:r>
              <a:rPr sz="1600" spc="-135" dirty="0">
                <a:solidFill>
                  <a:srgbClr val="0000FF"/>
                </a:solidFill>
              </a:rPr>
              <a:t> </a:t>
            </a:r>
            <a:r>
              <a:rPr sz="1600" dirty="0">
                <a:solidFill>
                  <a:srgbClr val="006FC0"/>
                </a:solidFill>
              </a:rPr>
              <a:t>View</a:t>
            </a:r>
            <a:r>
              <a:rPr sz="1600" dirty="0">
                <a:solidFill>
                  <a:srgbClr val="000000"/>
                </a:solidFill>
              </a:rPr>
              <a:t>.</a:t>
            </a:r>
            <a:r>
              <a:rPr sz="1600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OnClickListener()</a:t>
            </a:r>
            <a:r>
              <a:rPr sz="1600" spc="-120" dirty="0">
                <a:solidFill>
                  <a:srgbClr val="000000"/>
                </a:solidFill>
              </a:rPr>
              <a:t> </a:t>
            </a:r>
            <a:r>
              <a:rPr sz="1600" spc="-50" dirty="0">
                <a:solidFill>
                  <a:srgbClr val="000000"/>
                </a:solidFill>
              </a:rPr>
              <a:t>{</a:t>
            </a:r>
            <a:endParaRPr sz="1600"/>
          </a:p>
          <a:p>
            <a:pPr marL="680085">
              <a:spcBef>
                <a:spcPts val="700"/>
              </a:spcBef>
            </a:pPr>
            <a:r>
              <a:rPr spc="-10" dirty="0"/>
              <a:t>@Override</a:t>
            </a:r>
          </a:p>
          <a:p>
            <a:pPr marL="680085">
              <a:spcBef>
                <a:spcPts val="80"/>
              </a:spcBef>
            </a:pPr>
            <a:r>
              <a:rPr sz="1600" dirty="0">
                <a:solidFill>
                  <a:srgbClr val="7E0054"/>
                </a:solidFill>
              </a:rPr>
              <a:t>public</a:t>
            </a:r>
            <a:r>
              <a:rPr sz="1600" spc="-40" dirty="0">
                <a:solidFill>
                  <a:srgbClr val="7E0054"/>
                </a:solidFill>
              </a:rPr>
              <a:t> </a:t>
            </a:r>
            <a:r>
              <a:rPr sz="1600" dirty="0">
                <a:solidFill>
                  <a:srgbClr val="031FF7"/>
                </a:solidFill>
              </a:rPr>
              <a:t>void</a:t>
            </a:r>
            <a:r>
              <a:rPr sz="1600" spc="-45" dirty="0">
                <a:solidFill>
                  <a:srgbClr val="031FF7"/>
                </a:solidFill>
              </a:rPr>
              <a:t> </a:t>
            </a:r>
            <a:r>
              <a:rPr sz="1600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onClick(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</a:rPr>
              <a:t>View</a:t>
            </a:r>
            <a:r>
              <a:rPr sz="1600" u="sng" spc="-35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1600" u="sng" spc="-25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v)</a:t>
            </a:r>
            <a:r>
              <a:rPr sz="1600" spc="-25" dirty="0">
                <a:solidFill>
                  <a:srgbClr val="000000"/>
                </a:solidFill>
              </a:rPr>
              <a:t>{</a:t>
            </a:r>
            <a:endParaRPr sz="1600"/>
          </a:p>
          <a:p>
            <a:pPr marL="1013460"/>
            <a:r>
              <a:rPr sz="1600" dirty="0">
                <a:solidFill>
                  <a:srgbClr val="000000"/>
                </a:solidFill>
              </a:rPr>
              <a:t>...</a:t>
            </a:r>
            <a:r>
              <a:rPr sz="1600" spc="-20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A6A6A6"/>
                </a:solidFill>
              </a:rPr>
              <a:t>//</a:t>
            </a:r>
            <a:r>
              <a:rPr sz="1600" spc="-15" dirty="0">
                <a:solidFill>
                  <a:srgbClr val="A6A6A6"/>
                </a:solidFill>
              </a:rPr>
              <a:t> </a:t>
            </a:r>
            <a:r>
              <a:rPr sz="1600" dirty="0">
                <a:solidFill>
                  <a:srgbClr val="A6A6A6"/>
                </a:solidFill>
              </a:rPr>
              <a:t>bouton</a:t>
            </a:r>
            <a:r>
              <a:rPr sz="1600" spc="-20" dirty="0">
                <a:solidFill>
                  <a:srgbClr val="A6A6A6"/>
                </a:solidFill>
              </a:rPr>
              <a:t> </a:t>
            </a:r>
            <a:r>
              <a:rPr sz="1600" spc="-10" dirty="0">
                <a:solidFill>
                  <a:srgbClr val="A6A6A6"/>
                </a:solidFill>
              </a:rPr>
              <a:t>cliqué!!!</a:t>
            </a:r>
            <a:endParaRPr sz="1600"/>
          </a:p>
          <a:p>
            <a:pPr marL="680085"/>
            <a:r>
              <a:rPr sz="1600" spc="-50" dirty="0">
                <a:solidFill>
                  <a:srgbClr val="000000"/>
                </a:solidFill>
              </a:rPr>
              <a:t>}</a:t>
            </a:r>
            <a:endParaRPr sz="1600"/>
          </a:p>
          <a:p>
            <a:pPr marL="346075"/>
            <a:r>
              <a:rPr sz="1600" spc="-25" dirty="0">
                <a:solidFill>
                  <a:srgbClr val="000000"/>
                </a:solidFill>
              </a:rPr>
              <a:t>});</a:t>
            </a:r>
            <a:endParaRPr sz="1600"/>
          </a:p>
          <a:p>
            <a:pPr marL="12700"/>
            <a:r>
              <a:rPr sz="1600" spc="-50" dirty="0">
                <a:solidFill>
                  <a:srgbClr val="000000"/>
                </a:solidFill>
              </a:rPr>
              <a:t>}</a:t>
            </a:r>
            <a:endParaRPr sz="1600"/>
          </a:p>
        </p:txBody>
      </p:sp>
      <p:grpSp>
        <p:nvGrpSpPr>
          <p:cNvPr id="21" name="object 21"/>
          <p:cNvGrpSpPr/>
          <p:nvPr/>
        </p:nvGrpSpPr>
        <p:grpSpPr>
          <a:xfrm>
            <a:off x="8125207" y="1598675"/>
            <a:ext cx="2085975" cy="2263140"/>
            <a:chOff x="6601206" y="1598675"/>
            <a:chExt cx="2085975" cy="2263140"/>
          </a:xfrm>
        </p:grpSpPr>
        <p:sp>
          <p:nvSpPr>
            <p:cNvPr id="22" name="object 22"/>
            <p:cNvSpPr/>
            <p:nvPr/>
          </p:nvSpPr>
          <p:spPr>
            <a:xfrm>
              <a:off x="6601206" y="2035067"/>
              <a:ext cx="1233805" cy="171450"/>
            </a:xfrm>
            <a:custGeom>
              <a:avLst/>
              <a:gdLst/>
              <a:ahLst/>
              <a:cxnLst/>
              <a:rect l="l" t="t" r="r" b="b"/>
              <a:pathLst>
                <a:path w="1233804" h="171450">
                  <a:moveTo>
                    <a:pt x="1157877" y="85578"/>
                  </a:moveTo>
                  <a:lnTo>
                    <a:pt x="1071879" y="135743"/>
                  </a:lnTo>
                  <a:lnTo>
                    <a:pt x="1066200" y="140795"/>
                  </a:lnTo>
                  <a:lnTo>
                    <a:pt x="1063021" y="147395"/>
                  </a:lnTo>
                  <a:lnTo>
                    <a:pt x="1062557" y="154709"/>
                  </a:lnTo>
                  <a:lnTo>
                    <a:pt x="1065022" y="161905"/>
                  </a:lnTo>
                  <a:lnTo>
                    <a:pt x="1070072" y="167512"/>
                  </a:lnTo>
                  <a:lnTo>
                    <a:pt x="1076658" y="170668"/>
                  </a:lnTo>
                  <a:lnTo>
                    <a:pt x="1083935" y="171156"/>
                  </a:lnTo>
                  <a:lnTo>
                    <a:pt x="1091057" y="168763"/>
                  </a:lnTo>
                  <a:lnTo>
                    <a:pt x="1200918" y="104628"/>
                  </a:lnTo>
                  <a:lnTo>
                    <a:pt x="1195832" y="104628"/>
                  </a:lnTo>
                  <a:lnTo>
                    <a:pt x="1195832" y="102088"/>
                  </a:lnTo>
                  <a:lnTo>
                    <a:pt x="1186179" y="102088"/>
                  </a:lnTo>
                  <a:lnTo>
                    <a:pt x="1157877" y="85578"/>
                  </a:lnTo>
                  <a:close/>
                </a:path>
                <a:path w="1233804" h="171450">
                  <a:moveTo>
                    <a:pt x="1125220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1125219" y="104628"/>
                  </a:lnTo>
                  <a:lnTo>
                    <a:pt x="1157877" y="85578"/>
                  </a:lnTo>
                  <a:lnTo>
                    <a:pt x="1125220" y="66528"/>
                  </a:lnTo>
                  <a:close/>
                </a:path>
                <a:path w="1233804" h="171450">
                  <a:moveTo>
                    <a:pt x="1200918" y="66528"/>
                  </a:moveTo>
                  <a:lnTo>
                    <a:pt x="1195832" y="66528"/>
                  </a:lnTo>
                  <a:lnTo>
                    <a:pt x="1195832" y="104628"/>
                  </a:lnTo>
                  <a:lnTo>
                    <a:pt x="1200918" y="104628"/>
                  </a:lnTo>
                  <a:lnTo>
                    <a:pt x="1233551" y="85578"/>
                  </a:lnTo>
                  <a:lnTo>
                    <a:pt x="1200918" y="66528"/>
                  </a:lnTo>
                  <a:close/>
                </a:path>
                <a:path w="1233804" h="171450">
                  <a:moveTo>
                    <a:pt x="1186179" y="69068"/>
                  </a:moveTo>
                  <a:lnTo>
                    <a:pt x="1157877" y="85578"/>
                  </a:lnTo>
                  <a:lnTo>
                    <a:pt x="1186179" y="102088"/>
                  </a:lnTo>
                  <a:lnTo>
                    <a:pt x="1186179" y="69068"/>
                  </a:lnTo>
                  <a:close/>
                </a:path>
                <a:path w="1233804" h="171450">
                  <a:moveTo>
                    <a:pt x="1195832" y="69068"/>
                  </a:moveTo>
                  <a:lnTo>
                    <a:pt x="1186179" y="69068"/>
                  </a:lnTo>
                  <a:lnTo>
                    <a:pt x="1186179" y="102088"/>
                  </a:lnTo>
                  <a:lnTo>
                    <a:pt x="1195832" y="102088"/>
                  </a:lnTo>
                  <a:lnTo>
                    <a:pt x="1195832" y="69068"/>
                  </a:lnTo>
                  <a:close/>
                </a:path>
                <a:path w="1233804" h="171450">
                  <a:moveTo>
                    <a:pt x="1083935" y="0"/>
                  </a:moveTo>
                  <a:lnTo>
                    <a:pt x="1076658" y="488"/>
                  </a:lnTo>
                  <a:lnTo>
                    <a:pt x="1070072" y="3643"/>
                  </a:lnTo>
                  <a:lnTo>
                    <a:pt x="1065022" y="9251"/>
                  </a:lnTo>
                  <a:lnTo>
                    <a:pt x="1062557" y="16446"/>
                  </a:lnTo>
                  <a:lnTo>
                    <a:pt x="1063021" y="23760"/>
                  </a:lnTo>
                  <a:lnTo>
                    <a:pt x="1066200" y="30360"/>
                  </a:lnTo>
                  <a:lnTo>
                    <a:pt x="1071879" y="35413"/>
                  </a:lnTo>
                  <a:lnTo>
                    <a:pt x="1157877" y="85578"/>
                  </a:lnTo>
                  <a:lnTo>
                    <a:pt x="1186179" y="69068"/>
                  </a:lnTo>
                  <a:lnTo>
                    <a:pt x="1195832" y="69068"/>
                  </a:lnTo>
                  <a:lnTo>
                    <a:pt x="1195832" y="66528"/>
                  </a:lnTo>
                  <a:lnTo>
                    <a:pt x="1200918" y="66528"/>
                  </a:lnTo>
                  <a:lnTo>
                    <a:pt x="1091057" y="2393"/>
                  </a:lnTo>
                  <a:lnTo>
                    <a:pt x="1083935" y="0"/>
                  </a:lnTo>
                  <a:close/>
                </a:path>
              </a:pathLst>
            </a:custGeom>
            <a:solidFill>
              <a:srgbClr val="3A8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58684" y="1598675"/>
              <a:ext cx="928116" cy="22631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18120" y="1638299"/>
              <a:ext cx="813815" cy="215036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335772" y="3594608"/>
            <a:ext cx="80454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latin typeface="Consolas"/>
                <a:cs typeface="Consolas"/>
              </a:rPr>
              <a:t>onClick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49897" y="1808989"/>
            <a:ext cx="1784985" cy="1818005"/>
            <a:chOff x="6025896" y="1808988"/>
            <a:chExt cx="1784985" cy="1818005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25896" y="1808988"/>
              <a:ext cx="585215" cy="64617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575171" y="3455435"/>
              <a:ext cx="1235710" cy="171450"/>
            </a:xfrm>
            <a:custGeom>
              <a:avLst/>
              <a:gdLst/>
              <a:ahLst/>
              <a:cxnLst/>
              <a:rect l="l" t="t" r="r" b="b"/>
              <a:pathLst>
                <a:path w="1235709" h="171450">
                  <a:moveTo>
                    <a:pt x="149689" y="0"/>
                  </a:moveTo>
                  <a:lnTo>
                    <a:pt x="142494" y="2393"/>
                  </a:lnTo>
                  <a:lnTo>
                    <a:pt x="0" y="85578"/>
                  </a:lnTo>
                  <a:lnTo>
                    <a:pt x="142494" y="168763"/>
                  </a:lnTo>
                  <a:lnTo>
                    <a:pt x="149689" y="171156"/>
                  </a:lnTo>
                  <a:lnTo>
                    <a:pt x="157003" y="170668"/>
                  </a:lnTo>
                  <a:lnTo>
                    <a:pt x="163603" y="167512"/>
                  </a:lnTo>
                  <a:lnTo>
                    <a:pt x="168655" y="161905"/>
                  </a:lnTo>
                  <a:lnTo>
                    <a:pt x="171049" y="154709"/>
                  </a:lnTo>
                  <a:lnTo>
                    <a:pt x="170560" y="147395"/>
                  </a:lnTo>
                  <a:lnTo>
                    <a:pt x="167405" y="140795"/>
                  </a:lnTo>
                  <a:lnTo>
                    <a:pt x="161798" y="135743"/>
                  </a:lnTo>
                  <a:lnTo>
                    <a:pt x="108458" y="104628"/>
                  </a:lnTo>
                  <a:lnTo>
                    <a:pt x="37846" y="104628"/>
                  </a:lnTo>
                  <a:lnTo>
                    <a:pt x="37846" y="66528"/>
                  </a:lnTo>
                  <a:lnTo>
                    <a:pt x="108458" y="66528"/>
                  </a:lnTo>
                  <a:lnTo>
                    <a:pt x="161798" y="35413"/>
                  </a:lnTo>
                  <a:lnTo>
                    <a:pt x="167405" y="30360"/>
                  </a:lnTo>
                  <a:lnTo>
                    <a:pt x="170560" y="23760"/>
                  </a:lnTo>
                  <a:lnTo>
                    <a:pt x="171049" y="16446"/>
                  </a:lnTo>
                  <a:lnTo>
                    <a:pt x="168655" y="9251"/>
                  </a:lnTo>
                  <a:lnTo>
                    <a:pt x="163603" y="3643"/>
                  </a:lnTo>
                  <a:lnTo>
                    <a:pt x="157003" y="488"/>
                  </a:lnTo>
                  <a:lnTo>
                    <a:pt x="149689" y="0"/>
                  </a:lnTo>
                  <a:close/>
                </a:path>
                <a:path w="1235709" h="171450">
                  <a:moveTo>
                    <a:pt x="108458" y="66528"/>
                  </a:moveTo>
                  <a:lnTo>
                    <a:pt x="37846" y="66528"/>
                  </a:lnTo>
                  <a:lnTo>
                    <a:pt x="37846" y="104628"/>
                  </a:lnTo>
                  <a:lnTo>
                    <a:pt x="108458" y="104628"/>
                  </a:lnTo>
                  <a:lnTo>
                    <a:pt x="104103" y="102088"/>
                  </a:lnTo>
                  <a:lnTo>
                    <a:pt x="47498" y="102088"/>
                  </a:lnTo>
                  <a:lnTo>
                    <a:pt x="47498" y="69068"/>
                  </a:lnTo>
                  <a:lnTo>
                    <a:pt x="104103" y="69068"/>
                  </a:lnTo>
                  <a:lnTo>
                    <a:pt x="108458" y="66528"/>
                  </a:lnTo>
                  <a:close/>
                </a:path>
                <a:path w="1235709" h="171450">
                  <a:moveTo>
                    <a:pt x="1235202" y="66528"/>
                  </a:moveTo>
                  <a:lnTo>
                    <a:pt x="108458" y="66528"/>
                  </a:lnTo>
                  <a:lnTo>
                    <a:pt x="75800" y="85578"/>
                  </a:lnTo>
                  <a:lnTo>
                    <a:pt x="108458" y="104628"/>
                  </a:lnTo>
                  <a:lnTo>
                    <a:pt x="1235202" y="104628"/>
                  </a:lnTo>
                  <a:lnTo>
                    <a:pt x="1235202" y="66528"/>
                  </a:lnTo>
                  <a:close/>
                </a:path>
                <a:path w="1235709" h="171450">
                  <a:moveTo>
                    <a:pt x="47498" y="69068"/>
                  </a:moveTo>
                  <a:lnTo>
                    <a:pt x="47498" y="102088"/>
                  </a:lnTo>
                  <a:lnTo>
                    <a:pt x="75800" y="85578"/>
                  </a:lnTo>
                  <a:lnTo>
                    <a:pt x="47498" y="69068"/>
                  </a:lnTo>
                  <a:close/>
                </a:path>
                <a:path w="1235709" h="171450">
                  <a:moveTo>
                    <a:pt x="75800" y="85578"/>
                  </a:moveTo>
                  <a:lnTo>
                    <a:pt x="47498" y="102088"/>
                  </a:lnTo>
                  <a:lnTo>
                    <a:pt x="104103" y="102088"/>
                  </a:lnTo>
                  <a:lnTo>
                    <a:pt x="75800" y="85578"/>
                  </a:lnTo>
                  <a:close/>
                </a:path>
                <a:path w="1235709" h="171450">
                  <a:moveTo>
                    <a:pt x="104103" y="69068"/>
                  </a:moveTo>
                  <a:lnTo>
                    <a:pt x="47498" y="69068"/>
                  </a:lnTo>
                  <a:lnTo>
                    <a:pt x="75800" y="85578"/>
                  </a:lnTo>
                  <a:lnTo>
                    <a:pt x="104103" y="69068"/>
                  </a:lnTo>
                  <a:close/>
                </a:path>
              </a:pathLst>
            </a:custGeom>
            <a:solidFill>
              <a:srgbClr val="3A8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386319" y="3319653"/>
            <a:ext cx="6978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0" dirty="0">
                <a:solidFill>
                  <a:srgbClr val="337817"/>
                </a:solidFill>
                <a:latin typeface="Consolas"/>
                <a:cs typeface="Consolas"/>
              </a:rPr>
              <a:t>callback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3</a:t>
            </a:fld>
            <a:endParaRPr spc="-25" dirty="0"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385429" y="1867701"/>
            <a:ext cx="581660" cy="56261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1750" algn="ctr">
              <a:spcBef>
                <a:spcPts val="470"/>
              </a:spcBef>
            </a:pPr>
            <a:r>
              <a:rPr sz="1200" b="1" spc="-20" dirty="0">
                <a:solidFill>
                  <a:srgbClr val="337817"/>
                </a:solidFill>
                <a:latin typeface="Consolas"/>
                <a:cs typeface="Consolas"/>
              </a:rPr>
              <a:t>call</a:t>
            </a:r>
            <a:endParaRPr sz="1200">
              <a:latin typeface="Consolas"/>
              <a:cs typeface="Consolas"/>
            </a:endParaRPr>
          </a:p>
          <a:p>
            <a:pPr algn="ctr">
              <a:spcBef>
                <a:spcPts val="495"/>
              </a:spcBef>
            </a:pPr>
            <a:r>
              <a:rPr sz="1600" b="1" spc="-10" dirty="0">
                <a:latin typeface="Consolas"/>
                <a:cs typeface="Consolas"/>
              </a:rPr>
              <a:t>click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534533" y="2088895"/>
            <a:ext cx="206660" cy="15011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600" b="1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1600" b="1" spc="-6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sz="1600" b="1" spc="-67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b="1" spc="90" dirty="0">
                <a:solidFill>
                  <a:srgbClr val="FFFFFF"/>
                </a:solidFill>
                <a:latin typeface="Consolas"/>
                <a:cs typeface="Consolas"/>
              </a:rPr>
              <a:t>PL</a:t>
            </a:r>
            <a:r>
              <a:rPr sz="1600" b="1" spc="-6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b="1" spc="90" dirty="0">
                <a:solidFill>
                  <a:srgbClr val="FFFFFF"/>
                </a:solidFill>
                <a:latin typeface="Consolas"/>
                <a:cs typeface="Consolas"/>
              </a:rPr>
              <a:t>IC</a:t>
            </a:r>
            <a:r>
              <a:rPr sz="1600" b="1" spc="-67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1600" b="1" spc="-6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b="1" spc="90" dirty="0">
                <a:solidFill>
                  <a:srgbClr val="FFFFFF"/>
                </a:solidFill>
                <a:latin typeface="Consolas"/>
                <a:cs typeface="Consolas"/>
              </a:rPr>
              <a:t>TI</a:t>
            </a:r>
            <a:r>
              <a:rPr sz="1600" b="1" spc="-67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b="1" spc="65" dirty="0">
                <a:solidFill>
                  <a:srgbClr val="FFFFFF"/>
                </a:solidFill>
                <a:latin typeface="Consolas"/>
                <a:cs typeface="Consolas"/>
              </a:rPr>
              <a:t>ON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Gestion</a:t>
            </a:r>
            <a:r>
              <a:rPr spc="-70" dirty="0"/>
              <a:t> </a:t>
            </a:r>
            <a:r>
              <a:rPr dirty="0"/>
              <a:t>des</a:t>
            </a:r>
            <a:r>
              <a:rPr spc="-55" dirty="0"/>
              <a:t> </a:t>
            </a:r>
            <a:r>
              <a:rPr dirty="0"/>
              <a:t>événements</a:t>
            </a:r>
            <a:r>
              <a:rPr spc="-80" dirty="0"/>
              <a:t> </a:t>
            </a:r>
            <a:r>
              <a:rPr dirty="0"/>
              <a:t>(2/2)</a:t>
            </a:r>
            <a:r>
              <a:rPr spc="-6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spc="-20" dirty="0"/>
              <a:t>Clic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39611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8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2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:</a:t>
            </a:r>
            <a:r>
              <a:rPr sz="2400" spc="-2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au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niveau</a:t>
            </a:r>
            <a:r>
              <a:rPr sz="2400" spc="-1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du</a:t>
            </a:r>
            <a:r>
              <a:rPr sz="2400" spc="-1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layout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9948" y="3721658"/>
            <a:ext cx="8570595" cy="2480310"/>
            <a:chOff x="345947" y="3721658"/>
            <a:chExt cx="8570595" cy="248031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9" y="3751848"/>
              <a:ext cx="3513670" cy="4995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3721658"/>
              <a:ext cx="3173730" cy="6285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4903" y="3767328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20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7"/>
                  </a:lnTo>
                  <a:lnTo>
                    <a:pt x="0" y="350520"/>
                  </a:lnTo>
                  <a:lnTo>
                    <a:pt x="3364992" y="350520"/>
                  </a:lnTo>
                  <a:lnTo>
                    <a:pt x="3364992" y="161417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4088904"/>
              <a:ext cx="8570214" cy="2113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7951" y="4151401"/>
              <a:ext cx="5865114" cy="198958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4117848"/>
              <a:ext cx="8394700" cy="1937385"/>
            </a:xfrm>
            <a:custGeom>
              <a:avLst/>
              <a:gdLst/>
              <a:ahLst/>
              <a:cxnLst/>
              <a:rect l="l" t="t" r="r" b="b"/>
              <a:pathLst>
                <a:path w="8394700" h="1937385">
                  <a:moveTo>
                    <a:pt x="8180451" y="0"/>
                  </a:moveTo>
                  <a:lnTo>
                    <a:pt x="0" y="0"/>
                  </a:lnTo>
                  <a:lnTo>
                    <a:pt x="0" y="1723313"/>
                  </a:lnTo>
                  <a:lnTo>
                    <a:pt x="5643" y="1772312"/>
                  </a:lnTo>
                  <a:lnTo>
                    <a:pt x="21719" y="1817290"/>
                  </a:lnTo>
                  <a:lnTo>
                    <a:pt x="46944" y="1856967"/>
                  </a:lnTo>
                  <a:lnTo>
                    <a:pt x="80036" y="1890059"/>
                  </a:lnTo>
                  <a:lnTo>
                    <a:pt x="119713" y="1915284"/>
                  </a:lnTo>
                  <a:lnTo>
                    <a:pt x="164691" y="1931360"/>
                  </a:lnTo>
                  <a:lnTo>
                    <a:pt x="213690" y="1937003"/>
                  </a:lnTo>
                  <a:lnTo>
                    <a:pt x="8394192" y="1937003"/>
                  </a:lnTo>
                  <a:lnTo>
                    <a:pt x="8394192" y="213740"/>
                  </a:lnTo>
                  <a:lnTo>
                    <a:pt x="8388550" y="164711"/>
                  </a:lnTo>
                  <a:lnTo>
                    <a:pt x="8372478" y="119715"/>
                  </a:lnTo>
                  <a:lnTo>
                    <a:pt x="8347255" y="80029"/>
                  </a:lnTo>
                  <a:lnTo>
                    <a:pt x="8314162" y="46936"/>
                  </a:lnTo>
                  <a:lnTo>
                    <a:pt x="8274476" y="21713"/>
                  </a:lnTo>
                  <a:lnTo>
                    <a:pt x="8229480" y="5641"/>
                  </a:lnTo>
                  <a:lnTo>
                    <a:pt x="8180451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869948" y="1754060"/>
            <a:ext cx="8570595" cy="1753870"/>
            <a:chOff x="345947" y="1754060"/>
            <a:chExt cx="8570595" cy="1753870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651" y="1784376"/>
              <a:ext cx="4111015" cy="4995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5091" y="1754060"/>
              <a:ext cx="3888486" cy="630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4903" y="1799844"/>
              <a:ext cx="3962400" cy="350520"/>
            </a:xfrm>
            <a:custGeom>
              <a:avLst/>
              <a:gdLst/>
              <a:ahLst/>
              <a:cxnLst/>
              <a:rect l="l" t="t" r="r" b="b"/>
              <a:pathLst>
                <a:path w="3962400" h="350519">
                  <a:moveTo>
                    <a:pt x="3800983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962400" y="350519"/>
                  </a:lnTo>
                  <a:lnTo>
                    <a:pt x="3962400" y="161416"/>
                  </a:lnTo>
                  <a:lnTo>
                    <a:pt x="3956634" y="118503"/>
                  </a:lnTo>
                  <a:lnTo>
                    <a:pt x="3940363" y="79944"/>
                  </a:lnTo>
                  <a:lnTo>
                    <a:pt x="3915124" y="47275"/>
                  </a:lnTo>
                  <a:lnTo>
                    <a:pt x="3882455" y="22036"/>
                  </a:lnTo>
                  <a:lnTo>
                    <a:pt x="3843896" y="5765"/>
                  </a:lnTo>
                  <a:lnTo>
                    <a:pt x="380098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947" y="2121408"/>
              <a:ext cx="8570214" cy="13525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2523" y="2173224"/>
              <a:ext cx="3309366" cy="13342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74903" y="2150364"/>
              <a:ext cx="8394700" cy="1176655"/>
            </a:xfrm>
            <a:custGeom>
              <a:avLst/>
              <a:gdLst/>
              <a:ahLst/>
              <a:cxnLst/>
              <a:rect l="l" t="t" r="r" b="b"/>
              <a:pathLst>
                <a:path w="8394700" h="1176654">
                  <a:moveTo>
                    <a:pt x="8167370" y="0"/>
                  </a:moveTo>
                  <a:lnTo>
                    <a:pt x="0" y="0"/>
                  </a:lnTo>
                  <a:lnTo>
                    <a:pt x="0" y="949706"/>
                  </a:lnTo>
                  <a:lnTo>
                    <a:pt x="4607" y="995404"/>
                  </a:lnTo>
                  <a:lnTo>
                    <a:pt x="17822" y="1037974"/>
                  </a:lnTo>
                  <a:lnTo>
                    <a:pt x="38732" y="1076503"/>
                  </a:lnTo>
                  <a:lnTo>
                    <a:pt x="66425" y="1110075"/>
                  </a:lnTo>
                  <a:lnTo>
                    <a:pt x="99990" y="1137777"/>
                  </a:lnTo>
                  <a:lnTo>
                    <a:pt x="138515" y="1158696"/>
                  </a:lnTo>
                  <a:lnTo>
                    <a:pt x="181088" y="1171917"/>
                  </a:lnTo>
                  <a:lnTo>
                    <a:pt x="226796" y="1176527"/>
                  </a:lnTo>
                  <a:lnTo>
                    <a:pt x="8394192" y="1176527"/>
                  </a:lnTo>
                  <a:lnTo>
                    <a:pt x="8394192" y="226822"/>
                  </a:lnTo>
                  <a:lnTo>
                    <a:pt x="8389581" y="181123"/>
                  </a:lnTo>
                  <a:lnTo>
                    <a:pt x="8376360" y="138553"/>
                  </a:lnTo>
                  <a:lnTo>
                    <a:pt x="8355441" y="100024"/>
                  </a:lnTo>
                  <a:lnTo>
                    <a:pt x="8327739" y="66452"/>
                  </a:lnTo>
                  <a:lnTo>
                    <a:pt x="8294167" y="38750"/>
                  </a:lnTo>
                  <a:lnTo>
                    <a:pt x="8255638" y="17831"/>
                  </a:lnTo>
                  <a:lnTo>
                    <a:pt x="8213068" y="4610"/>
                  </a:lnTo>
                  <a:lnTo>
                    <a:pt x="816737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24887" y="1821942"/>
            <a:ext cx="5488940" cy="40532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/res/layout/activity_main.xml</a:t>
            </a:r>
            <a:endParaRPr sz="1700">
              <a:latin typeface="Consolas"/>
              <a:cs typeface="Consolas"/>
            </a:endParaRPr>
          </a:p>
          <a:p>
            <a:pPr marL="31115">
              <a:spcBef>
                <a:spcPts val="1245"/>
              </a:spcBef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&lt;Button</a:t>
            </a:r>
            <a:endParaRPr sz="1600">
              <a:latin typeface="Consolas"/>
              <a:cs typeface="Consolas"/>
            </a:endParaRPr>
          </a:p>
          <a:p>
            <a:pPr marL="365125"/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android:onClick=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"func"</a:t>
            </a:r>
            <a:endParaRPr sz="1600">
              <a:latin typeface="Consolas"/>
              <a:cs typeface="Consolas"/>
            </a:endParaRPr>
          </a:p>
          <a:p>
            <a:pPr marL="365125"/>
            <a:r>
              <a:rPr sz="1600" spc="-10" dirty="0">
                <a:latin typeface="Consolas"/>
                <a:cs typeface="Consolas"/>
              </a:rPr>
              <a:t>android:id=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"@+id/btn"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31115"/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>
              <a:latin typeface="Consolas"/>
              <a:cs typeface="Consolas"/>
            </a:endParaRPr>
          </a:p>
          <a:p>
            <a:pPr>
              <a:spcBef>
                <a:spcPts val="775"/>
              </a:spcBef>
            </a:pPr>
            <a:endParaRPr sz="1600">
              <a:latin typeface="Consolas"/>
              <a:cs typeface="Consolas"/>
            </a:endParaRPr>
          </a:p>
          <a:p>
            <a:pPr marL="12700"/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  <a:p>
            <a:pPr marL="27940">
              <a:lnSpc>
                <a:spcPts val="1430"/>
              </a:lnSpc>
              <a:spcBef>
                <a:spcPts val="1235"/>
              </a:spcBef>
            </a:pPr>
            <a:r>
              <a:rPr sz="12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200">
              <a:latin typeface="Consolas"/>
              <a:cs typeface="Consolas"/>
            </a:endParaRPr>
          </a:p>
          <a:p>
            <a:pPr marL="27940">
              <a:lnSpc>
                <a:spcPts val="1910"/>
              </a:lnSpc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6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onCreate(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savedInstanceState)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361315"/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7940"/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27940"/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4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func(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View</a:t>
            </a:r>
            <a:r>
              <a:rPr sz="1600" u="sng" spc="-35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v)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72440"/>
            <a:r>
              <a:rPr sz="1600" dirty="0">
                <a:latin typeface="Consolas"/>
                <a:cs typeface="Consolas"/>
              </a:rPr>
              <a:t>...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bouton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cliqué!!!</a:t>
            </a:r>
            <a:endParaRPr sz="1600">
              <a:latin typeface="Consolas"/>
              <a:cs typeface="Consolas"/>
            </a:endParaRPr>
          </a:p>
          <a:p>
            <a:pPr marL="27940"/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4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Liste</a:t>
            </a:r>
            <a:r>
              <a:rPr spc="-95" dirty="0"/>
              <a:t> </a:t>
            </a:r>
            <a:r>
              <a:rPr dirty="0"/>
              <a:t>des</a:t>
            </a:r>
            <a:r>
              <a:rPr spc="-90" dirty="0"/>
              <a:t> </a:t>
            </a:r>
            <a:r>
              <a:rPr spc="-10" dirty="0"/>
              <a:t>interfaces</a:t>
            </a:r>
            <a:r>
              <a:rPr spc="-100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listeners</a:t>
            </a:r>
            <a:r>
              <a:rPr spc="-95" dirty="0"/>
              <a:t> </a:t>
            </a:r>
            <a:r>
              <a:rPr spc="-10" dirty="0"/>
              <a:t>graphiques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9092" y="1275638"/>
            <a:ext cx="2230755" cy="628650"/>
            <a:chOff x="355091" y="1275638"/>
            <a:chExt cx="2230755" cy="628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03" y="1305840"/>
              <a:ext cx="2225922" cy="4995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1275638"/>
              <a:ext cx="1863089" cy="6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1321308"/>
              <a:ext cx="2077720" cy="350520"/>
            </a:xfrm>
            <a:custGeom>
              <a:avLst/>
              <a:gdLst/>
              <a:ahLst/>
              <a:cxnLst/>
              <a:rect l="l" t="t" r="r" b="b"/>
              <a:pathLst>
                <a:path w="2077720" h="350519">
                  <a:moveTo>
                    <a:pt x="1915795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2077212" y="350519"/>
                  </a:lnTo>
                  <a:lnTo>
                    <a:pt x="2077212" y="161416"/>
                  </a:lnTo>
                  <a:lnTo>
                    <a:pt x="2071446" y="118503"/>
                  </a:lnTo>
                  <a:lnTo>
                    <a:pt x="2055175" y="79944"/>
                  </a:lnTo>
                  <a:lnTo>
                    <a:pt x="2029936" y="47275"/>
                  </a:lnTo>
                  <a:lnTo>
                    <a:pt x="1997267" y="22036"/>
                  </a:lnTo>
                  <a:lnTo>
                    <a:pt x="1958708" y="5765"/>
                  </a:lnTo>
                  <a:lnTo>
                    <a:pt x="1915795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4888" y="1342390"/>
            <a:ext cx="14522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android.View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69948" y="1642859"/>
            <a:ext cx="8570595" cy="4400550"/>
            <a:chOff x="345947" y="1642859"/>
            <a:chExt cx="8570595" cy="44005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1642859"/>
              <a:ext cx="8570214" cy="44005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287" y="1711439"/>
              <a:ext cx="8391906" cy="4290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4903" y="1671827"/>
              <a:ext cx="8394700" cy="4224655"/>
            </a:xfrm>
            <a:custGeom>
              <a:avLst/>
              <a:gdLst/>
              <a:ahLst/>
              <a:cxnLst/>
              <a:rect l="l" t="t" r="r" b="b"/>
              <a:pathLst>
                <a:path w="8394700" h="4224655">
                  <a:moveTo>
                    <a:pt x="8108315" y="0"/>
                  </a:moveTo>
                  <a:lnTo>
                    <a:pt x="0" y="0"/>
                  </a:lnTo>
                  <a:lnTo>
                    <a:pt x="0" y="3938612"/>
                  </a:lnTo>
                  <a:lnTo>
                    <a:pt x="3742" y="3984988"/>
                  </a:lnTo>
                  <a:lnTo>
                    <a:pt x="14576" y="4028981"/>
                  </a:lnTo>
                  <a:lnTo>
                    <a:pt x="31914" y="4070004"/>
                  </a:lnTo>
                  <a:lnTo>
                    <a:pt x="55167" y="4107467"/>
                  </a:lnTo>
                  <a:lnTo>
                    <a:pt x="83745" y="4140782"/>
                  </a:lnTo>
                  <a:lnTo>
                    <a:pt x="117060" y="4169360"/>
                  </a:lnTo>
                  <a:lnTo>
                    <a:pt x="154523" y="4192613"/>
                  </a:lnTo>
                  <a:lnTo>
                    <a:pt x="195546" y="4209951"/>
                  </a:lnTo>
                  <a:lnTo>
                    <a:pt x="239539" y="4220785"/>
                  </a:lnTo>
                  <a:lnTo>
                    <a:pt x="285915" y="4224528"/>
                  </a:lnTo>
                  <a:lnTo>
                    <a:pt x="8394192" y="4224528"/>
                  </a:lnTo>
                  <a:lnTo>
                    <a:pt x="8394192" y="285876"/>
                  </a:lnTo>
                  <a:lnTo>
                    <a:pt x="8390449" y="239512"/>
                  </a:lnTo>
                  <a:lnTo>
                    <a:pt x="8379615" y="195527"/>
                  </a:lnTo>
                  <a:lnTo>
                    <a:pt x="8362278" y="154510"/>
                  </a:lnTo>
                  <a:lnTo>
                    <a:pt x="8339027" y="117052"/>
                  </a:lnTo>
                  <a:lnTo>
                    <a:pt x="8310451" y="83740"/>
                  </a:lnTo>
                  <a:lnTo>
                    <a:pt x="8277139" y="55164"/>
                  </a:lnTo>
                  <a:lnTo>
                    <a:pt x="8239681" y="31913"/>
                  </a:lnTo>
                  <a:lnTo>
                    <a:pt x="8198664" y="14576"/>
                  </a:lnTo>
                  <a:lnTo>
                    <a:pt x="8154679" y="3742"/>
                  </a:lnTo>
                  <a:lnTo>
                    <a:pt x="8108315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61159" y="1715160"/>
            <a:ext cx="3027680" cy="3404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0"/>
              </a:spcBef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OnClickListener OnLongClickListener OnDragListener OnTouchListener OnHoverListener OnKeyListener OnAttachStateChangeListener OnLayoutChangeListener OnCreateContextMenuListener OnFocusChangeListener OnGenericMotionListener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5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19318" y="1715160"/>
            <a:ext cx="4349115" cy="34048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spcBef>
                <a:spcPts val="590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clic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49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clic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long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00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glissement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0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touché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49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survol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0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frappe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de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clavier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0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3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changement</a:t>
            </a:r>
            <a:r>
              <a:rPr sz="1600" spc="-3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de</a:t>
            </a:r>
            <a:r>
              <a:rPr sz="16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l’état</a:t>
            </a:r>
            <a:r>
              <a:rPr sz="16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d’attachement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490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changement</a:t>
            </a:r>
            <a:r>
              <a:rPr sz="1600" spc="-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du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layout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0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création</a:t>
            </a:r>
            <a:r>
              <a:rPr sz="16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du</a:t>
            </a:r>
            <a:r>
              <a:rPr sz="16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menu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contextuel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0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3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changement</a:t>
            </a:r>
            <a:r>
              <a:rPr sz="1600" spc="-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du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focus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49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5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un</a:t>
            </a:r>
            <a:r>
              <a:rPr sz="1600" spc="-14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solidFill>
                  <a:srgbClr val="A6A6A6"/>
                </a:solidFill>
                <a:latin typeface="Consolas"/>
                <a:cs typeface="Consolas"/>
              </a:rPr>
              <a:t>mouvement</a:t>
            </a:r>
            <a:r>
              <a:rPr sz="1600" spc="-1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40" dirty="0">
                <a:solidFill>
                  <a:srgbClr val="A6A6A6"/>
                </a:solidFill>
                <a:latin typeface="Consolas"/>
                <a:cs typeface="Consolas"/>
              </a:rPr>
              <a:t>(mouse,</a:t>
            </a:r>
            <a:r>
              <a:rPr sz="1600" spc="-15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pen,</a:t>
            </a:r>
            <a:r>
              <a:rPr sz="1600" spc="-15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40" dirty="0">
                <a:solidFill>
                  <a:srgbClr val="A6A6A6"/>
                </a:solidFill>
                <a:latin typeface="Consolas"/>
                <a:cs typeface="Consolas"/>
              </a:rPr>
              <a:t>finger,</a:t>
            </a:r>
            <a:r>
              <a:rPr sz="1600" spc="-15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...)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1159" y="5094478"/>
            <a:ext cx="7352030" cy="6413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spcBef>
                <a:spcPts val="605"/>
              </a:spcBef>
            </a:pPr>
            <a:r>
              <a:rPr sz="1600" spc="-60" dirty="0">
                <a:solidFill>
                  <a:srgbClr val="006FC0"/>
                </a:solidFill>
                <a:latin typeface="Consolas"/>
                <a:cs typeface="Consolas"/>
              </a:rPr>
              <a:t>OnSystemUiVisibilityChangeListener</a:t>
            </a:r>
            <a:r>
              <a:rPr sz="1600" spc="-16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changement</a:t>
            </a:r>
            <a:r>
              <a:rPr sz="1600" spc="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de</a:t>
            </a:r>
            <a:r>
              <a:rPr sz="1600" spc="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la</a:t>
            </a:r>
            <a:r>
              <a:rPr sz="1600" spc="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visibilité</a:t>
            </a:r>
            <a:r>
              <a:rPr sz="1600" spc="15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A6A6A6"/>
                </a:solidFill>
                <a:latin typeface="Consolas"/>
                <a:cs typeface="Consolas"/>
              </a:rPr>
              <a:t>de</a:t>
            </a:r>
            <a:endParaRPr sz="1600">
              <a:latin typeface="Consolas"/>
              <a:cs typeface="Consolas"/>
            </a:endParaRPr>
          </a:p>
          <a:p>
            <a:pPr marL="3670300">
              <a:spcBef>
                <a:spcPts val="505"/>
              </a:spcBef>
            </a:pP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la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6A6A6"/>
                </a:solidFill>
                <a:latin typeface="Consolas"/>
                <a:cs typeface="Consolas"/>
              </a:rPr>
              <a:t>barre</a:t>
            </a:r>
            <a:r>
              <a:rPr sz="16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Consolas"/>
                <a:cs typeface="Consolas"/>
              </a:rPr>
              <a:t>d’état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2649093"/>
            <a:ext cx="97466" cy="112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163" y="3813302"/>
            <a:ext cx="84856" cy="990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03311" y="4130294"/>
            <a:ext cx="84709" cy="960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Débogage</a:t>
            </a:r>
            <a:r>
              <a:rPr spc="-70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spc="-10" dirty="0"/>
              <a:t>LogCat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342632" y="1112519"/>
            <a:ext cx="3016250" cy="1995170"/>
            <a:chOff x="5818632" y="1112519"/>
            <a:chExt cx="3016250" cy="199517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8632" y="1112519"/>
              <a:ext cx="3015995" cy="19705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94882" y="1625345"/>
              <a:ext cx="2289175" cy="1468120"/>
            </a:xfrm>
            <a:custGeom>
              <a:avLst/>
              <a:gdLst/>
              <a:ahLst/>
              <a:cxnLst/>
              <a:rect l="l" t="t" r="r" b="b"/>
              <a:pathLst>
                <a:path w="2289175" h="1468120">
                  <a:moveTo>
                    <a:pt x="0" y="321563"/>
                  </a:moveTo>
                  <a:lnTo>
                    <a:pt x="525780" y="321563"/>
                  </a:lnTo>
                  <a:lnTo>
                    <a:pt x="525780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  <a:path w="2289175" h="1468120">
                  <a:moveTo>
                    <a:pt x="979932" y="1467612"/>
                  </a:moveTo>
                  <a:lnTo>
                    <a:pt x="2289048" y="1467612"/>
                  </a:lnTo>
                  <a:lnTo>
                    <a:pt x="2289048" y="1243584"/>
                  </a:lnTo>
                  <a:lnTo>
                    <a:pt x="979932" y="1243584"/>
                  </a:lnTo>
                  <a:lnTo>
                    <a:pt x="979932" y="1467612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993388" y="4968073"/>
            <a:ext cx="8543290" cy="958215"/>
            <a:chOff x="469388" y="4968072"/>
            <a:chExt cx="8543290" cy="95821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388" y="4968072"/>
              <a:ext cx="8542789" cy="894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204" y="5003291"/>
              <a:ext cx="6977633" cy="9228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4632" y="4983479"/>
              <a:ext cx="8394700" cy="745490"/>
            </a:xfrm>
            <a:custGeom>
              <a:avLst/>
              <a:gdLst/>
              <a:ahLst/>
              <a:cxnLst/>
              <a:rect l="l" t="t" r="r" b="b"/>
              <a:pathLst>
                <a:path w="8394700" h="745489">
                  <a:moveTo>
                    <a:pt x="8177657" y="0"/>
                  </a:moveTo>
                  <a:lnTo>
                    <a:pt x="0" y="0"/>
                  </a:lnTo>
                  <a:lnTo>
                    <a:pt x="0" y="528701"/>
                  </a:lnTo>
                  <a:lnTo>
                    <a:pt x="5719" y="578348"/>
                  </a:lnTo>
                  <a:lnTo>
                    <a:pt x="22009" y="623925"/>
                  </a:lnTo>
                  <a:lnTo>
                    <a:pt x="47572" y="664130"/>
                  </a:lnTo>
                  <a:lnTo>
                    <a:pt x="81105" y="697663"/>
                  </a:lnTo>
                  <a:lnTo>
                    <a:pt x="121310" y="723226"/>
                  </a:lnTo>
                  <a:lnTo>
                    <a:pt x="166887" y="739516"/>
                  </a:lnTo>
                  <a:lnTo>
                    <a:pt x="216535" y="745236"/>
                  </a:lnTo>
                  <a:lnTo>
                    <a:pt x="8394192" y="745236"/>
                  </a:lnTo>
                  <a:lnTo>
                    <a:pt x="8394192" y="216535"/>
                  </a:lnTo>
                  <a:lnTo>
                    <a:pt x="8388475" y="166871"/>
                  </a:lnTo>
                  <a:lnTo>
                    <a:pt x="8372191" y="121288"/>
                  </a:lnTo>
                  <a:lnTo>
                    <a:pt x="8346635" y="81084"/>
                  </a:lnTo>
                  <a:lnTo>
                    <a:pt x="8313107" y="47556"/>
                  </a:lnTo>
                  <a:lnTo>
                    <a:pt x="8272903" y="22000"/>
                  </a:lnTo>
                  <a:lnTo>
                    <a:pt x="8227320" y="5716"/>
                  </a:lnTo>
                  <a:lnTo>
                    <a:pt x="8177657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87068" y="1103503"/>
            <a:ext cx="6647815" cy="45554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2469515">
              <a:lnSpc>
                <a:spcPts val="1939"/>
              </a:lnSpc>
              <a:spcBef>
                <a:spcPts val="345"/>
              </a:spcBef>
            </a:pPr>
            <a:r>
              <a:rPr dirty="0">
                <a:latin typeface="Calibri"/>
                <a:cs typeface="Calibri"/>
              </a:rPr>
              <a:t>Affiche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messages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dans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logcat</a:t>
            </a:r>
            <a:r>
              <a:rPr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façon structurée</a:t>
            </a: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spcBef>
                <a:spcPts val="135"/>
              </a:spcBef>
            </a:pPr>
            <a:endParaRPr>
              <a:latin typeface="Calibri"/>
              <a:cs typeface="Calibri"/>
            </a:endParaRPr>
          </a:p>
          <a:p>
            <a:pPr marL="12700"/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Niveaux</a:t>
            </a:r>
            <a:r>
              <a:rPr sz="2000" b="1" spc="-7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de</a:t>
            </a:r>
            <a:r>
              <a:rPr sz="20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verbosité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95"/>
              </a:spcBef>
            </a:pPr>
            <a:r>
              <a:rPr spc="-10" dirty="0">
                <a:latin typeface="Calibri"/>
                <a:cs typeface="Calibri"/>
              </a:rPr>
              <a:t>Verbose,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debug,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info,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erreur,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avertissement</a:t>
            </a:r>
            <a:endParaRPr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>
              <a:latin typeface="Calibri"/>
              <a:cs typeface="Calibri"/>
            </a:endParaRPr>
          </a:p>
          <a:p>
            <a:pPr>
              <a:spcBef>
                <a:spcPts val="160"/>
              </a:spcBef>
            </a:pPr>
            <a:endParaRPr>
              <a:latin typeface="Calibri"/>
              <a:cs typeface="Calibri"/>
            </a:endParaRPr>
          </a:p>
          <a:p>
            <a:pPr marL="12700"/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Méthodes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statiques</a:t>
            </a:r>
            <a:r>
              <a:rPr sz="20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de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la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classe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endParaRPr>
              <a:latin typeface="Consolas"/>
              <a:cs typeface="Consolas"/>
            </a:endParaRPr>
          </a:p>
          <a:p>
            <a:pPr marL="355600">
              <a:spcBef>
                <a:spcPts val="14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dirty="0">
                <a:latin typeface="Consolas"/>
                <a:cs typeface="Consolas"/>
              </a:rPr>
              <a:t>.v(…),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dirty="0">
                <a:latin typeface="Consolas"/>
                <a:cs typeface="Consolas"/>
              </a:rPr>
              <a:t>.d(…),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dirty="0">
                <a:latin typeface="Consolas"/>
                <a:cs typeface="Consolas"/>
              </a:rPr>
              <a:t>.i(…),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dirty="0">
                <a:latin typeface="Consolas"/>
                <a:cs typeface="Consolas"/>
              </a:rPr>
              <a:t>.e(…),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spc="-10" dirty="0">
                <a:latin typeface="Consolas"/>
                <a:cs typeface="Consolas"/>
              </a:rPr>
              <a:t>.w(…)</a:t>
            </a:r>
            <a:endParaRPr sz="1600">
              <a:latin typeface="Consolas"/>
              <a:cs typeface="Consolas"/>
            </a:endParaRPr>
          </a:p>
          <a:p>
            <a:pPr marL="355600">
              <a:spcBef>
                <a:spcPts val="355"/>
              </a:spcBef>
            </a:pPr>
            <a:r>
              <a:rPr b="1" spc="-10" dirty="0">
                <a:latin typeface="Calibri"/>
                <a:cs typeface="Calibri"/>
              </a:rPr>
              <a:t>Paramètres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"tag"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"message"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880"/>
              </a:spcBef>
            </a:pPr>
            <a:endParaRPr sz="1600">
              <a:latin typeface="Consolas"/>
              <a:cs typeface="Consolas"/>
            </a:endParaRPr>
          </a:p>
          <a:p>
            <a:pPr marL="12700"/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Exemples</a:t>
            </a:r>
            <a:endParaRPr sz="2000">
              <a:latin typeface="Calibri"/>
              <a:cs typeface="Calibri"/>
            </a:endParaRPr>
          </a:p>
          <a:p>
            <a:pPr marL="75565">
              <a:spcBef>
                <a:spcPts val="1230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dirty="0">
                <a:latin typeface="Consolas"/>
                <a:cs typeface="Consolas"/>
              </a:rPr>
              <a:t>.d(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"MainActivity"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"onCreate:</a:t>
            </a:r>
            <a:r>
              <a:rPr sz="1600" spc="-5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Création</a:t>
            </a:r>
            <a:r>
              <a:rPr sz="1600" spc="-55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de</a:t>
            </a:r>
            <a:r>
              <a:rPr sz="1600" spc="-4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l’activité."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75565">
              <a:spcBef>
                <a:spcPts val="600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sz="1600" dirty="0">
                <a:latin typeface="Consolas"/>
                <a:cs typeface="Consolas"/>
              </a:rPr>
              <a:t>.e(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"MainActivity"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7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"onClick:</a:t>
            </a:r>
            <a:r>
              <a:rPr sz="1600" spc="-65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Une</a:t>
            </a:r>
            <a:r>
              <a:rPr sz="1600" spc="-65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erreur!!!"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6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7" y="1098932"/>
            <a:ext cx="5055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affiche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d'information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l'utilisateur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3189986"/>
            <a:ext cx="97466" cy="1051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10934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5" dirty="0"/>
              <a:t>Toasts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1609" y="1235963"/>
            <a:ext cx="2827019" cy="12832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993388" y="4114630"/>
            <a:ext cx="8543290" cy="920115"/>
            <a:chOff x="469388" y="4114629"/>
            <a:chExt cx="8543290" cy="9201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88" y="4114629"/>
              <a:ext cx="8542789" cy="89566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204" y="4149852"/>
              <a:ext cx="7977378" cy="8846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4632" y="4130040"/>
              <a:ext cx="8394700" cy="746760"/>
            </a:xfrm>
            <a:custGeom>
              <a:avLst/>
              <a:gdLst/>
              <a:ahLst/>
              <a:cxnLst/>
              <a:rect l="l" t="t" r="r" b="b"/>
              <a:pathLst>
                <a:path w="8394700" h="746760">
                  <a:moveTo>
                    <a:pt x="8177149" y="0"/>
                  </a:moveTo>
                  <a:lnTo>
                    <a:pt x="0" y="0"/>
                  </a:lnTo>
                  <a:lnTo>
                    <a:pt x="0" y="529717"/>
                  </a:lnTo>
                  <a:lnTo>
                    <a:pt x="5730" y="579488"/>
                  </a:lnTo>
                  <a:lnTo>
                    <a:pt x="22053" y="625175"/>
                  </a:lnTo>
                  <a:lnTo>
                    <a:pt x="47668" y="665474"/>
                  </a:lnTo>
                  <a:lnTo>
                    <a:pt x="81271" y="699083"/>
                  </a:lnTo>
                  <a:lnTo>
                    <a:pt x="121560" y="724702"/>
                  </a:lnTo>
                  <a:lnTo>
                    <a:pt x="167235" y="741028"/>
                  </a:lnTo>
                  <a:lnTo>
                    <a:pt x="216992" y="746760"/>
                  </a:lnTo>
                  <a:lnTo>
                    <a:pt x="8394192" y="746760"/>
                  </a:lnTo>
                  <a:lnTo>
                    <a:pt x="8394192" y="217043"/>
                  </a:lnTo>
                  <a:lnTo>
                    <a:pt x="8388460" y="167271"/>
                  </a:lnTo>
                  <a:lnTo>
                    <a:pt x="8372134" y="121584"/>
                  </a:lnTo>
                  <a:lnTo>
                    <a:pt x="8346515" y="81285"/>
                  </a:lnTo>
                  <a:lnTo>
                    <a:pt x="8312906" y="47676"/>
                  </a:lnTo>
                  <a:lnTo>
                    <a:pt x="8272607" y="22057"/>
                  </a:lnTo>
                  <a:lnTo>
                    <a:pt x="8226920" y="5731"/>
                  </a:lnTo>
                  <a:lnTo>
                    <a:pt x="8177149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87068" y="2722611"/>
            <a:ext cx="7795895" cy="2901947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spcBef>
                <a:spcPts val="254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Méthodes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statiques</a:t>
            </a:r>
            <a:r>
              <a:rPr sz="20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de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la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classe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endParaRPr>
              <a:latin typeface="Consolas"/>
              <a:cs typeface="Consolas"/>
            </a:endParaRPr>
          </a:p>
          <a:p>
            <a:pPr marL="355600">
              <a:spcBef>
                <a:spcPts val="135"/>
              </a:spcBef>
            </a:pPr>
            <a:r>
              <a:rPr sz="1700" dirty="0">
                <a:latin typeface="Consolas"/>
                <a:cs typeface="Consolas"/>
              </a:rPr>
              <a:t>makeText(</a:t>
            </a:r>
            <a:r>
              <a:rPr sz="1700" dirty="0">
                <a:solidFill>
                  <a:srgbClr val="006FC0"/>
                </a:solidFill>
                <a:latin typeface="Consolas"/>
                <a:cs typeface="Consolas"/>
              </a:rPr>
              <a:t>Context</a:t>
            </a:r>
            <a:r>
              <a:rPr sz="1700" spc="-114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700" dirty="0">
                <a:latin typeface="Consolas"/>
                <a:cs typeface="Consolas"/>
              </a:rPr>
              <a:t>context,</a:t>
            </a:r>
            <a:r>
              <a:rPr sz="1700" spc="-90" dirty="0"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6FC0"/>
                </a:solidFill>
                <a:latin typeface="Consolas"/>
                <a:cs typeface="Consolas"/>
              </a:rPr>
              <a:t>CharSequence</a:t>
            </a:r>
            <a:r>
              <a:rPr sz="1700" spc="-9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700" dirty="0">
                <a:latin typeface="Consolas"/>
                <a:cs typeface="Consolas"/>
              </a:rPr>
              <a:t>text,</a:t>
            </a:r>
            <a:r>
              <a:rPr sz="1700" spc="-110" dirty="0"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700" spc="-1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duration)</a:t>
            </a:r>
            <a:endParaRPr sz="1700">
              <a:latin typeface="Consolas"/>
              <a:cs typeface="Consolas"/>
            </a:endParaRPr>
          </a:p>
          <a:p>
            <a:pPr>
              <a:spcBef>
                <a:spcPts val="900"/>
              </a:spcBef>
            </a:pPr>
            <a:endParaRPr sz="1700">
              <a:latin typeface="Consolas"/>
              <a:cs typeface="Consolas"/>
            </a:endParaRPr>
          </a:p>
          <a:p>
            <a:pPr marL="12700"/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Exemple</a:t>
            </a:r>
            <a:endParaRPr sz="2000">
              <a:latin typeface="Calibri"/>
              <a:cs typeface="Calibri"/>
            </a:endParaRPr>
          </a:p>
          <a:p>
            <a:pPr marL="75565" marR="151130">
              <a:lnSpc>
                <a:spcPct val="115599"/>
              </a:lnSpc>
              <a:spcBef>
                <a:spcPts val="144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r>
              <a:rPr sz="1600" spc="-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.makeText</a:t>
            </a:r>
            <a:r>
              <a:rPr sz="1600" dirty="0">
                <a:latin typeface="Consolas"/>
                <a:cs typeface="Consolas"/>
              </a:rPr>
              <a:t>(v.getContext(),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"msg"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LENGTH_SHORT</a:t>
            </a:r>
            <a:r>
              <a:rPr sz="1600" spc="-10" dirty="0">
                <a:latin typeface="Consolas"/>
                <a:cs typeface="Consolas"/>
              </a:rPr>
              <a:t>); t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.show</a:t>
            </a:r>
            <a:r>
              <a:rPr sz="1600" spc="-10" dirty="0">
                <a:latin typeface="Consolas"/>
                <a:cs typeface="Consolas"/>
              </a:rPr>
              <a:t>();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>
              <a:latin typeface="Consolas"/>
              <a:cs typeface="Consolas"/>
            </a:endParaRPr>
          </a:p>
          <a:p>
            <a:pPr>
              <a:spcBef>
                <a:spcPts val="355"/>
              </a:spcBef>
            </a:pPr>
            <a:endParaRPr sz="1600">
              <a:latin typeface="Consolas"/>
              <a:cs typeface="Consolas"/>
            </a:endParaRPr>
          </a:p>
          <a:p>
            <a:pPr marL="12700"/>
            <a:r>
              <a:rPr sz="2000" spc="-20" dirty="0">
                <a:latin typeface="Calibri"/>
                <a:cs typeface="Calibri"/>
              </a:rPr>
              <a:t>Il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est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possible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de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personnaliser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85" dirty="0">
                <a:latin typeface="Calibri"/>
                <a:cs typeface="Calibri"/>
              </a:rPr>
              <a:t>Toast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grâce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bibliothèque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externe </a:t>
            </a:r>
            <a:r>
              <a:rPr sz="2000" spc="-80" dirty="0">
                <a:latin typeface="Calibri"/>
                <a:cs typeface="Calibri"/>
              </a:rPr>
              <a:t>Toasty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7668" y="5793646"/>
            <a:ext cx="6819421" cy="29898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7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8" y="1098932"/>
            <a:ext cx="5126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affiche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interagit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l'utilisateur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2885314"/>
            <a:ext cx="97466" cy="1051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17538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Snackbars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522465" y="1226819"/>
            <a:ext cx="2845435" cy="1301750"/>
            <a:chOff x="5998464" y="1226819"/>
            <a:chExt cx="2845435" cy="1301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7608" y="1235963"/>
              <a:ext cx="2827019" cy="12832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03036" y="1231391"/>
              <a:ext cx="2836545" cy="1292860"/>
            </a:xfrm>
            <a:custGeom>
              <a:avLst/>
              <a:gdLst/>
              <a:ahLst/>
              <a:cxnLst/>
              <a:rect l="l" t="t" r="r" b="b"/>
              <a:pathLst>
                <a:path w="2836545" h="1292860">
                  <a:moveTo>
                    <a:pt x="0" y="1292352"/>
                  </a:moveTo>
                  <a:lnTo>
                    <a:pt x="2836164" y="1292352"/>
                  </a:lnTo>
                  <a:lnTo>
                    <a:pt x="2836164" y="0"/>
                  </a:lnTo>
                  <a:lnTo>
                    <a:pt x="0" y="0"/>
                  </a:lnTo>
                  <a:lnTo>
                    <a:pt x="0" y="1292352"/>
                  </a:lnTo>
                  <a:close/>
                </a:path>
              </a:pathLst>
            </a:custGeom>
            <a:ln w="914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993388" y="3741375"/>
            <a:ext cx="8543290" cy="2623820"/>
            <a:chOff x="469388" y="3741375"/>
            <a:chExt cx="8543290" cy="26238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88" y="3741375"/>
              <a:ext cx="8542789" cy="25428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396" y="3788651"/>
              <a:ext cx="7977378" cy="25763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4632" y="3756660"/>
              <a:ext cx="8394700" cy="2394585"/>
            </a:xfrm>
            <a:custGeom>
              <a:avLst/>
              <a:gdLst/>
              <a:ahLst/>
              <a:cxnLst/>
              <a:rect l="l" t="t" r="r" b="b"/>
              <a:pathLst>
                <a:path w="8394700" h="2394585">
                  <a:moveTo>
                    <a:pt x="8136001" y="0"/>
                  </a:moveTo>
                  <a:lnTo>
                    <a:pt x="0" y="0"/>
                  </a:lnTo>
                  <a:lnTo>
                    <a:pt x="0" y="2136063"/>
                  </a:lnTo>
                  <a:lnTo>
                    <a:pt x="4158" y="2182465"/>
                  </a:lnTo>
                  <a:lnTo>
                    <a:pt x="16149" y="2226138"/>
                  </a:lnTo>
                  <a:lnTo>
                    <a:pt x="35242" y="2266353"/>
                  </a:lnTo>
                  <a:lnTo>
                    <a:pt x="60710" y="2302381"/>
                  </a:lnTo>
                  <a:lnTo>
                    <a:pt x="91822" y="2333493"/>
                  </a:lnTo>
                  <a:lnTo>
                    <a:pt x="127850" y="2358961"/>
                  </a:lnTo>
                  <a:lnTo>
                    <a:pt x="168065" y="2378054"/>
                  </a:lnTo>
                  <a:lnTo>
                    <a:pt x="211738" y="2390045"/>
                  </a:lnTo>
                  <a:lnTo>
                    <a:pt x="258140" y="2394204"/>
                  </a:lnTo>
                  <a:lnTo>
                    <a:pt x="8394192" y="2394204"/>
                  </a:lnTo>
                  <a:lnTo>
                    <a:pt x="8394192" y="258190"/>
                  </a:lnTo>
                  <a:lnTo>
                    <a:pt x="8390033" y="211773"/>
                  </a:lnTo>
                  <a:lnTo>
                    <a:pt x="8378041" y="168089"/>
                  </a:lnTo>
                  <a:lnTo>
                    <a:pt x="8358947" y="127865"/>
                  </a:lnTo>
                  <a:lnTo>
                    <a:pt x="8333477" y="91831"/>
                  </a:lnTo>
                  <a:lnTo>
                    <a:pt x="8302360" y="60714"/>
                  </a:lnTo>
                  <a:lnTo>
                    <a:pt x="8266326" y="35244"/>
                  </a:lnTo>
                  <a:lnTo>
                    <a:pt x="8226102" y="16150"/>
                  </a:lnTo>
                  <a:lnTo>
                    <a:pt x="8182418" y="4158"/>
                  </a:lnTo>
                  <a:lnTo>
                    <a:pt x="8136001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7068" y="2418258"/>
            <a:ext cx="7661275" cy="36804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spcBef>
                <a:spcPts val="250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Méthodes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statiques</a:t>
            </a:r>
            <a:r>
              <a:rPr sz="20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de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la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classe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Snackbar</a:t>
            </a:r>
            <a:endParaRPr>
              <a:latin typeface="Consolas"/>
              <a:cs typeface="Consolas"/>
            </a:endParaRPr>
          </a:p>
          <a:p>
            <a:pPr marL="355600">
              <a:spcBef>
                <a:spcPts val="135"/>
              </a:spcBef>
            </a:pPr>
            <a:r>
              <a:rPr sz="1700" dirty="0">
                <a:latin typeface="Consolas"/>
                <a:cs typeface="Consolas"/>
              </a:rPr>
              <a:t>make(</a:t>
            </a:r>
            <a:r>
              <a:rPr sz="1700" dirty="0">
                <a:solidFill>
                  <a:srgbClr val="006FC0"/>
                </a:solidFill>
                <a:latin typeface="Consolas"/>
                <a:cs typeface="Consolas"/>
              </a:rPr>
              <a:t>Context</a:t>
            </a:r>
            <a:r>
              <a:rPr sz="1700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700" dirty="0">
                <a:latin typeface="Consolas"/>
                <a:cs typeface="Consolas"/>
              </a:rPr>
              <a:t>context,</a:t>
            </a:r>
            <a:r>
              <a:rPr sz="1700" spc="-85" dirty="0"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6FC0"/>
                </a:solidFill>
                <a:latin typeface="Consolas"/>
                <a:cs typeface="Consolas"/>
              </a:rPr>
              <a:t>CharSequence</a:t>
            </a:r>
            <a:r>
              <a:rPr sz="1700" spc="-10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700" dirty="0">
                <a:latin typeface="Consolas"/>
                <a:cs typeface="Consolas"/>
              </a:rPr>
              <a:t>text,</a:t>
            </a:r>
            <a:r>
              <a:rPr sz="1700" spc="-85" dirty="0"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700" spc="-8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700" spc="-10" dirty="0">
                <a:latin typeface="Consolas"/>
                <a:cs typeface="Consolas"/>
              </a:rPr>
              <a:t>duration)</a:t>
            </a:r>
            <a:endParaRPr sz="1700">
              <a:latin typeface="Consolas"/>
              <a:cs typeface="Consolas"/>
            </a:endParaRPr>
          </a:p>
          <a:p>
            <a:pPr>
              <a:spcBef>
                <a:spcPts val="905"/>
              </a:spcBef>
            </a:pPr>
            <a:endParaRPr sz="1700">
              <a:latin typeface="Consolas"/>
              <a:cs typeface="Consolas"/>
            </a:endParaRPr>
          </a:p>
          <a:p>
            <a:pPr marL="12700"/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Exemple</a:t>
            </a:r>
            <a:endParaRPr sz="2000">
              <a:latin typeface="Calibri"/>
              <a:cs typeface="Calibri"/>
            </a:endParaRPr>
          </a:p>
          <a:p>
            <a:pPr marL="88265">
              <a:spcBef>
                <a:spcPts val="1290"/>
              </a:spcBef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android.support.design.widget.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Snackbar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88265">
              <a:spcBef>
                <a:spcPts val="300"/>
              </a:spcBef>
            </a:pPr>
            <a:r>
              <a:rPr sz="1600" spc="-25" dirty="0">
                <a:solidFill>
                  <a:srgbClr val="006FC0"/>
                </a:solidFill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88265">
              <a:spcBef>
                <a:spcPts val="300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Snackbar</a:t>
            </a:r>
            <a:r>
              <a:rPr sz="1600" spc="-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Snackbar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.make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"msg"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Snackbar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LENGTH_INDEFINITE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88265">
              <a:spcBef>
                <a:spcPts val="305"/>
              </a:spcBef>
            </a:pPr>
            <a:r>
              <a:rPr sz="1600" dirty="0">
                <a:latin typeface="Consolas"/>
                <a:cs typeface="Consolas"/>
              </a:rPr>
              <a:t>s.setAction(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"UNDO"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600" dirty="0">
                <a:latin typeface="Consolas"/>
                <a:cs typeface="Consolas"/>
              </a:rPr>
              <a:t>.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OnClickListener</a:t>
            </a:r>
            <a:r>
              <a:rPr sz="1600" dirty="0">
                <a:latin typeface="Consolas"/>
                <a:cs typeface="Consolas"/>
              </a:rPr>
              <a:t>()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532765">
              <a:spcBef>
                <a:spcPts val="800"/>
              </a:spcBef>
            </a:pPr>
            <a:r>
              <a:rPr sz="1100" spc="-10" dirty="0">
                <a:solidFill>
                  <a:srgbClr val="A6A6A6"/>
                </a:solidFill>
                <a:latin typeface="Consolas"/>
                <a:cs typeface="Consolas"/>
              </a:rPr>
              <a:t>@Override</a:t>
            </a:r>
            <a:endParaRPr sz="1100">
              <a:latin typeface="Consolas"/>
              <a:cs typeface="Consolas"/>
            </a:endParaRPr>
          </a:p>
          <a:p>
            <a:pPr marL="532765">
              <a:spcBef>
                <a:spcPts val="400"/>
              </a:spcBef>
            </a:pPr>
            <a:r>
              <a:rPr sz="1600" dirty="0">
                <a:solidFill>
                  <a:srgbClr val="6F2F9F"/>
                </a:solidFill>
                <a:latin typeface="Consolas"/>
                <a:cs typeface="Consolas"/>
              </a:rPr>
              <a:t>public</a:t>
            </a:r>
            <a:r>
              <a:rPr sz="1600" spc="-35" dirty="0">
                <a:solidFill>
                  <a:srgbClr val="6F2F9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onClick(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6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v)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{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...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88265">
              <a:spcBef>
                <a:spcPts val="300"/>
              </a:spcBef>
            </a:pPr>
            <a:r>
              <a:rPr sz="1600" spc="-25" dirty="0">
                <a:latin typeface="Consolas"/>
                <a:cs typeface="Consolas"/>
              </a:rPr>
              <a:t>});</a:t>
            </a:r>
            <a:endParaRPr sz="1600">
              <a:latin typeface="Consolas"/>
              <a:cs typeface="Consolas"/>
            </a:endParaRPr>
          </a:p>
          <a:p>
            <a:pPr marL="88265">
              <a:spcBef>
                <a:spcPts val="300"/>
              </a:spcBef>
            </a:pPr>
            <a:r>
              <a:rPr sz="1600" spc="-10" dirty="0">
                <a:latin typeface="Consolas"/>
                <a:cs typeface="Consolas"/>
              </a:rPr>
              <a:t>s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.show</a:t>
            </a:r>
            <a:r>
              <a:rPr sz="1600" spc="-10" dirty="0">
                <a:latin typeface="Consolas"/>
                <a:cs typeface="Consolas"/>
              </a:rPr>
              <a:t>();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8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016" y="2530221"/>
            <a:ext cx="97466" cy="112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016" y="2841118"/>
            <a:ext cx="97466" cy="112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87068" y="1519724"/>
            <a:ext cx="4766945" cy="216662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spcBef>
                <a:spcPts val="93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Lors</a:t>
            </a:r>
            <a:r>
              <a:rPr sz="2200" b="1" spc="-2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du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clic</a:t>
            </a:r>
            <a:r>
              <a:rPr sz="2200" b="1" spc="-2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sur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le</a:t>
            </a:r>
            <a:r>
              <a:rPr sz="22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Button</a:t>
            </a:r>
            <a:endParaRPr>
              <a:latin typeface="Consolas"/>
              <a:cs typeface="Consolas"/>
            </a:endParaRPr>
          </a:p>
          <a:p>
            <a:pPr marL="273685" indent="-260985">
              <a:spcBef>
                <a:spcPts val="765"/>
              </a:spcBef>
              <a:buSzPct val="70000"/>
              <a:buAutoNum type="arabicPeriod"/>
              <a:tabLst>
                <a:tab pos="273685" algn="l"/>
              </a:tabLst>
            </a:pPr>
            <a:r>
              <a:rPr sz="2000" b="1" spc="-10" dirty="0">
                <a:latin typeface="Calibri"/>
                <a:cs typeface="Calibri"/>
              </a:rPr>
              <a:t>Vérifier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si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570230" marR="1797050">
              <a:lnSpc>
                <a:spcPct val="113300"/>
              </a:lnSpc>
              <a:spcBef>
                <a:spcPts val="10"/>
              </a:spcBef>
            </a:pPr>
            <a:r>
              <a:rPr spc="-20" dirty="0">
                <a:latin typeface="Calibri"/>
                <a:cs typeface="Calibri"/>
              </a:rPr>
              <a:t>L’identifiant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55A11"/>
                </a:solidFill>
                <a:latin typeface="Consolas"/>
                <a:cs typeface="Consolas"/>
              </a:rPr>
              <a:t>"abcd"</a:t>
            </a:r>
            <a:r>
              <a:rPr sz="1600" b="1" spc="-465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pc="-25" dirty="0">
                <a:latin typeface="Calibri"/>
                <a:cs typeface="Calibri"/>
              </a:rPr>
              <a:t>et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 passe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55A11"/>
                </a:solidFill>
                <a:latin typeface="Consolas"/>
                <a:cs typeface="Consolas"/>
              </a:rPr>
              <a:t>"EFGH"</a:t>
            </a:r>
            <a:endParaRPr sz="1600">
              <a:latin typeface="Consolas"/>
              <a:cs typeface="Consolas"/>
            </a:endParaRPr>
          </a:p>
          <a:p>
            <a:pPr marL="273050" marR="5080" indent="-260985">
              <a:lnSpc>
                <a:spcPts val="2160"/>
              </a:lnSpc>
              <a:spcBef>
                <a:spcPts val="1019"/>
              </a:spcBef>
              <a:buSzPct val="70000"/>
              <a:buAutoNum type="arabicPeriod" startAt="2"/>
              <a:tabLst>
                <a:tab pos="276225" algn="l"/>
              </a:tabLst>
            </a:pPr>
            <a:r>
              <a:rPr sz="2000" b="1" dirty="0">
                <a:latin typeface="Calibri"/>
                <a:cs typeface="Calibri"/>
              </a:rPr>
              <a:t>Afficher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Log</a:t>
            </a:r>
            <a:r>
              <a:rPr b="1" spc="-5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latin typeface="Calibri"/>
                <a:cs typeface="Calibri"/>
              </a:rPr>
              <a:t>et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r>
              <a:rPr b="1" spc="-5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latin typeface="Calibri"/>
                <a:cs typeface="Calibri"/>
              </a:rPr>
              <a:t>en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fonction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du 	</a:t>
            </a:r>
            <a:r>
              <a:rPr sz="2000" b="1" spc="-10" dirty="0">
                <a:latin typeface="Calibri"/>
                <a:cs typeface="Calibri"/>
              </a:rPr>
              <a:t>résultat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TP2a</a:t>
            </a:r>
            <a:r>
              <a:rPr spc="-135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dirty="0"/>
              <a:t>Affichage</a:t>
            </a:r>
            <a:r>
              <a:rPr spc="-70" dirty="0"/>
              <a:t> </a:t>
            </a:r>
            <a:r>
              <a:rPr dirty="0"/>
              <a:t>d’un</a:t>
            </a:r>
            <a:r>
              <a:rPr spc="-70" dirty="0"/>
              <a:t> </a:t>
            </a:r>
            <a:r>
              <a:rPr sz="2800" spc="-25" dirty="0">
                <a:latin typeface="Consolas"/>
                <a:cs typeface="Consolas"/>
              </a:rPr>
              <a:t>Log</a:t>
            </a:r>
            <a:r>
              <a:rPr sz="2800" spc="-775" dirty="0">
                <a:latin typeface="Consolas"/>
                <a:cs typeface="Consolas"/>
              </a:rPr>
              <a:t> </a:t>
            </a:r>
            <a:r>
              <a:rPr dirty="0"/>
              <a:t>et</a:t>
            </a:r>
            <a:r>
              <a:rPr spc="-85" dirty="0"/>
              <a:t> </a:t>
            </a:r>
            <a:r>
              <a:rPr dirty="0"/>
              <a:t>d’un</a:t>
            </a:r>
            <a:r>
              <a:rPr spc="-75" dirty="0"/>
              <a:t> </a:t>
            </a:r>
            <a:r>
              <a:rPr sz="2800" spc="-10" dirty="0">
                <a:latin typeface="Consolas"/>
                <a:cs typeface="Consolas"/>
              </a:rPr>
              <a:t>Toast</a:t>
            </a:r>
            <a:endParaRPr sz="2800">
              <a:latin typeface="Consolas"/>
              <a:cs typeface="Consola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7497" y="1338072"/>
            <a:ext cx="2385059" cy="42230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9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Pile</a:t>
            </a:r>
            <a:r>
              <a:rPr spc="-65" dirty="0"/>
              <a:t> </a:t>
            </a:r>
            <a:r>
              <a:rPr dirty="0"/>
              <a:t>des</a:t>
            </a:r>
            <a:r>
              <a:rPr spc="-75" dirty="0"/>
              <a:t> </a:t>
            </a:r>
            <a:r>
              <a:rPr dirty="0"/>
              <a:t>activités</a:t>
            </a:r>
            <a:r>
              <a:rPr spc="-45" dirty="0"/>
              <a:t> </a:t>
            </a:r>
            <a:r>
              <a:rPr spc="-10" dirty="0"/>
              <a:t>(1/2)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795" y="1529347"/>
            <a:ext cx="6670909" cy="39341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Pile</a:t>
            </a:r>
            <a:r>
              <a:rPr spc="-65" dirty="0"/>
              <a:t> </a:t>
            </a:r>
            <a:r>
              <a:rPr dirty="0"/>
              <a:t>des</a:t>
            </a:r>
            <a:r>
              <a:rPr spc="-75" dirty="0"/>
              <a:t> </a:t>
            </a:r>
            <a:r>
              <a:rPr dirty="0"/>
              <a:t>activités</a:t>
            </a:r>
            <a:r>
              <a:rPr spc="-45" dirty="0"/>
              <a:t> </a:t>
            </a:r>
            <a:r>
              <a:rPr spc="-10" dirty="0"/>
              <a:t>(2/2)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1510792"/>
            <a:ext cx="98023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1871980"/>
            <a:ext cx="9802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2233168"/>
            <a:ext cx="98023" cy="112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7068" y="969880"/>
            <a:ext cx="7943215" cy="1701107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spcBef>
                <a:spcPts val="545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Les</a:t>
            </a:r>
            <a:r>
              <a:rPr sz="20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activités</a:t>
            </a:r>
            <a:r>
              <a:rPr sz="2000" b="1" spc="-5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sont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A8B39"/>
                </a:solidFill>
                <a:latin typeface="Calibri"/>
                <a:cs typeface="Calibri"/>
              </a:rPr>
              <a:t>empilées/dépilées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390"/>
              </a:spcBef>
            </a:pPr>
            <a:r>
              <a:rPr b="1" dirty="0">
                <a:latin typeface="Calibri"/>
                <a:cs typeface="Calibri"/>
              </a:rPr>
              <a:t>Empilée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quand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activité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démarre</a:t>
            </a:r>
            <a:endParaRPr>
              <a:latin typeface="Calibri"/>
              <a:cs typeface="Calibri"/>
            </a:endParaRPr>
          </a:p>
          <a:p>
            <a:pPr marL="355600">
              <a:spcBef>
                <a:spcPts val="685"/>
              </a:spcBef>
            </a:pPr>
            <a:r>
              <a:rPr b="1" dirty="0">
                <a:latin typeface="Calibri"/>
                <a:cs typeface="Calibri"/>
              </a:rPr>
              <a:t>Dépilée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(détruite)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quand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presse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bouton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"BACK"</a:t>
            </a:r>
            <a:endParaRPr>
              <a:latin typeface="Calibri"/>
              <a:cs typeface="Calibri"/>
            </a:endParaRPr>
          </a:p>
          <a:p>
            <a:pPr marL="355600">
              <a:lnSpc>
                <a:spcPts val="2050"/>
              </a:lnSpc>
              <a:spcBef>
                <a:spcPts val="685"/>
              </a:spcBef>
            </a:pPr>
            <a:r>
              <a:rPr dirty="0">
                <a:latin typeface="Calibri"/>
                <a:cs typeface="Calibri"/>
              </a:rPr>
              <a:t>Une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pression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bouton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"HOME"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dépile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l'activité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(passe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simplement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en</a:t>
            </a:r>
            <a:endParaRPr>
              <a:latin typeface="Calibri"/>
              <a:cs typeface="Calibri"/>
            </a:endParaRPr>
          </a:p>
          <a:p>
            <a:pPr marL="355600">
              <a:lnSpc>
                <a:spcPts val="2050"/>
              </a:lnSpc>
            </a:pPr>
            <a:r>
              <a:rPr dirty="0">
                <a:latin typeface="Calibri"/>
                <a:cs typeface="Calibri"/>
              </a:rPr>
              <a:t>arrière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plan)</a:t>
            </a:r>
            <a:endParaRPr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73909" y="2983993"/>
            <a:ext cx="6044565" cy="2959735"/>
            <a:chOff x="1549908" y="2983992"/>
            <a:chExt cx="6044565" cy="29597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2072" y="4428984"/>
              <a:ext cx="5144604" cy="15146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9908" y="2983992"/>
              <a:ext cx="6044184" cy="246583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11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1390015"/>
            <a:ext cx="109728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2141348"/>
            <a:ext cx="109728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882" y="3625723"/>
            <a:ext cx="9785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4313047"/>
            <a:ext cx="98023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4998847"/>
            <a:ext cx="98023" cy="1127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87068" y="1246759"/>
            <a:ext cx="7915909" cy="41687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68707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Gérer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l'envoi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réception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coopérer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les </a:t>
            </a:r>
            <a:r>
              <a:rPr sz="2000" dirty="0">
                <a:latin typeface="Calibri"/>
                <a:cs typeface="Calibri"/>
              </a:rPr>
              <a:t>activités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(ou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même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applications)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  <a:spcBef>
                <a:spcPts val="1325"/>
              </a:spcBef>
            </a:pPr>
            <a:r>
              <a:rPr sz="2000" dirty="0">
                <a:latin typeface="Calibri"/>
                <a:cs typeface="Calibri"/>
              </a:rPr>
              <a:t>Déléguer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composant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application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activité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</a:pPr>
            <a:r>
              <a:rPr sz="2000" b="1" spc="-10" dirty="0">
                <a:latin typeface="Calibri"/>
                <a:cs typeface="Calibri"/>
              </a:rPr>
              <a:t>l'application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courante.</a:t>
            </a:r>
            <a:endParaRPr sz="2000">
              <a:latin typeface="Calibri"/>
              <a:cs typeface="Calibri"/>
            </a:endParaRPr>
          </a:p>
          <a:p>
            <a:pPr marL="12700">
              <a:spcBef>
                <a:spcPts val="1325"/>
              </a:spcBef>
            </a:pP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3</a:t>
            </a:r>
            <a:r>
              <a:rPr sz="2200" b="1" spc="-6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cas</a:t>
            </a:r>
            <a:r>
              <a:rPr sz="22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d’usage</a:t>
            </a:r>
            <a:r>
              <a:rPr sz="22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principaux</a:t>
            </a:r>
            <a:r>
              <a:rPr sz="22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des</a:t>
            </a:r>
            <a:r>
              <a:rPr sz="22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A8B39"/>
                </a:solidFill>
                <a:latin typeface="Calibri"/>
                <a:cs typeface="Calibri"/>
              </a:rPr>
              <a:t>intents</a:t>
            </a:r>
            <a:endParaRPr sz="2200">
              <a:latin typeface="Calibri"/>
              <a:cs typeface="Calibri"/>
            </a:endParaRPr>
          </a:p>
          <a:p>
            <a:pPr marL="12700">
              <a:spcBef>
                <a:spcPts val="775"/>
              </a:spcBef>
            </a:pPr>
            <a:r>
              <a:rPr sz="2000" b="1" dirty="0">
                <a:latin typeface="Calibri"/>
                <a:cs typeface="Calibri"/>
              </a:rPr>
              <a:t>Pour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démarrer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activité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utilisant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z="1600" b="1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startActivity(Intent)</a:t>
            </a:r>
            <a:r>
              <a:rPr spc="-10" dirty="0">
                <a:latin typeface="Calibri"/>
                <a:cs typeface="Calibri"/>
              </a:rPr>
              <a:t>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l’intent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décrit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l’activité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paramètres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750"/>
              </a:spcBef>
            </a:pPr>
            <a:r>
              <a:rPr sz="2000" b="1" dirty="0">
                <a:latin typeface="Calibri"/>
                <a:cs typeface="Calibri"/>
              </a:rPr>
              <a:t>Pour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démarrer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service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en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appellant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startService(Intent)</a:t>
            </a:r>
            <a:r>
              <a:rPr spc="-10" dirty="0">
                <a:latin typeface="Calibri"/>
                <a:cs typeface="Calibri"/>
              </a:rPr>
              <a:t>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démarrer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service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(application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sans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IHM)</a:t>
            </a:r>
            <a:endParaRPr>
              <a:latin typeface="Calibri"/>
              <a:cs typeface="Calibri"/>
            </a:endParaRPr>
          </a:p>
          <a:p>
            <a:pPr marL="12700">
              <a:spcBef>
                <a:spcPts val="745"/>
              </a:spcBef>
            </a:pPr>
            <a:r>
              <a:rPr sz="2000" b="1" dirty="0">
                <a:latin typeface="Calibri"/>
                <a:cs typeface="Calibri"/>
              </a:rPr>
              <a:t>Pour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envoyer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broadcast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045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en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utilisant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sendBroadcast(Intent)</a:t>
            </a:r>
            <a:r>
              <a:rPr spc="-10" dirty="0">
                <a:latin typeface="Calibri"/>
                <a:cs typeface="Calibri"/>
              </a:rPr>
              <a:t>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broadcast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est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message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que </a:t>
            </a:r>
            <a:r>
              <a:rPr spc="-10" dirty="0">
                <a:latin typeface="Calibri"/>
                <a:cs typeface="Calibri"/>
              </a:rPr>
              <a:t>toute</a:t>
            </a:r>
            <a:endParaRPr>
              <a:latin typeface="Calibri"/>
              <a:cs typeface="Calibri"/>
            </a:endParaRPr>
          </a:p>
          <a:p>
            <a:pPr marL="355600">
              <a:lnSpc>
                <a:spcPts val="2045"/>
              </a:lnSpc>
            </a:pPr>
            <a:r>
              <a:rPr dirty="0">
                <a:latin typeface="Calibri"/>
                <a:cs typeface="Calibri"/>
              </a:rPr>
              <a:t>application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peut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recevoir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12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30" dirty="0"/>
              <a:t>Intentions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4199" y="1875790"/>
            <a:ext cx="109728" cy="1249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4199" y="2188211"/>
            <a:ext cx="109728" cy="1249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4199" y="2500630"/>
            <a:ext cx="109728" cy="12496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10" dirty="0"/>
              <a:t>Types</a:t>
            </a:r>
            <a:r>
              <a:rPr spc="-150" dirty="0"/>
              <a:t> </a:t>
            </a:r>
            <a:r>
              <a:rPr dirty="0"/>
              <a:t>d'intentions</a:t>
            </a:r>
            <a:r>
              <a:rPr spc="-150" dirty="0"/>
              <a:t> </a:t>
            </a:r>
            <a:r>
              <a:rPr spc="-10" dirty="0"/>
              <a:t>(1/2)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2573" y="683515"/>
            <a:ext cx="7972425" cy="230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Intent</a:t>
            </a:r>
            <a:r>
              <a:rPr sz="2400" spc="-1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implicite</a:t>
            </a:r>
            <a:endParaRPr sz="2400">
              <a:latin typeface="Calibri Light"/>
              <a:cs typeface="Calibri Light"/>
            </a:endParaRPr>
          </a:p>
          <a:p>
            <a:pPr>
              <a:spcBef>
                <a:spcPts val="2450"/>
              </a:spcBef>
            </a:pPr>
            <a:endParaRPr sz="2400">
              <a:latin typeface="Calibri Light"/>
              <a:cs typeface="Calibri Light"/>
            </a:endParaRPr>
          </a:p>
          <a:p>
            <a:pPr marL="659765"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Donner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générale</a:t>
            </a:r>
            <a:endParaRPr sz="2000">
              <a:latin typeface="Calibri"/>
              <a:cs typeface="Calibri"/>
            </a:endParaRPr>
          </a:p>
          <a:p>
            <a:pPr marL="659765">
              <a:spcBef>
                <a:spcPts val="60"/>
              </a:spcBef>
            </a:pPr>
            <a:r>
              <a:rPr sz="2000" dirty="0">
                <a:latin typeface="Calibri"/>
                <a:cs typeface="Calibri"/>
              </a:rPr>
              <a:t>Un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composant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peut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l’action</a:t>
            </a:r>
            <a:endParaRPr sz="2000">
              <a:latin typeface="Calibri"/>
              <a:cs typeface="Calibri"/>
            </a:endParaRPr>
          </a:p>
          <a:p>
            <a:pPr marL="659765">
              <a:lnSpc>
                <a:spcPts val="2280"/>
              </a:lnSpc>
              <a:spcBef>
                <a:spcPts val="60"/>
              </a:spcBef>
            </a:pPr>
            <a:r>
              <a:rPr sz="2000" dirty="0">
                <a:latin typeface="Calibri"/>
                <a:cs typeface="Calibri"/>
              </a:rPr>
              <a:t>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système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trouve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bonne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utilisant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0000FF"/>
                </a:solidFill>
                <a:latin typeface="Consolas"/>
                <a:cs typeface="Consolas"/>
              </a:rPr>
              <a:t>intent-</a:t>
            </a:r>
            <a:r>
              <a:rPr sz="1700" b="1" spc="-10" dirty="0">
                <a:solidFill>
                  <a:srgbClr val="0000FF"/>
                </a:solidFill>
                <a:latin typeface="Consolas"/>
                <a:cs typeface="Consolas"/>
              </a:rPr>
              <a:t>filters</a:t>
            </a:r>
            <a:endParaRPr sz="1700">
              <a:latin typeface="Consolas"/>
              <a:cs typeface="Consolas"/>
            </a:endParaRPr>
          </a:p>
          <a:p>
            <a:pPr marL="65976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déclarés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0000FF"/>
                </a:solidFill>
                <a:latin typeface="Consolas"/>
                <a:cs typeface="Consolas"/>
              </a:rPr>
              <a:t>manifest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69948" y="4149789"/>
            <a:ext cx="8570595" cy="1599565"/>
            <a:chOff x="345947" y="4149788"/>
            <a:chExt cx="8570595" cy="159956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19" y="4180092"/>
              <a:ext cx="3513670" cy="4995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091" y="4149788"/>
              <a:ext cx="3173730" cy="6301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4195572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20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947" y="4517136"/>
              <a:ext cx="8570214" cy="12321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9475" y="4567428"/>
              <a:ext cx="8460486" cy="109042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74903" y="4546092"/>
              <a:ext cx="8394700" cy="1056640"/>
            </a:xfrm>
            <a:custGeom>
              <a:avLst/>
              <a:gdLst/>
              <a:ahLst/>
              <a:cxnLst/>
              <a:rect l="l" t="t" r="r" b="b"/>
              <a:pathLst>
                <a:path w="8394700" h="1056639">
                  <a:moveTo>
                    <a:pt x="8175625" y="0"/>
                  </a:moveTo>
                  <a:lnTo>
                    <a:pt x="0" y="0"/>
                  </a:lnTo>
                  <a:lnTo>
                    <a:pt x="0" y="837564"/>
                  </a:lnTo>
                  <a:lnTo>
                    <a:pt x="5773" y="887661"/>
                  </a:lnTo>
                  <a:lnTo>
                    <a:pt x="22220" y="933658"/>
                  </a:lnTo>
                  <a:lnTo>
                    <a:pt x="48027" y="974241"/>
                  </a:lnTo>
                  <a:lnTo>
                    <a:pt x="81883" y="1008096"/>
                  </a:lnTo>
                  <a:lnTo>
                    <a:pt x="122475" y="1033905"/>
                  </a:lnTo>
                  <a:lnTo>
                    <a:pt x="168490" y="1050356"/>
                  </a:lnTo>
                  <a:lnTo>
                    <a:pt x="218617" y="1056131"/>
                  </a:lnTo>
                  <a:lnTo>
                    <a:pt x="8394192" y="1056131"/>
                  </a:lnTo>
                  <a:lnTo>
                    <a:pt x="8394192" y="218566"/>
                  </a:lnTo>
                  <a:lnTo>
                    <a:pt x="8388416" y="168470"/>
                  </a:lnTo>
                  <a:lnTo>
                    <a:pt x="8371965" y="122473"/>
                  </a:lnTo>
                  <a:lnTo>
                    <a:pt x="8346156" y="81890"/>
                  </a:lnTo>
                  <a:lnTo>
                    <a:pt x="8312301" y="48035"/>
                  </a:lnTo>
                  <a:lnTo>
                    <a:pt x="8271718" y="22226"/>
                  </a:lnTo>
                  <a:lnTo>
                    <a:pt x="8225721" y="5775"/>
                  </a:lnTo>
                  <a:lnTo>
                    <a:pt x="8175625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24887" y="4217924"/>
            <a:ext cx="8086090" cy="117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  <a:p>
            <a:pPr marL="28575">
              <a:spcBef>
                <a:spcPts val="1230"/>
              </a:spcBef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8575"/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 </a:t>
            </a:r>
            <a:r>
              <a:rPr sz="1600" dirty="0">
                <a:latin typeface="Consolas"/>
                <a:cs typeface="Consolas"/>
              </a:rPr>
              <a:t>intent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45" dirty="0">
                <a:latin typeface="Consolas"/>
                <a:cs typeface="Consolas"/>
              </a:rPr>
              <a:t>(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45" dirty="0">
                <a:latin typeface="Consolas"/>
                <a:cs typeface="Consolas"/>
              </a:rPr>
              <a:t>.</a:t>
            </a:r>
            <a:r>
              <a:rPr sz="1600" spc="-45" dirty="0">
                <a:solidFill>
                  <a:srgbClr val="83B32F"/>
                </a:solidFill>
                <a:latin typeface="Consolas"/>
                <a:cs typeface="Consolas"/>
              </a:rPr>
              <a:t>ACTION_CALL</a:t>
            </a:r>
            <a:r>
              <a:rPr sz="1600" spc="-45" dirty="0">
                <a:latin typeface="Consolas"/>
                <a:cs typeface="Consolas"/>
              </a:rPr>
              <a:t>,</a:t>
            </a:r>
            <a:r>
              <a:rPr sz="1600" spc="-105" dirty="0">
                <a:latin typeface="Consolas"/>
                <a:cs typeface="Consolas"/>
              </a:rPr>
              <a:t> 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Uri</a:t>
            </a:r>
            <a:r>
              <a:rPr sz="1600" spc="-40" dirty="0">
                <a:latin typeface="Consolas"/>
                <a:cs typeface="Consolas"/>
              </a:rPr>
              <a:t>.parse(</a:t>
            </a:r>
            <a:r>
              <a:rPr sz="1600" spc="-40" dirty="0">
                <a:solidFill>
                  <a:srgbClr val="C55A11"/>
                </a:solidFill>
                <a:latin typeface="Consolas"/>
                <a:cs typeface="Consolas"/>
              </a:rPr>
              <a:t>"tel:031xxxxxx"</a:t>
            </a:r>
            <a:r>
              <a:rPr sz="1600" spc="-40" dirty="0">
                <a:latin typeface="Consolas"/>
                <a:cs typeface="Consolas"/>
              </a:rPr>
              <a:t>));</a:t>
            </a:r>
            <a:endParaRPr sz="1600">
              <a:latin typeface="Consolas"/>
              <a:cs typeface="Consolas"/>
            </a:endParaRPr>
          </a:p>
          <a:p>
            <a:pPr marL="28575"/>
            <a:r>
              <a:rPr sz="1600" spc="-10" dirty="0">
                <a:latin typeface="Consolas"/>
                <a:cs typeface="Consolas"/>
              </a:rPr>
              <a:t>startActivity(intent);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142973" y="3093718"/>
            <a:ext cx="958850" cy="967740"/>
            <a:chOff x="5618973" y="3093718"/>
            <a:chExt cx="958850" cy="96774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18973" y="3093718"/>
              <a:ext cx="958612" cy="9677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0532" y="3378707"/>
              <a:ext cx="633996" cy="4343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69280" y="3124199"/>
              <a:ext cx="862584" cy="86410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443596" y="3443478"/>
            <a:ext cx="360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onsolas"/>
                <a:cs typeface="Consolas"/>
              </a:rPr>
              <a:t>Main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56627" y="3470675"/>
            <a:ext cx="1341755" cy="171450"/>
          </a:xfrm>
          <a:custGeom>
            <a:avLst/>
            <a:gdLst/>
            <a:ahLst/>
            <a:cxnLst/>
            <a:rect l="l" t="t" r="r" b="b"/>
            <a:pathLst>
              <a:path w="1341754" h="171450">
                <a:moveTo>
                  <a:pt x="1265827" y="85578"/>
                </a:moveTo>
                <a:lnTo>
                  <a:pt x="1179829" y="135743"/>
                </a:lnTo>
                <a:lnTo>
                  <a:pt x="1174150" y="140795"/>
                </a:lnTo>
                <a:lnTo>
                  <a:pt x="1170971" y="147395"/>
                </a:lnTo>
                <a:lnTo>
                  <a:pt x="1170507" y="154709"/>
                </a:lnTo>
                <a:lnTo>
                  <a:pt x="1172972" y="161905"/>
                </a:lnTo>
                <a:lnTo>
                  <a:pt x="1178004" y="167512"/>
                </a:lnTo>
                <a:lnTo>
                  <a:pt x="1184560" y="170668"/>
                </a:lnTo>
                <a:lnTo>
                  <a:pt x="1191831" y="171156"/>
                </a:lnTo>
                <a:lnTo>
                  <a:pt x="1199006" y="168763"/>
                </a:lnTo>
                <a:lnTo>
                  <a:pt x="1308868" y="104628"/>
                </a:lnTo>
                <a:lnTo>
                  <a:pt x="1303654" y="104628"/>
                </a:lnTo>
                <a:lnTo>
                  <a:pt x="1303654" y="102088"/>
                </a:lnTo>
                <a:lnTo>
                  <a:pt x="1294129" y="102088"/>
                </a:lnTo>
                <a:lnTo>
                  <a:pt x="1265827" y="85578"/>
                </a:lnTo>
                <a:close/>
              </a:path>
              <a:path w="1341754" h="171450">
                <a:moveTo>
                  <a:pt x="1233169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1233170" y="104628"/>
                </a:lnTo>
                <a:lnTo>
                  <a:pt x="1265827" y="85578"/>
                </a:lnTo>
                <a:lnTo>
                  <a:pt x="1233169" y="66528"/>
                </a:lnTo>
                <a:close/>
              </a:path>
              <a:path w="1341754" h="171450">
                <a:moveTo>
                  <a:pt x="1308868" y="66528"/>
                </a:moveTo>
                <a:lnTo>
                  <a:pt x="1303654" y="66528"/>
                </a:lnTo>
                <a:lnTo>
                  <a:pt x="1303654" y="104628"/>
                </a:lnTo>
                <a:lnTo>
                  <a:pt x="1308868" y="104628"/>
                </a:lnTo>
                <a:lnTo>
                  <a:pt x="1341501" y="85578"/>
                </a:lnTo>
                <a:lnTo>
                  <a:pt x="1308868" y="66528"/>
                </a:lnTo>
                <a:close/>
              </a:path>
              <a:path w="1341754" h="171450">
                <a:moveTo>
                  <a:pt x="1294129" y="69068"/>
                </a:moveTo>
                <a:lnTo>
                  <a:pt x="1265827" y="85578"/>
                </a:lnTo>
                <a:lnTo>
                  <a:pt x="1294129" y="102088"/>
                </a:lnTo>
                <a:lnTo>
                  <a:pt x="1294129" y="69068"/>
                </a:lnTo>
                <a:close/>
              </a:path>
              <a:path w="1341754" h="171450">
                <a:moveTo>
                  <a:pt x="1303654" y="69068"/>
                </a:moveTo>
                <a:lnTo>
                  <a:pt x="1294129" y="69068"/>
                </a:lnTo>
                <a:lnTo>
                  <a:pt x="1294129" y="102088"/>
                </a:lnTo>
                <a:lnTo>
                  <a:pt x="1303654" y="102088"/>
                </a:lnTo>
                <a:lnTo>
                  <a:pt x="1303654" y="69068"/>
                </a:lnTo>
                <a:close/>
              </a:path>
              <a:path w="1341754" h="171450">
                <a:moveTo>
                  <a:pt x="1191831" y="0"/>
                </a:moveTo>
                <a:lnTo>
                  <a:pt x="1184560" y="488"/>
                </a:lnTo>
                <a:lnTo>
                  <a:pt x="1178004" y="3643"/>
                </a:lnTo>
                <a:lnTo>
                  <a:pt x="1172972" y="9251"/>
                </a:lnTo>
                <a:lnTo>
                  <a:pt x="1170507" y="16446"/>
                </a:lnTo>
                <a:lnTo>
                  <a:pt x="1170971" y="23760"/>
                </a:lnTo>
                <a:lnTo>
                  <a:pt x="1174150" y="30360"/>
                </a:lnTo>
                <a:lnTo>
                  <a:pt x="1179829" y="35413"/>
                </a:lnTo>
                <a:lnTo>
                  <a:pt x="1265827" y="85578"/>
                </a:lnTo>
                <a:lnTo>
                  <a:pt x="1294129" y="69068"/>
                </a:lnTo>
                <a:lnTo>
                  <a:pt x="1303654" y="69068"/>
                </a:lnTo>
                <a:lnTo>
                  <a:pt x="1303654" y="66528"/>
                </a:lnTo>
                <a:lnTo>
                  <a:pt x="1308868" y="66528"/>
                </a:lnTo>
                <a:lnTo>
                  <a:pt x="1199006" y="2393"/>
                </a:lnTo>
                <a:lnTo>
                  <a:pt x="1191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19261" y="3228595"/>
            <a:ext cx="6146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b="1" spc="-10" dirty="0">
                <a:latin typeface="Consolas"/>
                <a:cs typeface="Consolas"/>
              </a:rPr>
              <a:t>Intent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371077" y="3084589"/>
            <a:ext cx="977265" cy="977265"/>
            <a:chOff x="7847076" y="3084588"/>
            <a:chExt cx="977265" cy="977265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47076" y="3084588"/>
              <a:ext cx="976871" cy="97687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2796" y="3378707"/>
              <a:ext cx="885431" cy="4343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06512" y="3124199"/>
              <a:ext cx="862583" cy="86410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430512" y="3124201"/>
            <a:ext cx="862965" cy="527067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138430">
              <a:spcBef>
                <a:spcPts val="5"/>
              </a:spcBef>
            </a:pPr>
            <a:r>
              <a:rPr sz="1200" spc="-10" dirty="0">
                <a:solidFill>
                  <a:srgbClr val="FFFFFF"/>
                </a:solidFill>
                <a:latin typeface="Consolas"/>
                <a:cs typeface="Consolas"/>
              </a:rPr>
              <a:t>Système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13</a:t>
            </a:fld>
            <a:endParaRPr spc="-25" dirty="0"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429968" y="2037334"/>
            <a:ext cx="5222875" cy="643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Fournir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l’activité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démarrer</a:t>
            </a:r>
            <a:endParaRPr sz="2000">
              <a:latin typeface="Calibri"/>
              <a:cs typeface="Calibri"/>
            </a:endParaRPr>
          </a:p>
          <a:p>
            <a:pPr marL="12700">
              <a:spcBef>
                <a:spcPts val="60"/>
              </a:spcBef>
            </a:pPr>
            <a:r>
              <a:rPr sz="2000" dirty="0">
                <a:latin typeface="Calibri"/>
                <a:cs typeface="Calibri"/>
              </a:rPr>
              <a:t>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activités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doivent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même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4199" y="2180590"/>
            <a:ext cx="109728" cy="1249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4199" y="2493011"/>
            <a:ext cx="109728" cy="12496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10" dirty="0"/>
              <a:t>Types</a:t>
            </a:r>
            <a:r>
              <a:rPr spc="-150" dirty="0"/>
              <a:t> </a:t>
            </a:r>
            <a:r>
              <a:rPr dirty="0"/>
              <a:t>d'intentions</a:t>
            </a:r>
            <a:r>
              <a:rPr spc="-150" dirty="0"/>
              <a:t> </a:t>
            </a:r>
            <a:r>
              <a:rPr spc="-10" dirty="0"/>
              <a:t>(2/2)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2573" y="683514"/>
            <a:ext cx="1839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Intent</a:t>
            </a:r>
            <a:r>
              <a:rPr sz="2400" spc="-1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explicite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69948" y="4149789"/>
            <a:ext cx="8570595" cy="1553845"/>
            <a:chOff x="345947" y="4149788"/>
            <a:chExt cx="8570595" cy="155384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19" y="4180092"/>
              <a:ext cx="3513670" cy="4995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091" y="4149788"/>
              <a:ext cx="3173730" cy="6301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4195572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20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947" y="4517136"/>
              <a:ext cx="8570214" cy="11864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" y="4578096"/>
              <a:ext cx="6421374" cy="10904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74903" y="4546092"/>
              <a:ext cx="8394700" cy="1010919"/>
            </a:xfrm>
            <a:custGeom>
              <a:avLst/>
              <a:gdLst/>
              <a:ahLst/>
              <a:cxnLst/>
              <a:rect l="l" t="t" r="r" b="b"/>
              <a:pathLst>
                <a:path w="8394700" h="1010920">
                  <a:moveTo>
                    <a:pt x="8136763" y="0"/>
                  </a:moveTo>
                  <a:lnTo>
                    <a:pt x="0" y="0"/>
                  </a:lnTo>
                  <a:lnTo>
                    <a:pt x="0" y="752982"/>
                  </a:lnTo>
                  <a:lnTo>
                    <a:pt x="4147" y="799240"/>
                  </a:lnTo>
                  <a:lnTo>
                    <a:pt x="16106" y="842783"/>
                  </a:lnTo>
                  <a:lnTo>
                    <a:pt x="35149" y="882885"/>
                  </a:lnTo>
                  <a:lnTo>
                    <a:pt x="60548" y="918816"/>
                  </a:lnTo>
                  <a:lnTo>
                    <a:pt x="91577" y="949847"/>
                  </a:lnTo>
                  <a:lnTo>
                    <a:pt x="127507" y="975251"/>
                  </a:lnTo>
                  <a:lnTo>
                    <a:pt x="167613" y="994299"/>
                  </a:lnTo>
                  <a:lnTo>
                    <a:pt x="211167" y="1006262"/>
                  </a:lnTo>
                  <a:lnTo>
                    <a:pt x="257441" y="1010411"/>
                  </a:lnTo>
                  <a:lnTo>
                    <a:pt x="8394192" y="1010411"/>
                  </a:lnTo>
                  <a:lnTo>
                    <a:pt x="8394192" y="257428"/>
                  </a:lnTo>
                  <a:lnTo>
                    <a:pt x="8390042" y="211171"/>
                  </a:lnTo>
                  <a:lnTo>
                    <a:pt x="8378079" y="167628"/>
                  </a:lnTo>
                  <a:lnTo>
                    <a:pt x="8359031" y="127526"/>
                  </a:lnTo>
                  <a:lnTo>
                    <a:pt x="8333627" y="91595"/>
                  </a:lnTo>
                  <a:lnTo>
                    <a:pt x="8302596" y="60564"/>
                  </a:lnTo>
                  <a:lnTo>
                    <a:pt x="8266665" y="35160"/>
                  </a:lnTo>
                  <a:lnTo>
                    <a:pt x="8226563" y="16112"/>
                  </a:lnTo>
                  <a:lnTo>
                    <a:pt x="8183020" y="4149"/>
                  </a:lnTo>
                  <a:lnTo>
                    <a:pt x="8136763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24887" y="4217924"/>
            <a:ext cx="6057900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  <a:p>
            <a:pPr marL="40640">
              <a:spcBef>
                <a:spcPts val="1320"/>
              </a:spcBef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40640" marR="5080"/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OtherActivity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10" dirty="0">
                <a:latin typeface="Consolas"/>
                <a:cs typeface="Consolas"/>
              </a:rPr>
              <a:t>); startActivity(intent);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142973" y="3093718"/>
            <a:ext cx="958850" cy="967740"/>
            <a:chOff x="5618973" y="3093718"/>
            <a:chExt cx="958850" cy="96774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18973" y="3093718"/>
              <a:ext cx="958612" cy="9677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0532" y="3378707"/>
              <a:ext cx="633996" cy="4343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69280" y="3124199"/>
              <a:ext cx="862584" cy="86410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443596" y="3443478"/>
            <a:ext cx="360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onsolas"/>
                <a:cs typeface="Consolas"/>
              </a:rPr>
              <a:t>Main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349725" y="3093718"/>
            <a:ext cx="958850" cy="967740"/>
            <a:chOff x="7825725" y="3093718"/>
            <a:chExt cx="958850" cy="967740"/>
          </a:xfrm>
        </p:grpSpPr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25725" y="3093718"/>
              <a:ext cx="958612" cy="96774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46135" y="3378707"/>
              <a:ext cx="717803" cy="4343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76031" y="3124199"/>
              <a:ext cx="862584" cy="86410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609581" y="3443478"/>
            <a:ext cx="444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onsolas"/>
                <a:cs typeface="Consolas"/>
              </a:rPr>
              <a:t>Other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056626" y="3470675"/>
            <a:ext cx="1343660" cy="171450"/>
          </a:xfrm>
          <a:custGeom>
            <a:avLst/>
            <a:gdLst/>
            <a:ahLst/>
            <a:cxnLst/>
            <a:rect l="l" t="t" r="r" b="b"/>
            <a:pathLst>
              <a:path w="1343659" h="171450">
                <a:moveTo>
                  <a:pt x="1267351" y="85578"/>
                </a:moveTo>
                <a:lnTo>
                  <a:pt x="1181353" y="135743"/>
                </a:lnTo>
                <a:lnTo>
                  <a:pt x="1175746" y="140795"/>
                </a:lnTo>
                <a:lnTo>
                  <a:pt x="1172591" y="147395"/>
                </a:lnTo>
                <a:lnTo>
                  <a:pt x="1172102" y="154709"/>
                </a:lnTo>
                <a:lnTo>
                  <a:pt x="1174496" y="161905"/>
                </a:lnTo>
                <a:lnTo>
                  <a:pt x="1179548" y="167512"/>
                </a:lnTo>
                <a:lnTo>
                  <a:pt x="1186148" y="170668"/>
                </a:lnTo>
                <a:lnTo>
                  <a:pt x="1193462" y="171156"/>
                </a:lnTo>
                <a:lnTo>
                  <a:pt x="1200657" y="168763"/>
                </a:lnTo>
                <a:lnTo>
                  <a:pt x="1310519" y="104628"/>
                </a:lnTo>
                <a:lnTo>
                  <a:pt x="1305305" y="104628"/>
                </a:lnTo>
                <a:lnTo>
                  <a:pt x="1305305" y="102088"/>
                </a:lnTo>
                <a:lnTo>
                  <a:pt x="1295653" y="102088"/>
                </a:lnTo>
                <a:lnTo>
                  <a:pt x="1267351" y="85578"/>
                </a:lnTo>
                <a:close/>
              </a:path>
              <a:path w="1343659" h="171450">
                <a:moveTo>
                  <a:pt x="1234693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1234694" y="104628"/>
                </a:lnTo>
                <a:lnTo>
                  <a:pt x="1267351" y="85578"/>
                </a:lnTo>
                <a:lnTo>
                  <a:pt x="1234693" y="66528"/>
                </a:lnTo>
                <a:close/>
              </a:path>
              <a:path w="1343659" h="171450">
                <a:moveTo>
                  <a:pt x="1310519" y="66528"/>
                </a:moveTo>
                <a:lnTo>
                  <a:pt x="1305305" y="66528"/>
                </a:lnTo>
                <a:lnTo>
                  <a:pt x="1305305" y="104628"/>
                </a:lnTo>
                <a:lnTo>
                  <a:pt x="1310519" y="104628"/>
                </a:lnTo>
                <a:lnTo>
                  <a:pt x="1343152" y="85578"/>
                </a:lnTo>
                <a:lnTo>
                  <a:pt x="1310519" y="66528"/>
                </a:lnTo>
                <a:close/>
              </a:path>
              <a:path w="1343659" h="171450">
                <a:moveTo>
                  <a:pt x="1295653" y="69068"/>
                </a:moveTo>
                <a:lnTo>
                  <a:pt x="1267351" y="85578"/>
                </a:lnTo>
                <a:lnTo>
                  <a:pt x="1295653" y="102088"/>
                </a:lnTo>
                <a:lnTo>
                  <a:pt x="1295653" y="69068"/>
                </a:lnTo>
                <a:close/>
              </a:path>
              <a:path w="1343659" h="171450">
                <a:moveTo>
                  <a:pt x="1305305" y="69068"/>
                </a:moveTo>
                <a:lnTo>
                  <a:pt x="1295653" y="69068"/>
                </a:lnTo>
                <a:lnTo>
                  <a:pt x="1295653" y="102088"/>
                </a:lnTo>
                <a:lnTo>
                  <a:pt x="1305305" y="102088"/>
                </a:lnTo>
                <a:lnTo>
                  <a:pt x="1305305" y="69068"/>
                </a:lnTo>
                <a:close/>
              </a:path>
              <a:path w="1343659" h="171450">
                <a:moveTo>
                  <a:pt x="1193462" y="0"/>
                </a:moveTo>
                <a:lnTo>
                  <a:pt x="1186148" y="488"/>
                </a:lnTo>
                <a:lnTo>
                  <a:pt x="1179548" y="3643"/>
                </a:lnTo>
                <a:lnTo>
                  <a:pt x="1174496" y="9251"/>
                </a:lnTo>
                <a:lnTo>
                  <a:pt x="1172102" y="16446"/>
                </a:lnTo>
                <a:lnTo>
                  <a:pt x="1172591" y="23760"/>
                </a:lnTo>
                <a:lnTo>
                  <a:pt x="1175746" y="30360"/>
                </a:lnTo>
                <a:lnTo>
                  <a:pt x="1181353" y="35413"/>
                </a:lnTo>
                <a:lnTo>
                  <a:pt x="1267351" y="85578"/>
                </a:lnTo>
                <a:lnTo>
                  <a:pt x="1295653" y="69068"/>
                </a:lnTo>
                <a:lnTo>
                  <a:pt x="1305305" y="69068"/>
                </a:lnTo>
                <a:lnTo>
                  <a:pt x="1305305" y="66528"/>
                </a:lnTo>
                <a:lnTo>
                  <a:pt x="1310519" y="66528"/>
                </a:lnTo>
                <a:lnTo>
                  <a:pt x="1200657" y="2393"/>
                </a:lnTo>
                <a:lnTo>
                  <a:pt x="1193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319643" y="3229102"/>
            <a:ext cx="6146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b="1" spc="-10" dirty="0">
                <a:latin typeface="Consolas"/>
                <a:cs typeface="Consolas"/>
              </a:rPr>
              <a:t>Intent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14</a:t>
            </a:fld>
            <a:endParaRPr spc="-25" dirty="0"/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2099946"/>
            <a:ext cx="109728" cy="1249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87068" y="1030105"/>
            <a:ext cx="4622165" cy="125730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spcBef>
                <a:spcPts val="1125"/>
              </a:spcBef>
            </a:pP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Créer</a:t>
            </a:r>
            <a:r>
              <a:rPr sz="2200" b="1" spc="-4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une</a:t>
            </a:r>
            <a:r>
              <a:rPr sz="2200" b="1" spc="-7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A8B39"/>
                </a:solidFill>
                <a:latin typeface="Calibri"/>
                <a:cs typeface="Calibri"/>
              </a:rPr>
              <a:t>activité</a:t>
            </a:r>
            <a:r>
              <a:rPr sz="2200" b="1" spc="-4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nsolas"/>
                <a:cs typeface="Consolas"/>
              </a:rPr>
              <a:t>ModulesActivity</a:t>
            </a:r>
            <a:endParaRPr sz="2000">
              <a:latin typeface="Consolas"/>
              <a:cs typeface="Consolas"/>
            </a:endParaRPr>
          </a:p>
          <a:p>
            <a:pPr marL="12700">
              <a:spcBef>
                <a:spcPts val="944"/>
              </a:spcBef>
            </a:pPr>
            <a:r>
              <a:rPr sz="2000" b="1" dirty="0">
                <a:latin typeface="Calibri"/>
                <a:cs typeface="Calibri"/>
              </a:rPr>
              <a:t>Après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vérification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champs,</a:t>
            </a:r>
            <a:endParaRPr sz="2000">
              <a:latin typeface="Calibri"/>
              <a:cs typeface="Calibri"/>
            </a:endParaRPr>
          </a:p>
          <a:p>
            <a:pPr marL="570230">
              <a:spcBef>
                <a:spcPts val="285"/>
              </a:spcBef>
            </a:pPr>
            <a:r>
              <a:rPr sz="2000" spc="-10" dirty="0">
                <a:latin typeface="Calibri"/>
                <a:cs typeface="Calibri"/>
              </a:rPr>
              <a:t>Faire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passage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ModulesActivity</a:t>
            </a:r>
            <a:endParaRPr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TP2b</a:t>
            </a:r>
            <a:r>
              <a:rPr spc="-85" dirty="0"/>
              <a:t> 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Passage</a:t>
            </a:r>
            <a:r>
              <a:rPr spc="-70" dirty="0"/>
              <a:t> </a:t>
            </a:r>
            <a:r>
              <a:rPr dirty="0"/>
              <a:t>d’une</a:t>
            </a:r>
            <a:r>
              <a:rPr spc="-70" dirty="0"/>
              <a:t> </a:t>
            </a:r>
            <a:r>
              <a:rPr dirty="0"/>
              <a:t>activité</a:t>
            </a:r>
            <a:r>
              <a:rPr spc="-65" dirty="0"/>
              <a:t> </a:t>
            </a:r>
            <a:r>
              <a:rPr dirty="0"/>
              <a:t>à</a:t>
            </a:r>
            <a:r>
              <a:rPr spc="-70" dirty="0"/>
              <a:t> </a:t>
            </a:r>
            <a:r>
              <a:rPr dirty="0"/>
              <a:t>une</a:t>
            </a:r>
            <a:r>
              <a:rPr spc="-85" dirty="0"/>
              <a:t> </a:t>
            </a:r>
            <a:r>
              <a:rPr spc="-10" dirty="0"/>
              <a:t>autre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30" b="97799" l="0" r="99164">
                        <a14:foregroundMark x1="9749" y1="37264" x2="27298" y2="77673"/>
                        <a14:foregroundMark x1="74930" y1="8648" x2="21727" y2="12893"/>
                        <a14:foregroundMark x1="21727" y1="12893" x2="12256" y2="30503"/>
                        <a14:foregroundMark x1="12256" y1="30503" x2="17549" y2="81604"/>
                        <a14:foregroundMark x1="17549" y1="81604" x2="31476" y2="95283"/>
                        <a14:foregroundMark x1="31476" y1="95283" x2="55989" y2="91667"/>
                        <a14:foregroundMark x1="55989" y1="91667" x2="81894" y2="26572"/>
                        <a14:foregroundMark x1="81894" y1="26572" x2="82730" y2="11478"/>
                        <a14:foregroundMark x1="82730" y1="11478" x2="87465" y2="73428"/>
                        <a14:foregroundMark x1="87465" y1="73428" x2="72702" y2="84591"/>
                        <a14:foregroundMark x1="72702" y1="84591" x2="41504" y2="75157"/>
                        <a14:foregroundMark x1="41504" y1="75157" x2="27019" y2="61164"/>
                        <a14:foregroundMark x1="27019" y1="61164" x2="46518" y2="46384"/>
                        <a14:foregroundMark x1="46518" y1="46384" x2="69081" y2="39623"/>
                        <a14:foregroundMark x1="69081" y1="39623" x2="57660" y2="41352"/>
                        <a14:foregroundMark x1="3343" y1="4088" x2="84401" y2="4717"/>
                        <a14:foregroundMark x1="84401" y1="4717" x2="99164" y2="7075"/>
                        <a14:foregroundMark x1="77994" y1="1101" x2="22841" y2="1258"/>
                        <a14:foregroundMark x1="22841" y1="1258" x2="3900" y2="12893"/>
                        <a14:foregroundMark x1="3900" y1="12893" x2="557" y2="41509"/>
                        <a14:foregroundMark x1="557" y1="41509" x2="20891" y2="50314"/>
                        <a14:foregroundMark x1="20891" y1="50314" x2="31345" y2="37425"/>
                        <a14:foregroundMark x1="31476" y1="34349" x2="31476" y2="20755"/>
                        <a14:foregroundMark x1="41236" y1="17576" x2="53203" y2="13679"/>
                        <a14:foregroundMark x1="31476" y1="20755" x2="38180" y2="18572"/>
                        <a14:foregroundMark x1="70754" y1="20507" x2="73816" y2="21698"/>
                        <a14:foregroundMark x1="68993" y1="19822" x2="69205" y2="19905"/>
                        <a14:foregroundMark x1="53203" y1="13679" x2="68574" y2="19659"/>
                        <a14:foregroundMark x1="73816" y1="21698" x2="94429" y2="57075"/>
                        <a14:foregroundMark x1="94429" y1="57075" x2="89972" y2="86950"/>
                        <a14:foregroundMark x1="89972" y1="86950" x2="69916" y2="95912"/>
                        <a14:foregroundMark x1="69916" y1="95912" x2="42061" y2="94654"/>
                        <a14:foregroundMark x1="42061" y1="94654" x2="17827" y2="86478"/>
                        <a14:foregroundMark x1="17827" y1="86478" x2="2507" y2="45597"/>
                        <a14:foregroundMark x1="2507" y1="45597" x2="10864" y2="65881"/>
                        <a14:foregroundMark x1="10864" y1="65881" x2="31198" y2="50943"/>
                        <a14:foregroundMark x1="44451" y1="20427" x2="48747" y2="10535"/>
                        <a14:foregroundMark x1="38920" y1="33163" x2="39607" y2="31580"/>
                        <a14:foregroundMark x1="35469" y1="41107" x2="35689" y2="40602"/>
                        <a14:foregroundMark x1="31198" y1="50943" x2="35232" y2="41655"/>
                        <a14:foregroundMark x1="43882" y1="42686" x2="42061" y2="54717"/>
                        <a14:foregroundMark x1="48747" y1="10535" x2="47177" y2="20908"/>
                        <a14:foregroundMark x1="59171" y1="20208" x2="62953" y2="12579"/>
                        <a14:foregroundMark x1="54685" y1="29255" x2="54772" y2="29080"/>
                        <a14:foregroundMark x1="42061" y1="54717" x2="48382" y2="41968"/>
                        <a14:foregroundMark x1="63994" y1="34639" x2="66017" y2="77516"/>
                        <a14:foregroundMark x1="62953" y1="12579" x2="63302" y2="19967"/>
                        <a14:foregroundMark x1="66017" y1="77516" x2="83008" y2="65881"/>
                        <a14:foregroundMark x1="83008" y1="65881" x2="93593" y2="44811"/>
                        <a14:foregroundMark x1="93593" y1="44811" x2="89694" y2="73742"/>
                        <a14:foregroundMark x1="89694" y1="73742" x2="72702" y2="52516"/>
                        <a14:foregroundMark x1="71529" y1="28015" x2="71309" y2="23428"/>
                        <a14:foregroundMark x1="72702" y1="52516" x2="71896" y2="35681"/>
                        <a14:foregroundMark x1="68232" y1="35298" x2="59610" y2="68553"/>
                        <a14:foregroundMark x1="71309" y1="23428" x2="70174" y2="27804"/>
                        <a14:foregroundMark x1="28372" y1="34844" x2="21727" y2="27673"/>
                        <a14:foregroundMark x1="36284" y1="43381" x2="29544" y2="36108"/>
                        <a14:foregroundMark x1="59610" y1="68553" x2="36566" y2="43685"/>
                        <a14:foregroundMark x1="21727" y1="27673" x2="26184" y2="81447"/>
                        <a14:foregroundMark x1="26184" y1="81447" x2="36490" y2="52044"/>
                        <a14:foregroundMark x1="36490" y1="52044" x2="37047" y2="87107"/>
                        <a14:foregroundMark x1="37047" y1="87107" x2="51811" y2="57862"/>
                        <a14:foregroundMark x1="51811" y1="57862" x2="38719" y2="79403"/>
                        <a14:foregroundMark x1="38719" y1="79403" x2="45138" y2="42485"/>
                        <a14:foregroundMark x1="48076" y1="42017" x2="49861" y2="97799"/>
                        <a14:foregroundMark x1="49861" y1="97799" x2="53181" y2="41203"/>
                        <a14:foregroundMark x1="36806" y1="44250" x2="28134" y2="53145"/>
                        <a14:foregroundMark x1="38417" y1="42597" x2="36810" y2="44245"/>
                        <a14:foregroundMark x1="28134" y1="53145" x2="23677" y2="11635"/>
                        <a14:foregroundMark x1="23677" y1="11635" x2="10864" y2="77673"/>
                        <a14:foregroundMark x1="10864" y1="77673" x2="20056" y2="54088"/>
                        <a14:foregroundMark x1="20056" y1="54088" x2="16992" y2="89308"/>
                        <a14:foregroundMark x1="95543" y1="96226" x2="16992" y2="95755"/>
                        <a14:foregroundMark x1="16992" y1="95755" x2="6964" y2="82704"/>
                        <a14:foregroundMark x1="6964" y1="82704" x2="5292" y2="11635"/>
                        <a14:foregroundMark x1="5292" y1="11635" x2="27019" y2="4088"/>
                        <a14:foregroundMark x1="27019" y1="4088" x2="56546" y2="4088"/>
                        <a14:foregroundMark x1="56546" y1="4088" x2="81894" y2="3931"/>
                        <a14:foregroundMark x1="81894" y1="3931" x2="4178" y2="1730"/>
                        <a14:foregroundMark x1="99164" y1="97170" x2="0" y2="93711"/>
                        <a14:foregroundMark x1="28969" y1="79403" x2="56267" y2="83333"/>
                        <a14:foregroundMark x1="56267" y1="83333" x2="31755" y2="82704"/>
                        <a14:foregroundMark x1="31755" y1="82704" x2="34540" y2="83962"/>
                        <a14:foregroundMark x1="67409" y1="80503" x2="67967" y2="80031"/>
                        <a14:backgroundMark x1="57382" y1="35377" x2="33705" y2="39151"/>
                        <a14:backgroundMark x1="33705" y1="39151" x2="30362" y2="31289"/>
                        <a14:backgroundMark x1="45961" y1="31289" x2="47632" y2="24214"/>
                        <a14:backgroundMark x1="40111" y1="25629" x2="64345" y2="24214"/>
                        <a14:backgroundMark x1="64345" y1="24214" x2="66574" y2="24214"/>
                        <a14:backgroundMark x1="66295" y1="27201" x2="62674" y2="34434"/>
                        <a14:backgroundMark x1="56825" y1="31132" x2="39276" y2="31289"/>
                        <a14:backgroundMark x1="46240" y1="22013" x2="42061" y2="220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4279" y="2689860"/>
            <a:ext cx="1955292" cy="34610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961834" y="4021715"/>
            <a:ext cx="745490" cy="654050"/>
            <a:chOff x="4437834" y="4021715"/>
            <a:chExt cx="745490" cy="65405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7834" y="4021715"/>
              <a:ext cx="745397" cy="654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8179" y="4043172"/>
              <a:ext cx="658368" cy="577595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17436" y="2689860"/>
            <a:ext cx="1958339" cy="346100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15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40" dirty="0"/>
              <a:t>Transfert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données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9092" y="3694113"/>
            <a:ext cx="3518535" cy="630555"/>
            <a:chOff x="355091" y="3694112"/>
            <a:chExt cx="3518535" cy="630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19" y="3724416"/>
              <a:ext cx="3513670" cy="499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3694112"/>
              <a:ext cx="3292602" cy="6301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3739896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20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4888" y="3762248"/>
            <a:ext cx="2880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/java/OtherActivity.java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69948" y="4061459"/>
            <a:ext cx="8570595" cy="1383030"/>
            <a:chOff x="345947" y="4061459"/>
            <a:chExt cx="8570595" cy="13830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4061459"/>
              <a:ext cx="8570214" cy="13525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951" y="4110227"/>
              <a:ext cx="5199126" cy="13342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4903" y="4090415"/>
              <a:ext cx="8394700" cy="1176655"/>
            </a:xfrm>
            <a:custGeom>
              <a:avLst/>
              <a:gdLst/>
              <a:ahLst/>
              <a:cxnLst/>
              <a:rect l="l" t="t" r="r" b="b"/>
              <a:pathLst>
                <a:path w="8394700" h="1176654">
                  <a:moveTo>
                    <a:pt x="8181213" y="0"/>
                  </a:moveTo>
                  <a:lnTo>
                    <a:pt x="0" y="0"/>
                  </a:lnTo>
                  <a:lnTo>
                    <a:pt x="0" y="963548"/>
                  </a:lnTo>
                  <a:lnTo>
                    <a:pt x="5624" y="1012375"/>
                  </a:lnTo>
                  <a:lnTo>
                    <a:pt x="21643" y="1057201"/>
                  </a:lnTo>
                  <a:lnTo>
                    <a:pt x="46781" y="1096746"/>
                  </a:lnTo>
                  <a:lnTo>
                    <a:pt x="79758" y="1129731"/>
                  </a:lnTo>
                  <a:lnTo>
                    <a:pt x="119295" y="1154876"/>
                  </a:lnTo>
                  <a:lnTo>
                    <a:pt x="164116" y="1170901"/>
                  </a:lnTo>
                  <a:lnTo>
                    <a:pt x="212940" y="1176527"/>
                  </a:lnTo>
                  <a:lnTo>
                    <a:pt x="8394192" y="1176527"/>
                  </a:lnTo>
                  <a:lnTo>
                    <a:pt x="8394192" y="212978"/>
                  </a:lnTo>
                  <a:lnTo>
                    <a:pt x="8388565" y="164152"/>
                  </a:lnTo>
                  <a:lnTo>
                    <a:pt x="8372540" y="119326"/>
                  </a:lnTo>
                  <a:lnTo>
                    <a:pt x="8347395" y="79781"/>
                  </a:lnTo>
                  <a:lnTo>
                    <a:pt x="8314410" y="46796"/>
                  </a:lnTo>
                  <a:lnTo>
                    <a:pt x="8274865" y="21651"/>
                  </a:lnTo>
                  <a:lnTo>
                    <a:pt x="8230039" y="5626"/>
                  </a:lnTo>
                  <a:lnTo>
                    <a:pt x="8181213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39823" y="4176776"/>
            <a:ext cx="480441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92175">
              <a:spcBef>
                <a:spcPts val="9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getIntent();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intent.getExtras()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12700" marR="5080"/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6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nom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bundle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.getString</a:t>
            </a:r>
            <a:r>
              <a:rPr sz="1600" spc="-10" dirty="0"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"nom"</a:t>
            </a:r>
            <a:r>
              <a:rPr sz="1600" spc="-10" dirty="0">
                <a:latin typeface="Consolas"/>
                <a:cs typeface="Consolas"/>
              </a:rPr>
              <a:t>);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prenom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bundle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.getString</a:t>
            </a:r>
            <a:r>
              <a:rPr sz="1600" spc="-10" dirty="0"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"prenom"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79092" y="1103313"/>
            <a:ext cx="3395345" cy="630555"/>
            <a:chOff x="355091" y="1103312"/>
            <a:chExt cx="3395345" cy="63055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8" y="1133628"/>
              <a:ext cx="3390229" cy="4995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1103312"/>
              <a:ext cx="3173730" cy="630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4903" y="1149096"/>
              <a:ext cx="3241675" cy="350520"/>
            </a:xfrm>
            <a:custGeom>
              <a:avLst/>
              <a:gdLst/>
              <a:ahLst/>
              <a:cxnLst/>
              <a:rect l="l" t="t" r="r" b="b"/>
              <a:pathLst>
                <a:path w="3241675" h="350519">
                  <a:moveTo>
                    <a:pt x="3080131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241547" y="350519"/>
                  </a:lnTo>
                  <a:lnTo>
                    <a:pt x="3241547" y="161416"/>
                  </a:lnTo>
                  <a:lnTo>
                    <a:pt x="3235782" y="118503"/>
                  </a:lnTo>
                  <a:lnTo>
                    <a:pt x="3219511" y="79944"/>
                  </a:lnTo>
                  <a:lnTo>
                    <a:pt x="3194272" y="47275"/>
                  </a:lnTo>
                  <a:lnTo>
                    <a:pt x="3161603" y="22036"/>
                  </a:lnTo>
                  <a:lnTo>
                    <a:pt x="3123044" y="5765"/>
                  </a:lnTo>
                  <a:lnTo>
                    <a:pt x="3080131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24887" y="1170814"/>
            <a:ext cx="27622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69948" y="1470660"/>
            <a:ext cx="8570595" cy="1921510"/>
            <a:chOff x="345947" y="1470660"/>
            <a:chExt cx="8570595" cy="192151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1470660"/>
              <a:ext cx="8570214" cy="192100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143" y="1530096"/>
              <a:ext cx="6421374" cy="182194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4903" y="1499616"/>
              <a:ext cx="8394700" cy="1744980"/>
            </a:xfrm>
            <a:custGeom>
              <a:avLst/>
              <a:gdLst/>
              <a:ahLst/>
              <a:cxnLst/>
              <a:rect l="l" t="t" r="r" b="b"/>
              <a:pathLst>
                <a:path w="8394700" h="1744980">
                  <a:moveTo>
                    <a:pt x="8140954" y="0"/>
                  </a:moveTo>
                  <a:lnTo>
                    <a:pt x="0" y="0"/>
                  </a:lnTo>
                  <a:lnTo>
                    <a:pt x="0" y="1491742"/>
                  </a:lnTo>
                  <a:lnTo>
                    <a:pt x="4079" y="1537253"/>
                  </a:lnTo>
                  <a:lnTo>
                    <a:pt x="15842" y="1580091"/>
                  </a:lnTo>
                  <a:lnTo>
                    <a:pt x="34572" y="1619541"/>
                  </a:lnTo>
                  <a:lnTo>
                    <a:pt x="59555" y="1654886"/>
                  </a:lnTo>
                  <a:lnTo>
                    <a:pt x="90075" y="1685410"/>
                  </a:lnTo>
                  <a:lnTo>
                    <a:pt x="125417" y="1710398"/>
                  </a:lnTo>
                  <a:lnTo>
                    <a:pt x="164866" y="1729133"/>
                  </a:lnTo>
                  <a:lnTo>
                    <a:pt x="207707" y="1740898"/>
                  </a:lnTo>
                  <a:lnTo>
                    <a:pt x="253225" y="1744980"/>
                  </a:lnTo>
                  <a:lnTo>
                    <a:pt x="8394192" y="1744980"/>
                  </a:lnTo>
                  <a:lnTo>
                    <a:pt x="8394192" y="253237"/>
                  </a:lnTo>
                  <a:lnTo>
                    <a:pt x="8390110" y="207726"/>
                  </a:lnTo>
                  <a:lnTo>
                    <a:pt x="8378345" y="164888"/>
                  </a:lnTo>
                  <a:lnTo>
                    <a:pt x="8359610" y="125438"/>
                  </a:lnTo>
                  <a:lnTo>
                    <a:pt x="8334622" y="90093"/>
                  </a:lnTo>
                  <a:lnTo>
                    <a:pt x="8304098" y="59569"/>
                  </a:lnTo>
                  <a:lnTo>
                    <a:pt x="8268753" y="34581"/>
                  </a:lnTo>
                  <a:lnTo>
                    <a:pt x="8229303" y="15846"/>
                  </a:lnTo>
                  <a:lnTo>
                    <a:pt x="8186465" y="4081"/>
                  </a:lnTo>
                  <a:lnTo>
                    <a:pt x="814095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51711" y="1597279"/>
            <a:ext cx="60293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75" marR="5080" indent="-334010">
              <a:spcBef>
                <a:spcPts val="9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OtherActivity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10" dirty="0">
                <a:latin typeface="Consolas"/>
                <a:cs typeface="Consolas"/>
              </a:rPr>
              <a:t>);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u="sng" spc="-2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=</a:t>
            </a:r>
            <a:r>
              <a:rPr sz="1600" u="sng" spc="-2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new</a:t>
            </a:r>
            <a:r>
              <a:rPr sz="1600" u="sng" spc="-2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Bundle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()</a:t>
            </a:r>
            <a:r>
              <a:rPr sz="1600" spc="-10" dirty="0">
                <a:latin typeface="Consolas"/>
                <a:cs typeface="Consolas"/>
              </a:rPr>
              <a:t>;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.putString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"nom"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114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"toto"</a:t>
            </a:r>
            <a:r>
              <a:rPr sz="1600" spc="-10" dirty="0">
                <a:latin typeface="Consolas"/>
                <a:cs typeface="Consolas"/>
              </a:rPr>
              <a:t>);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.putString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"prenom"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135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"bobo"</a:t>
            </a:r>
            <a:r>
              <a:rPr sz="1600" spc="-10" dirty="0">
                <a:latin typeface="Consolas"/>
                <a:cs typeface="Consolas"/>
              </a:rPr>
              <a:t>); intent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.putExtras(bundle)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51711" y="2816174"/>
            <a:ext cx="24720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10" dirty="0">
                <a:latin typeface="Consolas"/>
                <a:cs typeface="Consolas"/>
              </a:rPr>
              <a:t>startActivity(intent);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21068" y="2484133"/>
            <a:ext cx="978535" cy="977265"/>
            <a:chOff x="5497067" y="2484132"/>
            <a:chExt cx="978535" cy="977265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7067" y="2484132"/>
              <a:ext cx="978433" cy="97687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7755" y="2778251"/>
              <a:ext cx="633996" cy="4343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56503" y="2523743"/>
              <a:ext cx="864108" cy="86410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331202" y="2843276"/>
            <a:ext cx="360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onsolas"/>
                <a:cs typeface="Consolas"/>
              </a:rPr>
              <a:t>Main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226296" y="2484133"/>
            <a:ext cx="977265" cy="977265"/>
            <a:chOff x="7702295" y="2484132"/>
            <a:chExt cx="977265" cy="977265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02295" y="2484132"/>
              <a:ext cx="976871" cy="97687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31835" y="2778251"/>
              <a:ext cx="717803" cy="4343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61731" y="2523743"/>
              <a:ext cx="862584" cy="86410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495281" y="2843276"/>
            <a:ext cx="444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onsolas"/>
                <a:cs typeface="Consolas"/>
              </a:rPr>
              <a:t>Other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945374" y="2871743"/>
            <a:ext cx="1341755" cy="171450"/>
          </a:xfrm>
          <a:custGeom>
            <a:avLst/>
            <a:gdLst/>
            <a:ahLst/>
            <a:cxnLst/>
            <a:rect l="l" t="t" r="r" b="b"/>
            <a:pathLst>
              <a:path w="1341754" h="171450">
                <a:moveTo>
                  <a:pt x="1265827" y="85578"/>
                </a:moveTo>
                <a:lnTo>
                  <a:pt x="1179829" y="135743"/>
                </a:lnTo>
                <a:lnTo>
                  <a:pt x="1174150" y="140795"/>
                </a:lnTo>
                <a:lnTo>
                  <a:pt x="1170971" y="147395"/>
                </a:lnTo>
                <a:lnTo>
                  <a:pt x="1170507" y="154709"/>
                </a:lnTo>
                <a:lnTo>
                  <a:pt x="1172972" y="161905"/>
                </a:lnTo>
                <a:lnTo>
                  <a:pt x="1178022" y="167512"/>
                </a:lnTo>
                <a:lnTo>
                  <a:pt x="1184608" y="170668"/>
                </a:lnTo>
                <a:lnTo>
                  <a:pt x="1191885" y="171156"/>
                </a:lnTo>
                <a:lnTo>
                  <a:pt x="1199006" y="168763"/>
                </a:lnTo>
                <a:lnTo>
                  <a:pt x="1308868" y="104628"/>
                </a:lnTo>
                <a:lnTo>
                  <a:pt x="1303781" y="104628"/>
                </a:lnTo>
                <a:lnTo>
                  <a:pt x="1303781" y="102088"/>
                </a:lnTo>
                <a:lnTo>
                  <a:pt x="1294129" y="102088"/>
                </a:lnTo>
                <a:lnTo>
                  <a:pt x="1265827" y="85578"/>
                </a:lnTo>
                <a:close/>
              </a:path>
              <a:path w="1341754" h="171450">
                <a:moveTo>
                  <a:pt x="1233169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1233169" y="104628"/>
                </a:lnTo>
                <a:lnTo>
                  <a:pt x="1265827" y="85578"/>
                </a:lnTo>
                <a:lnTo>
                  <a:pt x="1233169" y="66528"/>
                </a:lnTo>
                <a:close/>
              </a:path>
              <a:path w="1341754" h="171450">
                <a:moveTo>
                  <a:pt x="1308868" y="66528"/>
                </a:moveTo>
                <a:lnTo>
                  <a:pt x="1303781" y="66528"/>
                </a:lnTo>
                <a:lnTo>
                  <a:pt x="1303781" y="104628"/>
                </a:lnTo>
                <a:lnTo>
                  <a:pt x="1308868" y="104628"/>
                </a:lnTo>
                <a:lnTo>
                  <a:pt x="1341501" y="85578"/>
                </a:lnTo>
                <a:lnTo>
                  <a:pt x="1308868" y="66528"/>
                </a:lnTo>
                <a:close/>
              </a:path>
              <a:path w="1341754" h="171450">
                <a:moveTo>
                  <a:pt x="1294129" y="69068"/>
                </a:moveTo>
                <a:lnTo>
                  <a:pt x="1265827" y="85578"/>
                </a:lnTo>
                <a:lnTo>
                  <a:pt x="1294129" y="102088"/>
                </a:lnTo>
                <a:lnTo>
                  <a:pt x="1294129" y="69068"/>
                </a:lnTo>
                <a:close/>
              </a:path>
              <a:path w="1341754" h="171450">
                <a:moveTo>
                  <a:pt x="1303781" y="69068"/>
                </a:moveTo>
                <a:lnTo>
                  <a:pt x="1294129" y="69068"/>
                </a:lnTo>
                <a:lnTo>
                  <a:pt x="1294129" y="102088"/>
                </a:lnTo>
                <a:lnTo>
                  <a:pt x="1303781" y="102088"/>
                </a:lnTo>
                <a:lnTo>
                  <a:pt x="1303781" y="69068"/>
                </a:lnTo>
                <a:close/>
              </a:path>
              <a:path w="1341754" h="171450">
                <a:moveTo>
                  <a:pt x="1191885" y="0"/>
                </a:moveTo>
                <a:lnTo>
                  <a:pt x="1184608" y="488"/>
                </a:lnTo>
                <a:lnTo>
                  <a:pt x="1178022" y="3643"/>
                </a:lnTo>
                <a:lnTo>
                  <a:pt x="1172972" y="9251"/>
                </a:lnTo>
                <a:lnTo>
                  <a:pt x="1170507" y="16446"/>
                </a:lnTo>
                <a:lnTo>
                  <a:pt x="1170971" y="23760"/>
                </a:lnTo>
                <a:lnTo>
                  <a:pt x="1174150" y="30360"/>
                </a:lnTo>
                <a:lnTo>
                  <a:pt x="1179829" y="35413"/>
                </a:lnTo>
                <a:lnTo>
                  <a:pt x="1265827" y="85578"/>
                </a:lnTo>
                <a:lnTo>
                  <a:pt x="1294129" y="69068"/>
                </a:lnTo>
                <a:lnTo>
                  <a:pt x="1303781" y="69068"/>
                </a:lnTo>
                <a:lnTo>
                  <a:pt x="1303781" y="66528"/>
                </a:lnTo>
                <a:lnTo>
                  <a:pt x="1308868" y="66528"/>
                </a:lnTo>
                <a:lnTo>
                  <a:pt x="1199006" y="2393"/>
                </a:lnTo>
                <a:lnTo>
                  <a:pt x="11918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248015" y="2642108"/>
            <a:ext cx="6146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b="1" spc="-10" dirty="0">
                <a:latin typeface="Consolas"/>
                <a:cs typeface="Consolas"/>
              </a:rPr>
              <a:t>Intent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662672" y="2995423"/>
            <a:ext cx="1830705" cy="1370965"/>
            <a:chOff x="6138671" y="2995422"/>
            <a:chExt cx="1830705" cy="1370965"/>
          </a:xfrm>
        </p:grpSpPr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38671" y="3480828"/>
              <a:ext cx="1830324" cy="88543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98107" y="3520440"/>
              <a:ext cx="1716023" cy="77266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11161" y="2995422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077327" y="4288663"/>
            <a:ext cx="693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solidFill>
                  <a:srgbClr val="B0641F"/>
                </a:solidFill>
                <a:latin typeface="Consolas"/>
                <a:cs typeface="Consolas"/>
              </a:rPr>
              <a:t>Bundle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22109" y="3713607"/>
            <a:ext cx="1523365" cy="44499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7145" marR="322580">
              <a:spcBef>
                <a:spcPts val="350"/>
              </a:spcBef>
            </a:pPr>
            <a:r>
              <a:rPr sz="1300" b="1" spc="-10" dirty="0">
                <a:solidFill>
                  <a:srgbClr val="FFFFFF"/>
                </a:solidFill>
                <a:latin typeface="Consolas"/>
                <a:cs typeface="Consolas"/>
              </a:rPr>
              <a:t>(nom,toto) (prenom,bobo)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29967" y="5500522"/>
            <a:ext cx="7227570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5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(c-à-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objets)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doivent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implémenter l’interface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5"/>
              </a:lnSpc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Parcelable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Serializable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04199" y="5642927"/>
            <a:ext cx="109728" cy="124968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16</a:t>
            </a:fld>
            <a:endParaRPr spc="-25" dirty="0"/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9967" y="1131163"/>
            <a:ext cx="7625080" cy="29572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spcBef>
                <a:spcPts val="960"/>
              </a:spcBef>
            </a:pPr>
            <a:r>
              <a:rPr sz="2000" spc="-10" dirty="0">
                <a:latin typeface="Calibri"/>
                <a:cs typeface="Calibri"/>
              </a:rPr>
              <a:t>Passage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(objet)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réalisé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travers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sérialisation</a:t>
            </a:r>
            <a:endParaRPr sz="2000">
              <a:latin typeface="Calibri"/>
              <a:cs typeface="Calibri"/>
            </a:endParaRPr>
          </a:p>
          <a:p>
            <a:pPr marL="12700" marR="203835">
              <a:lnSpc>
                <a:spcPts val="2160"/>
              </a:lnSpc>
              <a:spcBef>
                <a:spcPts val="1140"/>
              </a:spcBef>
            </a:pPr>
            <a:r>
              <a:rPr sz="2000" b="1" dirty="0">
                <a:latin typeface="Calibri"/>
                <a:cs typeface="Calibri"/>
              </a:rPr>
              <a:t>La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sérialisation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(Marshaling)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permet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rendre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persistant</a:t>
            </a:r>
            <a:r>
              <a:rPr sz="2000" spc="-20" dirty="0">
                <a:latin typeface="Calibri"/>
                <a:cs typeface="Calibri"/>
              </a:rPr>
              <a:t> pour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stockage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échange</a:t>
            </a:r>
            <a:endParaRPr sz="2000">
              <a:latin typeface="Calibri"/>
              <a:cs typeface="Calibri"/>
            </a:endParaRPr>
          </a:p>
          <a:p>
            <a:pPr marL="12700" marR="626110">
              <a:lnSpc>
                <a:spcPts val="2160"/>
              </a:lnSpc>
              <a:spcBef>
                <a:spcPts val="1095"/>
              </a:spcBef>
            </a:pPr>
            <a:r>
              <a:rPr sz="2000" dirty="0">
                <a:latin typeface="Calibri"/>
                <a:cs typeface="Calibri"/>
              </a:rPr>
              <a:t>Sérialiser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convertir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tableau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d'octets,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qui </a:t>
            </a:r>
            <a:r>
              <a:rPr sz="2000" dirty="0">
                <a:latin typeface="Calibri"/>
                <a:cs typeface="Calibri"/>
              </a:rPr>
              <a:t>pourra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reconstitué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l'identique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réception</a:t>
            </a:r>
            <a:endParaRPr sz="2000">
              <a:latin typeface="Calibri"/>
              <a:cs typeface="Calibri"/>
            </a:endParaRPr>
          </a:p>
          <a:p>
            <a:pPr marL="12700" marR="571500">
              <a:lnSpc>
                <a:spcPts val="2160"/>
              </a:lnSpc>
              <a:spcBef>
                <a:spcPts val="1100"/>
              </a:spcBef>
            </a:pPr>
            <a:r>
              <a:rPr sz="2000" dirty="0">
                <a:latin typeface="Calibri"/>
                <a:cs typeface="Calibri"/>
              </a:rPr>
              <a:t>Sa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reconversion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représentation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(dans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mémoire)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est </a:t>
            </a:r>
            <a:r>
              <a:rPr sz="2000" dirty="0">
                <a:latin typeface="Calibri"/>
                <a:cs typeface="Calibri"/>
              </a:rPr>
              <a:t>appelée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désérialisation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(unmarshaling)</a:t>
            </a:r>
            <a:endParaRPr sz="2000">
              <a:latin typeface="Calibri"/>
              <a:cs typeface="Calibri"/>
            </a:endParaRPr>
          </a:p>
          <a:p>
            <a:pPr marL="12700">
              <a:spcBef>
                <a:spcPts val="835"/>
              </a:spcBef>
            </a:pPr>
            <a:r>
              <a:rPr sz="2000" dirty="0">
                <a:latin typeface="Calibri"/>
                <a:cs typeface="Calibri"/>
              </a:rPr>
              <a:t>La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l’objet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sérialiser doit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implémenter l'interface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Serializable</a:t>
            </a:r>
            <a:endParaRPr>
              <a:latin typeface="Consolas"/>
              <a:cs typeface="Consola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1383665"/>
            <a:ext cx="109728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1798193"/>
            <a:ext cx="109728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2485518"/>
            <a:ext cx="109728" cy="124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3174365"/>
            <a:ext cx="109728" cy="1249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3863213"/>
            <a:ext cx="109728" cy="1249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40" dirty="0"/>
              <a:t>Transfert</a:t>
            </a:r>
            <a:r>
              <a:rPr spc="-140" dirty="0"/>
              <a:t> </a:t>
            </a:r>
            <a:r>
              <a:rPr spc="-20" dirty="0"/>
              <a:t>d’objets</a:t>
            </a:r>
            <a:r>
              <a:rPr spc="-135" dirty="0"/>
              <a:t> </a:t>
            </a:r>
            <a:r>
              <a:rPr spc="-20" dirty="0"/>
              <a:t>complexes</a:t>
            </a:r>
            <a:r>
              <a:rPr spc="-110" dirty="0"/>
              <a:t> </a:t>
            </a:r>
            <a:r>
              <a:rPr spc="-10" dirty="0"/>
              <a:t>(1/2)</a:t>
            </a:r>
          </a:p>
        </p:txBody>
      </p:sp>
      <p:sp>
        <p:nvSpPr>
          <p:cNvPr id="9" name="object 9"/>
          <p:cNvSpPr/>
          <p:nvPr/>
        </p:nvSpPr>
        <p:spPr>
          <a:xfrm>
            <a:off x="2858261" y="4935239"/>
            <a:ext cx="626110" cy="171450"/>
          </a:xfrm>
          <a:custGeom>
            <a:avLst/>
            <a:gdLst/>
            <a:ahLst/>
            <a:cxnLst/>
            <a:rect l="l" t="t" r="r" b="b"/>
            <a:pathLst>
              <a:path w="626110" h="171450">
                <a:moveTo>
                  <a:pt x="549801" y="85578"/>
                </a:moveTo>
                <a:lnTo>
                  <a:pt x="463804" y="135743"/>
                </a:lnTo>
                <a:lnTo>
                  <a:pt x="458196" y="140795"/>
                </a:lnTo>
                <a:lnTo>
                  <a:pt x="455041" y="147395"/>
                </a:lnTo>
                <a:lnTo>
                  <a:pt x="454552" y="154709"/>
                </a:lnTo>
                <a:lnTo>
                  <a:pt x="456945" y="161905"/>
                </a:lnTo>
                <a:lnTo>
                  <a:pt x="461998" y="167513"/>
                </a:lnTo>
                <a:lnTo>
                  <a:pt x="468598" y="170668"/>
                </a:lnTo>
                <a:lnTo>
                  <a:pt x="475912" y="171156"/>
                </a:lnTo>
                <a:lnTo>
                  <a:pt x="483107" y="168763"/>
                </a:lnTo>
                <a:lnTo>
                  <a:pt x="592969" y="104628"/>
                </a:lnTo>
                <a:lnTo>
                  <a:pt x="587756" y="104628"/>
                </a:lnTo>
                <a:lnTo>
                  <a:pt x="587756" y="102088"/>
                </a:lnTo>
                <a:lnTo>
                  <a:pt x="578104" y="102088"/>
                </a:lnTo>
                <a:lnTo>
                  <a:pt x="549801" y="85578"/>
                </a:lnTo>
                <a:close/>
              </a:path>
              <a:path w="626110" h="171450">
                <a:moveTo>
                  <a:pt x="517144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517144" y="104628"/>
                </a:lnTo>
                <a:lnTo>
                  <a:pt x="549801" y="85578"/>
                </a:lnTo>
                <a:lnTo>
                  <a:pt x="517144" y="66528"/>
                </a:lnTo>
                <a:close/>
              </a:path>
              <a:path w="626110" h="171450">
                <a:moveTo>
                  <a:pt x="592969" y="66528"/>
                </a:moveTo>
                <a:lnTo>
                  <a:pt x="587756" y="66528"/>
                </a:lnTo>
                <a:lnTo>
                  <a:pt x="587756" y="104628"/>
                </a:lnTo>
                <a:lnTo>
                  <a:pt x="592969" y="104628"/>
                </a:lnTo>
                <a:lnTo>
                  <a:pt x="625601" y="85578"/>
                </a:lnTo>
                <a:lnTo>
                  <a:pt x="592969" y="66528"/>
                </a:lnTo>
                <a:close/>
              </a:path>
              <a:path w="626110" h="171450">
                <a:moveTo>
                  <a:pt x="578104" y="69068"/>
                </a:moveTo>
                <a:lnTo>
                  <a:pt x="549801" y="85578"/>
                </a:lnTo>
                <a:lnTo>
                  <a:pt x="578104" y="102088"/>
                </a:lnTo>
                <a:lnTo>
                  <a:pt x="578104" y="69068"/>
                </a:lnTo>
                <a:close/>
              </a:path>
              <a:path w="626110" h="171450">
                <a:moveTo>
                  <a:pt x="587756" y="69068"/>
                </a:moveTo>
                <a:lnTo>
                  <a:pt x="578104" y="69068"/>
                </a:lnTo>
                <a:lnTo>
                  <a:pt x="578104" y="102088"/>
                </a:lnTo>
                <a:lnTo>
                  <a:pt x="587756" y="102088"/>
                </a:lnTo>
                <a:lnTo>
                  <a:pt x="587756" y="69068"/>
                </a:lnTo>
                <a:close/>
              </a:path>
              <a:path w="626110" h="171450">
                <a:moveTo>
                  <a:pt x="475912" y="0"/>
                </a:moveTo>
                <a:lnTo>
                  <a:pt x="468598" y="488"/>
                </a:lnTo>
                <a:lnTo>
                  <a:pt x="461998" y="3643"/>
                </a:lnTo>
                <a:lnTo>
                  <a:pt x="456945" y="9251"/>
                </a:lnTo>
                <a:lnTo>
                  <a:pt x="454552" y="16446"/>
                </a:lnTo>
                <a:lnTo>
                  <a:pt x="455041" y="23760"/>
                </a:lnTo>
                <a:lnTo>
                  <a:pt x="458196" y="30360"/>
                </a:lnTo>
                <a:lnTo>
                  <a:pt x="463804" y="35413"/>
                </a:lnTo>
                <a:lnTo>
                  <a:pt x="549801" y="85578"/>
                </a:lnTo>
                <a:lnTo>
                  <a:pt x="578104" y="69068"/>
                </a:lnTo>
                <a:lnTo>
                  <a:pt x="587756" y="69068"/>
                </a:lnTo>
                <a:lnTo>
                  <a:pt x="587756" y="66528"/>
                </a:lnTo>
                <a:lnTo>
                  <a:pt x="592969" y="66528"/>
                </a:lnTo>
                <a:lnTo>
                  <a:pt x="483107" y="2393"/>
                </a:lnTo>
                <a:lnTo>
                  <a:pt x="475912" y="0"/>
                </a:lnTo>
                <a:close/>
              </a:path>
            </a:pathLst>
          </a:custGeom>
          <a:solidFill>
            <a:srgbClr val="3A8B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179571" y="4623804"/>
            <a:ext cx="3870325" cy="870585"/>
            <a:chOff x="2655570" y="4623803"/>
            <a:chExt cx="3870325" cy="870585"/>
          </a:xfrm>
        </p:grpSpPr>
        <p:sp>
          <p:nvSpPr>
            <p:cNvPr id="11" name="object 11"/>
            <p:cNvSpPr/>
            <p:nvPr/>
          </p:nvSpPr>
          <p:spPr>
            <a:xfrm>
              <a:off x="5973317" y="4979435"/>
              <a:ext cx="553085" cy="171450"/>
            </a:xfrm>
            <a:custGeom>
              <a:avLst/>
              <a:gdLst/>
              <a:ahLst/>
              <a:cxnLst/>
              <a:rect l="l" t="t" r="r" b="b"/>
              <a:pathLst>
                <a:path w="553084" h="171450">
                  <a:moveTo>
                    <a:pt x="476776" y="85578"/>
                  </a:moveTo>
                  <a:lnTo>
                    <a:pt x="390779" y="135743"/>
                  </a:lnTo>
                  <a:lnTo>
                    <a:pt x="385171" y="140795"/>
                  </a:lnTo>
                  <a:lnTo>
                    <a:pt x="382016" y="147395"/>
                  </a:lnTo>
                  <a:lnTo>
                    <a:pt x="381527" y="154709"/>
                  </a:lnTo>
                  <a:lnTo>
                    <a:pt x="383921" y="161905"/>
                  </a:lnTo>
                  <a:lnTo>
                    <a:pt x="388973" y="167512"/>
                  </a:lnTo>
                  <a:lnTo>
                    <a:pt x="395573" y="170668"/>
                  </a:lnTo>
                  <a:lnTo>
                    <a:pt x="402887" y="171156"/>
                  </a:lnTo>
                  <a:lnTo>
                    <a:pt x="410083" y="168763"/>
                  </a:lnTo>
                  <a:lnTo>
                    <a:pt x="519944" y="104628"/>
                  </a:lnTo>
                  <a:lnTo>
                    <a:pt x="514731" y="104628"/>
                  </a:lnTo>
                  <a:lnTo>
                    <a:pt x="514731" y="102088"/>
                  </a:lnTo>
                  <a:lnTo>
                    <a:pt x="505079" y="102088"/>
                  </a:lnTo>
                  <a:lnTo>
                    <a:pt x="476776" y="85578"/>
                  </a:lnTo>
                  <a:close/>
                </a:path>
                <a:path w="553084" h="171450">
                  <a:moveTo>
                    <a:pt x="444119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444119" y="104628"/>
                  </a:lnTo>
                  <a:lnTo>
                    <a:pt x="476776" y="85578"/>
                  </a:lnTo>
                  <a:lnTo>
                    <a:pt x="444119" y="66528"/>
                  </a:lnTo>
                  <a:close/>
                </a:path>
                <a:path w="553084" h="171450">
                  <a:moveTo>
                    <a:pt x="519944" y="66528"/>
                  </a:moveTo>
                  <a:lnTo>
                    <a:pt x="514731" y="66528"/>
                  </a:lnTo>
                  <a:lnTo>
                    <a:pt x="514731" y="104628"/>
                  </a:lnTo>
                  <a:lnTo>
                    <a:pt x="519944" y="104628"/>
                  </a:lnTo>
                  <a:lnTo>
                    <a:pt x="552577" y="85578"/>
                  </a:lnTo>
                  <a:lnTo>
                    <a:pt x="519944" y="66528"/>
                  </a:lnTo>
                  <a:close/>
                </a:path>
                <a:path w="553084" h="171450">
                  <a:moveTo>
                    <a:pt x="505079" y="69068"/>
                  </a:moveTo>
                  <a:lnTo>
                    <a:pt x="476776" y="85578"/>
                  </a:lnTo>
                  <a:lnTo>
                    <a:pt x="505079" y="102088"/>
                  </a:lnTo>
                  <a:lnTo>
                    <a:pt x="505079" y="69068"/>
                  </a:lnTo>
                  <a:close/>
                </a:path>
                <a:path w="553084" h="171450">
                  <a:moveTo>
                    <a:pt x="514731" y="69068"/>
                  </a:moveTo>
                  <a:lnTo>
                    <a:pt x="505079" y="69068"/>
                  </a:lnTo>
                  <a:lnTo>
                    <a:pt x="505079" y="102088"/>
                  </a:lnTo>
                  <a:lnTo>
                    <a:pt x="514731" y="102088"/>
                  </a:lnTo>
                  <a:lnTo>
                    <a:pt x="514731" y="69068"/>
                  </a:lnTo>
                  <a:close/>
                </a:path>
                <a:path w="553084" h="171450">
                  <a:moveTo>
                    <a:pt x="402887" y="0"/>
                  </a:moveTo>
                  <a:lnTo>
                    <a:pt x="395573" y="488"/>
                  </a:lnTo>
                  <a:lnTo>
                    <a:pt x="388973" y="3643"/>
                  </a:lnTo>
                  <a:lnTo>
                    <a:pt x="383921" y="9251"/>
                  </a:lnTo>
                  <a:lnTo>
                    <a:pt x="381527" y="16446"/>
                  </a:lnTo>
                  <a:lnTo>
                    <a:pt x="382015" y="23760"/>
                  </a:lnTo>
                  <a:lnTo>
                    <a:pt x="385171" y="30360"/>
                  </a:lnTo>
                  <a:lnTo>
                    <a:pt x="390779" y="35413"/>
                  </a:lnTo>
                  <a:lnTo>
                    <a:pt x="476776" y="85578"/>
                  </a:lnTo>
                  <a:lnTo>
                    <a:pt x="505079" y="69068"/>
                  </a:lnTo>
                  <a:lnTo>
                    <a:pt x="514731" y="69068"/>
                  </a:lnTo>
                  <a:lnTo>
                    <a:pt x="514731" y="66528"/>
                  </a:lnTo>
                  <a:lnTo>
                    <a:pt x="519944" y="66528"/>
                  </a:lnTo>
                  <a:lnTo>
                    <a:pt x="410083" y="2393"/>
                  </a:lnTo>
                  <a:lnTo>
                    <a:pt x="402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0296" y="4623803"/>
              <a:ext cx="2916935" cy="8702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9732" y="4664964"/>
              <a:ext cx="2802635" cy="7543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55570" y="4947431"/>
              <a:ext cx="626110" cy="171450"/>
            </a:xfrm>
            <a:custGeom>
              <a:avLst/>
              <a:gdLst/>
              <a:ahLst/>
              <a:cxnLst/>
              <a:rect l="l" t="t" r="r" b="b"/>
              <a:pathLst>
                <a:path w="626110" h="171450">
                  <a:moveTo>
                    <a:pt x="549801" y="85578"/>
                  </a:moveTo>
                  <a:lnTo>
                    <a:pt x="463804" y="135743"/>
                  </a:lnTo>
                  <a:lnTo>
                    <a:pt x="458196" y="140795"/>
                  </a:lnTo>
                  <a:lnTo>
                    <a:pt x="455040" y="147395"/>
                  </a:lnTo>
                  <a:lnTo>
                    <a:pt x="454552" y="154709"/>
                  </a:lnTo>
                  <a:lnTo>
                    <a:pt x="456946" y="161905"/>
                  </a:lnTo>
                  <a:lnTo>
                    <a:pt x="461998" y="167513"/>
                  </a:lnTo>
                  <a:lnTo>
                    <a:pt x="468598" y="170668"/>
                  </a:lnTo>
                  <a:lnTo>
                    <a:pt x="475912" y="171156"/>
                  </a:lnTo>
                  <a:lnTo>
                    <a:pt x="483107" y="168763"/>
                  </a:lnTo>
                  <a:lnTo>
                    <a:pt x="592969" y="104628"/>
                  </a:lnTo>
                  <a:lnTo>
                    <a:pt x="587756" y="104628"/>
                  </a:lnTo>
                  <a:lnTo>
                    <a:pt x="587756" y="102088"/>
                  </a:lnTo>
                  <a:lnTo>
                    <a:pt x="578104" y="102088"/>
                  </a:lnTo>
                  <a:lnTo>
                    <a:pt x="549801" y="85578"/>
                  </a:lnTo>
                  <a:close/>
                </a:path>
                <a:path w="626110" h="171450">
                  <a:moveTo>
                    <a:pt x="517144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17144" y="104628"/>
                  </a:lnTo>
                  <a:lnTo>
                    <a:pt x="549801" y="85578"/>
                  </a:lnTo>
                  <a:lnTo>
                    <a:pt x="517144" y="66528"/>
                  </a:lnTo>
                  <a:close/>
                </a:path>
                <a:path w="626110" h="171450">
                  <a:moveTo>
                    <a:pt x="592969" y="66528"/>
                  </a:moveTo>
                  <a:lnTo>
                    <a:pt x="587756" y="66528"/>
                  </a:lnTo>
                  <a:lnTo>
                    <a:pt x="587756" y="104628"/>
                  </a:lnTo>
                  <a:lnTo>
                    <a:pt x="592969" y="104628"/>
                  </a:lnTo>
                  <a:lnTo>
                    <a:pt x="625602" y="85578"/>
                  </a:lnTo>
                  <a:lnTo>
                    <a:pt x="592969" y="66528"/>
                  </a:lnTo>
                  <a:close/>
                </a:path>
                <a:path w="626110" h="171450">
                  <a:moveTo>
                    <a:pt x="578104" y="69068"/>
                  </a:moveTo>
                  <a:lnTo>
                    <a:pt x="549801" y="85578"/>
                  </a:lnTo>
                  <a:lnTo>
                    <a:pt x="578104" y="102088"/>
                  </a:lnTo>
                  <a:lnTo>
                    <a:pt x="578104" y="69068"/>
                  </a:lnTo>
                  <a:close/>
                </a:path>
                <a:path w="626110" h="171450">
                  <a:moveTo>
                    <a:pt x="587756" y="69068"/>
                  </a:moveTo>
                  <a:lnTo>
                    <a:pt x="578104" y="69068"/>
                  </a:lnTo>
                  <a:lnTo>
                    <a:pt x="578104" y="102088"/>
                  </a:lnTo>
                  <a:lnTo>
                    <a:pt x="587756" y="102088"/>
                  </a:lnTo>
                  <a:lnTo>
                    <a:pt x="587756" y="69068"/>
                  </a:lnTo>
                  <a:close/>
                </a:path>
                <a:path w="626110" h="171450">
                  <a:moveTo>
                    <a:pt x="475912" y="0"/>
                  </a:moveTo>
                  <a:lnTo>
                    <a:pt x="468598" y="488"/>
                  </a:lnTo>
                  <a:lnTo>
                    <a:pt x="461998" y="3643"/>
                  </a:lnTo>
                  <a:lnTo>
                    <a:pt x="456946" y="9251"/>
                  </a:lnTo>
                  <a:lnTo>
                    <a:pt x="454552" y="16446"/>
                  </a:lnTo>
                  <a:lnTo>
                    <a:pt x="455041" y="23760"/>
                  </a:lnTo>
                  <a:lnTo>
                    <a:pt x="458196" y="30360"/>
                  </a:lnTo>
                  <a:lnTo>
                    <a:pt x="463804" y="35413"/>
                  </a:lnTo>
                  <a:lnTo>
                    <a:pt x="549801" y="85578"/>
                  </a:lnTo>
                  <a:lnTo>
                    <a:pt x="578104" y="69068"/>
                  </a:lnTo>
                  <a:lnTo>
                    <a:pt x="587756" y="69068"/>
                  </a:lnTo>
                  <a:lnTo>
                    <a:pt x="587756" y="66528"/>
                  </a:lnTo>
                  <a:lnTo>
                    <a:pt x="592969" y="66528"/>
                  </a:lnTo>
                  <a:lnTo>
                    <a:pt x="483107" y="2393"/>
                  </a:lnTo>
                  <a:lnTo>
                    <a:pt x="475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8780526" y="4979435"/>
            <a:ext cx="626110" cy="171450"/>
          </a:xfrm>
          <a:custGeom>
            <a:avLst/>
            <a:gdLst/>
            <a:ahLst/>
            <a:cxnLst/>
            <a:rect l="l" t="t" r="r" b="b"/>
            <a:pathLst>
              <a:path w="626109" h="171450">
                <a:moveTo>
                  <a:pt x="549801" y="85578"/>
                </a:moveTo>
                <a:lnTo>
                  <a:pt x="463803" y="135743"/>
                </a:lnTo>
                <a:lnTo>
                  <a:pt x="458196" y="140795"/>
                </a:lnTo>
                <a:lnTo>
                  <a:pt x="455041" y="147395"/>
                </a:lnTo>
                <a:lnTo>
                  <a:pt x="454552" y="154709"/>
                </a:lnTo>
                <a:lnTo>
                  <a:pt x="456946" y="161905"/>
                </a:lnTo>
                <a:lnTo>
                  <a:pt x="461998" y="167512"/>
                </a:lnTo>
                <a:lnTo>
                  <a:pt x="468598" y="170668"/>
                </a:lnTo>
                <a:lnTo>
                  <a:pt x="475912" y="171156"/>
                </a:lnTo>
                <a:lnTo>
                  <a:pt x="483107" y="168763"/>
                </a:lnTo>
                <a:lnTo>
                  <a:pt x="592969" y="104628"/>
                </a:lnTo>
                <a:lnTo>
                  <a:pt x="587755" y="104628"/>
                </a:lnTo>
                <a:lnTo>
                  <a:pt x="587755" y="102088"/>
                </a:lnTo>
                <a:lnTo>
                  <a:pt x="578103" y="102088"/>
                </a:lnTo>
                <a:lnTo>
                  <a:pt x="549801" y="85578"/>
                </a:lnTo>
                <a:close/>
              </a:path>
              <a:path w="626109" h="171450">
                <a:moveTo>
                  <a:pt x="517143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517144" y="104628"/>
                </a:lnTo>
                <a:lnTo>
                  <a:pt x="549801" y="85578"/>
                </a:lnTo>
                <a:lnTo>
                  <a:pt x="517143" y="66528"/>
                </a:lnTo>
                <a:close/>
              </a:path>
              <a:path w="626109" h="171450">
                <a:moveTo>
                  <a:pt x="592969" y="66528"/>
                </a:moveTo>
                <a:lnTo>
                  <a:pt x="587755" y="66528"/>
                </a:lnTo>
                <a:lnTo>
                  <a:pt x="587755" y="104628"/>
                </a:lnTo>
                <a:lnTo>
                  <a:pt x="592969" y="104628"/>
                </a:lnTo>
                <a:lnTo>
                  <a:pt x="625601" y="85578"/>
                </a:lnTo>
                <a:lnTo>
                  <a:pt x="592969" y="66528"/>
                </a:lnTo>
                <a:close/>
              </a:path>
              <a:path w="626109" h="171450">
                <a:moveTo>
                  <a:pt x="578103" y="69068"/>
                </a:moveTo>
                <a:lnTo>
                  <a:pt x="549801" y="85578"/>
                </a:lnTo>
                <a:lnTo>
                  <a:pt x="578103" y="102088"/>
                </a:lnTo>
                <a:lnTo>
                  <a:pt x="578103" y="69068"/>
                </a:lnTo>
                <a:close/>
              </a:path>
              <a:path w="626109" h="171450">
                <a:moveTo>
                  <a:pt x="587755" y="69068"/>
                </a:moveTo>
                <a:lnTo>
                  <a:pt x="578103" y="69068"/>
                </a:lnTo>
                <a:lnTo>
                  <a:pt x="578103" y="102088"/>
                </a:lnTo>
                <a:lnTo>
                  <a:pt x="587755" y="102088"/>
                </a:lnTo>
                <a:lnTo>
                  <a:pt x="587755" y="69068"/>
                </a:lnTo>
                <a:close/>
              </a:path>
              <a:path w="626109" h="171450">
                <a:moveTo>
                  <a:pt x="475912" y="0"/>
                </a:moveTo>
                <a:lnTo>
                  <a:pt x="468598" y="488"/>
                </a:lnTo>
                <a:lnTo>
                  <a:pt x="461998" y="3643"/>
                </a:lnTo>
                <a:lnTo>
                  <a:pt x="456946" y="9251"/>
                </a:lnTo>
                <a:lnTo>
                  <a:pt x="454552" y="16446"/>
                </a:lnTo>
                <a:lnTo>
                  <a:pt x="455041" y="23760"/>
                </a:lnTo>
                <a:lnTo>
                  <a:pt x="458196" y="30360"/>
                </a:lnTo>
                <a:lnTo>
                  <a:pt x="463803" y="35413"/>
                </a:lnTo>
                <a:lnTo>
                  <a:pt x="549801" y="85578"/>
                </a:lnTo>
                <a:lnTo>
                  <a:pt x="578103" y="69068"/>
                </a:lnTo>
                <a:lnTo>
                  <a:pt x="587755" y="69068"/>
                </a:lnTo>
                <a:lnTo>
                  <a:pt x="587755" y="66528"/>
                </a:lnTo>
                <a:lnTo>
                  <a:pt x="592969" y="66528"/>
                </a:lnTo>
                <a:lnTo>
                  <a:pt x="483107" y="2393"/>
                </a:lnTo>
                <a:lnTo>
                  <a:pt x="475912" y="0"/>
                </a:lnTo>
                <a:close/>
              </a:path>
            </a:pathLst>
          </a:custGeom>
          <a:solidFill>
            <a:srgbClr val="3A8B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79876" y="4710836"/>
            <a:ext cx="502920" cy="6397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7515" y="4710836"/>
            <a:ext cx="504030" cy="639744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109100" y="4705970"/>
            <a:ext cx="686435" cy="686435"/>
            <a:chOff x="585099" y="4705969"/>
            <a:chExt cx="686435" cy="68643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099" y="4705969"/>
              <a:ext cx="686059" cy="6860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507" y="4736592"/>
              <a:ext cx="589788" cy="59131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292807" y="4900676"/>
            <a:ext cx="3200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onsolas"/>
                <a:cs typeface="Consolas"/>
              </a:rPr>
              <a:t>Obj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473067" y="4705970"/>
            <a:ext cx="686435" cy="686435"/>
            <a:chOff x="7949066" y="4705969"/>
            <a:chExt cx="686435" cy="68643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9066" y="4705969"/>
              <a:ext cx="686059" cy="6860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9475" y="4736592"/>
              <a:ext cx="589788" cy="59131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658604" y="4900676"/>
            <a:ext cx="3200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onsolas"/>
                <a:cs typeface="Consolas"/>
              </a:rPr>
              <a:t>Obj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17</a:t>
            </a:fld>
            <a:endParaRPr spc="-25" dirty="0"/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46071" y="5356352"/>
            <a:ext cx="1124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solidFill>
                  <a:srgbClr val="3A8B39"/>
                </a:solidFill>
                <a:latin typeface="Calibri Light"/>
                <a:cs typeface="Calibri Light"/>
              </a:rPr>
              <a:t>Sérialisation</a:t>
            </a:r>
            <a:endParaRPr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31733" y="5343525"/>
            <a:ext cx="1356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solidFill>
                  <a:srgbClr val="3A8B39"/>
                </a:solidFill>
                <a:latin typeface="Calibri Light"/>
                <a:cs typeface="Calibri Light"/>
              </a:rPr>
              <a:t>Désérialisation</a:t>
            </a:r>
            <a:endParaRPr>
              <a:latin typeface="Calibri Light"/>
              <a:cs typeface="Calibr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52236" y="4706189"/>
            <a:ext cx="559435" cy="66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spcBef>
                <a:spcPts val="105"/>
              </a:spcBef>
            </a:pPr>
            <a:r>
              <a:rPr sz="1400" b="1" spc="-10" dirty="0">
                <a:solidFill>
                  <a:srgbClr val="C5DFB4"/>
                </a:solidFill>
                <a:latin typeface="Calibri"/>
                <a:cs typeface="Calibri"/>
              </a:rPr>
              <a:t>Réseau Fichier </a:t>
            </a:r>
            <a:r>
              <a:rPr sz="1400" b="1" spc="-25" dirty="0">
                <a:solidFill>
                  <a:srgbClr val="C5DFB4"/>
                </a:solidFill>
                <a:latin typeface="Calibri"/>
                <a:cs typeface="Calibri"/>
              </a:rPr>
              <a:t>BDD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40" dirty="0"/>
              <a:t>Transfert</a:t>
            </a:r>
            <a:r>
              <a:rPr spc="-140" dirty="0"/>
              <a:t> </a:t>
            </a:r>
            <a:r>
              <a:rPr spc="-20" dirty="0"/>
              <a:t>d’objets</a:t>
            </a:r>
            <a:r>
              <a:rPr spc="-135" dirty="0"/>
              <a:t> </a:t>
            </a:r>
            <a:r>
              <a:rPr spc="-20" dirty="0"/>
              <a:t>complexes</a:t>
            </a:r>
            <a:r>
              <a:rPr spc="-110" dirty="0"/>
              <a:t> </a:t>
            </a:r>
            <a:r>
              <a:rPr spc="-10" dirty="0"/>
              <a:t>(2/2)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9948" y="4731957"/>
            <a:ext cx="8570595" cy="1522095"/>
            <a:chOff x="345947" y="4731956"/>
            <a:chExt cx="8570595" cy="15220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19" y="4762324"/>
              <a:ext cx="3513670" cy="5009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4731956"/>
              <a:ext cx="3292602" cy="6301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4777740"/>
              <a:ext cx="3365500" cy="352425"/>
            </a:xfrm>
            <a:custGeom>
              <a:avLst/>
              <a:gdLst/>
              <a:ahLst/>
              <a:cxnLst/>
              <a:rect l="l" t="t" r="r" b="b"/>
              <a:pathLst>
                <a:path w="3365500" h="352425">
                  <a:moveTo>
                    <a:pt x="3202812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364992" y="352044"/>
                  </a:lnTo>
                  <a:lnTo>
                    <a:pt x="3364992" y="162179"/>
                  </a:lnTo>
                  <a:lnTo>
                    <a:pt x="3359196" y="119077"/>
                  </a:lnTo>
                  <a:lnTo>
                    <a:pt x="3342842" y="80339"/>
                  </a:lnTo>
                  <a:lnTo>
                    <a:pt x="3317478" y="47513"/>
                  </a:lnTo>
                  <a:lnTo>
                    <a:pt x="3284652" y="22149"/>
                  </a:lnTo>
                  <a:lnTo>
                    <a:pt x="3245914" y="5795"/>
                  </a:lnTo>
                  <a:lnTo>
                    <a:pt x="3202812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5100828"/>
              <a:ext cx="8570214" cy="11529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75" y="5149595"/>
              <a:ext cx="5977890" cy="10904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4903" y="5129784"/>
              <a:ext cx="8394700" cy="977265"/>
            </a:xfrm>
            <a:custGeom>
              <a:avLst/>
              <a:gdLst/>
              <a:ahLst/>
              <a:cxnLst/>
              <a:rect l="l" t="t" r="r" b="b"/>
              <a:pathLst>
                <a:path w="8394700" h="977264">
                  <a:moveTo>
                    <a:pt x="8175879" y="0"/>
                  </a:moveTo>
                  <a:lnTo>
                    <a:pt x="0" y="0"/>
                  </a:lnTo>
                  <a:lnTo>
                    <a:pt x="0" y="758583"/>
                  </a:lnTo>
                  <a:lnTo>
                    <a:pt x="5765" y="808637"/>
                  </a:lnTo>
                  <a:lnTo>
                    <a:pt x="22188" y="854585"/>
                  </a:lnTo>
                  <a:lnTo>
                    <a:pt x="47959" y="895118"/>
                  </a:lnTo>
                  <a:lnTo>
                    <a:pt x="81765" y="928924"/>
                  </a:lnTo>
                  <a:lnTo>
                    <a:pt x="122298" y="954695"/>
                  </a:lnTo>
                  <a:lnTo>
                    <a:pt x="168246" y="971118"/>
                  </a:lnTo>
                  <a:lnTo>
                    <a:pt x="218300" y="976884"/>
                  </a:lnTo>
                  <a:lnTo>
                    <a:pt x="8394192" y="976884"/>
                  </a:lnTo>
                  <a:lnTo>
                    <a:pt x="8394192" y="218313"/>
                  </a:lnTo>
                  <a:lnTo>
                    <a:pt x="8388423" y="168270"/>
                  </a:lnTo>
                  <a:lnTo>
                    <a:pt x="8371994" y="122325"/>
                  </a:lnTo>
                  <a:lnTo>
                    <a:pt x="8346215" y="81789"/>
                  </a:lnTo>
                  <a:lnTo>
                    <a:pt x="8312402" y="47976"/>
                  </a:lnTo>
                  <a:lnTo>
                    <a:pt x="8271866" y="22197"/>
                  </a:lnTo>
                  <a:lnTo>
                    <a:pt x="8225921" y="5768"/>
                  </a:lnTo>
                  <a:lnTo>
                    <a:pt x="8175879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24888" y="4800728"/>
            <a:ext cx="5601335" cy="117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/java/OtherActivity.java</a:t>
            </a:r>
            <a:endParaRPr sz="1700">
              <a:latin typeface="Consolas"/>
              <a:cs typeface="Consolas"/>
            </a:endParaRPr>
          </a:p>
          <a:p>
            <a:pPr marL="28575" marR="1671955">
              <a:spcBef>
                <a:spcPts val="1230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getIntent();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intent.getExtras();</a:t>
            </a:r>
            <a:endParaRPr sz="1600">
              <a:latin typeface="Consolas"/>
              <a:cs typeface="Consolas"/>
            </a:endParaRPr>
          </a:p>
          <a:p>
            <a:pPr marL="28575"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Module</a:t>
            </a:r>
            <a:r>
              <a:rPr sz="16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Module</a:t>
            </a:r>
            <a:r>
              <a:rPr sz="1600" dirty="0">
                <a:latin typeface="Consolas"/>
                <a:cs typeface="Consolas"/>
              </a:rPr>
              <a:t>)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bundle.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getSerializable(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"obj"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79092" y="2433765"/>
            <a:ext cx="3395345" cy="630555"/>
            <a:chOff x="355091" y="2433764"/>
            <a:chExt cx="3395345" cy="63055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8" y="2464068"/>
              <a:ext cx="3390229" cy="4995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2433764"/>
              <a:ext cx="3173730" cy="6301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4903" y="2479547"/>
              <a:ext cx="3241675" cy="350520"/>
            </a:xfrm>
            <a:custGeom>
              <a:avLst/>
              <a:gdLst/>
              <a:ahLst/>
              <a:cxnLst/>
              <a:rect l="l" t="t" r="r" b="b"/>
              <a:pathLst>
                <a:path w="3241675" h="350519">
                  <a:moveTo>
                    <a:pt x="3080131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241547" y="350519"/>
                  </a:lnTo>
                  <a:lnTo>
                    <a:pt x="3241547" y="161416"/>
                  </a:lnTo>
                  <a:lnTo>
                    <a:pt x="3235782" y="118503"/>
                  </a:lnTo>
                  <a:lnTo>
                    <a:pt x="3219511" y="79944"/>
                  </a:lnTo>
                  <a:lnTo>
                    <a:pt x="3194272" y="47275"/>
                  </a:lnTo>
                  <a:lnTo>
                    <a:pt x="3161603" y="22036"/>
                  </a:lnTo>
                  <a:lnTo>
                    <a:pt x="3123044" y="5765"/>
                  </a:lnTo>
                  <a:lnTo>
                    <a:pt x="3080131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24887" y="2501646"/>
            <a:ext cx="27622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69948" y="2801112"/>
            <a:ext cx="8570595" cy="1919605"/>
            <a:chOff x="345947" y="2801111"/>
            <a:chExt cx="8570595" cy="191960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2801111"/>
              <a:ext cx="8570214" cy="191947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143" y="2860547"/>
              <a:ext cx="6421374" cy="182194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4903" y="2830067"/>
              <a:ext cx="8394700" cy="1743710"/>
            </a:xfrm>
            <a:custGeom>
              <a:avLst/>
              <a:gdLst/>
              <a:ahLst/>
              <a:cxnLst/>
              <a:rect l="l" t="t" r="r" b="b"/>
              <a:pathLst>
                <a:path w="8394700" h="1743710">
                  <a:moveTo>
                    <a:pt x="8141208" y="0"/>
                  </a:moveTo>
                  <a:lnTo>
                    <a:pt x="0" y="0"/>
                  </a:lnTo>
                  <a:lnTo>
                    <a:pt x="0" y="1490472"/>
                  </a:lnTo>
                  <a:lnTo>
                    <a:pt x="4076" y="1535941"/>
                  </a:lnTo>
                  <a:lnTo>
                    <a:pt x="15828" y="1578738"/>
                  </a:lnTo>
                  <a:lnTo>
                    <a:pt x="34542" y="1618149"/>
                  </a:lnTo>
                  <a:lnTo>
                    <a:pt x="59503" y="1653458"/>
                  </a:lnTo>
                  <a:lnTo>
                    <a:pt x="89996" y="1683951"/>
                  </a:lnTo>
                  <a:lnTo>
                    <a:pt x="125308" y="1708912"/>
                  </a:lnTo>
                  <a:lnTo>
                    <a:pt x="164724" y="1727626"/>
                  </a:lnTo>
                  <a:lnTo>
                    <a:pt x="207529" y="1739379"/>
                  </a:lnTo>
                  <a:lnTo>
                    <a:pt x="253009" y="1743456"/>
                  </a:lnTo>
                  <a:lnTo>
                    <a:pt x="8394192" y="1743456"/>
                  </a:lnTo>
                  <a:lnTo>
                    <a:pt x="8394192" y="252984"/>
                  </a:lnTo>
                  <a:lnTo>
                    <a:pt x="8390115" y="207514"/>
                  </a:lnTo>
                  <a:lnTo>
                    <a:pt x="8378362" y="164717"/>
                  </a:lnTo>
                  <a:lnTo>
                    <a:pt x="8359648" y="125306"/>
                  </a:lnTo>
                  <a:lnTo>
                    <a:pt x="8334687" y="89997"/>
                  </a:lnTo>
                  <a:lnTo>
                    <a:pt x="8304194" y="59504"/>
                  </a:lnTo>
                  <a:lnTo>
                    <a:pt x="8268885" y="34544"/>
                  </a:lnTo>
                  <a:lnTo>
                    <a:pt x="8229474" y="15829"/>
                  </a:lnTo>
                  <a:lnTo>
                    <a:pt x="8186677" y="4076"/>
                  </a:lnTo>
                  <a:lnTo>
                    <a:pt x="8141208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51711" y="2927730"/>
            <a:ext cx="602932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Module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Module</a:t>
            </a:r>
            <a:r>
              <a:rPr sz="1600" spc="-10" dirty="0">
                <a:latin typeface="Consolas"/>
                <a:cs typeface="Consolas"/>
              </a:rPr>
              <a:t>(...);</a:t>
            </a:r>
            <a:endParaRPr sz="1600">
              <a:latin typeface="Consolas"/>
              <a:cs typeface="Consolas"/>
            </a:endParaRPr>
          </a:p>
          <a:p>
            <a:pPr marL="12700" marR="5080"/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OtherActivity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10" dirty="0">
                <a:latin typeface="Consolas"/>
                <a:cs typeface="Consolas"/>
              </a:rPr>
              <a:t>);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10" dirty="0">
                <a:latin typeface="Consolas"/>
                <a:cs typeface="Consolas"/>
              </a:rPr>
              <a:t>(); </a:t>
            </a:r>
            <a:r>
              <a:rPr sz="1600" dirty="0">
                <a:latin typeface="Consolas"/>
                <a:cs typeface="Consolas"/>
              </a:rPr>
              <a:t>bundle.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putSerializable(</a:t>
            </a:r>
            <a:r>
              <a:rPr sz="1600" u="sng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"obj"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,</a:t>
            </a:r>
            <a:r>
              <a:rPr sz="1600" u="sng" spc="-16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2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m)</a:t>
            </a:r>
            <a:r>
              <a:rPr sz="1600" spc="-25" dirty="0">
                <a:latin typeface="Consolas"/>
                <a:cs typeface="Consolas"/>
              </a:rPr>
              <a:t>; </a:t>
            </a:r>
            <a:r>
              <a:rPr sz="1600" spc="-10" dirty="0">
                <a:latin typeface="Consolas"/>
                <a:cs typeface="Consolas"/>
              </a:rPr>
              <a:t>intent.putExtras(bundle);</a:t>
            </a:r>
            <a:endParaRPr sz="1600">
              <a:latin typeface="Consolas"/>
              <a:cs typeface="Consolas"/>
            </a:endParaRPr>
          </a:p>
          <a:p>
            <a:pPr marL="12700"/>
            <a:r>
              <a:rPr sz="1600" spc="-10" dirty="0">
                <a:latin typeface="Consolas"/>
                <a:cs typeface="Consolas"/>
              </a:rPr>
              <a:t>startActivity(intent);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69948" y="1005890"/>
            <a:ext cx="8570595" cy="1502410"/>
            <a:chOff x="345947" y="1005890"/>
            <a:chExt cx="8570595" cy="150241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636" y="1036080"/>
              <a:ext cx="2669340" cy="4995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5091" y="1005890"/>
              <a:ext cx="2458974" cy="6285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4903" y="1051560"/>
              <a:ext cx="2520950" cy="350520"/>
            </a:xfrm>
            <a:custGeom>
              <a:avLst/>
              <a:gdLst/>
              <a:ahLst/>
              <a:cxnLst/>
              <a:rect l="l" t="t" r="r" b="b"/>
              <a:pathLst>
                <a:path w="2520950" h="350519">
                  <a:moveTo>
                    <a:pt x="2359279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2520696" y="350519"/>
                  </a:lnTo>
                  <a:lnTo>
                    <a:pt x="2520696" y="161416"/>
                  </a:lnTo>
                  <a:lnTo>
                    <a:pt x="2514930" y="118503"/>
                  </a:lnTo>
                  <a:lnTo>
                    <a:pt x="2498659" y="79944"/>
                  </a:lnTo>
                  <a:lnTo>
                    <a:pt x="2473420" y="47275"/>
                  </a:lnTo>
                  <a:lnTo>
                    <a:pt x="2440751" y="22036"/>
                  </a:lnTo>
                  <a:lnTo>
                    <a:pt x="2402192" y="5765"/>
                  </a:lnTo>
                  <a:lnTo>
                    <a:pt x="2359279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947" y="1373111"/>
              <a:ext cx="8570214" cy="106147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4903" y="1417320"/>
              <a:ext cx="5421630" cy="10904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4903" y="1402080"/>
              <a:ext cx="8394700" cy="885825"/>
            </a:xfrm>
            <a:custGeom>
              <a:avLst/>
              <a:gdLst/>
              <a:ahLst/>
              <a:cxnLst/>
              <a:rect l="l" t="t" r="r" b="b"/>
              <a:pathLst>
                <a:path w="8394700" h="885825">
                  <a:moveTo>
                    <a:pt x="8192389" y="0"/>
                  </a:moveTo>
                  <a:lnTo>
                    <a:pt x="0" y="0"/>
                  </a:lnTo>
                  <a:lnTo>
                    <a:pt x="0" y="683641"/>
                  </a:lnTo>
                  <a:lnTo>
                    <a:pt x="5331" y="729889"/>
                  </a:lnTo>
                  <a:lnTo>
                    <a:pt x="20516" y="772356"/>
                  </a:lnTo>
                  <a:lnTo>
                    <a:pt x="44345" y="809827"/>
                  </a:lnTo>
                  <a:lnTo>
                    <a:pt x="75604" y="841086"/>
                  </a:lnTo>
                  <a:lnTo>
                    <a:pt x="113083" y="864919"/>
                  </a:lnTo>
                  <a:lnTo>
                    <a:pt x="155570" y="880110"/>
                  </a:lnTo>
                  <a:lnTo>
                    <a:pt x="201853" y="885444"/>
                  </a:lnTo>
                  <a:lnTo>
                    <a:pt x="8394192" y="885444"/>
                  </a:lnTo>
                  <a:lnTo>
                    <a:pt x="8394192" y="201803"/>
                  </a:lnTo>
                  <a:lnTo>
                    <a:pt x="8388858" y="155554"/>
                  </a:lnTo>
                  <a:lnTo>
                    <a:pt x="8373667" y="113087"/>
                  </a:lnTo>
                  <a:lnTo>
                    <a:pt x="8349834" y="75616"/>
                  </a:lnTo>
                  <a:lnTo>
                    <a:pt x="8318575" y="44357"/>
                  </a:lnTo>
                  <a:lnTo>
                    <a:pt x="8281104" y="20524"/>
                  </a:lnTo>
                  <a:lnTo>
                    <a:pt x="8238637" y="5333"/>
                  </a:lnTo>
                  <a:lnTo>
                    <a:pt x="8192389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024888" y="1072388"/>
            <a:ext cx="5039995" cy="1168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/java/Module.java</a:t>
            </a:r>
            <a:endParaRPr sz="1700">
              <a:latin typeface="Consolas"/>
              <a:cs typeface="Consolas"/>
            </a:endParaRPr>
          </a:p>
          <a:p>
            <a:pPr marL="24130">
              <a:spcBef>
                <a:spcPts val="1185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5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Module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implements</a:t>
            </a:r>
            <a:r>
              <a:rPr sz="1600" u="sng" spc="-4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Serializable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358140">
              <a:spcBef>
                <a:spcPts val="5"/>
              </a:spcBef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4130"/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56933" y="2162568"/>
            <a:ext cx="978535" cy="975360"/>
            <a:chOff x="5932932" y="2162568"/>
            <a:chExt cx="978535" cy="975360"/>
          </a:xfrm>
        </p:grpSpPr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32932" y="2162568"/>
              <a:ext cx="978433" cy="97534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5144" y="2456688"/>
              <a:ext cx="633996" cy="4343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92368" y="2202180"/>
              <a:ext cx="864108" cy="86258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767573" y="2521077"/>
            <a:ext cx="360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onsolas"/>
                <a:cs typeface="Consolas"/>
              </a:rPr>
              <a:t>Main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662160" y="2162568"/>
            <a:ext cx="978535" cy="975360"/>
            <a:chOff x="8138159" y="2162568"/>
            <a:chExt cx="978535" cy="975360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38159" y="2162568"/>
              <a:ext cx="978433" cy="97534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67699" y="2456688"/>
              <a:ext cx="717803" cy="4343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97595" y="2202180"/>
              <a:ext cx="864107" cy="86258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932034" y="2521077"/>
            <a:ext cx="444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onsolas"/>
                <a:cs typeface="Consolas"/>
              </a:rPr>
              <a:t>Other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381239" y="2548655"/>
            <a:ext cx="1341755" cy="171450"/>
          </a:xfrm>
          <a:custGeom>
            <a:avLst/>
            <a:gdLst/>
            <a:ahLst/>
            <a:cxnLst/>
            <a:rect l="l" t="t" r="r" b="b"/>
            <a:pathLst>
              <a:path w="1341754" h="171450">
                <a:moveTo>
                  <a:pt x="1265827" y="85578"/>
                </a:moveTo>
                <a:lnTo>
                  <a:pt x="1179829" y="135743"/>
                </a:lnTo>
                <a:lnTo>
                  <a:pt x="1174150" y="140795"/>
                </a:lnTo>
                <a:lnTo>
                  <a:pt x="1170971" y="147395"/>
                </a:lnTo>
                <a:lnTo>
                  <a:pt x="1170507" y="154709"/>
                </a:lnTo>
                <a:lnTo>
                  <a:pt x="1172971" y="161905"/>
                </a:lnTo>
                <a:lnTo>
                  <a:pt x="1178004" y="167512"/>
                </a:lnTo>
                <a:lnTo>
                  <a:pt x="1184560" y="170668"/>
                </a:lnTo>
                <a:lnTo>
                  <a:pt x="1191831" y="171156"/>
                </a:lnTo>
                <a:lnTo>
                  <a:pt x="1199006" y="168763"/>
                </a:lnTo>
                <a:lnTo>
                  <a:pt x="1308868" y="104628"/>
                </a:lnTo>
                <a:lnTo>
                  <a:pt x="1303654" y="104628"/>
                </a:lnTo>
                <a:lnTo>
                  <a:pt x="1303654" y="102088"/>
                </a:lnTo>
                <a:lnTo>
                  <a:pt x="1294129" y="102088"/>
                </a:lnTo>
                <a:lnTo>
                  <a:pt x="1265827" y="85578"/>
                </a:lnTo>
                <a:close/>
              </a:path>
              <a:path w="1341754" h="171450">
                <a:moveTo>
                  <a:pt x="1233169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1233169" y="104628"/>
                </a:lnTo>
                <a:lnTo>
                  <a:pt x="1265827" y="85578"/>
                </a:lnTo>
                <a:lnTo>
                  <a:pt x="1233169" y="66528"/>
                </a:lnTo>
                <a:close/>
              </a:path>
              <a:path w="1341754" h="171450">
                <a:moveTo>
                  <a:pt x="1308868" y="66528"/>
                </a:moveTo>
                <a:lnTo>
                  <a:pt x="1303654" y="66528"/>
                </a:lnTo>
                <a:lnTo>
                  <a:pt x="1303654" y="104628"/>
                </a:lnTo>
                <a:lnTo>
                  <a:pt x="1308868" y="104628"/>
                </a:lnTo>
                <a:lnTo>
                  <a:pt x="1341501" y="85578"/>
                </a:lnTo>
                <a:lnTo>
                  <a:pt x="1308868" y="66528"/>
                </a:lnTo>
                <a:close/>
              </a:path>
              <a:path w="1341754" h="171450">
                <a:moveTo>
                  <a:pt x="1294129" y="69068"/>
                </a:moveTo>
                <a:lnTo>
                  <a:pt x="1265827" y="85578"/>
                </a:lnTo>
                <a:lnTo>
                  <a:pt x="1294129" y="102088"/>
                </a:lnTo>
                <a:lnTo>
                  <a:pt x="1294129" y="69068"/>
                </a:lnTo>
                <a:close/>
              </a:path>
              <a:path w="1341754" h="171450">
                <a:moveTo>
                  <a:pt x="1303654" y="69068"/>
                </a:moveTo>
                <a:lnTo>
                  <a:pt x="1294129" y="69068"/>
                </a:lnTo>
                <a:lnTo>
                  <a:pt x="1294129" y="102088"/>
                </a:lnTo>
                <a:lnTo>
                  <a:pt x="1303654" y="102088"/>
                </a:lnTo>
                <a:lnTo>
                  <a:pt x="1303654" y="69068"/>
                </a:lnTo>
                <a:close/>
              </a:path>
              <a:path w="1341754" h="171450">
                <a:moveTo>
                  <a:pt x="1191831" y="0"/>
                </a:moveTo>
                <a:lnTo>
                  <a:pt x="1184560" y="488"/>
                </a:lnTo>
                <a:lnTo>
                  <a:pt x="1178004" y="3643"/>
                </a:lnTo>
                <a:lnTo>
                  <a:pt x="1172971" y="9251"/>
                </a:lnTo>
                <a:lnTo>
                  <a:pt x="1170507" y="16446"/>
                </a:lnTo>
                <a:lnTo>
                  <a:pt x="1170971" y="23760"/>
                </a:lnTo>
                <a:lnTo>
                  <a:pt x="1174150" y="30360"/>
                </a:lnTo>
                <a:lnTo>
                  <a:pt x="1179829" y="35413"/>
                </a:lnTo>
                <a:lnTo>
                  <a:pt x="1265827" y="85578"/>
                </a:lnTo>
                <a:lnTo>
                  <a:pt x="1294129" y="69068"/>
                </a:lnTo>
                <a:lnTo>
                  <a:pt x="1303654" y="69068"/>
                </a:lnTo>
                <a:lnTo>
                  <a:pt x="1303654" y="66528"/>
                </a:lnTo>
                <a:lnTo>
                  <a:pt x="1308868" y="66528"/>
                </a:lnTo>
                <a:lnTo>
                  <a:pt x="1199006" y="2393"/>
                </a:lnTo>
                <a:lnTo>
                  <a:pt x="1191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684514" y="2319909"/>
            <a:ext cx="6146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b="1" spc="-10" dirty="0">
                <a:latin typeface="Consolas"/>
                <a:cs typeface="Consolas"/>
              </a:rPr>
              <a:t>Intent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098536" y="2672334"/>
            <a:ext cx="1830705" cy="1370965"/>
            <a:chOff x="6574535" y="2672333"/>
            <a:chExt cx="1830705" cy="1370965"/>
          </a:xfrm>
        </p:grpSpPr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74535" y="3159264"/>
              <a:ext cx="1830324" cy="88390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3971" y="3198875"/>
              <a:ext cx="1716024" cy="77114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447025" y="2672333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513826" y="3966464"/>
            <a:ext cx="693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solidFill>
                  <a:srgbClr val="B0641F"/>
                </a:solidFill>
                <a:latin typeface="Consolas"/>
                <a:cs typeface="Consolas"/>
              </a:rPr>
              <a:t>Bundle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18</a:t>
            </a:fld>
            <a:endParaRPr spc="-25" dirty="0"/>
          </a:p>
        </p:txBody>
      </p: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8157972" y="3391662"/>
            <a:ext cx="1523365" cy="384721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5720">
              <a:spcBef>
                <a:spcPts val="1440"/>
              </a:spcBef>
            </a:pPr>
            <a:r>
              <a:rPr sz="1300" b="1" spc="-10" dirty="0">
                <a:solidFill>
                  <a:srgbClr val="FFFFFF"/>
                </a:solidFill>
                <a:latin typeface="Consolas"/>
                <a:cs typeface="Consolas"/>
              </a:rPr>
              <a:t>(obj,[Module])</a:t>
            </a:r>
            <a:endParaRPr sz="13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Retour</a:t>
            </a:r>
            <a:r>
              <a:rPr spc="-165" dirty="0"/>
              <a:t> </a:t>
            </a:r>
            <a:r>
              <a:rPr dirty="0"/>
              <a:t>d’une</a:t>
            </a:r>
            <a:r>
              <a:rPr spc="-165" dirty="0"/>
              <a:t> </a:t>
            </a:r>
            <a:r>
              <a:rPr spc="-10" dirty="0"/>
              <a:t>activité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9092" y="3207957"/>
            <a:ext cx="3518535" cy="630555"/>
            <a:chOff x="355091" y="3207956"/>
            <a:chExt cx="3518535" cy="630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19" y="3238324"/>
              <a:ext cx="3513670" cy="5009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3207956"/>
              <a:ext cx="3292602" cy="6301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3253740"/>
              <a:ext cx="3365500" cy="352425"/>
            </a:xfrm>
            <a:custGeom>
              <a:avLst/>
              <a:gdLst/>
              <a:ahLst/>
              <a:cxnLst/>
              <a:rect l="l" t="t" r="r" b="b"/>
              <a:pathLst>
                <a:path w="3365500" h="352425">
                  <a:moveTo>
                    <a:pt x="3202812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364992" y="352044"/>
                  </a:lnTo>
                  <a:lnTo>
                    <a:pt x="3364992" y="162179"/>
                  </a:lnTo>
                  <a:lnTo>
                    <a:pt x="3359196" y="119077"/>
                  </a:lnTo>
                  <a:lnTo>
                    <a:pt x="3342842" y="80339"/>
                  </a:lnTo>
                  <a:lnTo>
                    <a:pt x="3317478" y="47513"/>
                  </a:lnTo>
                  <a:lnTo>
                    <a:pt x="3284652" y="22149"/>
                  </a:lnTo>
                  <a:lnTo>
                    <a:pt x="3245914" y="5795"/>
                  </a:lnTo>
                  <a:lnTo>
                    <a:pt x="3202812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4888" y="3276346"/>
            <a:ext cx="288099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/java/OtherActivity.java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69948" y="3576829"/>
            <a:ext cx="8570595" cy="2825115"/>
            <a:chOff x="345947" y="3576828"/>
            <a:chExt cx="8570595" cy="28251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3576828"/>
              <a:ext cx="8570214" cy="27774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047" y="3627132"/>
              <a:ext cx="5199126" cy="277444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4903" y="3605784"/>
              <a:ext cx="8394700" cy="2601595"/>
            </a:xfrm>
            <a:custGeom>
              <a:avLst/>
              <a:gdLst/>
              <a:ahLst/>
              <a:cxnLst/>
              <a:rect l="l" t="t" r="r" b="b"/>
              <a:pathLst>
                <a:path w="8394700" h="2601595">
                  <a:moveTo>
                    <a:pt x="8159750" y="0"/>
                  </a:moveTo>
                  <a:lnTo>
                    <a:pt x="0" y="0"/>
                  </a:lnTo>
                  <a:lnTo>
                    <a:pt x="0" y="2367013"/>
                  </a:lnTo>
                  <a:lnTo>
                    <a:pt x="4763" y="2414265"/>
                  </a:lnTo>
                  <a:lnTo>
                    <a:pt x="18423" y="2458275"/>
                  </a:lnTo>
                  <a:lnTo>
                    <a:pt x="40039" y="2498100"/>
                  </a:lnTo>
                  <a:lnTo>
                    <a:pt x="68667" y="2532799"/>
                  </a:lnTo>
                  <a:lnTo>
                    <a:pt x="103364" y="2561427"/>
                  </a:lnTo>
                  <a:lnTo>
                    <a:pt x="143187" y="2583043"/>
                  </a:lnTo>
                  <a:lnTo>
                    <a:pt x="187194" y="2596704"/>
                  </a:lnTo>
                  <a:lnTo>
                    <a:pt x="234441" y="2601467"/>
                  </a:lnTo>
                  <a:lnTo>
                    <a:pt x="8394192" y="2601467"/>
                  </a:lnTo>
                  <a:lnTo>
                    <a:pt x="8394192" y="234441"/>
                  </a:lnTo>
                  <a:lnTo>
                    <a:pt x="8389426" y="187212"/>
                  </a:lnTo>
                  <a:lnTo>
                    <a:pt x="8375759" y="143214"/>
                  </a:lnTo>
                  <a:lnTo>
                    <a:pt x="8354135" y="103392"/>
                  </a:lnTo>
                  <a:lnTo>
                    <a:pt x="8325500" y="68691"/>
                  </a:lnTo>
                  <a:lnTo>
                    <a:pt x="8290799" y="40056"/>
                  </a:lnTo>
                  <a:lnTo>
                    <a:pt x="8250977" y="18432"/>
                  </a:lnTo>
                  <a:lnTo>
                    <a:pt x="8206979" y="4765"/>
                  </a:lnTo>
                  <a:lnTo>
                    <a:pt x="815975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46223" y="3693923"/>
            <a:ext cx="4696460" cy="244157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227965">
              <a:lnSpc>
                <a:spcPts val="1900"/>
              </a:lnSpc>
              <a:spcBef>
                <a:spcPts val="17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intentInput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getIntent();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Bundle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bundle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intentInput.getExtras();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845"/>
              </a:lnSpc>
              <a:tabLst>
                <a:tab pos="568325" algn="l"/>
                <a:tab pos="1124585" algn="l"/>
                <a:tab pos="1679575" algn="l"/>
              </a:tabLst>
            </a:pPr>
            <a:r>
              <a:rPr sz="1600" spc="-25" dirty="0">
                <a:latin typeface="Consolas"/>
                <a:cs typeface="Consolas"/>
              </a:rPr>
              <a:t>...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25" dirty="0">
                <a:latin typeface="Consolas"/>
                <a:cs typeface="Consolas"/>
              </a:rPr>
              <a:t>...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25" dirty="0">
                <a:latin typeface="Consolas"/>
                <a:cs typeface="Consolas"/>
              </a:rPr>
              <a:t>...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10" dirty="0">
                <a:latin typeface="Consolas"/>
                <a:cs typeface="Consolas"/>
              </a:rPr>
              <a:t>finish();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315"/>
              </a:spcBef>
            </a:pPr>
            <a:r>
              <a:rPr sz="1200" spc="-10" dirty="0">
                <a:solidFill>
                  <a:srgbClr val="A6A6A6"/>
                </a:solidFill>
                <a:latin typeface="Consolas"/>
                <a:cs typeface="Consolas"/>
              </a:rPr>
              <a:t>@Override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  <a:spcBef>
                <a:spcPts val="114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3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finish(){</a:t>
            </a:r>
            <a:endParaRPr sz="1600">
              <a:latin typeface="Consolas"/>
              <a:cs typeface="Consolas"/>
            </a:endParaRPr>
          </a:p>
          <a:p>
            <a:pPr marL="346075" marR="5080">
              <a:lnSpc>
                <a:spcPct val="99000"/>
              </a:lnSpc>
              <a:spcBef>
                <a:spcPts val="1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intentOutput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r>
              <a:rPr sz="1600" spc="-10" dirty="0">
                <a:latin typeface="Consolas"/>
                <a:cs typeface="Consolas"/>
              </a:rPr>
              <a:t>(); </a:t>
            </a:r>
            <a:r>
              <a:rPr sz="1600" dirty="0">
                <a:latin typeface="Consolas"/>
                <a:cs typeface="Consolas"/>
              </a:rPr>
              <a:t>intentOutput.putExtra(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"result"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18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"..."</a:t>
            </a:r>
            <a:r>
              <a:rPr sz="1600" spc="-10" dirty="0">
                <a:latin typeface="Consolas"/>
                <a:cs typeface="Consolas"/>
              </a:rPr>
              <a:t>);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setResult(</a:t>
            </a:r>
            <a:r>
              <a:rPr sz="1600" u="sng" dirty="0">
                <a:solidFill>
                  <a:srgbClr val="00AF5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RESULT_OK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,</a:t>
            </a:r>
            <a:r>
              <a:rPr sz="1600" u="sng" spc="-8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intentOutput);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sz="1600" spc="-10" dirty="0">
                <a:latin typeface="Consolas"/>
                <a:cs typeface="Consolas"/>
              </a:rPr>
              <a:t>.finish();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895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79092" y="867206"/>
            <a:ext cx="3395345" cy="628650"/>
            <a:chOff x="355091" y="867206"/>
            <a:chExt cx="3395345" cy="6286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8" y="897396"/>
              <a:ext cx="3390229" cy="4995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867206"/>
              <a:ext cx="3173730" cy="628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4903" y="912875"/>
              <a:ext cx="3241675" cy="350520"/>
            </a:xfrm>
            <a:custGeom>
              <a:avLst/>
              <a:gdLst/>
              <a:ahLst/>
              <a:cxnLst/>
              <a:rect l="l" t="t" r="r" b="b"/>
              <a:pathLst>
                <a:path w="3241675" h="350519">
                  <a:moveTo>
                    <a:pt x="3080131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3241547" y="350520"/>
                  </a:lnTo>
                  <a:lnTo>
                    <a:pt x="3241547" y="161416"/>
                  </a:lnTo>
                  <a:lnTo>
                    <a:pt x="3235782" y="118503"/>
                  </a:lnTo>
                  <a:lnTo>
                    <a:pt x="3219511" y="79944"/>
                  </a:lnTo>
                  <a:lnTo>
                    <a:pt x="3194272" y="47275"/>
                  </a:lnTo>
                  <a:lnTo>
                    <a:pt x="3161603" y="22036"/>
                  </a:lnTo>
                  <a:lnTo>
                    <a:pt x="3123044" y="5765"/>
                  </a:lnTo>
                  <a:lnTo>
                    <a:pt x="3080131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24887" y="934339"/>
            <a:ext cx="27622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69948" y="1234439"/>
            <a:ext cx="8570595" cy="1921510"/>
            <a:chOff x="345947" y="1234439"/>
            <a:chExt cx="8570595" cy="192151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1234439"/>
              <a:ext cx="8570214" cy="192100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143" y="1290827"/>
              <a:ext cx="8439150" cy="18097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4903" y="1263395"/>
              <a:ext cx="8394700" cy="1744980"/>
            </a:xfrm>
            <a:custGeom>
              <a:avLst/>
              <a:gdLst/>
              <a:ahLst/>
              <a:cxnLst/>
              <a:rect l="l" t="t" r="r" b="b"/>
              <a:pathLst>
                <a:path w="8394700" h="1744980">
                  <a:moveTo>
                    <a:pt x="8140954" y="0"/>
                  </a:moveTo>
                  <a:lnTo>
                    <a:pt x="0" y="0"/>
                  </a:lnTo>
                  <a:lnTo>
                    <a:pt x="0" y="1491741"/>
                  </a:lnTo>
                  <a:lnTo>
                    <a:pt x="4079" y="1537253"/>
                  </a:lnTo>
                  <a:lnTo>
                    <a:pt x="15842" y="1580091"/>
                  </a:lnTo>
                  <a:lnTo>
                    <a:pt x="34572" y="1619541"/>
                  </a:lnTo>
                  <a:lnTo>
                    <a:pt x="59555" y="1654886"/>
                  </a:lnTo>
                  <a:lnTo>
                    <a:pt x="90075" y="1685410"/>
                  </a:lnTo>
                  <a:lnTo>
                    <a:pt x="125417" y="1710398"/>
                  </a:lnTo>
                  <a:lnTo>
                    <a:pt x="164866" y="1729133"/>
                  </a:lnTo>
                  <a:lnTo>
                    <a:pt x="207707" y="1740898"/>
                  </a:lnTo>
                  <a:lnTo>
                    <a:pt x="253225" y="1744979"/>
                  </a:lnTo>
                  <a:lnTo>
                    <a:pt x="8394192" y="1744979"/>
                  </a:lnTo>
                  <a:lnTo>
                    <a:pt x="8394192" y="253237"/>
                  </a:lnTo>
                  <a:lnTo>
                    <a:pt x="8390110" y="207726"/>
                  </a:lnTo>
                  <a:lnTo>
                    <a:pt x="8378345" y="164888"/>
                  </a:lnTo>
                  <a:lnTo>
                    <a:pt x="8359610" y="125438"/>
                  </a:lnTo>
                  <a:lnTo>
                    <a:pt x="8334622" y="90093"/>
                  </a:lnTo>
                  <a:lnTo>
                    <a:pt x="8304098" y="59569"/>
                  </a:lnTo>
                  <a:lnTo>
                    <a:pt x="8268753" y="34581"/>
                  </a:lnTo>
                  <a:lnTo>
                    <a:pt x="8229303" y="15846"/>
                  </a:lnTo>
                  <a:lnTo>
                    <a:pt x="8186465" y="4081"/>
                  </a:lnTo>
                  <a:lnTo>
                    <a:pt x="814095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2227614" y="1357376"/>
            <a:ext cx="10784772" cy="14741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dirty="0">
                <a:solidFill>
                  <a:srgbClr val="006FC0"/>
                </a:solidFill>
              </a:rPr>
              <a:t>Intent</a:t>
            </a:r>
            <a:r>
              <a:rPr spc="-45" dirty="0">
                <a:solidFill>
                  <a:srgbClr val="006FC0"/>
                </a:solidFill>
              </a:rPr>
              <a:t> </a:t>
            </a:r>
            <a:r>
              <a:rPr dirty="0"/>
              <a:t>intentInput</a:t>
            </a:r>
            <a:r>
              <a:rPr spc="-2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>
                <a:solidFill>
                  <a:srgbClr val="0000FF"/>
                </a:solidFill>
              </a:rPr>
              <a:t>new</a:t>
            </a:r>
            <a:r>
              <a:rPr spc="-30" dirty="0">
                <a:solidFill>
                  <a:srgbClr val="0000FF"/>
                </a:solidFill>
              </a:rPr>
              <a:t> </a:t>
            </a:r>
            <a:r>
              <a:rPr dirty="0"/>
              <a:t>Intent(</a:t>
            </a:r>
            <a:r>
              <a:rPr dirty="0">
                <a:solidFill>
                  <a:srgbClr val="0000FF"/>
                </a:solidFill>
              </a:rPr>
              <a:t>this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>
                <a:solidFill>
                  <a:srgbClr val="006FC0"/>
                </a:solidFill>
              </a:rPr>
              <a:t>OtherActivity</a:t>
            </a:r>
            <a:r>
              <a:rPr spc="-10" dirty="0"/>
              <a:t>.</a:t>
            </a:r>
            <a:r>
              <a:rPr spc="-10" dirty="0">
                <a:solidFill>
                  <a:srgbClr val="0000FF"/>
                </a:solidFill>
              </a:rPr>
              <a:t>class</a:t>
            </a:r>
            <a:r>
              <a:rPr spc="-10" dirty="0"/>
              <a:t>);</a:t>
            </a:r>
          </a:p>
          <a:p>
            <a:pPr marL="12700">
              <a:lnSpc>
                <a:spcPts val="1905"/>
              </a:lnSpc>
            </a:pPr>
            <a:r>
              <a:rPr u="sng" dirty="0">
                <a:uFill>
                  <a:solidFill>
                    <a:srgbClr val="FF0000"/>
                  </a:solidFill>
                </a:uFill>
              </a:rPr>
              <a:t>startActivityForResult(intentInput,</a:t>
            </a:r>
            <a:r>
              <a:rPr u="sng" spc="-195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spc="-20" dirty="0">
                <a:solidFill>
                  <a:srgbClr val="FF3399"/>
                </a:solidFill>
                <a:uFill>
                  <a:solidFill>
                    <a:srgbClr val="FF0000"/>
                  </a:solidFill>
                </a:uFill>
              </a:rPr>
              <a:t>99</a:t>
            </a:r>
            <a:r>
              <a:rPr u="sng" spc="-20" dirty="0">
                <a:uFill>
                  <a:solidFill>
                    <a:srgbClr val="FF0000"/>
                  </a:solidFill>
                </a:uFill>
              </a:rPr>
              <a:t>);</a:t>
            </a:r>
          </a:p>
          <a:p>
            <a:pPr marL="12700">
              <a:lnSpc>
                <a:spcPts val="1914"/>
              </a:lnSpc>
            </a:pPr>
            <a:r>
              <a:rPr spc="-25" dirty="0"/>
              <a:t>...</a:t>
            </a:r>
          </a:p>
          <a:p>
            <a:pPr marL="12700">
              <a:spcBef>
                <a:spcPts val="15"/>
              </a:spcBef>
            </a:pPr>
            <a:r>
              <a:rPr sz="1500" spc="-95" dirty="0">
                <a:solidFill>
                  <a:srgbClr val="7E0054"/>
                </a:solidFill>
              </a:rPr>
              <a:t>protected</a:t>
            </a:r>
            <a:r>
              <a:rPr sz="1500" spc="-140" dirty="0">
                <a:solidFill>
                  <a:srgbClr val="7E0054"/>
                </a:solidFill>
              </a:rPr>
              <a:t> </a:t>
            </a:r>
            <a:r>
              <a:rPr sz="1500" spc="-80" dirty="0">
                <a:solidFill>
                  <a:srgbClr val="0000FF"/>
                </a:solidFill>
              </a:rPr>
              <a:t>void</a:t>
            </a:r>
            <a:r>
              <a:rPr sz="1500" spc="-135" dirty="0">
                <a:solidFill>
                  <a:srgbClr val="0000FF"/>
                </a:solidFill>
              </a:rPr>
              <a:t> </a:t>
            </a:r>
            <a:r>
              <a:rPr sz="1500" u="sng" spc="-100" dirty="0">
                <a:uFill>
                  <a:solidFill>
                    <a:srgbClr val="FF0000"/>
                  </a:solidFill>
                </a:uFill>
              </a:rPr>
              <a:t>onActivityResult</a:t>
            </a:r>
            <a:r>
              <a:rPr sz="1500" spc="-100" dirty="0"/>
              <a:t>(</a:t>
            </a:r>
            <a:r>
              <a:rPr sz="1500" spc="-100" dirty="0">
                <a:solidFill>
                  <a:srgbClr val="0000FF"/>
                </a:solidFill>
              </a:rPr>
              <a:t>int</a:t>
            </a:r>
            <a:r>
              <a:rPr sz="1500" spc="-145" dirty="0">
                <a:solidFill>
                  <a:srgbClr val="0000FF"/>
                </a:solidFill>
              </a:rPr>
              <a:t> </a:t>
            </a:r>
            <a:r>
              <a:rPr sz="1500" spc="-100" dirty="0">
                <a:solidFill>
                  <a:srgbClr val="FF3399"/>
                </a:solidFill>
              </a:rPr>
              <a:t>requestCode</a:t>
            </a:r>
            <a:r>
              <a:rPr sz="1500" spc="-100" dirty="0"/>
              <a:t>,</a:t>
            </a:r>
            <a:r>
              <a:rPr sz="1500" spc="-140" dirty="0"/>
              <a:t> </a:t>
            </a:r>
            <a:r>
              <a:rPr sz="1500" spc="-75" dirty="0">
                <a:solidFill>
                  <a:srgbClr val="0000FF"/>
                </a:solidFill>
              </a:rPr>
              <a:t>int</a:t>
            </a:r>
            <a:r>
              <a:rPr sz="1500" spc="-150" dirty="0">
                <a:solidFill>
                  <a:srgbClr val="0000FF"/>
                </a:solidFill>
              </a:rPr>
              <a:t> </a:t>
            </a:r>
            <a:r>
              <a:rPr sz="1500" spc="-95" dirty="0">
                <a:solidFill>
                  <a:srgbClr val="00AF50"/>
                </a:solidFill>
              </a:rPr>
              <a:t>resultCode</a:t>
            </a:r>
            <a:r>
              <a:rPr sz="1500" spc="-95" dirty="0"/>
              <a:t>,</a:t>
            </a:r>
            <a:r>
              <a:rPr sz="1500" spc="-135" dirty="0"/>
              <a:t> </a:t>
            </a:r>
            <a:r>
              <a:rPr sz="1500" spc="-90" dirty="0">
                <a:solidFill>
                  <a:srgbClr val="006FC0"/>
                </a:solidFill>
              </a:rPr>
              <a:t>Intent</a:t>
            </a:r>
            <a:r>
              <a:rPr sz="1500" spc="-155" dirty="0">
                <a:solidFill>
                  <a:srgbClr val="006FC0"/>
                </a:solidFill>
              </a:rPr>
              <a:t> </a:t>
            </a:r>
            <a:r>
              <a:rPr sz="1500" spc="-45" dirty="0"/>
              <a:t>intentOutput){</a:t>
            </a:r>
            <a:endParaRPr sz="1500"/>
          </a:p>
          <a:p>
            <a:pPr marL="457200">
              <a:lnSpc>
                <a:spcPts val="1914"/>
              </a:lnSpc>
              <a:spcBef>
                <a:spcPts val="55"/>
              </a:spcBef>
            </a:pPr>
            <a:r>
              <a:rPr dirty="0">
                <a:solidFill>
                  <a:srgbClr val="0000FF"/>
                </a:solidFill>
              </a:rPr>
              <a:t>if</a:t>
            </a:r>
            <a:r>
              <a:rPr dirty="0"/>
              <a:t>(</a:t>
            </a:r>
            <a:r>
              <a:rPr dirty="0">
                <a:solidFill>
                  <a:srgbClr val="FF3399"/>
                </a:solidFill>
              </a:rPr>
              <a:t>requestCode</a:t>
            </a:r>
            <a:r>
              <a:rPr spc="-30" dirty="0">
                <a:solidFill>
                  <a:srgbClr val="FF3399"/>
                </a:solidFill>
              </a:rPr>
              <a:t> </a:t>
            </a:r>
            <a:r>
              <a:rPr dirty="0"/>
              <a:t>==</a:t>
            </a:r>
            <a:r>
              <a:rPr spc="-30" dirty="0"/>
              <a:t> </a:t>
            </a:r>
            <a:r>
              <a:rPr dirty="0">
                <a:solidFill>
                  <a:srgbClr val="FF3399"/>
                </a:solidFill>
              </a:rPr>
              <a:t>99</a:t>
            </a:r>
            <a:r>
              <a:rPr spc="-35" dirty="0">
                <a:solidFill>
                  <a:srgbClr val="FF3399"/>
                </a:solidFill>
              </a:rPr>
              <a:t> </a:t>
            </a:r>
            <a:r>
              <a:rPr dirty="0"/>
              <a:t>&amp;&amp;</a:t>
            </a:r>
            <a:r>
              <a:rPr spc="-40" dirty="0"/>
              <a:t> </a:t>
            </a:r>
            <a:r>
              <a:rPr dirty="0">
                <a:solidFill>
                  <a:srgbClr val="00AF50"/>
                </a:solidFill>
              </a:rPr>
              <a:t>resultCode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dirty="0"/>
              <a:t>==</a:t>
            </a:r>
            <a:r>
              <a:rPr spc="-45" dirty="0"/>
              <a:t> </a:t>
            </a:r>
            <a:r>
              <a:rPr dirty="0">
                <a:solidFill>
                  <a:srgbClr val="00AF50"/>
                </a:solidFill>
              </a:rPr>
              <a:t>RESULT_OK</a:t>
            </a:r>
            <a:r>
              <a:rPr dirty="0"/>
              <a:t>)){</a:t>
            </a:r>
            <a:r>
              <a:rPr spc="-30" dirty="0"/>
              <a:t> </a:t>
            </a:r>
            <a:r>
              <a:rPr i="1" dirty="0">
                <a:latin typeface="Consolas"/>
                <a:cs typeface="Consolas"/>
              </a:rPr>
              <a:t>...</a:t>
            </a:r>
            <a:r>
              <a:rPr i="1" spc="-30" dirty="0"/>
              <a:t> </a:t>
            </a:r>
            <a:r>
              <a:rPr spc="-50" dirty="0"/>
              <a:t>}</a:t>
            </a:r>
          </a:p>
          <a:p>
            <a:pPr marL="12700">
              <a:lnSpc>
                <a:spcPts val="1914"/>
              </a:lnSpc>
            </a:pPr>
            <a:r>
              <a:rPr spc="-50" dirty="0"/>
              <a:t>}</a:t>
            </a:r>
          </a:p>
        </p:txBody>
      </p:sp>
      <p:grpSp>
        <p:nvGrpSpPr>
          <p:cNvPr id="23" name="object 23"/>
          <p:cNvGrpSpPr/>
          <p:nvPr/>
        </p:nvGrpSpPr>
        <p:grpSpPr>
          <a:xfrm>
            <a:off x="6984492" y="3148596"/>
            <a:ext cx="978535" cy="975360"/>
            <a:chOff x="5460491" y="3148596"/>
            <a:chExt cx="978535" cy="97536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60491" y="3148596"/>
              <a:ext cx="978433" cy="9753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31179" y="3442703"/>
              <a:ext cx="633996" cy="43282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9927" y="3188208"/>
              <a:ext cx="864108" cy="86258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294626" y="3507104"/>
            <a:ext cx="3606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onsolas"/>
                <a:cs typeface="Consolas"/>
              </a:rPr>
              <a:t>Main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371077" y="3148596"/>
            <a:ext cx="977265" cy="975360"/>
            <a:chOff x="7847076" y="3148596"/>
            <a:chExt cx="977265" cy="975360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47076" y="3148596"/>
              <a:ext cx="976871" cy="97534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76616" y="3442703"/>
              <a:ext cx="717803" cy="4328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6512" y="3188208"/>
              <a:ext cx="862584" cy="86258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639681" y="3507104"/>
            <a:ext cx="444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onsolas"/>
                <a:cs typeface="Consolas"/>
              </a:rPr>
              <a:t>Other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782306" y="3228360"/>
            <a:ext cx="1896745" cy="2092325"/>
            <a:chOff x="6258305" y="3228359"/>
            <a:chExt cx="1896745" cy="2092325"/>
          </a:xfrm>
        </p:grpSpPr>
        <p:sp>
          <p:nvSpPr>
            <p:cNvPr id="34" name="object 34"/>
            <p:cNvSpPr/>
            <p:nvPr/>
          </p:nvSpPr>
          <p:spPr>
            <a:xfrm>
              <a:off x="6258305" y="3228359"/>
              <a:ext cx="1773555" cy="171450"/>
            </a:xfrm>
            <a:custGeom>
              <a:avLst/>
              <a:gdLst/>
              <a:ahLst/>
              <a:cxnLst/>
              <a:rect l="l" t="t" r="r" b="b"/>
              <a:pathLst>
                <a:path w="1773554" h="171450">
                  <a:moveTo>
                    <a:pt x="1697627" y="85578"/>
                  </a:moveTo>
                  <a:lnTo>
                    <a:pt x="1611629" y="135743"/>
                  </a:lnTo>
                  <a:lnTo>
                    <a:pt x="1605950" y="140795"/>
                  </a:lnTo>
                  <a:lnTo>
                    <a:pt x="1602771" y="147395"/>
                  </a:lnTo>
                  <a:lnTo>
                    <a:pt x="1602307" y="154709"/>
                  </a:lnTo>
                  <a:lnTo>
                    <a:pt x="1604772" y="161905"/>
                  </a:lnTo>
                  <a:lnTo>
                    <a:pt x="1609822" y="167512"/>
                  </a:lnTo>
                  <a:lnTo>
                    <a:pt x="1616408" y="170668"/>
                  </a:lnTo>
                  <a:lnTo>
                    <a:pt x="1623685" y="171156"/>
                  </a:lnTo>
                  <a:lnTo>
                    <a:pt x="1630807" y="168763"/>
                  </a:lnTo>
                  <a:lnTo>
                    <a:pt x="1740668" y="104628"/>
                  </a:lnTo>
                  <a:lnTo>
                    <a:pt x="1735582" y="104628"/>
                  </a:lnTo>
                  <a:lnTo>
                    <a:pt x="1735582" y="102088"/>
                  </a:lnTo>
                  <a:lnTo>
                    <a:pt x="1725929" y="102088"/>
                  </a:lnTo>
                  <a:lnTo>
                    <a:pt x="1697627" y="85578"/>
                  </a:lnTo>
                  <a:close/>
                </a:path>
                <a:path w="1773554" h="171450">
                  <a:moveTo>
                    <a:pt x="1664969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1664969" y="104628"/>
                  </a:lnTo>
                  <a:lnTo>
                    <a:pt x="1697627" y="85578"/>
                  </a:lnTo>
                  <a:lnTo>
                    <a:pt x="1664969" y="66528"/>
                  </a:lnTo>
                  <a:close/>
                </a:path>
                <a:path w="1773554" h="171450">
                  <a:moveTo>
                    <a:pt x="1740668" y="66528"/>
                  </a:moveTo>
                  <a:lnTo>
                    <a:pt x="1735582" y="66528"/>
                  </a:lnTo>
                  <a:lnTo>
                    <a:pt x="1735582" y="104628"/>
                  </a:lnTo>
                  <a:lnTo>
                    <a:pt x="1740668" y="104628"/>
                  </a:lnTo>
                  <a:lnTo>
                    <a:pt x="1773301" y="85578"/>
                  </a:lnTo>
                  <a:lnTo>
                    <a:pt x="1740668" y="66528"/>
                  </a:lnTo>
                  <a:close/>
                </a:path>
                <a:path w="1773554" h="171450">
                  <a:moveTo>
                    <a:pt x="1725929" y="69068"/>
                  </a:moveTo>
                  <a:lnTo>
                    <a:pt x="1697627" y="85578"/>
                  </a:lnTo>
                  <a:lnTo>
                    <a:pt x="1725929" y="102088"/>
                  </a:lnTo>
                  <a:lnTo>
                    <a:pt x="1725929" y="69068"/>
                  </a:lnTo>
                  <a:close/>
                </a:path>
                <a:path w="1773554" h="171450">
                  <a:moveTo>
                    <a:pt x="1735582" y="69068"/>
                  </a:moveTo>
                  <a:lnTo>
                    <a:pt x="1725929" y="69068"/>
                  </a:lnTo>
                  <a:lnTo>
                    <a:pt x="1725929" y="102088"/>
                  </a:lnTo>
                  <a:lnTo>
                    <a:pt x="1735582" y="102088"/>
                  </a:lnTo>
                  <a:lnTo>
                    <a:pt x="1735582" y="69068"/>
                  </a:lnTo>
                  <a:close/>
                </a:path>
                <a:path w="1773554" h="171450">
                  <a:moveTo>
                    <a:pt x="1623685" y="0"/>
                  </a:moveTo>
                  <a:lnTo>
                    <a:pt x="1616408" y="488"/>
                  </a:lnTo>
                  <a:lnTo>
                    <a:pt x="1609822" y="3643"/>
                  </a:lnTo>
                  <a:lnTo>
                    <a:pt x="1604772" y="9251"/>
                  </a:lnTo>
                  <a:lnTo>
                    <a:pt x="1602307" y="16446"/>
                  </a:lnTo>
                  <a:lnTo>
                    <a:pt x="1602771" y="23760"/>
                  </a:lnTo>
                  <a:lnTo>
                    <a:pt x="1605950" y="30360"/>
                  </a:lnTo>
                  <a:lnTo>
                    <a:pt x="1611629" y="35413"/>
                  </a:lnTo>
                  <a:lnTo>
                    <a:pt x="1697627" y="85578"/>
                  </a:lnTo>
                  <a:lnTo>
                    <a:pt x="1725929" y="69068"/>
                  </a:lnTo>
                  <a:lnTo>
                    <a:pt x="1735582" y="69068"/>
                  </a:lnTo>
                  <a:lnTo>
                    <a:pt x="1735582" y="66528"/>
                  </a:lnTo>
                  <a:lnTo>
                    <a:pt x="1740668" y="66528"/>
                  </a:lnTo>
                  <a:lnTo>
                    <a:pt x="1630807" y="2393"/>
                  </a:lnTo>
                  <a:lnTo>
                    <a:pt x="16236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24599" y="4434852"/>
              <a:ext cx="1830324" cy="88543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84035" y="4474464"/>
              <a:ext cx="1716023" cy="77266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197089" y="3949446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4999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80907" y="5224983"/>
            <a:ext cx="693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0" dirty="0">
                <a:solidFill>
                  <a:srgbClr val="B0641F"/>
                </a:solidFill>
                <a:latin typeface="Consolas"/>
                <a:cs typeface="Consolas"/>
              </a:rPr>
              <a:t>Bundle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08036" y="4667630"/>
            <a:ext cx="1523365" cy="260328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6510">
              <a:spcBef>
                <a:spcPts val="350"/>
              </a:spcBef>
            </a:pPr>
            <a:r>
              <a:rPr sz="1400" b="1" spc="-10" dirty="0">
                <a:solidFill>
                  <a:srgbClr val="FFFFFF"/>
                </a:solidFill>
                <a:latin typeface="Consolas"/>
                <a:cs typeface="Consolas"/>
              </a:rPr>
              <a:t>(result,...)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82179" y="3839483"/>
            <a:ext cx="1773555" cy="171450"/>
          </a:xfrm>
          <a:custGeom>
            <a:avLst/>
            <a:gdLst/>
            <a:ahLst/>
            <a:cxnLst/>
            <a:rect l="l" t="t" r="r" b="b"/>
            <a:pathLst>
              <a:path w="1773554" h="171450">
                <a:moveTo>
                  <a:pt x="149689" y="0"/>
                </a:moveTo>
                <a:lnTo>
                  <a:pt x="142494" y="2393"/>
                </a:lnTo>
                <a:lnTo>
                  <a:pt x="0" y="85578"/>
                </a:lnTo>
                <a:lnTo>
                  <a:pt x="142494" y="168763"/>
                </a:lnTo>
                <a:lnTo>
                  <a:pt x="149689" y="171156"/>
                </a:lnTo>
                <a:lnTo>
                  <a:pt x="157003" y="170668"/>
                </a:lnTo>
                <a:lnTo>
                  <a:pt x="163603" y="167512"/>
                </a:lnTo>
                <a:lnTo>
                  <a:pt x="168656" y="161905"/>
                </a:lnTo>
                <a:lnTo>
                  <a:pt x="171049" y="154709"/>
                </a:lnTo>
                <a:lnTo>
                  <a:pt x="170561" y="147395"/>
                </a:lnTo>
                <a:lnTo>
                  <a:pt x="167405" y="140795"/>
                </a:lnTo>
                <a:lnTo>
                  <a:pt x="161798" y="135743"/>
                </a:lnTo>
                <a:lnTo>
                  <a:pt x="108458" y="104628"/>
                </a:lnTo>
                <a:lnTo>
                  <a:pt x="37846" y="104628"/>
                </a:lnTo>
                <a:lnTo>
                  <a:pt x="37846" y="66528"/>
                </a:lnTo>
                <a:lnTo>
                  <a:pt x="108458" y="66528"/>
                </a:lnTo>
                <a:lnTo>
                  <a:pt x="161798" y="35413"/>
                </a:lnTo>
                <a:lnTo>
                  <a:pt x="167405" y="30360"/>
                </a:lnTo>
                <a:lnTo>
                  <a:pt x="170561" y="23760"/>
                </a:lnTo>
                <a:lnTo>
                  <a:pt x="171049" y="16446"/>
                </a:lnTo>
                <a:lnTo>
                  <a:pt x="168656" y="9251"/>
                </a:lnTo>
                <a:lnTo>
                  <a:pt x="163603" y="3643"/>
                </a:lnTo>
                <a:lnTo>
                  <a:pt x="157003" y="488"/>
                </a:lnTo>
                <a:lnTo>
                  <a:pt x="149689" y="0"/>
                </a:lnTo>
                <a:close/>
              </a:path>
              <a:path w="1773554" h="171450">
                <a:moveTo>
                  <a:pt x="108458" y="66528"/>
                </a:moveTo>
                <a:lnTo>
                  <a:pt x="37846" y="66528"/>
                </a:lnTo>
                <a:lnTo>
                  <a:pt x="37846" y="104628"/>
                </a:lnTo>
                <a:lnTo>
                  <a:pt x="108458" y="104628"/>
                </a:lnTo>
                <a:lnTo>
                  <a:pt x="104103" y="102088"/>
                </a:lnTo>
                <a:lnTo>
                  <a:pt x="47498" y="102088"/>
                </a:lnTo>
                <a:lnTo>
                  <a:pt x="47498" y="69068"/>
                </a:lnTo>
                <a:lnTo>
                  <a:pt x="104103" y="69068"/>
                </a:lnTo>
                <a:lnTo>
                  <a:pt x="108458" y="66528"/>
                </a:lnTo>
                <a:close/>
              </a:path>
              <a:path w="1773554" h="171450">
                <a:moveTo>
                  <a:pt x="1773301" y="66528"/>
                </a:moveTo>
                <a:lnTo>
                  <a:pt x="108458" y="66528"/>
                </a:lnTo>
                <a:lnTo>
                  <a:pt x="75800" y="85578"/>
                </a:lnTo>
                <a:lnTo>
                  <a:pt x="108458" y="104628"/>
                </a:lnTo>
                <a:lnTo>
                  <a:pt x="1773301" y="104628"/>
                </a:lnTo>
                <a:lnTo>
                  <a:pt x="1773301" y="66528"/>
                </a:lnTo>
                <a:close/>
              </a:path>
              <a:path w="1773554" h="171450">
                <a:moveTo>
                  <a:pt x="47498" y="69068"/>
                </a:moveTo>
                <a:lnTo>
                  <a:pt x="47498" y="102088"/>
                </a:lnTo>
                <a:lnTo>
                  <a:pt x="75800" y="85578"/>
                </a:lnTo>
                <a:lnTo>
                  <a:pt x="47498" y="69068"/>
                </a:lnTo>
                <a:close/>
              </a:path>
              <a:path w="1773554" h="171450">
                <a:moveTo>
                  <a:pt x="75800" y="85578"/>
                </a:moveTo>
                <a:lnTo>
                  <a:pt x="47498" y="102088"/>
                </a:lnTo>
                <a:lnTo>
                  <a:pt x="104103" y="102088"/>
                </a:lnTo>
                <a:lnTo>
                  <a:pt x="75800" y="85578"/>
                </a:lnTo>
                <a:close/>
              </a:path>
              <a:path w="1773554" h="171450">
                <a:moveTo>
                  <a:pt x="104103" y="69068"/>
                </a:moveTo>
                <a:lnTo>
                  <a:pt x="47498" y="69068"/>
                </a:lnTo>
                <a:lnTo>
                  <a:pt x="75800" y="85578"/>
                </a:lnTo>
                <a:lnTo>
                  <a:pt x="104103" y="69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043164" y="3001623"/>
            <a:ext cx="1106170" cy="54673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>
              <a:spcBef>
                <a:spcPts val="335"/>
              </a:spcBef>
            </a:pPr>
            <a:r>
              <a:rPr sz="1400" b="1" spc="-10" dirty="0">
                <a:latin typeface="Consolas"/>
                <a:cs typeface="Consolas"/>
              </a:rPr>
              <a:t>intentInput</a:t>
            </a:r>
            <a:endParaRPr sz="1400">
              <a:latin typeface="Consolas"/>
              <a:cs typeface="Consolas"/>
            </a:endParaRPr>
          </a:p>
          <a:p>
            <a:pPr marR="69850" algn="ctr">
              <a:spcBef>
                <a:spcPts val="265"/>
              </a:spcBef>
            </a:pPr>
            <a:r>
              <a:rPr sz="1600" b="1" spc="-25" dirty="0">
                <a:solidFill>
                  <a:srgbClr val="FF3399"/>
                </a:solidFill>
                <a:latin typeface="Consolas"/>
                <a:cs typeface="Consolas"/>
              </a:rPr>
              <a:t>99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059673" y="3654653"/>
            <a:ext cx="1205230" cy="454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marR="5080" indent="-181610">
              <a:lnSpc>
                <a:spcPct val="105400"/>
              </a:lnSpc>
              <a:spcBef>
                <a:spcPts val="100"/>
              </a:spcBef>
            </a:pPr>
            <a:r>
              <a:rPr sz="1400" b="1" spc="-10" dirty="0">
                <a:latin typeface="Consolas"/>
                <a:cs typeface="Consolas"/>
              </a:rPr>
              <a:t>intentOutput </a:t>
            </a:r>
            <a:r>
              <a:rPr sz="1400" b="1" spc="-10" dirty="0">
                <a:solidFill>
                  <a:srgbClr val="00AF50"/>
                </a:solidFill>
                <a:latin typeface="Consolas"/>
                <a:cs typeface="Consolas"/>
              </a:rPr>
              <a:t>RESULT_OK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613915" y="1427976"/>
            <a:ext cx="417830" cy="488315"/>
            <a:chOff x="89915" y="1427975"/>
            <a:chExt cx="417830" cy="488315"/>
          </a:xfrm>
        </p:grpSpPr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535" y="1446288"/>
              <a:ext cx="402386" cy="39927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915" y="1427975"/>
              <a:ext cx="417563" cy="4876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6972" y="1485900"/>
              <a:ext cx="288036" cy="28651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767028" y="1497584"/>
            <a:ext cx="1162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613915" y="3741408"/>
            <a:ext cx="417830" cy="488315"/>
            <a:chOff x="89915" y="3741407"/>
            <a:chExt cx="417830" cy="488315"/>
          </a:xfrm>
        </p:grpSpPr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535" y="3759707"/>
              <a:ext cx="402386" cy="39776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9915" y="3741407"/>
              <a:ext cx="417563" cy="4876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6972" y="3799331"/>
              <a:ext cx="288036" cy="284988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1767028" y="3811015"/>
            <a:ext cx="1162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613915" y="5251704"/>
            <a:ext cx="417830" cy="488315"/>
            <a:chOff x="89915" y="5251703"/>
            <a:chExt cx="417830" cy="488315"/>
          </a:xfrm>
        </p:grpSpPr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535" y="5268467"/>
              <a:ext cx="402386" cy="39927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915" y="5251703"/>
              <a:ext cx="417563" cy="48769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6972" y="5308091"/>
              <a:ext cx="288036" cy="286512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1767028" y="5321300"/>
            <a:ext cx="1162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613915" y="2217408"/>
            <a:ext cx="417830" cy="488315"/>
            <a:chOff x="89915" y="2217407"/>
            <a:chExt cx="417830" cy="488315"/>
          </a:xfrm>
        </p:grpSpPr>
        <p:pic>
          <p:nvPicPr>
            <p:cNvPr id="59" name="object 5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535" y="2235707"/>
              <a:ext cx="402386" cy="39776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9915" y="2217407"/>
              <a:ext cx="417563" cy="48769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6972" y="2275331"/>
              <a:ext cx="288036" cy="284988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767028" y="2286763"/>
            <a:ext cx="1162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19</a:t>
            </a:fld>
            <a:endParaRPr spc="-25" dirty="0"/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8" y="1544844"/>
            <a:ext cx="5668645" cy="16802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spcBef>
                <a:spcPts val="540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Etapes</a:t>
            </a:r>
            <a:r>
              <a:rPr sz="2000" b="1" spc="-10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spc="-60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73380" indent="-360680">
              <a:spcBef>
                <a:spcPts val="395"/>
              </a:spcBef>
              <a:buSzPct val="69444"/>
              <a:buAutoNum type="arabicPeriod"/>
              <a:tabLst>
                <a:tab pos="373380" algn="l"/>
              </a:tabLst>
            </a:pPr>
            <a:r>
              <a:rPr dirty="0">
                <a:latin typeface="Calibri"/>
                <a:cs typeface="Calibri"/>
              </a:rPr>
              <a:t>Aller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à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Android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monitor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&gt;</a:t>
            </a:r>
            <a:r>
              <a:rPr b="1" spc="-10" dirty="0">
                <a:latin typeface="Calibri"/>
                <a:cs typeface="Calibri"/>
              </a:rPr>
              <a:t> logCat</a:t>
            </a:r>
            <a:endParaRPr>
              <a:latin typeface="Calibri"/>
              <a:cs typeface="Calibri"/>
            </a:endParaRPr>
          </a:p>
          <a:p>
            <a:pPr marL="373380" indent="-360680">
              <a:spcBef>
                <a:spcPts val="385"/>
              </a:spcBef>
              <a:buSzPct val="69444"/>
              <a:buAutoNum type="arabicPeriod"/>
              <a:tabLst>
                <a:tab pos="373380" algn="l"/>
              </a:tabLst>
            </a:pPr>
            <a:r>
              <a:rPr spc="-70" dirty="0">
                <a:latin typeface="Calibri"/>
                <a:cs typeface="Calibri"/>
              </a:rPr>
              <a:t>S'assurer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55" dirty="0">
                <a:latin typeface="Calibri"/>
                <a:cs typeface="Calibri"/>
              </a:rPr>
              <a:t>que </a:t>
            </a:r>
            <a:r>
              <a:rPr b="1" spc="-65" dirty="0">
                <a:latin typeface="Calibri"/>
                <a:cs typeface="Calibri"/>
              </a:rPr>
              <a:t>l'appareil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et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b="1" spc="-65" dirty="0">
                <a:latin typeface="Calibri"/>
                <a:cs typeface="Calibri"/>
              </a:rPr>
              <a:t>l'application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sont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bien </a:t>
            </a:r>
            <a:r>
              <a:rPr spc="-40" dirty="0">
                <a:latin typeface="Calibri"/>
                <a:cs typeface="Calibri"/>
              </a:rPr>
              <a:t>sélectionnés</a:t>
            </a:r>
            <a:endParaRPr>
              <a:latin typeface="Calibri"/>
              <a:cs typeface="Calibri"/>
            </a:endParaRPr>
          </a:p>
          <a:p>
            <a:pPr marL="373380" indent="-360680">
              <a:spcBef>
                <a:spcPts val="385"/>
              </a:spcBef>
              <a:buSzPct val="69444"/>
              <a:buAutoNum type="arabicPeriod"/>
              <a:tabLst>
                <a:tab pos="373380" algn="l"/>
              </a:tabLst>
            </a:pPr>
            <a:r>
              <a:rPr dirty="0">
                <a:latin typeface="Calibri"/>
                <a:cs typeface="Calibri"/>
              </a:rPr>
              <a:t>Filtrer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"Error"</a:t>
            </a:r>
            <a:endParaRPr>
              <a:latin typeface="Calibri"/>
              <a:cs typeface="Calibri"/>
            </a:endParaRPr>
          </a:p>
          <a:p>
            <a:pPr marL="373380" indent="-360680">
              <a:spcBef>
                <a:spcPts val="384"/>
              </a:spcBef>
              <a:buSzPct val="69444"/>
              <a:buAutoNum type="arabicPeriod"/>
              <a:tabLst>
                <a:tab pos="373380" algn="l"/>
              </a:tabLst>
            </a:pPr>
            <a:r>
              <a:rPr dirty="0">
                <a:latin typeface="Calibri"/>
                <a:cs typeface="Calibri"/>
              </a:rPr>
              <a:t>Identifier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l'exception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corriger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le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code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fonction</a:t>
            </a:r>
            <a:endParaRPr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Détection</a:t>
            </a:r>
            <a:r>
              <a:rPr spc="-80" dirty="0"/>
              <a:t> </a:t>
            </a:r>
            <a:r>
              <a:rPr dirty="0"/>
              <a:t>et</a:t>
            </a:r>
            <a:r>
              <a:rPr spc="-80" dirty="0"/>
              <a:t> </a:t>
            </a:r>
            <a:r>
              <a:rPr dirty="0"/>
              <a:t>résolution</a:t>
            </a:r>
            <a:r>
              <a:rPr spc="-60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spc="-10" dirty="0"/>
              <a:t>exceptions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4364" y="1043940"/>
            <a:ext cx="2699004" cy="11125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092452" y="3742945"/>
            <a:ext cx="8048625" cy="2098675"/>
            <a:chOff x="568451" y="3742944"/>
            <a:chExt cx="8048625" cy="20986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451" y="3742944"/>
              <a:ext cx="8048244" cy="20772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6393" y="4197858"/>
              <a:ext cx="7318375" cy="1624965"/>
            </a:xfrm>
            <a:custGeom>
              <a:avLst/>
              <a:gdLst/>
              <a:ahLst/>
              <a:cxnLst/>
              <a:rect l="l" t="t" r="r" b="b"/>
              <a:pathLst>
                <a:path w="7318375" h="1624964">
                  <a:moveTo>
                    <a:pt x="990600" y="1624584"/>
                  </a:moveTo>
                  <a:lnTo>
                    <a:pt x="2388108" y="1624584"/>
                  </a:lnTo>
                  <a:lnTo>
                    <a:pt x="2388108" y="1370076"/>
                  </a:lnTo>
                  <a:lnTo>
                    <a:pt x="990600" y="1370076"/>
                  </a:lnTo>
                  <a:lnTo>
                    <a:pt x="990600" y="1624584"/>
                  </a:lnTo>
                  <a:close/>
                </a:path>
                <a:path w="7318375" h="1624964">
                  <a:moveTo>
                    <a:pt x="0" y="403860"/>
                  </a:moveTo>
                  <a:lnTo>
                    <a:pt x="597407" y="403860"/>
                  </a:lnTo>
                  <a:lnTo>
                    <a:pt x="597407" y="70104"/>
                  </a:lnTo>
                  <a:lnTo>
                    <a:pt x="0" y="70104"/>
                  </a:lnTo>
                  <a:lnTo>
                    <a:pt x="0" y="403860"/>
                  </a:lnTo>
                  <a:close/>
                </a:path>
                <a:path w="7318375" h="1624964">
                  <a:moveTo>
                    <a:pt x="5728715" y="1129284"/>
                  </a:moveTo>
                  <a:lnTo>
                    <a:pt x="7318247" y="1129284"/>
                  </a:lnTo>
                  <a:lnTo>
                    <a:pt x="7318247" y="909828"/>
                  </a:lnTo>
                  <a:lnTo>
                    <a:pt x="5728715" y="909828"/>
                  </a:lnTo>
                  <a:lnTo>
                    <a:pt x="5728715" y="1129284"/>
                  </a:lnTo>
                  <a:close/>
                </a:path>
                <a:path w="7318375" h="1624964">
                  <a:moveTo>
                    <a:pt x="205740" y="0"/>
                  </a:moveTo>
                  <a:lnTo>
                    <a:pt x="810513" y="0"/>
                  </a:lnTo>
                </a:path>
                <a:path w="7318375" h="1624964">
                  <a:moveTo>
                    <a:pt x="2298192" y="0"/>
                  </a:moveTo>
                  <a:lnTo>
                    <a:pt x="3093466" y="0"/>
                  </a:lnTo>
                </a:path>
                <a:path w="7318375" h="1624964">
                  <a:moveTo>
                    <a:pt x="2017776" y="306324"/>
                  </a:moveTo>
                  <a:lnTo>
                    <a:pt x="2240026" y="306324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4340" y="4858511"/>
              <a:ext cx="402386" cy="3977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6720" y="4840211"/>
              <a:ext cx="417563" cy="4876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13775" y="4898136"/>
              <a:ext cx="288035" cy="28498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724771" y="4909820"/>
            <a:ext cx="1162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58639" y="3713976"/>
            <a:ext cx="417830" cy="488315"/>
            <a:chOff x="2834639" y="3713975"/>
            <a:chExt cx="417830" cy="48831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43783" y="3730790"/>
              <a:ext cx="400773" cy="40077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4639" y="3713975"/>
              <a:ext cx="417563" cy="4876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03219" y="3770375"/>
              <a:ext cx="286512" cy="28803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512946" y="3783329"/>
            <a:ext cx="1162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32076" y="4389108"/>
            <a:ext cx="417830" cy="488315"/>
            <a:chOff x="608076" y="4389107"/>
            <a:chExt cx="417830" cy="48831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220" y="4407407"/>
              <a:ext cx="400773" cy="3977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8076" y="4389107"/>
              <a:ext cx="417563" cy="4876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656" y="4447031"/>
              <a:ext cx="286512" cy="28498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286102" y="4458970"/>
            <a:ext cx="1162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15739" y="4361676"/>
            <a:ext cx="417830" cy="488315"/>
            <a:chOff x="2491739" y="4361675"/>
            <a:chExt cx="417830" cy="488315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00883" y="4379988"/>
              <a:ext cx="400773" cy="3992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91739" y="4361675"/>
              <a:ext cx="417563" cy="4876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60319" y="4419599"/>
              <a:ext cx="286512" cy="28651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170046" y="4431919"/>
            <a:ext cx="1162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20</a:t>
            </a:fld>
            <a:endParaRPr spc="-25" dirty="0"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1735709"/>
            <a:ext cx="109728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2138046"/>
            <a:ext cx="109728" cy="1249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87067" y="1055156"/>
            <a:ext cx="6311900" cy="127063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spcBef>
                <a:spcPts val="930"/>
              </a:spcBef>
            </a:pPr>
            <a:r>
              <a:rPr sz="2200" b="1" dirty="0">
                <a:latin typeface="Calibri"/>
                <a:cs typeface="Calibri"/>
              </a:rPr>
              <a:t>Faire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passage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vers</a:t>
            </a:r>
            <a:r>
              <a:rPr sz="2200" b="1" spc="-100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nsolas"/>
                <a:cs typeface="Consolas"/>
              </a:rPr>
              <a:t>ModulesActivity</a:t>
            </a:r>
            <a:endParaRPr sz="2000">
              <a:latin typeface="Consolas"/>
              <a:cs typeface="Consolas"/>
            </a:endParaRPr>
          </a:p>
          <a:p>
            <a:pPr marL="355600">
              <a:spcBef>
                <a:spcPts val="760"/>
              </a:spcBef>
            </a:pPr>
            <a:r>
              <a:rPr sz="2000" spc="-30" dirty="0">
                <a:latin typeface="Calibri"/>
                <a:cs typeface="Calibri"/>
              </a:rPr>
              <a:t>Transférer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l'identifiant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Intent</a:t>
            </a:r>
            <a:endParaRPr>
              <a:latin typeface="Consolas"/>
              <a:cs typeface="Consolas"/>
            </a:endParaRPr>
          </a:p>
          <a:p>
            <a:pPr marL="355600">
              <a:spcBef>
                <a:spcPts val="770"/>
              </a:spcBef>
            </a:pPr>
            <a:r>
              <a:rPr sz="2000" dirty="0">
                <a:latin typeface="Calibri"/>
                <a:cs typeface="Calibri"/>
              </a:rPr>
              <a:t>Afficher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l’identifiant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endParaRPr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TP2c</a:t>
            </a:r>
            <a:r>
              <a:rPr spc="-50" dirty="0"/>
              <a:t> </a:t>
            </a:r>
            <a:r>
              <a:rPr dirty="0"/>
              <a:t>:</a:t>
            </a:r>
            <a:r>
              <a:rPr spc="-45" dirty="0"/>
              <a:t> </a:t>
            </a:r>
            <a:r>
              <a:rPr spc="-40" dirty="0"/>
              <a:t>Transfert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données</a:t>
            </a:r>
            <a:r>
              <a:rPr spc="-55" dirty="0"/>
              <a:t> </a:t>
            </a:r>
            <a:r>
              <a:rPr dirty="0"/>
              <a:t>entre</a:t>
            </a:r>
            <a:r>
              <a:rPr spc="-65" dirty="0"/>
              <a:t> </a:t>
            </a:r>
            <a:r>
              <a:rPr dirty="0"/>
              <a:t>les</a:t>
            </a:r>
            <a:r>
              <a:rPr spc="-55" dirty="0"/>
              <a:t> </a:t>
            </a:r>
            <a:r>
              <a:rPr spc="-10" dirty="0"/>
              <a:t>activités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4279" y="2689860"/>
            <a:ext cx="1955292" cy="346100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61834" y="4021715"/>
            <a:ext cx="745490" cy="654050"/>
            <a:chOff x="4437834" y="4021715"/>
            <a:chExt cx="745490" cy="6540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7834" y="4021715"/>
              <a:ext cx="745397" cy="654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8179" y="4043172"/>
              <a:ext cx="658368" cy="57759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917436" y="2689861"/>
            <a:ext cx="1958339" cy="3461385"/>
            <a:chOff x="5393435" y="2689860"/>
            <a:chExt cx="1958339" cy="346138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3435" y="2689860"/>
              <a:ext cx="1958339" cy="34610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0867" y="3172968"/>
              <a:ext cx="1909572" cy="387096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21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1608201"/>
            <a:ext cx="109728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1945005"/>
            <a:ext cx="109728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2990470"/>
            <a:ext cx="109728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199" y="3327273"/>
            <a:ext cx="109728" cy="124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4365117"/>
            <a:ext cx="98023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4391" y="4956428"/>
            <a:ext cx="109537" cy="1249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87067" y="1058853"/>
            <a:ext cx="5718810" cy="414536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spcBef>
                <a:spcPts val="38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Documents</a:t>
            </a:r>
            <a:r>
              <a:rPr sz="2200" b="1" spc="-9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sont</a:t>
            </a:r>
            <a:r>
              <a:rPr sz="2200" b="1" spc="-9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accessibles</a:t>
            </a:r>
            <a:r>
              <a:rPr sz="2200" b="1" spc="-9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355600">
              <a:spcBef>
                <a:spcPts val="275"/>
              </a:spcBef>
            </a:pPr>
            <a:r>
              <a:rPr sz="2000" b="1" spc="-10" dirty="0">
                <a:latin typeface="Calibri"/>
                <a:cs typeface="Calibri"/>
              </a:rPr>
              <a:t>Plateforme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e-</a:t>
            </a:r>
            <a:r>
              <a:rPr sz="2000" b="1" dirty="0">
                <a:latin typeface="Calibri"/>
                <a:cs typeface="Calibri"/>
              </a:rPr>
              <a:t>learning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l’université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Constantine</a:t>
            </a:r>
            <a:r>
              <a:rPr sz="2000" b="1" spc="-50" dirty="0">
                <a:latin typeface="Calibri"/>
                <a:cs typeface="Calibri"/>
              </a:rPr>
              <a:t> 2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250"/>
              </a:spcBef>
            </a:pP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Lien</a:t>
            </a:r>
            <a:r>
              <a:rPr sz="2000" b="1" spc="3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000" b="1" spc="2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16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nsolas"/>
                <a:cs typeface="Consolas"/>
                <a:hlinkClick r:id="rId4"/>
              </a:rPr>
              <a:t>http://elearning.univ-constantine2.dz/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1050"/>
              </a:spcBef>
            </a:pPr>
            <a:endParaRPr sz="1600">
              <a:latin typeface="Consolas"/>
              <a:cs typeface="Consolas"/>
            </a:endParaRPr>
          </a:p>
          <a:p>
            <a:pPr marL="12700"/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Rendus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du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TP</a:t>
            </a:r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2</a:t>
            </a:r>
            <a:r>
              <a:rPr sz="22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355600">
              <a:spcBef>
                <a:spcPts val="270"/>
              </a:spcBef>
            </a:pPr>
            <a:r>
              <a:rPr sz="2000" b="1" spc="-10" dirty="0">
                <a:latin typeface="Calibri"/>
                <a:cs typeface="Calibri"/>
              </a:rPr>
              <a:t>Avant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Samedi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décembre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à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23h59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254"/>
              </a:spcBef>
            </a:pPr>
            <a:r>
              <a:rPr sz="2000" b="1" dirty="0">
                <a:latin typeface="Calibri"/>
                <a:cs typeface="Calibri"/>
              </a:rPr>
              <a:t>À</a:t>
            </a:r>
            <a:r>
              <a:rPr sz="2000" b="1" spc="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65" dirty="0"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ac.chaouche@misc-umc.org</a:t>
            </a:r>
            <a:endParaRPr sz="2000">
              <a:latin typeface="Calibri"/>
              <a:cs typeface="Calibri"/>
            </a:endParaRPr>
          </a:p>
          <a:p>
            <a:pPr>
              <a:spcBef>
                <a:spcPts val="480"/>
              </a:spcBef>
            </a:pPr>
            <a:endParaRPr sz="2000">
              <a:latin typeface="Calibri"/>
              <a:cs typeface="Calibri"/>
            </a:endParaRPr>
          </a:p>
          <a:p>
            <a:pPr marL="12700"/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Nom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du</a:t>
            </a:r>
            <a:r>
              <a:rPr sz="22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fichier</a:t>
            </a:r>
            <a:r>
              <a:rPr sz="22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à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rendre</a:t>
            </a:r>
            <a:r>
              <a:rPr sz="22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035"/>
              </a:lnSpc>
              <a:spcBef>
                <a:spcPts val="305"/>
              </a:spcBef>
            </a:pPr>
            <a:r>
              <a:rPr b="1" spc="-10" dirty="0">
                <a:latin typeface="Consolas"/>
                <a:cs typeface="Consolas"/>
              </a:rPr>
              <a:t>DAM_TP2_G%_NOMBINOME1_NOMBINOME2.zip</a:t>
            </a:r>
            <a:endParaRPr>
              <a:latin typeface="Consolas"/>
              <a:cs typeface="Consolas"/>
            </a:endParaRPr>
          </a:p>
          <a:p>
            <a:pPr marL="355600">
              <a:lnSpc>
                <a:spcPts val="2275"/>
              </a:lnSpc>
            </a:pPr>
            <a:r>
              <a:rPr sz="2000" b="1" dirty="0"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Ex</a:t>
            </a:r>
            <a:r>
              <a:rPr sz="2000" b="1" spc="3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A8B39"/>
                </a:solidFill>
                <a:latin typeface="Calibri"/>
                <a:cs typeface="Calibri"/>
              </a:rPr>
              <a:t>:</a:t>
            </a:r>
            <a:r>
              <a:rPr sz="2000" b="1" spc="32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A8B39"/>
                </a:solidFill>
                <a:latin typeface="Consolas"/>
                <a:cs typeface="Consolas"/>
              </a:rPr>
              <a:t>D</a:t>
            </a:r>
            <a:r>
              <a:rPr b="1" spc="-10" dirty="0">
                <a:latin typeface="Consolas"/>
                <a:cs typeface="Consolas"/>
              </a:rPr>
              <a:t>AM_TP2_G1_CHAOUCHE_NECIBI.zip</a:t>
            </a:r>
            <a:r>
              <a:rPr sz="2000" b="1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55600">
              <a:spcBef>
                <a:spcPts val="250"/>
              </a:spcBef>
            </a:pP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fichier</a:t>
            </a:r>
            <a:r>
              <a:rPr sz="2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zip</a:t>
            </a: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doit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contenir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seulement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dossier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src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Documents</a:t>
            </a:r>
            <a:r>
              <a:rPr spc="-100" dirty="0"/>
              <a:t> </a:t>
            </a:r>
            <a:r>
              <a:rPr dirty="0"/>
              <a:t>et</a:t>
            </a:r>
            <a:r>
              <a:rPr spc="-114" dirty="0"/>
              <a:t> </a:t>
            </a:r>
            <a:r>
              <a:rPr spc="-10" dirty="0"/>
              <a:t>Rendus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8" y="1536014"/>
            <a:ext cx="6022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Chapitre</a:t>
            </a:r>
            <a:r>
              <a:rPr sz="22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7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Vues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à</a:t>
            </a:r>
            <a:r>
              <a:rPr sz="22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adaptateur</a:t>
            </a:r>
            <a:r>
              <a:rPr sz="2200" b="1" spc="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et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boites</a:t>
            </a:r>
            <a:r>
              <a:rPr sz="2200" b="1" spc="-2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dialogue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3607689"/>
            <a:ext cx="109728" cy="124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87067" y="3131749"/>
            <a:ext cx="6224270" cy="10756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spcBef>
                <a:spcPts val="390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Objectifs</a:t>
            </a:r>
            <a:r>
              <a:rPr sz="2200" b="1" spc="-114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 marR="5080">
              <a:lnSpc>
                <a:spcPct val="111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Créer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manipuler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adaptateur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(ListView,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...) </a:t>
            </a:r>
            <a:r>
              <a:rPr sz="2000" dirty="0">
                <a:latin typeface="Calibri"/>
                <a:cs typeface="Calibri"/>
              </a:rPr>
              <a:t>Créer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afficher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boite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dialogue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3946016"/>
            <a:ext cx="109728" cy="1249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Prochain</a:t>
            </a:r>
            <a:r>
              <a:rPr spc="-145" dirty="0"/>
              <a:t> </a:t>
            </a:r>
            <a:r>
              <a:rPr spc="-10" dirty="0"/>
              <a:t>chapitre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51164" y="1223773"/>
            <a:ext cx="1361440" cy="1130935"/>
            <a:chOff x="7027164" y="1223772"/>
            <a:chExt cx="1361440" cy="11309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7164" y="1223772"/>
              <a:ext cx="659892" cy="11308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9728" y="1223772"/>
              <a:ext cx="658368" cy="113080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23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8461" y="2210435"/>
            <a:ext cx="84856" cy="99060"/>
          </a:xfrm>
          <a:prstGeom prst="rect">
            <a:avLst/>
          </a:prstGeom>
        </p:spPr>
      </p:pic>
      <p:pic>
        <p:nvPicPr>
          <p:cNvPr id="3" name="object 3">
            <a:hlinkClick r:id="rId4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8461" y="3112642"/>
            <a:ext cx="84856" cy="990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42566" y="1623121"/>
            <a:ext cx="6585584" cy="16414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spcBef>
                <a:spcPts val="710"/>
              </a:spcBef>
            </a:pP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Intentions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http://vogella.developpez.com/tutoriels/android/utilisation-intents/</a:t>
            </a:r>
            <a:endParaRPr sz="1600">
              <a:latin typeface="Calibri"/>
              <a:cs typeface="Calibri"/>
            </a:endParaRPr>
          </a:p>
          <a:p>
            <a:pPr>
              <a:spcBef>
                <a:spcPts val="14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Sérialisation</a:t>
            </a:r>
            <a:r>
              <a:rPr sz="2200" b="1" spc="-8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sous</a:t>
            </a:r>
            <a:r>
              <a:rPr sz="2200" b="1" spc="-9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Android</a:t>
            </a:r>
            <a:r>
              <a:rPr sz="2200" b="1" spc="-9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http://www.supinfo.com/articles/single/1550-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serialisation-objet-android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24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dirty="0"/>
              <a:t>Quelques</a:t>
            </a:r>
            <a:r>
              <a:rPr spc="-25" dirty="0"/>
              <a:t> </a:t>
            </a:r>
            <a:r>
              <a:rPr dirty="0"/>
              <a:t>liens</a:t>
            </a:r>
            <a:r>
              <a:rPr spc="-30" dirty="0"/>
              <a:t> </a:t>
            </a:r>
            <a:r>
              <a:rPr spc="-10" dirty="0"/>
              <a:t>utiles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9967" y="971170"/>
            <a:ext cx="7526020" cy="452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«Tasks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Back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Stack,».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https://developer.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2060"/>
              </a:lnSpc>
            </a:pPr>
            <a:r>
              <a:rPr spc="-20" dirty="0">
                <a:latin typeface="Calibri"/>
                <a:cs typeface="Calibri"/>
              </a:rPr>
              <a:t>android.com/guide/components/activities/tasks-</a:t>
            </a:r>
            <a:r>
              <a:rPr spc="-10" dirty="0">
                <a:latin typeface="Calibri"/>
                <a:cs typeface="Calibri"/>
              </a:rPr>
              <a:t>and-back-stack.html.</a:t>
            </a:r>
            <a:endParaRPr>
              <a:latin typeface="Calibri"/>
              <a:cs typeface="Calibri"/>
            </a:endParaRPr>
          </a:p>
          <a:p>
            <a:pPr marL="12700" marR="548640">
              <a:lnSpc>
                <a:spcPts val="1939"/>
              </a:lnSpc>
              <a:spcBef>
                <a:spcPts val="103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0" dirty="0">
                <a:latin typeface="Calibri"/>
                <a:cs typeface="Calibri"/>
              </a:rPr>
              <a:t> Developer,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dirty="0">
                <a:latin typeface="Calibri"/>
                <a:cs typeface="Calibri"/>
              </a:rPr>
              <a:t> 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Intent,».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Lien: https://developer.android.com/reference/android/content/Intent.html.</a:t>
            </a:r>
            <a:endParaRPr>
              <a:latin typeface="Calibri"/>
              <a:cs typeface="Calibri"/>
            </a:endParaRPr>
          </a:p>
          <a:p>
            <a:pPr marL="12700" marR="1036955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«Start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Another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Activity,».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https://developer. </a:t>
            </a:r>
            <a:r>
              <a:rPr spc="-20" dirty="0">
                <a:latin typeface="Calibri"/>
                <a:cs typeface="Calibri"/>
              </a:rPr>
              <a:t>android.com/training/basics/firstapp/starting-</a:t>
            </a:r>
            <a:r>
              <a:rPr spc="-10" dirty="0">
                <a:latin typeface="Calibri"/>
                <a:cs typeface="Calibri"/>
              </a:rPr>
              <a:t>activity.html.</a:t>
            </a:r>
            <a:endParaRPr>
              <a:latin typeface="Calibri"/>
              <a:cs typeface="Calibri"/>
            </a:endParaRPr>
          </a:p>
          <a:p>
            <a:pPr marL="12700" marR="5080">
              <a:lnSpc>
                <a:spcPts val="1939"/>
              </a:lnSpc>
              <a:spcBef>
                <a:spcPts val="101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0" dirty="0">
                <a:latin typeface="Calibri"/>
                <a:cs typeface="Calibri"/>
              </a:rPr>
              <a:t> Developer,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dirty="0">
                <a:latin typeface="Calibri"/>
                <a:cs typeface="Calibri"/>
              </a:rPr>
              <a:t> -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Serializable,».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https://developer.android.com/reference/java/io/Serializable.html.</a:t>
            </a:r>
            <a:endParaRPr>
              <a:latin typeface="Calibri"/>
              <a:cs typeface="Calibri"/>
            </a:endParaRPr>
          </a:p>
          <a:p>
            <a:pPr marL="12700" marR="93980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0" dirty="0">
                <a:latin typeface="Calibri"/>
                <a:cs typeface="Calibri"/>
              </a:rPr>
              <a:t> Developer, «References</a:t>
            </a:r>
            <a:r>
              <a:rPr dirty="0">
                <a:latin typeface="Calibri"/>
                <a:cs typeface="Calibri"/>
              </a:rPr>
              <a:t> 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Parcelable,».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developer.android.com/reference/android/os/Parcelable.html.</a:t>
            </a:r>
            <a:endParaRPr>
              <a:latin typeface="Calibri"/>
              <a:cs typeface="Calibri"/>
            </a:endParaRPr>
          </a:p>
          <a:p>
            <a:pPr marL="12700" marR="19685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C.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Izuchukwu,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«How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Pass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Between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Activities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Parcelable,»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2 </a:t>
            </a:r>
            <a:r>
              <a:rPr dirty="0">
                <a:latin typeface="Calibri"/>
                <a:cs typeface="Calibri"/>
              </a:rPr>
              <a:t>Octobre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2017.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https://code.tutsplus.com/tutorials/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how-to-pass-data- between-activities-</a:t>
            </a:r>
            <a:r>
              <a:rPr spc="-20" dirty="0">
                <a:latin typeface="Calibri"/>
                <a:cs typeface="Calibri"/>
              </a:rPr>
              <a:t>with-android-parcelable-</a:t>
            </a:r>
            <a:r>
              <a:rPr dirty="0">
                <a:latin typeface="Calibri"/>
                <a:cs typeface="Calibri"/>
              </a:rPr>
              <a:t>-</a:t>
            </a:r>
            <a:r>
              <a:rPr spc="-10" dirty="0">
                <a:latin typeface="Calibri"/>
                <a:cs typeface="Calibri"/>
              </a:rPr>
              <a:t>cms-29559.</a:t>
            </a:r>
            <a:endParaRPr>
              <a:latin typeface="Calibri"/>
              <a:cs typeface="Calibri"/>
            </a:endParaRPr>
          </a:p>
          <a:p>
            <a:pPr marL="12700" marR="1287145">
              <a:lnSpc>
                <a:spcPct val="81400"/>
              </a:lnSpc>
              <a:spcBef>
                <a:spcPts val="117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«Getting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Result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Activity,».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https://developer.android.com/training/basics/intents/result.html</a:t>
            </a:r>
            <a:r>
              <a:rPr sz="3000" spc="-15" baseline="-5555" dirty="0">
                <a:latin typeface="Calibri"/>
                <a:cs typeface="Calibri"/>
              </a:rPr>
              <a:t>.</a:t>
            </a:r>
            <a:endParaRPr sz="3000" baseline="-5555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1035559"/>
            <a:ext cx="98023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1657351"/>
            <a:ext cx="9802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2277618"/>
            <a:ext cx="98023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2899411"/>
            <a:ext cx="98023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3519678"/>
            <a:ext cx="98023" cy="1127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4139947"/>
            <a:ext cx="98023" cy="112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12" y="5008499"/>
            <a:ext cx="98023" cy="1127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40748" y="7367"/>
            <a:ext cx="1070118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">
              <a:spcBef>
                <a:spcPts val="95"/>
              </a:spcBef>
            </a:pPr>
            <a:r>
              <a:rPr spc="-20" dirty="0"/>
              <a:t>Références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25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926" y="2210435"/>
            <a:ext cx="88391" cy="99060"/>
          </a:xfrm>
          <a:prstGeom prst="rect">
            <a:avLst/>
          </a:prstGeom>
        </p:spPr>
      </p:pic>
      <p:pic>
        <p:nvPicPr>
          <p:cNvPr id="3" name="object 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8461" y="3112642"/>
            <a:ext cx="84856" cy="990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42567" y="1623120"/>
            <a:ext cx="5984875" cy="254381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spcBef>
                <a:spcPts val="710"/>
              </a:spcBef>
            </a:pP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Evènements</a:t>
            </a:r>
            <a:r>
              <a:rPr sz="22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et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listeners</a:t>
            </a:r>
            <a:r>
              <a:rPr sz="2200" b="1" spc="-4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graphiques</a:t>
            </a:r>
            <a:r>
              <a:rPr sz="2200" b="1" spc="-6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http://developer.android.com/reference/android/view/View.html</a:t>
            </a:r>
            <a:endParaRPr sz="1600">
              <a:latin typeface="Calibri"/>
              <a:cs typeface="Calibri"/>
            </a:endParaRPr>
          </a:p>
          <a:p>
            <a:pPr>
              <a:spcBef>
                <a:spcPts val="14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Messages</a:t>
            </a:r>
            <a:r>
              <a:rPr sz="22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de</a:t>
            </a:r>
            <a:r>
              <a:rPr sz="2200" b="1" spc="-3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journalisation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(Logs)</a:t>
            </a:r>
            <a:r>
              <a:rPr sz="2200" b="1" spc="-1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https://cyrilmottier.com/2009/03/11/utilisation-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des-logx/</a:t>
            </a:r>
            <a:endParaRPr sz="1600">
              <a:latin typeface="Calibri"/>
              <a:cs typeface="Calibri"/>
            </a:endParaRPr>
          </a:p>
          <a:p>
            <a:pPr>
              <a:spcBef>
                <a:spcPts val="150"/>
              </a:spcBef>
            </a:pPr>
            <a:endParaRPr sz="1600">
              <a:latin typeface="Calibri"/>
              <a:cs typeface="Calibri"/>
            </a:endParaRPr>
          </a:p>
          <a:p>
            <a:pPr marL="12700"/>
            <a:r>
              <a:rPr sz="2200" b="1" spc="-35" dirty="0">
                <a:solidFill>
                  <a:srgbClr val="337817"/>
                </a:solidFill>
                <a:latin typeface="Calibri"/>
                <a:cs typeface="Calibri"/>
              </a:rPr>
              <a:t>Toasts</a:t>
            </a:r>
            <a:r>
              <a:rPr sz="2200" b="1" spc="-7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http://supertos.free.fr/supertos.php?page=1091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>
            <a:hlinkClick r:id="rId6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926" y="4014851"/>
            <a:ext cx="88391" cy="99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Quelques</a:t>
            </a:r>
            <a:r>
              <a:rPr spc="-25" dirty="0"/>
              <a:t> </a:t>
            </a:r>
            <a:r>
              <a:rPr dirty="0"/>
              <a:t>liens</a:t>
            </a:r>
            <a:r>
              <a:rPr spc="-30" dirty="0"/>
              <a:t> </a:t>
            </a:r>
            <a:r>
              <a:rPr spc="-10" dirty="0"/>
              <a:t>utiles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9967" y="971170"/>
            <a:ext cx="7628890" cy="452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Source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making,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«Observer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Design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Pattern,».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2060"/>
              </a:lnSpc>
            </a:pPr>
            <a:r>
              <a:rPr spc="-10" dirty="0">
                <a:latin typeface="Calibri"/>
                <a:cs typeface="Calibri"/>
              </a:rPr>
              <a:t>https://sourcemaking.com/design_patterns/observer.</a:t>
            </a:r>
            <a:endParaRPr>
              <a:latin typeface="Calibri"/>
              <a:cs typeface="Calibri"/>
            </a:endParaRPr>
          </a:p>
          <a:p>
            <a:pPr marL="12700" marR="614680" algn="just">
              <a:lnSpc>
                <a:spcPts val="1939"/>
              </a:lnSpc>
              <a:spcBef>
                <a:spcPts val="1030"/>
              </a:spcBef>
            </a:pPr>
            <a:r>
              <a:rPr dirty="0">
                <a:latin typeface="Calibri"/>
                <a:cs typeface="Calibri"/>
              </a:rPr>
              <a:t>E.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Gamma,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Helm,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Johnson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Vlissides,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Design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Patterns: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of </a:t>
            </a:r>
            <a:r>
              <a:rPr dirty="0">
                <a:latin typeface="Calibri"/>
                <a:cs typeface="Calibri"/>
              </a:rPr>
              <a:t>Reusable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Object-Oriented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Software,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Boston,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MA: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Addison-Wesley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Longman </a:t>
            </a:r>
            <a:r>
              <a:rPr dirty="0">
                <a:latin typeface="Calibri"/>
                <a:cs typeface="Calibri"/>
              </a:rPr>
              <a:t>Publishing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Co.,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Inc.,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1994.</a:t>
            </a:r>
            <a:endParaRPr>
              <a:latin typeface="Calibri"/>
              <a:cs typeface="Calibri"/>
            </a:endParaRPr>
          </a:p>
          <a:p>
            <a:pPr marL="12700" marR="294640">
              <a:lnSpc>
                <a:spcPts val="1950"/>
              </a:lnSpc>
              <a:spcBef>
                <a:spcPts val="1000"/>
              </a:spcBef>
            </a:pPr>
            <a:r>
              <a:rPr dirty="0">
                <a:latin typeface="Calibri"/>
                <a:cs typeface="Calibri"/>
              </a:rPr>
              <a:t>B.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Caylux,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«Classes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interne,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locale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anonyme,».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http://imss-www.upmf- grenoble.fr/prevert/Prog/Java/CoursJava/classes3.html.</a:t>
            </a:r>
            <a:endParaRPr>
              <a:latin typeface="Calibri"/>
              <a:cs typeface="Calibri"/>
            </a:endParaRPr>
          </a:p>
          <a:p>
            <a:pPr marL="12700" marR="5080">
              <a:lnSpc>
                <a:spcPts val="1939"/>
              </a:lnSpc>
              <a:spcBef>
                <a:spcPts val="100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dirty="0">
                <a:latin typeface="Calibri"/>
                <a:cs typeface="Calibri"/>
              </a:rPr>
              <a:t> 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Events,».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25" dirty="0">
                <a:latin typeface="Calibri"/>
                <a:cs typeface="Calibri"/>
              </a:rPr>
              <a:t>https://developer.android.com/guide/topics/ui/ui-</a:t>
            </a:r>
            <a:r>
              <a:rPr spc="-10" dirty="0">
                <a:latin typeface="Calibri"/>
                <a:cs typeface="Calibri"/>
              </a:rPr>
              <a:t>events.html.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755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«Write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View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Logcat,».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pc="-25" dirty="0">
                <a:latin typeface="Calibri"/>
                <a:cs typeface="Calibri"/>
              </a:rPr>
              <a:t>https://developer.android.com/studio/debug/am-</a:t>
            </a:r>
            <a:r>
              <a:rPr spc="-10" dirty="0">
                <a:latin typeface="Calibri"/>
                <a:cs typeface="Calibri"/>
              </a:rPr>
              <a:t>logcat.html.</a:t>
            </a:r>
            <a:endParaRPr>
              <a:latin typeface="Calibri"/>
              <a:cs typeface="Calibri"/>
            </a:endParaRPr>
          </a:p>
          <a:p>
            <a:pPr marL="12700" marR="637540">
              <a:lnSpc>
                <a:spcPts val="1939"/>
              </a:lnSpc>
              <a:spcBef>
                <a:spcPts val="1030"/>
              </a:spcBef>
            </a:pPr>
            <a:r>
              <a:rPr dirty="0">
                <a:latin typeface="Calibri"/>
                <a:cs typeface="Calibri"/>
              </a:rPr>
              <a:t>Android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Developer,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«References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Android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Plateform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API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26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0" dirty="0">
                <a:latin typeface="Calibri"/>
                <a:cs typeface="Calibri"/>
              </a:rPr>
              <a:t> Toasts,».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Lien: https://developer.android.com/guide/topics/ui/notifiers/toasts.html.</a:t>
            </a:r>
            <a:endParaRPr>
              <a:latin typeface="Calibri"/>
              <a:cs typeface="Calibri"/>
            </a:endParaRPr>
          </a:p>
          <a:p>
            <a:pPr marL="12700" marR="1983739">
              <a:lnSpc>
                <a:spcPts val="1939"/>
              </a:lnSpc>
              <a:spcBef>
                <a:spcPts val="1020"/>
              </a:spcBef>
            </a:pPr>
            <a:r>
              <a:rPr dirty="0">
                <a:latin typeface="Calibri"/>
                <a:cs typeface="Calibri"/>
              </a:rPr>
              <a:t>D.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Morales,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«Library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Toasty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v1.2.5,»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25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Octobre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2017.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Lien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 </a:t>
            </a:r>
            <a:r>
              <a:rPr spc="-10" dirty="0">
                <a:latin typeface="Calibri"/>
                <a:cs typeface="Calibri"/>
              </a:rPr>
              <a:t>https://github.com/GrenderG/Toasty.</a:t>
            </a:r>
            <a:endParaRPr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1035559"/>
            <a:ext cx="97466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1657351"/>
            <a:ext cx="9802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2524506"/>
            <a:ext cx="98023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3146171"/>
            <a:ext cx="97466" cy="112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3766566"/>
            <a:ext cx="98023" cy="112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4386835"/>
            <a:ext cx="97466" cy="112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5008499"/>
            <a:ext cx="98023" cy="1127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68764" y="7367"/>
            <a:ext cx="986705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0" dirty="0"/>
              <a:t>Références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fld id="{81D60167-4931-47E6-BA6A-407CBD079E47}" type="slidenum">
              <a:rPr spc="-25" dirty="0"/>
              <a:pPr marL="12700">
                <a:lnSpc>
                  <a:spcPts val="1620"/>
                </a:lnSpc>
              </a:pPr>
              <a:t>27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©</a:t>
            </a:r>
            <a:r>
              <a:rPr spc="-15" dirty="0"/>
              <a:t> </a:t>
            </a:r>
            <a:r>
              <a:rPr spc="-40" dirty="0"/>
              <a:t>Dr.</a:t>
            </a:r>
            <a:r>
              <a:rPr spc="-25" dirty="0"/>
              <a:t> </a:t>
            </a:r>
            <a:r>
              <a:rPr dirty="0"/>
              <a:t>Chaouche</a:t>
            </a:r>
            <a:r>
              <a:rPr spc="-25" dirty="0"/>
              <a:t> </a:t>
            </a:r>
            <a:r>
              <a:rPr dirty="0"/>
              <a:t>A.-</a:t>
            </a:r>
            <a:r>
              <a:rPr spc="-25" dirty="0"/>
              <a:t>C.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Université</a:t>
            </a:r>
            <a:r>
              <a:rPr spc="20" dirty="0"/>
              <a:t> </a:t>
            </a:r>
            <a:r>
              <a:rPr spc="-10" dirty="0"/>
              <a:t>Constantine</a:t>
            </a:r>
            <a:r>
              <a:rPr spc="2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2324</Words>
  <Application>Microsoft Office PowerPoint</Application>
  <PresentationFormat>Grand écran</PresentationFormat>
  <Paragraphs>367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5" baseType="lpstr">
      <vt:lpstr>Aharoni</vt:lpstr>
      <vt:lpstr>Arial</vt:lpstr>
      <vt:lpstr>Calibri</vt:lpstr>
      <vt:lpstr>Calibri Light</vt:lpstr>
      <vt:lpstr>Consolas</vt:lpstr>
      <vt:lpstr>Roboto</vt:lpstr>
      <vt:lpstr>Times New Roman</vt:lpstr>
      <vt:lpstr>Office Theme</vt:lpstr>
      <vt:lpstr>Cours de Développement Mobile</vt:lpstr>
      <vt:lpstr>Résumé</vt:lpstr>
      <vt:lpstr>Gestion des événements (1/2) – Clic</vt:lpstr>
      <vt:lpstr>Gestion des événements (2/2) – Clic</vt:lpstr>
      <vt:lpstr>Liste des interfaces de listeners graphiques</vt:lpstr>
      <vt:lpstr>Débogage : LogCat</vt:lpstr>
      <vt:lpstr>Toasts</vt:lpstr>
      <vt:lpstr>Snackbars</vt:lpstr>
      <vt:lpstr>TP2a : Affichage d’un Log et d’un Toast</vt:lpstr>
      <vt:lpstr>Pile des activités (1/2)</vt:lpstr>
      <vt:lpstr>Pile des activités (2/2)</vt:lpstr>
      <vt:lpstr>Intentions</vt:lpstr>
      <vt:lpstr>Types d'intentions (1/2)</vt:lpstr>
      <vt:lpstr>Types d'intentions (2/2)</vt:lpstr>
      <vt:lpstr>TP2b : Passage d’une activité à une autre</vt:lpstr>
      <vt:lpstr>Transfert de données</vt:lpstr>
      <vt:lpstr>Transfert d’objets complexes (1/2)</vt:lpstr>
      <vt:lpstr>Transfert d’objets complexes (2/2)</vt:lpstr>
      <vt:lpstr>Retour d’une activité</vt:lpstr>
      <vt:lpstr>Détection et résolution des exceptions</vt:lpstr>
      <vt:lpstr>TP2c : Transfert de données entre les activités</vt:lpstr>
      <vt:lpstr>Documents et Rendus</vt:lpstr>
      <vt:lpstr>Prochain chapitre</vt:lpstr>
      <vt:lpstr>Quelques liens utiles</vt:lpstr>
      <vt:lpstr>Références</vt:lpstr>
      <vt:lpstr>Quelques liens utiles</vt:lpstr>
      <vt:lpstr>Références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Ahmed-Chawki Chaouche</dc:creator>
  <cp:lastModifiedBy>AMINA.ABOULMIRA</cp:lastModifiedBy>
  <cp:revision>4</cp:revision>
  <dcterms:created xsi:type="dcterms:W3CDTF">2025-05-13T14:04:12Z</dcterms:created>
  <dcterms:modified xsi:type="dcterms:W3CDTF">2026-01-15T10:46:23Z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2019-05-20T00:00:00Z</vt:filetime>
  </property>
  <property fmtid="{D5CDD505-2E9C-101B-9397-08002B2CF9AE}" pid="3" name="Creator">
    <vt:lpwstr>Microsoft® PowerPoint® pour Office 365</vt:lpwstr>
  </property>
  <property fmtid="{D5CDD505-2E9C-101B-9397-08002B2CF9AE}" pid="4" name="LastSaved">
    <vt:filetime>2025-05-13T00:00:00Z</vt:filetime>
  </property>
  <property fmtid="{D5CDD505-2E9C-101B-9397-08002B2CF9AE}" pid="5" name="Producer">
    <vt:lpwstr>Microsoft® PowerPoint® pour Office 365</vt:lpwstr>
  </property>
</Properties>
</file>