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5"/>
    <p:sldMasterId id="2147483674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6858000" cx="12192000"/>
  <p:notesSz cx="6858000" cy="9144000"/>
  <p:embeddedFontLst>
    <p:embeddedFont>
      <p:font typeface="Roboto"/>
      <p:regular r:id="rId29"/>
      <p:bold r:id="rId30"/>
      <p:italic r:id="rId31"/>
      <p:boldItalic r:id="rId32"/>
    </p:embeddedFont>
    <p:embeddedFont>
      <p:font typeface="Poppins"/>
      <p:regular r:id="rId33"/>
      <p:bold r:id="rId34"/>
      <p:italic r:id="rId35"/>
      <p:boldItalic r:id="rId36"/>
    </p:embeddedFont>
    <p:embeddedFont>
      <p:font typeface="Lato"/>
      <p:regular r:id="rId37"/>
      <p:bold r:id="rId38"/>
      <p:italic r:id="rId39"/>
      <p:boldItalic r:id="rId40"/>
    </p:embeddedFont>
    <p:embeddedFont>
      <p:font typeface="Fira Sans Extra Condensed"/>
      <p:regular r:id="rId41"/>
      <p:bold r:id="rId42"/>
      <p:italic r:id="rId43"/>
      <p:boldItalic r:id="rId4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25F5FE2-F4E7-418E-A3F1-90E46D391CC8}">
  <a:tblStyle styleId="{525F5FE2-F4E7-418E-A3F1-90E46D391CC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boldItalic.fntdata"/><Relationship Id="rId20" Type="http://schemas.openxmlformats.org/officeDocument/2006/relationships/slide" Target="slides/slide13.xml"/><Relationship Id="rId42" Type="http://schemas.openxmlformats.org/officeDocument/2006/relationships/font" Target="fonts/FiraSansExtraCondensed-bold.fntdata"/><Relationship Id="rId41" Type="http://schemas.openxmlformats.org/officeDocument/2006/relationships/font" Target="fonts/FiraSansExtraCondensed-regular.fntdata"/><Relationship Id="rId22" Type="http://schemas.openxmlformats.org/officeDocument/2006/relationships/slide" Target="slides/slide15.xml"/><Relationship Id="rId44" Type="http://schemas.openxmlformats.org/officeDocument/2006/relationships/font" Target="fonts/FiraSansExtraCondensed-boldItalic.fntdata"/><Relationship Id="rId21" Type="http://schemas.openxmlformats.org/officeDocument/2006/relationships/slide" Target="slides/slide14.xml"/><Relationship Id="rId43" Type="http://schemas.openxmlformats.org/officeDocument/2006/relationships/font" Target="fonts/FiraSansExtraCondensed-italic.fntdata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Roboto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Roboto-italic.fntdata"/><Relationship Id="rId30" Type="http://schemas.openxmlformats.org/officeDocument/2006/relationships/font" Target="fonts/Roboto-bold.fntdata"/><Relationship Id="rId11" Type="http://schemas.openxmlformats.org/officeDocument/2006/relationships/slide" Target="slides/slide4.xml"/><Relationship Id="rId33" Type="http://schemas.openxmlformats.org/officeDocument/2006/relationships/font" Target="fonts/Poppins-regular.fntdata"/><Relationship Id="rId10" Type="http://schemas.openxmlformats.org/officeDocument/2006/relationships/slide" Target="slides/slide3.xml"/><Relationship Id="rId32" Type="http://schemas.openxmlformats.org/officeDocument/2006/relationships/font" Target="fonts/Roboto-boldItalic.fntdata"/><Relationship Id="rId13" Type="http://schemas.openxmlformats.org/officeDocument/2006/relationships/slide" Target="slides/slide6.xml"/><Relationship Id="rId35" Type="http://schemas.openxmlformats.org/officeDocument/2006/relationships/font" Target="fonts/Poppins-italic.fntdata"/><Relationship Id="rId12" Type="http://schemas.openxmlformats.org/officeDocument/2006/relationships/slide" Target="slides/slide5.xml"/><Relationship Id="rId34" Type="http://schemas.openxmlformats.org/officeDocument/2006/relationships/font" Target="fonts/Poppins-bold.fntdata"/><Relationship Id="rId15" Type="http://schemas.openxmlformats.org/officeDocument/2006/relationships/slide" Target="slides/slide8.xml"/><Relationship Id="rId37" Type="http://schemas.openxmlformats.org/officeDocument/2006/relationships/font" Target="fonts/Lato-regular.fntdata"/><Relationship Id="rId14" Type="http://schemas.openxmlformats.org/officeDocument/2006/relationships/slide" Target="slides/slide7.xml"/><Relationship Id="rId36" Type="http://schemas.openxmlformats.org/officeDocument/2006/relationships/font" Target="fonts/Poppins-boldItalic.fntdata"/><Relationship Id="rId17" Type="http://schemas.openxmlformats.org/officeDocument/2006/relationships/slide" Target="slides/slide10.xml"/><Relationship Id="rId39" Type="http://schemas.openxmlformats.org/officeDocument/2006/relationships/font" Target="fonts/Lato-italic.fntdata"/><Relationship Id="rId16" Type="http://schemas.openxmlformats.org/officeDocument/2006/relationships/slide" Target="slides/slide9.xml"/><Relationship Id="rId38" Type="http://schemas.openxmlformats.org/officeDocument/2006/relationships/font" Target="fonts/Lato-bold.fntdata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cc54236a3b_0_77:notes"/>
          <p:cNvSpPr txBox="1"/>
          <p:nvPr>
            <p:ph idx="1" type="body"/>
          </p:nvPr>
        </p:nvSpPr>
        <p:spPr>
          <a:xfrm>
            <a:off x="685800" y="4400551"/>
            <a:ext cx="5486400" cy="3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g3cc54236a3b_0_77:notes"/>
          <p:cNvSpPr/>
          <p:nvPr>
            <p:ph idx="2" type="sldImg"/>
          </p:nvPr>
        </p:nvSpPr>
        <p:spPr>
          <a:xfrm>
            <a:off x="2271713" y="1143000"/>
            <a:ext cx="23145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c00facfb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g3cc00facfb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c00facfba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g3cc00facfba_0_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c00facfba_0_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cc00facfba_0_4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cc00facfba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cc00facfba_0_58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c00facfba_0_6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cc00facfba_0_67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c00facfba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cc00facfba_0_17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cc00facfba_0_6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g3cc00facfba_0_68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3cc00facfba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g3cc00facfba_0_26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cc00facfba_0_3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g3cc00facfba_0_3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cc00facfba_0_3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g3cc00facfba_0_3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cc00facfba_0_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g3cc00facfba_0_3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cc00facfba_0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g3cc00facfba_0_39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3cc00facfba_0_7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g3cc00facfba_0_7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5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Relationship Id="rId3" Type="http://schemas.openxmlformats.org/officeDocument/2006/relationships/image" Target="../media/image11.png"/><Relationship Id="rId4" Type="http://schemas.openxmlformats.org/officeDocument/2006/relationships/hyperlink" Target="http://creativecommons.org/licenses/by-nc/4.0/" TargetMode="External"/><Relationship Id="rId5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Section Header" showMasterSp="0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4"/>
          <p:cNvSpPr txBox="1"/>
          <p:nvPr>
            <p:ph type="title"/>
          </p:nvPr>
        </p:nvSpPr>
        <p:spPr>
          <a:xfrm>
            <a:off x="457200" y="4960137"/>
            <a:ext cx="7772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5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4"/>
          <p:cNvSpPr txBox="1"/>
          <p:nvPr>
            <p:ph idx="1" type="body"/>
          </p:nvPr>
        </p:nvSpPr>
        <p:spPr>
          <a:xfrm>
            <a:off x="8610600" y="4960137"/>
            <a:ext cx="3200400" cy="146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0C0C0C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86" name="Google Shape;86;p14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7" name="Google Shape;87;p14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8" name="Google Shape;88;p14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89" name="Google Shape;89;p14"/>
          <p:cNvCxnSpPr/>
          <p:nvPr/>
        </p:nvCxnSpPr>
        <p:spPr>
          <a:xfrm rot="10800000">
            <a:off x="8386843" y="5264107"/>
            <a:ext cx="0" cy="914400"/>
          </a:xfrm>
          <a:prstGeom prst="straightConnector1">
            <a:avLst/>
          </a:prstGeom>
          <a:noFill/>
          <a:ln cap="flat" cmpd="sng" w="19050">
            <a:solidFill>
              <a:srgbClr val="464646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pplication Development Services | Web &amp; Mobile Apps" id="90" name="Google Shape;90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4419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4"/>
          <p:cNvSpPr/>
          <p:nvPr/>
        </p:nvSpPr>
        <p:spPr>
          <a:xfrm>
            <a:off x="-1" y="-2309"/>
            <a:ext cx="12192000" cy="4803000"/>
          </a:xfrm>
          <a:prstGeom prst="rect">
            <a:avLst/>
          </a:prstGeom>
          <a:solidFill>
            <a:schemeClr val="dk1">
              <a:alpha val="47060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0" y="4419600"/>
            <a:ext cx="12192000" cy="381000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rgbClr val="FFFFFF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/>
          <p:nvPr/>
        </p:nvSpPr>
        <p:spPr>
          <a:xfrm>
            <a:off x="-14933" y="-50433"/>
            <a:ext cx="12206700" cy="13581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7"/>
              <a:buFont typeface="Arial"/>
              <a:buNone/>
            </a:pPr>
            <a:r>
              <a:t/>
            </a:r>
            <a:endParaRPr sz="1867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5"/>
          <p:cNvSpPr txBox="1"/>
          <p:nvPr>
            <p:ph type="title"/>
          </p:nvPr>
        </p:nvSpPr>
        <p:spPr>
          <a:xfrm>
            <a:off x="415600" y="227760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5"/>
          <p:cNvSpPr txBox="1"/>
          <p:nvPr>
            <p:ph idx="1" type="body"/>
          </p:nvPr>
        </p:nvSpPr>
        <p:spPr>
          <a:xfrm>
            <a:off x="415600" y="14350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algn="l">
              <a:lnSpc>
                <a:spcPct val="115000"/>
              </a:lnSpc>
              <a:spcBef>
                <a:spcPts val="1333"/>
              </a:spcBef>
              <a:spcAft>
                <a:spcPts val="0"/>
              </a:spcAft>
              <a:buSzPts val="2000"/>
              <a:buAutoNum type="alphaLcPeriod"/>
              <a:defRPr sz="2667"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algn="l">
              <a:lnSpc>
                <a:spcPct val="100000"/>
              </a:lnSpc>
              <a:spcBef>
                <a:spcPts val="2133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algn="l">
              <a:lnSpc>
                <a:spcPct val="100000"/>
              </a:lnSpc>
              <a:spcBef>
                <a:spcPts val="2133"/>
              </a:spcBef>
              <a:spcAft>
                <a:spcPts val="2133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7" name="Google Shape;97;p15"/>
          <p:cNvSpPr txBox="1"/>
          <p:nvPr>
            <p:ph idx="12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6"/>
          <p:cNvSpPr txBox="1"/>
          <p:nvPr>
            <p:ph idx="1" type="body"/>
          </p:nvPr>
        </p:nvSpPr>
        <p:spPr>
          <a:xfrm>
            <a:off x="188236" y="4574539"/>
            <a:ext cx="9489300" cy="80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sz="3600">
                <a:solidFill>
                  <a:srgbClr val="40804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00" name="Google Shape;100;p16"/>
          <p:cNvCxnSpPr/>
          <p:nvPr/>
        </p:nvCxnSpPr>
        <p:spPr>
          <a:xfrm flipH="1" rot="10800000">
            <a:off x="194000" y="5381233"/>
            <a:ext cx="9483300" cy="27000"/>
          </a:xfrm>
          <a:prstGeom prst="straightConnector1">
            <a:avLst/>
          </a:prstGeom>
          <a:noFill/>
          <a:ln cap="flat" cmpd="sng" w="38100">
            <a:solidFill>
              <a:srgbClr val="408043"/>
            </a:solidFill>
            <a:prstDash val="solid"/>
            <a:round/>
            <a:headEnd len="med" w="med" type="diamond"/>
            <a:tailEnd len="med" w="med" type="diamond"/>
          </a:ln>
        </p:spPr>
      </p:cxnSp>
      <p:sp>
        <p:nvSpPr>
          <p:cNvPr id="101" name="Google Shape;101;p16"/>
          <p:cNvSpPr/>
          <p:nvPr/>
        </p:nvSpPr>
        <p:spPr>
          <a:xfrm>
            <a:off x="0" y="373316"/>
            <a:ext cx="9829800" cy="914400"/>
          </a:xfrm>
          <a:prstGeom prst="rect">
            <a:avLst/>
          </a:prstGeom>
          <a:gradFill>
            <a:gsLst>
              <a:gs pos="0">
                <a:srgbClr val="224C23"/>
              </a:gs>
              <a:gs pos="50000">
                <a:srgbClr val="306F34"/>
              </a:gs>
              <a:gs pos="100000">
                <a:srgbClr val="3B843E"/>
              </a:gs>
            </a:gsLst>
            <a:lin ang="5400012" scaled="0"/>
          </a:gradFill>
          <a:ln cap="flat" cmpd="sng" w="25400">
            <a:solidFill>
              <a:srgbClr val="4080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6"/>
          <p:cNvSpPr/>
          <p:nvPr/>
        </p:nvSpPr>
        <p:spPr>
          <a:xfrm>
            <a:off x="9067800" y="0"/>
            <a:ext cx="3142200" cy="2971800"/>
          </a:xfrm>
          <a:prstGeom prst="teardrop">
            <a:avLst>
              <a:gd fmla="val 100000" name="adj"/>
            </a:avLst>
          </a:prstGeom>
          <a:gradFill>
            <a:gsLst>
              <a:gs pos="0">
                <a:srgbClr val="224C23"/>
              </a:gs>
              <a:gs pos="50000">
                <a:srgbClr val="306F34"/>
              </a:gs>
              <a:gs pos="100000">
                <a:srgbClr val="3B843E"/>
              </a:gs>
            </a:gsLst>
            <a:lin ang="5400012" scaled="0"/>
          </a:gradFill>
          <a:ln>
            <a:noFill/>
          </a:ln>
          <a:effectLst>
            <a:outerShdw blurRad="63500" sx="102000" rotWithShape="0" algn="ctr" sy="102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contenu">
  <p:cSld name="Titre et contenu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7"/>
          <p:cNvSpPr txBox="1"/>
          <p:nvPr>
            <p:ph idx="1" type="body"/>
          </p:nvPr>
        </p:nvSpPr>
        <p:spPr>
          <a:xfrm>
            <a:off x="609600" y="1536633"/>
            <a:ext cx="10972800" cy="4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5" name="Google Shape;105;p17"/>
          <p:cNvSpPr/>
          <p:nvPr/>
        </p:nvSpPr>
        <p:spPr>
          <a:xfrm>
            <a:off x="0" y="22967"/>
            <a:ext cx="12192000" cy="1043700"/>
          </a:xfrm>
          <a:prstGeom prst="rect">
            <a:avLst/>
          </a:prstGeom>
          <a:gradFill>
            <a:gsLst>
              <a:gs pos="0">
                <a:srgbClr val="408043"/>
              </a:gs>
              <a:gs pos="100000">
                <a:srgbClr val="408043"/>
              </a:gs>
            </a:gsLst>
            <a:lin ang="5400012" scaled="0"/>
          </a:gradFill>
          <a:ln cap="flat" cmpd="sng" w="25400">
            <a:solidFill>
              <a:srgbClr val="8097A4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  <a:reflection blurRad="0" dir="5400000" dist="50800" endA="0" endPos="20000" fadeDir="5400012" kx="0" rotWithShape="0" algn="bl" stA="45000" stPos="0" sy="-100000" ky="0"/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7"/>
          <p:cNvSpPr txBox="1"/>
          <p:nvPr>
            <p:ph type="title"/>
          </p:nvPr>
        </p:nvSpPr>
        <p:spPr>
          <a:xfrm>
            <a:off x="457200" y="29728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6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/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9"/>
          <p:cNvSpPr txBox="1"/>
          <p:nvPr>
            <p:ph type="title"/>
          </p:nvPr>
        </p:nvSpPr>
        <p:spPr>
          <a:xfrm>
            <a:off x="609600" y="54863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1" name="Google Shape;111;p19"/>
          <p:cNvSpPr txBox="1"/>
          <p:nvPr>
            <p:ph idx="1" type="body"/>
          </p:nvPr>
        </p:nvSpPr>
        <p:spPr>
          <a:xfrm>
            <a:off x="4156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112" name="Google Shape;112;p19"/>
          <p:cNvSpPr txBox="1"/>
          <p:nvPr>
            <p:ph idx="2" type="body"/>
          </p:nvPr>
        </p:nvSpPr>
        <p:spPr>
          <a:xfrm>
            <a:off x="6443200" y="1536633"/>
            <a:ext cx="5333100" cy="455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0"/>
          <p:cNvSpPr txBox="1"/>
          <p:nvPr>
            <p:ph type="title"/>
          </p:nvPr>
        </p:nvSpPr>
        <p:spPr>
          <a:xfrm>
            <a:off x="415600" y="740800"/>
            <a:ext cx="3744000" cy="100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115" name="Google Shape;115;p20"/>
          <p:cNvSpPr txBox="1"/>
          <p:nvPr>
            <p:ph idx="1" type="body"/>
          </p:nvPr>
        </p:nvSpPr>
        <p:spPr>
          <a:xfrm>
            <a:off x="415600" y="1852800"/>
            <a:ext cx="3744000" cy="42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653667" y="600200"/>
            <a:ext cx="8490300" cy="545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/>
          <p:nvPr/>
        </p:nvSpPr>
        <p:spPr>
          <a:xfrm>
            <a:off x="6096000" y="-167"/>
            <a:ext cx="6096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2"/>
          <p:cNvSpPr txBox="1"/>
          <p:nvPr>
            <p:ph type="title"/>
          </p:nvPr>
        </p:nvSpPr>
        <p:spPr>
          <a:xfrm>
            <a:off x="354000" y="1644233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121" name="Google Shape;121;p22"/>
          <p:cNvSpPr txBox="1"/>
          <p:nvPr>
            <p:ph idx="1" type="subTitle"/>
          </p:nvPr>
        </p:nvSpPr>
        <p:spPr>
          <a:xfrm>
            <a:off x="354000" y="3737433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22" name="Google Shape;122;p22"/>
          <p:cNvSpPr txBox="1"/>
          <p:nvPr>
            <p:ph idx="2" type="body"/>
          </p:nvPr>
        </p:nvSpPr>
        <p:spPr>
          <a:xfrm>
            <a:off x="6586000" y="965433"/>
            <a:ext cx="5115900" cy="492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415600" y="1474833"/>
            <a:ext cx="11360700" cy="2618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6000"/>
            </a:lvl9pPr>
          </a:lstStyle>
          <a:p/>
        </p:txBody>
      </p:sp>
      <p:sp>
        <p:nvSpPr>
          <p:cNvPr id="125" name="Google Shape;125;p23"/>
          <p:cNvSpPr txBox="1"/>
          <p:nvPr>
            <p:ph idx="1" type="body"/>
          </p:nvPr>
        </p:nvSpPr>
        <p:spPr>
          <a:xfrm>
            <a:off x="415600" y="4202967"/>
            <a:ext cx="11360700" cy="1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re et tableau" type="tbl">
  <p:cSld name="TABLE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5"/>
          <p:cNvSpPr txBox="1"/>
          <p:nvPr>
            <p:ph type="title"/>
          </p:nvPr>
        </p:nvSpPr>
        <p:spPr>
          <a:xfrm>
            <a:off x="1117602" y="342901"/>
            <a:ext cx="10809900" cy="54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rgbClr val="4CAF50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ctrTitle"/>
          </p:nvPr>
        </p:nvSpPr>
        <p:spPr>
          <a:xfrm>
            <a:off x="415611" y="1342391"/>
            <a:ext cx="113607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6933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/>
        </p:txBody>
      </p:sp>
      <p:sp>
        <p:nvSpPr>
          <p:cNvPr id="131" name="Google Shape;131;p26"/>
          <p:cNvSpPr txBox="1"/>
          <p:nvPr>
            <p:ph idx="1" type="subTitle"/>
          </p:nvPr>
        </p:nvSpPr>
        <p:spPr>
          <a:xfrm>
            <a:off x="415600" y="4128457"/>
            <a:ext cx="11360700" cy="10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3733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/>
        </p:txBody>
      </p:sp>
      <p:sp>
        <p:nvSpPr>
          <p:cNvPr id="132" name="Google Shape;132;p26"/>
          <p:cNvSpPr txBox="1"/>
          <p:nvPr>
            <p:ph idx="12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34" name="Google Shape;134;p2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7"/>
          <p:cNvSpPr txBox="1"/>
          <p:nvPr>
            <p:ph idx="12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6" name="Google Shape;136;p27"/>
          <p:cNvSpPr txBox="1"/>
          <p:nvPr>
            <p:ph idx="2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27"/>
          <p:cNvSpPr txBox="1"/>
          <p:nvPr>
            <p:ph type="title"/>
          </p:nvPr>
        </p:nvSpPr>
        <p:spPr>
          <a:xfrm>
            <a:off x="354000" y="2570681"/>
            <a:ext cx="5393700" cy="197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56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5600"/>
            </a:lvl9pPr>
          </a:lstStyle>
          <a:p/>
        </p:txBody>
      </p:sp>
      <p:sp>
        <p:nvSpPr>
          <p:cNvPr id="138" name="Google Shape;138;p27"/>
          <p:cNvSpPr txBox="1"/>
          <p:nvPr>
            <p:ph idx="1" type="subTitle"/>
          </p:nvPr>
        </p:nvSpPr>
        <p:spPr>
          <a:xfrm>
            <a:off x="354000" y="4663881"/>
            <a:ext cx="5393700" cy="16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139" name="Google Shape;139;p27"/>
          <p:cNvSpPr txBox="1"/>
          <p:nvPr>
            <p:ph idx="3" type="subTitle"/>
          </p:nvPr>
        </p:nvSpPr>
        <p:spPr>
          <a:xfrm>
            <a:off x="354000" y="752167"/>
            <a:ext cx="5393700" cy="6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rgbClr val="FAFAFA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footer.png" id="140" name="Google Shape;14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idx="4" type="sldNum"/>
          </p:nvPr>
        </p:nvSpPr>
        <p:spPr>
          <a:xfrm>
            <a:off x="11296611" y="6319223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33"/>
              <a:buFont typeface="Arial"/>
              <a:buNone/>
              <a:defRPr sz="1333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27"/>
          <p:cNvSpPr txBox="1"/>
          <p:nvPr/>
        </p:nvSpPr>
        <p:spPr>
          <a:xfrm>
            <a:off x="3175567" y="6348500"/>
            <a:ext cx="2877900" cy="30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333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333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7592967" y="6168500"/>
            <a:ext cx="28779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00"/>
              <a:buFont typeface="Roboto"/>
              <a:buNone/>
            </a:pPr>
            <a:r>
              <a:rPr i="1" lang="en-US" sz="12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-US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Creative Commons Attribution-NonCommercial 4.0 International License</a:t>
            </a:r>
            <a:endParaRPr i="1" sz="12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4" name="Google Shape;144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19433" y="6369818"/>
            <a:ext cx="1210800" cy="423633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27"/>
          <p:cNvSpPr txBox="1"/>
          <p:nvPr/>
        </p:nvSpPr>
        <p:spPr>
          <a:xfrm>
            <a:off x="5876300" y="6337200"/>
            <a:ext cx="1716900" cy="42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1900" lIns="121900" spcFirstLastPara="1" rIns="121900" wrap="square" tIns="1219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US" sz="1333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SQLite Database</a:t>
            </a:r>
            <a:endParaRPr sz="1333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 txBox="1"/>
          <p:nvPr>
            <p:ph type="title"/>
          </p:nvPr>
        </p:nvSpPr>
        <p:spPr>
          <a:xfrm>
            <a:off x="609600" y="548633"/>
            <a:ext cx="109728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1pPr>
            <a:lvl2pPr lvl="1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2pPr>
            <a:lvl3pPr lvl="2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3pPr>
            <a:lvl4pPr lvl="3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4pPr>
            <a:lvl5pPr lvl="4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5pPr>
            <a:lvl6pPr lvl="5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6pPr>
            <a:lvl7pPr lvl="6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7pPr>
            <a:lvl8pPr lvl="7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8pPr>
            <a:lvl9pPr lvl="8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 Extra Condensed"/>
              <a:buNone/>
              <a:defRPr b="1" i="0" sz="2800" u="none" cap="none" strike="noStrike">
                <a:solidFill>
                  <a:schemeClr val="dk1"/>
                </a:solidFill>
                <a:latin typeface="Fira Sans Extra Condensed"/>
                <a:ea typeface="Fira Sans Extra Condensed"/>
                <a:cs typeface="Fira Sans Extra Condensed"/>
                <a:sym typeface="Fira Sans Extra Condensed"/>
              </a:defRPr>
            </a:lvl9pPr>
          </a:lstStyle>
          <a:p/>
        </p:txBody>
      </p:sp>
      <p:sp>
        <p:nvSpPr>
          <p:cNvPr id="82" name="Google Shape;82;p13"/>
          <p:cNvSpPr txBox="1"/>
          <p:nvPr>
            <p:ph idx="1" type="body"/>
          </p:nvPr>
        </p:nvSpPr>
        <p:spPr>
          <a:xfrm>
            <a:off x="609600" y="1536633"/>
            <a:ext cx="10972800" cy="47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 b="0" i="0" sz="1867" u="none" cap="none" strike="noStrike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7.png"/><Relationship Id="rId9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6.png"/><Relationship Id="rId7" Type="http://schemas.openxmlformats.org/officeDocument/2006/relationships/image" Target="../media/image20.png"/><Relationship Id="rId8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5.png"/><Relationship Id="rId4" Type="http://schemas.openxmlformats.org/officeDocument/2006/relationships/image" Target="../media/image2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5.png"/><Relationship Id="rId4" Type="http://schemas.openxmlformats.org/officeDocument/2006/relationships/image" Target="../media/image31.png"/><Relationship Id="rId9" Type="http://schemas.openxmlformats.org/officeDocument/2006/relationships/image" Target="../media/image34.png"/><Relationship Id="rId5" Type="http://schemas.openxmlformats.org/officeDocument/2006/relationships/image" Target="../media/image24.png"/><Relationship Id="rId6" Type="http://schemas.openxmlformats.org/officeDocument/2006/relationships/image" Target="../media/image23.png"/><Relationship Id="rId7" Type="http://schemas.openxmlformats.org/officeDocument/2006/relationships/image" Target="../media/image36.png"/><Relationship Id="rId8" Type="http://schemas.openxmlformats.org/officeDocument/2006/relationships/image" Target="../media/image2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Relationship Id="rId5" Type="http://schemas.openxmlformats.org/officeDocument/2006/relationships/image" Target="../media/image30.png"/><Relationship Id="rId6" Type="http://schemas.openxmlformats.org/officeDocument/2006/relationships/image" Target="../media/image35.png"/><Relationship Id="rId7" Type="http://schemas.openxmlformats.org/officeDocument/2006/relationships/image" Target="../media/image3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Relationship Id="rId4" Type="http://schemas.openxmlformats.org/officeDocument/2006/relationships/image" Target="../media/image37.png"/><Relationship Id="rId5" Type="http://schemas.openxmlformats.org/officeDocument/2006/relationships/image" Target="../media/image4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33.png"/><Relationship Id="rId6" Type="http://schemas.openxmlformats.org/officeDocument/2006/relationships/image" Target="../media/image40.png"/><Relationship Id="rId7" Type="http://schemas.openxmlformats.org/officeDocument/2006/relationships/image" Target="../media/image4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1.png"/><Relationship Id="rId4" Type="http://schemas.openxmlformats.org/officeDocument/2006/relationships/image" Target="../media/image49.png"/><Relationship Id="rId5" Type="http://schemas.openxmlformats.org/officeDocument/2006/relationships/image" Target="../media/image52.png"/><Relationship Id="rId6" Type="http://schemas.openxmlformats.org/officeDocument/2006/relationships/image" Target="../media/image50.png"/><Relationship Id="rId7" Type="http://schemas.openxmlformats.org/officeDocument/2006/relationships/image" Target="../media/image45.png"/><Relationship Id="rId8" Type="http://schemas.openxmlformats.org/officeDocument/2006/relationships/image" Target="../media/image4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Relationship Id="rId4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8"/>
          <p:cNvSpPr txBox="1"/>
          <p:nvPr>
            <p:ph type="title"/>
          </p:nvPr>
        </p:nvSpPr>
        <p:spPr>
          <a:xfrm>
            <a:off x="0" y="5383864"/>
            <a:ext cx="87630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n-US" sz="4000">
                <a:solidFill>
                  <a:srgbClr val="002060"/>
                </a:solidFill>
              </a:rPr>
              <a:t>Cours de Développement Mobile</a:t>
            </a:r>
            <a:endParaRPr b="1" sz="2400">
              <a:solidFill>
                <a:srgbClr val="002060"/>
              </a:solidFill>
            </a:endParaRPr>
          </a:p>
        </p:txBody>
      </p:sp>
      <p:sp>
        <p:nvSpPr>
          <p:cNvPr id="151" name="Google Shape;151;p28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67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AMINA ABOULMIRA</a:t>
            </a:r>
            <a:endParaRPr/>
          </a:p>
        </p:txBody>
      </p:sp>
      <p:sp>
        <p:nvSpPr>
          <p:cNvPr id="152" name="Google Shape;152;p28"/>
          <p:cNvSpPr txBox="1"/>
          <p:nvPr/>
        </p:nvSpPr>
        <p:spPr>
          <a:xfrm>
            <a:off x="87086" y="5988567"/>
            <a:ext cx="5486400" cy="52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0950" lIns="121900" spcFirstLastPara="1" rIns="121900" wrap="square" tIns="6095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None/>
            </a:pPr>
            <a:r>
              <a:rPr b="1" lang="en-US" sz="1850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Gestion</a:t>
            </a:r>
            <a:r>
              <a:rPr b="1" i="0" lang="en-US" sz="185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 des </a:t>
            </a:r>
            <a:r>
              <a:rPr b="1" lang="en-US" sz="1850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fichiers</a:t>
            </a:r>
            <a:r>
              <a:rPr b="1" i="0" lang="en-US" sz="1850" u="none" cap="none" strike="noStrike">
                <a:solidFill>
                  <a:srgbClr val="00B050"/>
                </a:solidFill>
                <a:latin typeface="Roboto"/>
                <a:ea typeface="Roboto"/>
                <a:cs typeface="Roboto"/>
                <a:sym typeface="Roboto"/>
              </a:rPr>
              <a:t> – Développement Mobile</a:t>
            </a:r>
            <a:endParaRPr b="1" i="0" sz="1850" u="none" cap="none" strike="noStrike">
              <a:solidFill>
                <a:srgbClr val="00B0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3" name="Google Shape;153;p28"/>
          <p:cNvSpPr txBox="1"/>
          <p:nvPr>
            <p:ph idx="1" type="body"/>
          </p:nvPr>
        </p:nvSpPr>
        <p:spPr>
          <a:xfrm>
            <a:off x="8511419" y="5195259"/>
            <a:ext cx="32004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-US"/>
              <a:t>AMINA ABOULMIRA</a:t>
            </a:r>
            <a:endParaRPr/>
          </a:p>
        </p:txBody>
      </p:sp>
      <p:sp>
        <p:nvSpPr>
          <p:cNvPr id="154" name="Google Shape;154;p28"/>
          <p:cNvSpPr/>
          <p:nvPr/>
        </p:nvSpPr>
        <p:spPr>
          <a:xfrm>
            <a:off x="8903305" y="4119015"/>
            <a:ext cx="2819400" cy="9927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sx="103000" rotWithShape="0" algn="tl" dir="2700000" dist="38100" sy="1030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99735" y="4219282"/>
            <a:ext cx="2226539" cy="792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34125" y="228600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29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762000" y="66675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Introduction &amp; Objectifs</a:t>
            </a:r>
            <a:endParaRPr/>
          </a:p>
        </p:txBody>
      </p:sp>
      <p:sp>
        <p:nvSpPr>
          <p:cNvPr id="163" name="Google Shape;163;p29"/>
          <p:cNvSpPr/>
          <p:nvPr/>
        </p:nvSpPr>
        <p:spPr>
          <a:xfrm>
            <a:off x="571500" y="666750"/>
            <a:ext cx="95250" cy="571500"/>
          </a:xfrm>
          <a:prstGeom prst="rect">
            <a:avLst/>
          </a:prstGeom>
          <a:solidFill>
            <a:srgbClr val="CDDC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571500" y="2728100"/>
            <a:ext cx="56007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Pourquoi les fichiers ?</a:t>
            </a:r>
            <a:endParaRPr/>
          </a:p>
        </p:txBody>
      </p:sp>
      <p:sp>
        <p:nvSpPr>
          <p:cNvPr id="165" name="Google Shape;165;p29"/>
          <p:cNvSpPr txBox="1"/>
          <p:nvPr/>
        </p:nvSpPr>
        <p:spPr>
          <a:xfrm>
            <a:off x="571500" y="3004324"/>
            <a:ext cx="5334000" cy="8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Au-delà des SharedPreferences (limités aux paramètres), les fichiers permettent de stocker des données volumineuses et structurées.</a:t>
            </a:r>
            <a:endParaRPr/>
          </a:p>
        </p:txBody>
      </p:sp>
      <p:sp>
        <p:nvSpPr>
          <p:cNvPr id="166" name="Google Shape;166;p29"/>
          <p:cNvSpPr txBox="1"/>
          <p:nvPr/>
        </p:nvSpPr>
        <p:spPr>
          <a:xfrm>
            <a:off x="571500" y="3947300"/>
            <a:ext cx="533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C'est une étape cruciale vers la maturité en programmation mobile avant d'aborder les bases de données SQL.</a:t>
            </a:r>
            <a:endParaRPr/>
          </a:p>
        </p:txBody>
      </p:sp>
      <p:sp>
        <p:nvSpPr>
          <p:cNvPr id="167" name="Google Shape;167;p29"/>
          <p:cNvSpPr txBox="1"/>
          <p:nvPr/>
        </p:nvSpPr>
        <p:spPr>
          <a:xfrm>
            <a:off x="571500" y="4623575"/>
            <a:ext cx="5334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En Android, nous manipulons principalement le stockage interne privé pour garantir la sécurité des données.</a:t>
            </a:r>
            <a:endParaRPr/>
          </a:p>
        </p:txBody>
      </p:sp>
      <p:pic>
        <p:nvPicPr>
          <p:cNvPr id="168" name="Google Shape;168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4025" y="2519350"/>
            <a:ext cx="4762500" cy="286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0"/>
          <p:cNvSpPr/>
          <p:nvPr/>
        </p:nvSpPr>
        <p:spPr>
          <a:xfrm>
            <a:off x="0" y="0"/>
            <a:ext cx="1428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30"/>
          <p:cNvSpPr txBox="1"/>
          <p:nvPr/>
        </p:nvSpPr>
        <p:spPr>
          <a:xfrm>
            <a:off x="441721" y="2400300"/>
            <a:ext cx="11451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Comprendre le Stockage</a:t>
            </a:r>
            <a:endParaRPr/>
          </a:p>
        </p:txBody>
      </p:sp>
      <p:sp>
        <p:nvSpPr>
          <p:cNvPr id="175" name="Google Shape;175;p30"/>
          <p:cNvSpPr/>
          <p:nvPr/>
        </p:nvSpPr>
        <p:spPr>
          <a:xfrm>
            <a:off x="5691187" y="3543300"/>
            <a:ext cx="952500" cy="573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30"/>
          <p:cNvSpPr txBox="1"/>
          <p:nvPr/>
        </p:nvSpPr>
        <p:spPr>
          <a:xfrm>
            <a:off x="714375" y="3886200"/>
            <a:ext cx="10906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Architecture du système de fichiers Android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2438400"/>
            <a:ext cx="5262562" cy="2962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7937" y="2438400"/>
            <a:ext cx="5262562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31"/>
          <p:cNvSpPr/>
          <p:nvPr/>
        </p:nvSpPr>
        <p:spPr>
          <a:xfrm>
            <a:off x="0" y="0"/>
            <a:ext cx="1428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1"/>
          <p:cNvSpPr txBox="1"/>
          <p:nvPr/>
        </p:nvSpPr>
        <p:spPr>
          <a:xfrm>
            <a:off x="952500" y="3267075"/>
            <a:ext cx="5025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Internal Storage</a:t>
            </a:r>
            <a:endParaRPr/>
          </a:p>
        </p:txBody>
      </p:sp>
      <p:sp>
        <p:nvSpPr>
          <p:cNvPr id="185" name="Google Shape;185;p31"/>
          <p:cNvSpPr txBox="1"/>
          <p:nvPr/>
        </p:nvSpPr>
        <p:spPr>
          <a:xfrm>
            <a:off x="952500" y="3733800"/>
            <a:ext cx="478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Privé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Seule votre app y accède.</a:t>
            </a:r>
            <a:endParaRPr/>
          </a:p>
        </p:txBody>
      </p:sp>
      <p:sp>
        <p:nvSpPr>
          <p:cNvPr id="186" name="Google Shape;186;p31"/>
          <p:cNvSpPr txBox="1"/>
          <p:nvPr/>
        </p:nvSpPr>
        <p:spPr>
          <a:xfrm>
            <a:off x="952500" y="4210050"/>
            <a:ext cx="478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Cycle de vie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Supprimé à la désinstallation.</a:t>
            </a:r>
            <a:endParaRPr/>
          </a:p>
        </p:txBody>
      </p:sp>
      <p:sp>
        <p:nvSpPr>
          <p:cNvPr id="187" name="Google Shape;187;p31"/>
          <p:cNvSpPr txBox="1"/>
          <p:nvPr/>
        </p:nvSpPr>
        <p:spPr>
          <a:xfrm>
            <a:off x="952500" y="4686300"/>
            <a:ext cx="478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Sécurité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Pas besoin de permissions.</a:t>
            </a:r>
            <a:endParaRPr/>
          </a:p>
        </p:txBody>
      </p:sp>
      <p:sp>
        <p:nvSpPr>
          <p:cNvPr id="188" name="Google Shape;188;p31"/>
          <p:cNvSpPr txBox="1"/>
          <p:nvPr/>
        </p:nvSpPr>
        <p:spPr>
          <a:xfrm>
            <a:off x="6596062" y="3267075"/>
            <a:ext cx="5025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External Storage</a:t>
            </a:r>
            <a:endParaRPr/>
          </a:p>
        </p:txBody>
      </p:sp>
      <p:sp>
        <p:nvSpPr>
          <p:cNvPr id="189" name="Google Shape;189;p31"/>
          <p:cNvSpPr txBox="1"/>
          <p:nvPr/>
        </p:nvSpPr>
        <p:spPr>
          <a:xfrm>
            <a:off x="6596062" y="3733800"/>
            <a:ext cx="478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Partagé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Visible par l'utilisateur.</a:t>
            </a:r>
            <a:endParaRPr/>
          </a:p>
        </p:txBody>
      </p:sp>
      <p:sp>
        <p:nvSpPr>
          <p:cNvPr id="190" name="Google Shape;190;p31"/>
          <p:cNvSpPr txBox="1"/>
          <p:nvPr/>
        </p:nvSpPr>
        <p:spPr>
          <a:xfrm>
            <a:off x="6596062" y="4210050"/>
            <a:ext cx="478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Persistance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Survit à la désinstallation.</a:t>
            </a:r>
            <a:endParaRPr/>
          </a:p>
        </p:txBody>
      </p:sp>
      <p:sp>
        <p:nvSpPr>
          <p:cNvPr id="191" name="Google Shape;191;p31"/>
          <p:cNvSpPr txBox="1"/>
          <p:nvPr/>
        </p:nvSpPr>
        <p:spPr>
          <a:xfrm>
            <a:off x="6596062" y="4686300"/>
            <a:ext cx="478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Accès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Nécessite des permissions (Runtime).</a:t>
            </a:r>
            <a:endParaRPr/>
          </a:p>
        </p:txBody>
      </p:sp>
      <p:pic>
        <p:nvPicPr>
          <p:cNvPr descr="image.png" id="192" name="Google Shape;192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771775"/>
            <a:ext cx="3714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3" name="Google Shape;193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96062" y="2771775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1"/>
          <p:cNvSpPr txBox="1"/>
          <p:nvPr/>
        </p:nvSpPr>
        <p:spPr>
          <a:xfrm>
            <a:off x="714375" y="57150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INTERNAL VS EXTERNAL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38475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1" name="Google Shape;201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3038475"/>
            <a:ext cx="3492549" cy="2095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2" name="Google Shape;202;p3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3038475"/>
            <a:ext cx="3492549" cy="2095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32"/>
          <p:cNvSpPr txBox="1"/>
          <p:nvPr/>
        </p:nvSpPr>
        <p:spPr>
          <a:xfrm>
            <a:off x="3243249" y="2480150"/>
            <a:ext cx="6389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Le stockage repose sur l'empilement de trois classes Java essentielles :</a:t>
            </a:r>
            <a:endParaRPr/>
          </a:p>
        </p:txBody>
      </p:sp>
      <p:pic>
        <p:nvPicPr>
          <p:cNvPr descr="image.png" id="204" name="Google Shape;204;p3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57250" y="33242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32"/>
          <p:cNvSpPr txBox="1"/>
          <p:nvPr/>
        </p:nvSpPr>
        <p:spPr>
          <a:xfrm>
            <a:off x="857250" y="3848100"/>
            <a:ext cx="3067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FileOutputStream</a:t>
            </a:r>
            <a:endParaRPr/>
          </a:p>
        </p:txBody>
      </p:sp>
      <p:sp>
        <p:nvSpPr>
          <p:cNvPr id="206" name="Google Shape;206;p32"/>
          <p:cNvSpPr txBox="1"/>
          <p:nvPr/>
        </p:nvSpPr>
        <p:spPr>
          <a:xfrm>
            <a:off x="857250" y="4124325"/>
            <a:ext cx="292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Flux de base. Écrit des </a:t>
            </a: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octets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bruts dans le fichier.</a:t>
            </a:r>
            <a:endParaRPr/>
          </a:p>
        </p:txBody>
      </p:sp>
      <p:pic>
        <p:nvPicPr>
          <p:cNvPr descr="image.png" id="207" name="Google Shape;207;p3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35549" y="33242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32"/>
          <p:cNvSpPr txBox="1"/>
          <p:nvPr/>
        </p:nvSpPr>
        <p:spPr>
          <a:xfrm>
            <a:off x="4635549" y="3848100"/>
            <a:ext cx="3067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OutputStreamWriter</a:t>
            </a:r>
            <a:endParaRPr/>
          </a:p>
        </p:txBody>
      </p:sp>
      <p:sp>
        <p:nvSpPr>
          <p:cNvPr id="209" name="Google Shape;209;p32"/>
          <p:cNvSpPr txBox="1"/>
          <p:nvPr/>
        </p:nvSpPr>
        <p:spPr>
          <a:xfrm>
            <a:off x="4635549" y="4124325"/>
            <a:ext cx="292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Le pont. Convertit les </a:t>
            </a: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caractères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Java en octets.</a:t>
            </a:r>
            <a:endParaRPr/>
          </a:p>
        </p:txBody>
      </p:sp>
      <p:pic>
        <p:nvPicPr>
          <p:cNvPr descr="image.png" id="210" name="Google Shape;210;p3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13849" y="3324225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32"/>
          <p:cNvSpPr txBox="1"/>
          <p:nvPr/>
        </p:nvSpPr>
        <p:spPr>
          <a:xfrm>
            <a:off x="8413849" y="3848100"/>
            <a:ext cx="30672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BufferedWriter</a:t>
            </a:r>
            <a:endParaRPr/>
          </a:p>
        </p:txBody>
      </p:sp>
      <p:sp>
        <p:nvSpPr>
          <p:cNvPr id="212" name="Google Shape;212;p32"/>
          <p:cNvSpPr txBox="1"/>
          <p:nvPr/>
        </p:nvSpPr>
        <p:spPr>
          <a:xfrm>
            <a:off x="8413849" y="4124325"/>
            <a:ext cx="29211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Le tampon. Optimise l'écriture en regroupant les données.</a:t>
            </a:r>
            <a:endParaRPr/>
          </a:p>
        </p:txBody>
      </p:sp>
      <p:sp>
        <p:nvSpPr>
          <p:cNvPr id="213" name="Google Shape;213;p32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Rappel Java : Les Flux (Streams)</a:t>
            </a:r>
            <a:endParaRPr/>
          </a:p>
        </p:txBody>
      </p:sp>
      <p:sp>
        <p:nvSpPr>
          <p:cNvPr id="214" name="Google Shape;214;p32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9" name="Google Shape;219;p33"/>
          <p:cNvPicPr preferRelativeResize="0"/>
          <p:nvPr/>
        </p:nvPicPr>
        <p:blipFill rotWithShape="1">
          <a:blip r:embed="rId3">
            <a:alphaModFix/>
          </a:blip>
          <a:srcRect b="18500" l="0" r="0" t="-18500"/>
          <a:stretch/>
        </p:blipFill>
        <p:spPr>
          <a:xfrm>
            <a:off x="0" y="-7672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33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Mise en œuvre du flux</a:t>
            </a:r>
            <a:endParaRPr/>
          </a:p>
        </p:txBody>
      </p:sp>
      <p:sp>
        <p:nvSpPr>
          <p:cNvPr id="221" name="Google Shape;221;p33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63325" y="1850475"/>
            <a:ext cx="4362450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33"/>
          <p:cNvSpPr txBox="1"/>
          <p:nvPr/>
        </p:nvSpPr>
        <p:spPr>
          <a:xfrm>
            <a:off x="7573900" y="1993725"/>
            <a:ext cx="3760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Écriture Progressive</a:t>
            </a:r>
            <a:endParaRPr/>
          </a:p>
        </p:txBody>
      </p:sp>
      <p:sp>
        <p:nvSpPr>
          <p:cNvPr id="224" name="Google Shape;224;p33"/>
          <p:cNvSpPr txBox="1"/>
          <p:nvPr/>
        </p:nvSpPr>
        <p:spPr>
          <a:xfrm>
            <a:off x="7464300" y="2640775"/>
            <a:ext cx="3581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FileOutputStream :</a:t>
            </a: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Flux brut pour écrire des octets.</a:t>
            </a:r>
            <a:endParaRPr/>
          </a:p>
        </p:txBody>
      </p:sp>
      <p:sp>
        <p:nvSpPr>
          <p:cNvPr id="225" name="Google Shape;225;p33"/>
          <p:cNvSpPr txBox="1"/>
          <p:nvPr/>
        </p:nvSpPr>
        <p:spPr>
          <a:xfrm>
            <a:off x="7464300" y="3277350"/>
            <a:ext cx="3581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OutputStreamWriter :</a:t>
            </a: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Pont convertissant les caractères en octets.</a:t>
            </a:r>
            <a:endParaRPr/>
          </a:p>
        </p:txBody>
      </p:sp>
      <p:sp>
        <p:nvSpPr>
          <p:cNvPr id="226" name="Google Shape;226;p33"/>
          <p:cNvSpPr txBox="1"/>
          <p:nvPr/>
        </p:nvSpPr>
        <p:spPr>
          <a:xfrm>
            <a:off x="7464300" y="3913925"/>
            <a:ext cx="35814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BufferedWriter :</a:t>
            </a: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Tampon optimisant l'écriture (plus rapide).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86000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34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4"/>
          <p:cNvSpPr txBox="1"/>
          <p:nvPr/>
        </p:nvSpPr>
        <p:spPr>
          <a:xfrm>
            <a:off x="571500" y="2967037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Confidentialité :</a:t>
            </a: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Chaque application possède un répertoire privé inaccessible aux autres apps.</a:t>
            </a:r>
            <a:endParaRPr/>
          </a:p>
        </p:txBody>
      </p:sp>
      <p:sp>
        <p:nvSpPr>
          <p:cNvPr id="235" name="Google Shape;235;p34"/>
          <p:cNvSpPr txBox="1"/>
          <p:nvPr/>
        </p:nvSpPr>
        <p:spPr>
          <a:xfrm>
            <a:off x="571500" y="3624262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Cycle de vie :</a:t>
            </a: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Les fichiers sont supprimés automatiquement lors de la désinstallation de l'application.</a:t>
            </a:r>
            <a:endParaRPr/>
          </a:p>
        </p:txBody>
      </p:sp>
      <p:sp>
        <p:nvSpPr>
          <p:cNvPr id="236" name="Google Shape;236;p34"/>
          <p:cNvSpPr txBox="1"/>
          <p:nvPr/>
        </p:nvSpPr>
        <p:spPr>
          <a:xfrm>
            <a:off x="571500" y="4281487"/>
            <a:ext cx="5286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Simplicité :</a:t>
            </a: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Aucune permission (Manifest) n'est requise pour écrire dans cet espace privé.</a:t>
            </a:r>
            <a:endParaRPr/>
          </a:p>
        </p:txBody>
      </p:sp>
      <p:pic>
        <p:nvPicPr>
          <p:cNvPr descr="image.png" id="237" name="Google Shape;237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295525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/>
          <p:nvPr/>
        </p:nvSpPr>
        <p:spPr>
          <a:xfrm>
            <a:off x="762000" y="66675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Stockage Interne Android</a:t>
            </a:r>
            <a:endParaRPr/>
          </a:p>
        </p:txBody>
      </p:sp>
      <p:sp>
        <p:nvSpPr>
          <p:cNvPr id="239" name="Google Shape;239;p34"/>
          <p:cNvSpPr/>
          <p:nvPr/>
        </p:nvSpPr>
        <p:spPr>
          <a:xfrm>
            <a:off x="571500" y="666750"/>
            <a:ext cx="95250" cy="571500"/>
          </a:xfrm>
          <a:prstGeom prst="rect">
            <a:avLst/>
          </a:prstGeom>
          <a:solidFill>
            <a:srgbClr val="CDDC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5" name="Google Shape;245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28887"/>
            <a:ext cx="34290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6" name="Google Shape;246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528887"/>
            <a:ext cx="3429000" cy="2847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7" name="Google Shape;247;p3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528887"/>
            <a:ext cx="3429000" cy="2847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35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35"/>
          <p:cNvSpPr txBox="1"/>
          <p:nvPr/>
        </p:nvSpPr>
        <p:spPr>
          <a:xfrm>
            <a:off x="795813" y="3557587"/>
            <a:ext cx="29803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Format CSV</a:t>
            </a:r>
            <a:endParaRPr/>
          </a:p>
        </p:txBody>
      </p:sp>
      <p:sp>
        <p:nvSpPr>
          <p:cNvPr id="250" name="Google Shape;250;p35"/>
          <p:cNvSpPr txBox="1"/>
          <p:nvPr/>
        </p:nvSpPr>
        <p:spPr>
          <a:xfrm>
            <a:off x="866775" y="4157662"/>
            <a:ext cx="2838450" cy="781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Tableau textuel utilisant des séparateurs (; ou ,). Idéal pour les listes simples.</a:t>
            </a:r>
            <a:endParaRPr/>
          </a:p>
        </p:txBody>
      </p:sp>
      <p:sp>
        <p:nvSpPr>
          <p:cNvPr id="251" name="Google Shape;251;p35"/>
          <p:cNvSpPr txBox="1"/>
          <p:nvPr/>
        </p:nvSpPr>
        <p:spPr>
          <a:xfrm>
            <a:off x="4605813" y="3557587"/>
            <a:ext cx="29803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Format JSON</a:t>
            </a:r>
            <a:endParaRPr/>
          </a:p>
        </p:txBody>
      </p:sp>
      <p:sp>
        <p:nvSpPr>
          <p:cNvPr id="252" name="Google Shape;252;p35"/>
          <p:cNvSpPr txBox="1"/>
          <p:nvPr/>
        </p:nvSpPr>
        <p:spPr>
          <a:xfrm>
            <a:off x="4676775" y="4157662"/>
            <a:ext cx="2838450" cy="7715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Structure hiérarchique Clé:Valeur. Plus moderne et flexible pour les objets complexes.</a:t>
            </a:r>
            <a:endParaRPr/>
          </a:p>
        </p:txBody>
      </p:sp>
      <p:sp>
        <p:nvSpPr>
          <p:cNvPr id="253" name="Google Shape;253;p35"/>
          <p:cNvSpPr txBox="1"/>
          <p:nvPr/>
        </p:nvSpPr>
        <p:spPr>
          <a:xfrm>
            <a:off x="8415813" y="3557587"/>
            <a:ext cx="298037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Texte Brut</a:t>
            </a:r>
            <a:endParaRPr/>
          </a:p>
        </p:txBody>
      </p:sp>
      <p:sp>
        <p:nvSpPr>
          <p:cNvPr id="254" name="Google Shape;254;p35"/>
          <p:cNvSpPr txBox="1"/>
          <p:nvPr/>
        </p:nvSpPr>
        <p:spPr>
          <a:xfrm>
            <a:off x="8486775" y="4157662"/>
            <a:ext cx="2838450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Données non structurées. Utile pour les logs ou les blocs de notes simples.</a:t>
            </a:r>
            <a:endParaRPr/>
          </a:p>
        </p:txBody>
      </p:sp>
      <p:pic>
        <p:nvPicPr>
          <p:cNvPr descr="image.png" id="255" name="Google Shape;255;p3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7400" y="2871787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6" name="Google Shape;256;p3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10250" y="2871787"/>
            <a:ext cx="5715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7" name="Google Shape;257;p3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5975" y="2871787"/>
            <a:ext cx="40005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35"/>
          <p:cNvSpPr txBox="1"/>
          <p:nvPr/>
        </p:nvSpPr>
        <p:spPr>
          <a:xfrm>
            <a:off x="762000" y="66675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Structure &amp; Formats de Données</a:t>
            </a:r>
            <a:endParaRPr/>
          </a:p>
        </p:txBody>
      </p:sp>
      <p:sp>
        <p:nvSpPr>
          <p:cNvPr id="259" name="Google Shape;259;p35"/>
          <p:cNvSpPr/>
          <p:nvPr/>
        </p:nvSpPr>
        <p:spPr>
          <a:xfrm>
            <a:off x="571500" y="666750"/>
            <a:ext cx="95250" cy="571500"/>
          </a:xfrm>
          <a:prstGeom prst="rect">
            <a:avLst/>
          </a:prstGeom>
          <a:solidFill>
            <a:srgbClr val="CDDC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4" name="Google Shape;26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36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36"/>
          <p:cNvSpPr txBox="1"/>
          <p:nvPr/>
        </p:nvSpPr>
        <p:spPr>
          <a:xfrm>
            <a:off x="571500" y="3238500"/>
            <a:ext cx="5286375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25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ID</a:t>
            </a:r>
            <a:endParaRPr/>
          </a:p>
        </p:txBody>
      </p:sp>
      <p:sp>
        <p:nvSpPr>
          <p:cNvPr id="267" name="Google Shape;267;p36"/>
          <p:cNvSpPr txBox="1"/>
          <p:nvPr/>
        </p:nvSpPr>
        <p:spPr>
          <a:xfrm>
            <a:off x="6334125" y="2849909"/>
            <a:ext cx="5550693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Random UUID</a:t>
            </a:r>
            <a:endParaRPr/>
          </a:p>
        </p:txBody>
      </p:sp>
      <p:sp>
        <p:nvSpPr>
          <p:cNvPr id="268" name="Google Shape;268;p36"/>
          <p:cNvSpPr txBox="1"/>
          <p:nvPr/>
        </p:nvSpPr>
        <p:spPr>
          <a:xfrm>
            <a:off x="6334125" y="3449984"/>
            <a:ext cx="528637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Sans base de données auto-incrémentée, nous utilisons la classe UUID pour générer des identifiants universellement uniques.</a:t>
            </a:r>
            <a:endParaRPr/>
          </a:p>
        </p:txBody>
      </p:sp>
      <p:sp>
        <p:nvSpPr>
          <p:cNvPr id="269" name="Google Shape;269;p36"/>
          <p:cNvSpPr txBox="1"/>
          <p:nvPr/>
        </p:nvSpPr>
        <p:spPr>
          <a:xfrm>
            <a:off x="762000" y="66675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Identification Unique : UUID</a:t>
            </a:r>
            <a:endParaRPr/>
          </a:p>
        </p:txBody>
      </p:sp>
      <p:sp>
        <p:nvSpPr>
          <p:cNvPr id="270" name="Google Shape;270;p36"/>
          <p:cNvSpPr/>
          <p:nvPr/>
        </p:nvSpPr>
        <p:spPr>
          <a:xfrm>
            <a:off x="571500" y="666750"/>
            <a:ext cx="95250" cy="571500"/>
          </a:xfrm>
          <a:prstGeom prst="rect">
            <a:avLst/>
          </a:prstGeom>
          <a:solidFill>
            <a:srgbClr val="CDDC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5" name="Google Shape;27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6" name="Google Shape;27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19562"/>
            <a:ext cx="11049000" cy="1905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7" name="Google Shape;277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1881187"/>
            <a:ext cx="5286375" cy="2047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8" name="Google Shape;278;p3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34125" y="1885950"/>
            <a:ext cx="5286375" cy="2038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9" name="Google Shape;279;p37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0" name="Google Shape;280;p3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1025" y="4129087"/>
            <a:ext cx="11029950" cy="1885950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7"/>
          <p:cNvSpPr txBox="1"/>
          <p:nvPr/>
        </p:nvSpPr>
        <p:spPr>
          <a:xfrm>
            <a:off x="962025" y="2271712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FileManager (Logique)</a:t>
            </a:r>
            <a:endParaRPr/>
          </a:p>
        </p:txBody>
      </p:sp>
      <p:sp>
        <p:nvSpPr>
          <p:cNvPr id="282" name="Google Shape;282;p37"/>
          <p:cNvSpPr txBox="1"/>
          <p:nvPr/>
        </p:nvSpPr>
        <p:spPr>
          <a:xfrm>
            <a:off x="962025" y="2871787"/>
            <a:ext cx="4505325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Classe utilitaire isolant les flux java.io. Elle ne doit rien savoir de l'interface utilisateur.</a:t>
            </a:r>
            <a:endParaRPr/>
          </a:p>
        </p:txBody>
      </p:sp>
      <p:sp>
        <p:nvSpPr>
          <p:cNvPr id="283" name="Google Shape;283;p37"/>
          <p:cNvSpPr txBox="1"/>
          <p:nvPr/>
        </p:nvSpPr>
        <p:spPr>
          <a:xfrm>
            <a:off x="6724650" y="2276475"/>
            <a:ext cx="4730591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Activity (UI)</a:t>
            </a:r>
            <a:endParaRPr/>
          </a:p>
        </p:txBody>
      </p:sp>
      <p:sp>
        <p:nvSpPr>
          <p:cNvPr id="284" name="Google Shape;284;p37"/>
          <p:cNvSpPr txBox="1"/>
          <p:nvPr/>
        </p:nvSpPr>
        <p:spPr>
          <a:xfrm>
            <a:off x="6724650" y="2876550"/>
            <a:ext cx="450532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Gère uniquement l'affichage et les clics. Elle appelle les méthodes de FileManager sans en connaître la technique.</a:t>
            </a:r>
            <a:endParaRPr/>
          </a:p>
        </p:txBody>
      </p:sp>
      <p:sp>
        <p:nvSpPr>
          <p:cNvPr id="285" name="Google Shape;285;p37"/>
          <p:cNvSpPr txBox="1"/>
          <p:nvPr/>
        </p:nvSpPr>
        <p:spPr>
          <a:xfrm>
            <a:off x="762000" y="66675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Architecture :FileManager vs Activity</a:t>
            </a:r>
            <a:endParaRPr/>
          </a:p>
        </p:txBody>
      </p:sp>
      <p:sp>
        <p:nvSpPr>
          <p:cNvPr id="286" name="Google Shape;286;p37"/>
          <p:cNvSpPr/>
          <p:nvPr/>
        </p:nvSpPr>
        <p:spPr>
          <a:xfrm>
            <a:off x="571500" y="666750"/>
            <a:ext cx="95250" cy="571500"/>
          </a:xfrm>
          <a:prstGeom prst="rect">
            <a:avLst/>
          </a:prstGeom>
          <a:solidFill>
            <a:srgbClr val="CDDC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1" name="Google Shape;291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8"/>
          <p:cNvSpPr txBox="1"/>
          <p:nvPr/>
        </p:nvSpPr>
        <p:spPr>
          <a:xfrm>
            <a:off x="3805221" y="2177950"/>
            <a:ext cx="5968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Ajouter une ligne dans un fichier CSV (openFileOutput) :</a:t>
            </a:r>
            <a:endParaRPr/>
          </a:p>
        </p:txBody>
      </p:sp>
      <p:sp>
        <p:nvSpPr>
          <p:cNvPr id="293" name="Google Shape;293;p38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CRUD : CREATE (Écriture)</a:t>
            </a:r>
            <a:endParaRPr/>
          </a:p>
        </p:txBody>
      </p:sp>
      <p:sp>
        <p:nvSpPr>
          <p:cNvPr id="294" name="Google Shape;294;p38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/>
          <p:nvPr/>
        </p:nvSpPr>
        <p:spPr>
          <a:xfrm>
            <a:off x="0" y="0"/>
            <a:ext cx="1428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9"/>
          <p:cNvSpPr txBox="1"/>
          <p:nvPr/>
        </p:nvSpPr>
        <p:spPr>
          <a:xfrm>
            <a:off x="714375" y="2852737"/>
            <a:ext cx="1090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Modes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MODE_PRIVATE (Écrase) vs MODE_APPEND (Ajoute à la suite).</a:t>
            </a:r>
            <a:endParaRPr/>
          </a:p>
        </p:txBody>
      </p:sp>
      <p:sp>
        <p:nvSpPr>
          <p:cNvPr id="301" name="Google Shape;301;p39"/>
          <p:cNvSpPr txBox="1"/>
          <p:nvPr/>
        </p:nvSpPr>
        <p:spPr>
          <a:xfrm>
            <a:off x="714375" y="3386137"/>
            <a:ext cx="1090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Wrappers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OutputStreamWriter + BufferedWriter pour la performance.</a:t>
            </a:r>
            <a:endParaRPr/>
          </a:p>
        </p:txBody>
      </p:sp>
      <p:sp>
        <p:nvSpPr>
          <p:cNvPr id="302" name="Google Shape;302;p39"/>
          <p:cNvSpPr txBox="1"/>
          <p:nvPr/>
        </p:nvSpPr>
        <p:spPr>
          <a:xfrm>
            <a:off x="714375" y="3919537"/>
            <a:ext cx="1090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Gestion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Toujours utiliser un bloc try-catch pour les IOException.</a:t>
            </a:r>
            <a:endParaRPr/>
          </a:p>
        </p:txBody>
      </p:sp>
      <p:sp>
        <p:nvSpPr>
          <p:cNvPr id="303" name="Google Shape;303;p39"/>
          <p:cNvSpPr txBox="1"/>
          <p:nvPr/>
        </p:nvSpPr>
        <p:spPr>
          <a:xfrm>
            <a:off x="714375" y="4452937"/>
            <a:ext cx="1090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3333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Flux :</a:t>
            </a: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N'oubliez jamais le close() pour libérer les ressources.</a:t>
            </a:r>
            <a:endParaRPr/>
          </a:p>
        </p:txBody>
      </p:sp>
      <p:pic>
        <p:nvPicPr>
          <p:cNvPr descr="image.png" id="304" name="Google Shape;30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29051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5" name="Google Shape;305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34385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6" name="Google Shape;306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3971925"/>
            <a:ext cx="19050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7" name="Google Shape;30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4505325"/>
            <a:ext cx="190500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9"/>
          <p:cNvSpPr txBox="1"/>
          <p:nvPr/>
        </p:nvSpPr>
        <p:spPr>
          <a:xfrm>
            <a:off x="714375" y="57150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CONCEPTS D'ÉCRITURE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3" name="Google Shape;31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40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CRUD : READ (Lecture)</a:t>
            </a:r>
            <a:endParaRPr/>
          </a:p>
        </p:txBody>
      </p:sp>
      <p:sp>
        <p:nvSpPr>
          <p:cNvPr id="315" name="Google Shape;315;p40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40"/>
          <p:cNvSpPr txBox="1"/>
          <p:nvPr/>
        </p:nvSpPr>
        <p:spPr>
          <a:xfrm>
            <a:off x="6436825" y="4256838"/>
            <a:ext cx="5550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Lecture Ligne par Ligne</a:t>
            </a:r>
            <a:endParaRPr/>
          </a:p>
        </p:txBody>
      </p:sp>
      <p:sp>
        <p:nvSpPr>
          <p:cNvPr id="317" name="Google Shape;317;p40"/>
          <p:cNvSpPr txBox="1"/>
          <p:nvPr/>
        </p:nvSpPr>
        <p:spPr>
          <a:xfrm>
            <a:off x="6436825" y="4845338"/>
            <a:ext cx="52863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L'utilisation d'une ArrayList permet de stocker les données en mémoire vive pour un traitement ultérieur par l'UI.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41"/>
          <p:cNvSpPr/>
          <p:nvPr/>
        </p:nvSpPr>
        <p:spPr>
          <a:xfrm>
            <a:off x="0" y="0"/>
            <a:ext cx="1428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1"/>
          <p:cNvSpPr txBox="1"/>
          <p:nvPr/>
        </p:nvSpPr>
        <p:spPr>
          <a:xfrm>
            <a:off x="714375" y="2938462"/>
            <a:ext cx="52626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0" u="none" cap="none" strike="noStrike">
                <a:solidFill>
                  <a:srgbClr val="4CAF50"/>
                </a:solidFill>
                <a:latin typeface="Lato"/>
                <a:ea typeface="Lato"/>
                <a:cs typeface="Lato"/>
                <a:sym typeface="Lato"/>
              </a:rPr>
              <a:t>03</a:t>
            </a:r>
            <a:endParaRPr/>
          </a:p>
        </p:txBody>
      </p:sp>
      <p:sp>
        <p:nvSpPr>
          <p:cNvPr id="324" name="Google Shape;324;p41"/>
          <p:cNvSpPr txBox="1"/>
          <p:nvPr/>
        </p:nvSpPr>
        <p:spPr>
          <a:xfrm>
            <a:off x="714375" y="4119562"/>
            <a:ext cx="52626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Étapes Obligatoires</a:t>
            </a:r>
            <a:endParaRPr/>
          </a:p>
        </p:txBody>
      </p:sp>
      <p:sp>
        <p:nvSpPr>
          <p:cNvPr id="325" name="Google Shape;325;p41"/>
          <p:cNvSpPr txBox="1"/>
          <p:nvPr/>
        </p:nvSpPr>
        <p:spPr>
          <a:xfrm>
            <a:off x="6357937" y="3128962"/>
            <a:ext cx="526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Il n'y a pas d'update direct.</a:t>
            </a:r>
            <a:endParaRPr/>
          </a:p>
        </p:txBody>
      </p:sp>
      <p:sp>
        <p:nvSpPr>
          <p:cNvPr id="326" name="Google Shape;326;p41"/>
          <p:cNvSpPr txBox="1"/>
          <p:nvPr/>
        </p:nvSpPr>
        <p:spPr>
          <a:xfrm>
            <a:off x="6357937" y="3605212"/>
            <a:ext cx="526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Lire tout le contenu en RAM (String/List).</a:t>
            </a:r>
            <a:endParaRPr/>
          </a:p>
        </p:txBody>
      </p:sp>
      <p:sp>
        <p:nvSpPr>
          <p:cNvPr id="327" name="Google Shape;327;p41"/>
          <p:cNvSpPr txBox="1"/>
          <p:nvPr/>
        </p:nvSpPr>
        <p:spPr>
          <a:xfrm>
            <a:off x="6357937" y="4033837"/>
            <a:ext cx="526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Modifier la donnée en mémoire.</a:t>
            </a:r>
            <a:endParaRPr/>
          </a:p>
        </p:txBody>
      </p:sp>
      <p:sp>
        <p:nvSpPr>
          <p:cNvPr id="328" name="Google Shape;328;p41"/>
          <p:cNvSpPr txBox="1"/>
          <p:nvPr/>
        </p:nvSpPr>
        <p:spPr>
          <a:xfrm>
            <a:off x="6357937" y="4462462"/>
            <a:ext cx="52626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Réécrire le fichier complet (MODE_PRIVATE).</a:t>
            </a:r>
            <a:endParaRPr/>
          </a:p>
        </p:txBody>
      </p:sp>
      <p:pic>
        <p:nvPicPr>
          <p:cNvPr descr="image.png" id="329" name="Google Shape;329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7937" y="3657600"/>
            <a:ext cx="95250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57937" y="4086225"/>
            <a:ext cx="123825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1" name="Google Shape;331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7937" y="4514850"/>
            <a:ext cx="1238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1"/>
          <p:cNvSpPr txBox="1"/>
          <p:nvPr/>
        </p:nvSpPr>
        <p:spPr>
          <a:xfrm>
            <a:off x="714375" y="57150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LA MISE À JOUR (LE PIÈGE)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7" name="Google Shape;337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42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2"/>
          <p:cNvSpPr txBox="1"/>
          <p:nvPr/>
        </p:nvSpPr>
        <p:spPr>
          <a:xfrm>
            <a:off x="1400175" y="3128962"/>
            <a:ext cx="9772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Pas d'accès direct :</a:t>
            </a: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On ne peut pas modifier ou supprimer une ligne spécifique au milieu d'un fichier texte directement.</a:t>
            </a:r>
            <a:endParaRPr/>
          </a:p>
        </p:txBody>
      </p:sp>
      <p:sp>
        <p:nvSpPr>
          <p:cNvPr id="340" name="Google Shape;340;p42"/>
          <p:cNvSpPr txBox="1"/>
          <p:nvPr/>
        </p:nvSpPr>
        <p:spPr>
          <a:xfrm>
            <a:off x="1400175" y="3567097"/>
            <a:ext cx="10440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Cycle de modification :</a:t>
            </a: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Pour mettre à jour : on lit tout le contenu, on le modifie en mémoire (ArrayList), puis on réécrit TOUT le fichier.</a:t>
            </a:r>
            <a:endParaRPr/>
          </a:p>
        </p:txBody>
      </p:sp>
      <p:sp>
        <p:nvSpPr>
          <p:cNvPr id="341" name="Google Shape;341;p42"/>
          <p:cNvSpPr txBox="1"/>
          <p:nvPr/>
        </p:nvSpPr>
        <p:spPr>
          <a:xfrm>
            <a:off x="1400175" y="4024312"/>
            <a:ext cx="97726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Suppression :</a:t>
            </a: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De même pour supprimer : on réécrit le fichier en omettant la ligne à supprimer.</a:t>
            </a:r>
            <a:endParaRPr/>
          </a:p>
        </p:txBody>
      </p:sp>
      <p:sp>
        <p:nvSpPr>
          <p:cNvPr id="342" name="Google Shape;342;p42"/>
          <p:cNvSpPr txBox="1"/>
          <p:nvPr/>
        </p:nvSpPr>
        <p:spPr>
          <a:xfrm>
            <a:off x="1400175" y="4471987"/>
            <a:ext cx="977265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Mode :</a:t>
            </a:r>
            <a:r>
              <a:rPr b="0" i="0" lang="en-US" sz="135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 Utilisez MODE_PRIVATE lors de la réécriture pour écraser l'ancien contenu.</a:t>
            </a:r>
            <a:endParaRPr/>
          </a:p>
        </p:txBody>
      </p:sp>
      <p:pic>
        <p:nvPicPr>
          <p:cNvPr descr="image.png" id="343" name="Google Shape;343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19175" y="3167062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4" name="Google Shape;344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19175" y="36147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4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19175" y="406241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6" name="Google Shape;346;p4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19175" y="4510087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347" name="Google Shape;347;p42"/>
          <p:cNvSpPr txBox="1"/>
          <p:nvPr/>
        </p:nvSpPr>
        <p:spPr>
          <a:xfrm>
            <a:off x="762000" y="666750"/>
            <a:ext cx="11401425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UPDATE &amp; DELETE : La Logique</a:t>
            </a:r>
            <a:endParaRPr/>
          </a:p>
        </p:txBody>
      </p:sp>
      <p:sp>
        <p:nvSpPr>
          <p:cNvPr id="348" name="Google Shape;348;p42"/>
          <p:cNvSpPr/>
          <p:nvPr/>
        </p:nvSpPr>
        <p:spPr>
          <a:xfrm>
            <a:off x="571500" y="666750"/>
            <a:ext cx="95250" cy="571500"/>
          </a:xfrm>
          <a:prstGeom prst="rect">
            <a:avLst/>
          </a:prstGeom>
          <a:solidFill>
            <a:srgbClr val="CDDC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3" name="Google Shape;353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4" name="Google Shape;354;p43"/>
          <p:cNvSpPr/>
          <p:nvPr/>
        </p:nvSpPr>
        <p:spPr>
          <a:xfrm>
            <a:off x="0" y="0"/>
            <a:ext cx="1428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3"/>
          <p:cNvSpPr txBox="1"/>
          <p:nvPr/>
        </p:nvSpPr>
        <p:spPr>
          <a:xfrm>
            <a:off x="441721" y="2400300"/>
            <a:ext cx="114513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Architecture &amp; Sécurité</a:t>
            </a:r>
            <a:endParaRPr/>
          </a:p>
        </p:txBody>
      </p:sp>
      <p:sp>
        <p:nvSpPr>
          <p:cNvPr id="356" name="Google Shape;356;p43"/>
          <p:cNvSpPr/>
          <p:nvPr/>
        </p:nvSpPr>
        <p:spPr>
          <a:xfrm>
            <a:off x="5691187" y="3543300"/>
            <a:ext cx="952500" cy="573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1" name="Google Shape;361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2624137"/>
            <a:ext cx="3508325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2" name="Google Shape;362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13200" y="2624137"/>
            <a:ext cx="3508325" cy="2590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3" name="Google Shape;363;p4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12025" y="2624137"/>
            <a:ext cx="3508325" cy="2590800"/>
          </a:xfrm>
          <a:prstGeom prst="rect">
            <a:avLst/>
          </a:prstGeom>
          <a:noFill/>
          <a:ln>
            <a:noFill/>
          </a:ln>
        </p:spPr>
      </p:pic>
      <p:sp>
        <p:nvSpPr>
          <p:cNvPr id="364" name="Google Shape;364;p44"/>
          <p:cNvSpPr/>
          <p:nvPr/>
        </p:nvSpPr>
        <p:spPr>
          <a:xfrm>
            <a:off x="0" y="0"/>
            <a:ext cx="1428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44"/>
          <p:cNvSpPr txBox="1"/>
          <p:nvPr/>
        </p:nvSpPr>
        <p:spPr>
          <a:xfrm>
            <a:off x="952500" y="3452812"/>
            <a:ext cx="3183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Abstraction</a:t>
            </a:r>
            <a:endParaRPr/>
          </a:p>
        </p:txBody>
      </p:sp>
      <p:sp>
        <p:nvSpPr>
          <p:cNvPr id="366" name="Google Shape;366;p44"/>
          <p:cNvSpPr txBox="1"/>
          <p:nvPr/>
        </p:nvSpPr>
        <p:spPr>
          <a:xfrm>
            <a:off x="952500" y="3919537"/>
            <a:ext cx="303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L'Activity ne doit pas contenir la logique de flux. Créez une classe utilitaire.</a:t>
            </a:r>
            <a:endParaRPr/>
          </a:p>
        </p:txBody>
      </p:sp>
      <p:sp>
        <p:nvSpPr>
          <p:cNvPr id="367" name="Google Shape;367;p44"/>
          <p:cNvSpPr txBox="1"/>
          <p:nvPr/>
        </p:nvSpPr>
        <p:spPr>
          <a:xfrm>
            <a:off x="4651325" y="3452812"/>
            <a:ext cx="3183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Exception Handling</a:t>
            </a:r>
            <a:endParaRPr/>
          </a:p>
        </p:txBody>
      </p:sp>
      <p:sp>
        <p:nvSpPr>
          <p:cNvPr id="368" name="Google Shape;368;p44"/>
          <p:cNvSpPr txBox="1"/>
          <p:nvPr/>
        </p:nvSpPr>
        <p:spPr>
          <a:xfrm>
            <a:off x="4651325" y="3919537"/>
            <a:ext cx="303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Gérer systématiquement FileNotFoundException et les fichiers vides.</a:t>
            </a:r>
            <a:endParaRPr/>
          </a:p>
        </p:txBody>
      </p:sp>
      <p:sp>
        <p:nvSpPr>
          <p:cNvPr id="369" name="Google Shape;369;p44"/>
          <p:cNvSpPr txBox="1"/>
          <p:nvPr/>
        </p:nvSpPr>
        <p:spPr>
          <a:xfrm>
            <a:off x="8350150" y="3452812"/>
            <a:ext cx="3183600" cy="2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Main Thread</a:t>
            </a:r>
            <a:endParaRPr/>
          </a:p>
        </p:txBody>
      </p:sp>
      <p:sp>
        <p:nvSpPr>
          <p:cNvPr id="370" name="Google Shape;370;p44"/>
          <p:cNvSpPr txBox="1"/>
          <p:nvPr/>
        </p:nvSpPr>
        <p:spPr>
          <a:xfrm>
            <a:off x="8350150" y="3919537"/>
            <a:ext cx="303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Attention aux ANR (Application Not Responding)! Les fichiers lourds se lisent en arrière-plan (Threads).</a:t>
            </a:r>
            <a:endParaRPr/>
          </a:p>
        </p:txBody>
      </p:sp>
      <p:pic>
        <p:nvPicPr>
          <p:cNvPr descr="image.png" id="371" name="Google Shape;371;p4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52500" y="2957512"/>
            <a:ext cx="3714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2" name="Google Shape;372;p4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51325" y="2957512"/>
            <a:ext cx="333375" cy="333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3" name="Google Shape;373;p4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350150" y="2957512"/>
            <a:ext cx="333375" cy="333375"/>
          </a:xfrm>
          <a:prstGeom prst="rect">
            <a:avLst/>
          </a:prstGeom>
          <a:noFill/>
          <a:ln>
            <a:noFill/>
          </a:ln>
        </p:spPr>
      </p:pic>
      <p:sp>
        <p:nvSpPr>
          <p:cNvPr id="374" name="Google Shape;374;p44"/>
          <p:cNvSpPr txBox="1"/>
          <p:nvPr/>
        </p:nvSpPr>
        <p:spPr>
          <a:xfrm>
            <a:off x="714375" y="57150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FILEMANAGER : ARCHITECTURE PROPRE</a:t>
            </a:r>
            <a:endParaRPr/>
          </a:p>
        </p:txBody>
      </p:sp>
      <p:sp>
        <p:nvSpPr>
          <p:cNvPr id="375" name="Google Shape;375;p44"/>
          <p:cNvSpPr txBox="1"/>
          <p:nvPr/>
        </p:nvSpPr>
        <p:spPr>
          <a:xfrm>
            <a:off x="2477025" y="5380500"/>
            <a:ext cx="81732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097A4"/>
                </a:solidFill>
              </a:rPr>
              <a:t>Le Main Thread gère l’écran.</a:t>
            </a:r>
            <a:endParaRPr>
              <a:solidFill>
                <a:srgbClr val="8097A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097A4"/>
                </a:solidFill>
              </a:rPr>
              <a:t>Si on lui donne un travail lourd, l’application se bloque.</a:t>
            </a:r>
            <a:endParaRPr>
              <a:solidFill>
                <a:srgbClr val="8097A4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8097A4"/>
                </a:solidFill>
              </a:rPr>
              <a:t>Les tâches longues doivent être exécutées dans un Thread secondaire.</a:t>
            </a:r>
            <a:endParaRPr>
              <a:solidFill>
                <a:srgbClr val="8097A4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/>
          <p:nvPr/>
        </p:nvSpPr>
        <p:spPr>
          <a:xfrm>
            <a:off x="0" y="0"/>
            <a:ext cx="1428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1" name="Google Shape;381;p45"/>
          <p:cNvGraphicFramePr/>
          <p:nvPr/>
        </p:nvGraphicFramePr>
        <p:xfrm>
          <a:off x="714375" y="28575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{525F5FE2-F4E7-418E-A3F1-90E46D391CC8}</a:tableStyleId>
              </a:tblPr>
              <a:tblGrid>
                <a:gridCol w="2309950"/>
                <a:gridCol w="3408175"/>
                <a:gridCol w="5188000"/>
              </a:tblGrid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Format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Cas d'usage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Texte brut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Aucune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Notes simples, journaux.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CSV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Sémi-structuré (;)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Listes exportables, Tableaux.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</a:tr>
              <a:tr h="57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JSON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Hiérarchique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Objets complexes, API.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2" name="Google Shape;382;p45"/>
          <p:cNvSpPr/>
          <p:nvPr/>
        </p:nvSpPr>
        <p:spPr>
          <a:xfrm>
            <a:off x="714375" y="3995737"/>
            <a:ext cx="23100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5"/>
          <p:cNvSpPr/>
          <p:nvPr/>
        </p:nvSpPr>
        <p:spPr>
          <a:xfrm>
            <a:off x="3024336" y="3995737"/>
            <a:ext cx="34083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5"/>
          <p:cNvSpPr/>
          <p:nvPr/>
        </p:nvSpPr>
        <p:spPr>
          <a:xfrm>
            <a:off x="6432500" y="3995737"/>
            <a:ext cx="51879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45"/>
          <p:cNvSpPr/>
          <p:nvPr/>
        </p:nvSpPr>
        <p:spPr>
          <a:xfrm>
            <a:off x="714375" y="4576762"/>
            <a:ext cx="23100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5"/>
          <p:cNvSpPr/>
          <p:nvPr/>
        </p:nvSpPr>
        <p:spPr>
          <a:xfrm>
            <a:off x="3024336" y="4576762"/>
            <a:ext cx="34083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5"/>
          <p:cNvSpPr/>
          <p:nvPr/>
        </p:nvSpPr>
        <p:spPr>
          <a:xfrm>
            <a:off x="6432500" y="4576762"/>
            <a:ext cx="51879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5"/>
          <p:cNvSpPr/>
          <p:nvPr/>
        </p:nvSpPr>
        <p:spPr>
          <a:xfrm>
            <a:off x="714375" y="5157787"/>
            <a:ext cx="23100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5"/>
          <p:cNvSpPr/>
          <p:nvPr/>
        </p:nvSpPr>
        <p:spPr>
          <a:xfrm>
            <a:off x="3024336" y="5157787"/>
            <a:ext cx="34083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5"/>
          <p:cNvSpPr/>
          <p:nvPr/>
        </p:nvSpPr>
        <p:spPr>
          <a:xfrm>
            <a:off x="6432500" y="5157787"/>
            <a:ext cx="51879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5"/>
          <p:cNvSpPr txBox="1"/>
          <p:nvPr/>
        </p:nvSpPr>
        <p:spPr>
          <a:xfrm>
            <a:off x="714375" y="57150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FORMAT DES DONNÉES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6" name="Google Shape;39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4375" y="1552575"/>
            <a:ext cx="10906126" cy="4733925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46"/>
          <p:cNvSpPr/>
          <p:nvPr/>
        </p:nvSpPr>
        <p:spPr>
          <a:xfrm>
            <a:off x="0" y="0"/>
            <a:ext cx="142800" cy="6858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6"/>
          <p:cNvSpPr txBox="1"/>
          <p:nvPr/>
        </p:nvSpPr>
        <p:spPr>
          <a:xfrm>
            <a:off x="714375" y="4538662"/>
            <a:ext cx="109062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Le choix dépend de la structure et du volume de vos données.</a:t>
            </a:r>
            <a:endParaRPr/>
          </a:p>
        </p:txBody>
      </p:sp>
      <p:sp>
        <p:nvSpPr>
          <p:cNvPr id="399" name="Google Shape;399;p46"/>
          <p:cNvSpPr txBox="1"/>
          <p:nvPr/>
        </p:nvSpPr>
        <p:spPr>
          <a:xfrm>
            <a:off x="714375" y="571500"/>
            <a:ext cx="11451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2E7D32"/>
                </a:solidFill>
                <a:latin typeface="Poppins"/>
                <a:ea typeface="Poppins"/>
                <a:cs typeface="Poppins"/>
                <a:sym typeface="Poppins"/>
              </a:rPr>
              <a:t>COMPARAISON DES SOLUTIONS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04" name="Google Shape;404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05" name="Google Shape;405;p47"/>
          <p:cNvGraphicFramePr/>
          <p:nvPr/>
        </p:nvGraphicFramePr>
        <p:xfrm>
          <a:off x="571500" y="24812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{525F5FE2-F4E7-418E-A3F1-90E46D391CC8}</a:tableStyleId>
              </a:tblPr>
              <a:tblGrid>
                <a:gridCol w="2017525"/>
                <a:gridCol w="3346700"/>
                <a:gridCol w="2930275"/>
                <a:gridCol w="2754500"/>
              </a:tblGrid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Critère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Fichiers (CSV/JSON)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SQLite / Room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Firebase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E7D32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Structure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Simple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Structuré (Tables)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NoSQL (Cloud)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Recherche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Manuelle (Boucles)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Requêtes SQL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Temps réel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Scalabilité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Faible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Élevée (Local)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Illimitée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Accès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Local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33691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Réseau / Distant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9FDF9"/>
                    </a:solidFill>
                  </a:tcPr>
                </a:tc>
              </a:tr>
            </a:tbl>
          </a:graphicData>
        </a:graphic>
      </p:graphicFrame>
      <p:sp>
        <p:nvSpPr>
          <p:cNvPr id="406" name="Google Shape;406;p47"/>
          <p:cNvSpPr/>
          <p:nvPr/>
        </p:nvSpPr>
        <p:spPr>
          <a:xfrm>
            <a:off x="571500" y="3581400"/>
            <a:ext cx="20175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7"/>
          <p:cNvSpPr/>
          <p:nvPr/>
        </p:nvSpPr>
        <p:spPr>
          <a:xfrm>
            <a:off x="2589014" y="3581400"/>
            <a:ext cx="33468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7"/>
          <p:cNvSpPr/>
          <p:nvPr/>
        </p:nvSpPr>
        <p:spPr>
          <a:xfrm>
            <a:off x="5935712" y="3581400"/>
            <a:ext cx="29304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47"/>
          <p:cNvSpPr/>
          <p:nvPr/>
        </p:nvSpPr>
        <p:spPr>
          <a:xfrm>
            <a:off x="8865989" y="3581400"/>
            <a:ext cx="27546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47"/>
          <p:cNvSpPr/>
          <p:nvPr/>
        </p:nvSpPr>
        <p:spPr>
          <a:xfrm>
            <a:off x="571500" y="4143375"/>
            <a:ext cx="20175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47"/>
          <p:cNvSpPr/>
          <p:nvPr/>
        </p:nvSpPr>
        <p:spPr>
          <a:xfrm>
            <a:off x="2589014" y="4143375"/>
            <a:ext cx="33468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7"/>
          <p:cNvSpPr/>
          <p:nvPr/>
        </p:nvSpPr>
        <p:spPr>
          <a:xfrm>
            <a:off x="5935712" y="4143375"/>
            <a:ext cx="29304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47"/>
          <p:cNvSpPr/>
          <p:nvPr/>
        </p:nvSpPr>
        <p:spPr>
          <a:xfrm>
            <a:off x="8865989" y="4143375"/>
            <a:ext cx="27546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7"/>
          <p:cNvSpPr/>
          <p:nvPr/>
        </p:nvSpPr>
        <p:spPr>
          <a:xfrm>
            <a:off x="571500" y="4705350"/>
            <a:ext cx="20175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7"/>
          <p:cNvSpPr/>
          <p:nvPr/>
        </p:nvSpPr>
        <p:spPr>
          <a:xfrm>
            <a:off x="2589014" y="4705350"/>
            <a:ext cx="33468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7"/>
          <p:cNvSpPr/>
          <p:nvPr/>
        </p:nvSpPr>
        <p:spPr>
          <a:xfrm>
            <a:off x="5935712" y="4705350"/>
            <a:ext cx="29304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47"/>
          <p:cNvSpPr/>
          <p:nvPr/>
        </p:nvSpPr>
        <p:spPr>
          <a:xfrm>
            <a:off x="8865989" y="4705350"/>
            <a:ext cx="27546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7"/>
          <p:cNvSpPr/>
          <p:nvPr/>
        </p:nvSpPr>
        <p:spPr>
          <a:xfrm>
            <a:off x="571500" y="5267325"/>
            <a:ext cx="20175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7"/>
          <p:cNvSpPr/>
          <p:nvPr/>
        </p:nvSpPr>
        <p:spPr>
          <a:xfrm>
            <a:off x="2589014" y="5267325"/>
            <a:ext cx="33468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7"/>
          <p:cNvSpPr/>
          <p:nvPr/>
        </p:nvSpPr>
        <p:spPr>
          <a:xfrm>
            <a:off x="5935712" y="5267325"/>
            <a:ext cx="29304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7"/>
          <p:cNvSpPr/>
          <p:nvPr/>
        </p:nvSpPr>
        <p:spPr>
          <a:xfrm>
            <a:off x="8865989" y="5267325"/>
            <a:ext cx="2754600" cy="9600"/>
          </a:xfrm>
          <a:prstGeom prst="rect">
            <a:avLst/>
          </a:prstGeom>
          <a:solidFill>
            <a:srgbClr val="C8E6C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7"/>
          <p:cNvSpPr txBox="1"/>
          <p:nvPr/>
        </p:nvSpPr>
        <p:spPr>
          <a:xfrm>
            <a:off x="762000" y="571500"/>
            <a:ext cx="114015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30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Comparaison Pédagogique</a:t>
            </a:r>
            <a:endParaRPr/>
          </a:p>
        </p:txBody>
      </p:sp>
      <p:sp>
        <p:nvSpPr>
          <p:cNvPr id="423" name="Google Shape;423;p47"/>
          <p:cNvSpPr/>
          <p:nvPr/>
        </p:nvSpPr>
        <p:spPr>
          <a:xfrm>
            <a:off x="571500" y="571500"/>
            <a:ext cx="95400" cy="6192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8" name="Google Shape;42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48"/>
          <p:cNvSpPr/>
          <p:nvPr/>
        </p:nvSpPr>
        <p:spPr>
          <a:xfrm>
            <a:off x="0" y="0"/>
            <a:ext cx="12192000" cy="9525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30" name="Google Shape;430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0" y="234315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1" name="Google Shape;431;p48"/>
          <p:cNvSpPr txBox="1"/>
          <p:nvPr/>
        </p:nvSpPr>
        <p:spPr>
          <a:xfrm>
            <a:off x="3330654" y="3390900"/>
            <a:ext cx="5530691" cy="733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B5E20"/>
                </a:solidFill>
                <a:latin typeface="Poppins"/>
                <a:ea typeface="Poppins"/>
                <a:cs typeface="Poppins"/>
                <a:sym typeface="Poppins"/>
              </a:rPr>
              <a:t>Des questions ?</a:t>
            </a:r>
            <a:endParaRPr/>
          </a:p>
        </p:txBody>
      </p:sp>
      <p:sp>
        <p:nvSpPr>
          <p:cNvPr id="432" name="Google Shape;432;p48"/>
          <p:cNvSpPr txBox="1"/>
          <p:nvPr/>
        </p:nvSpPr>
        <p:spPr>
          <a:xfrm>
            <a:off x="3462350" y="4562725"/>
            <a:ext cx="5267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Cours de Gestion de</a:t>
            </a:r>
            <a:r>
              <a:rPr lang="en-US" sz="1800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s Fichiers </a:t>
            </a:r>
            <a:r>
              <a:rPr b="0" i="0" lang="en-US" sz="1800" u="none" cap="none" strike="noStrike">
                <a:solidFill>
                  <a:srgbClr val="33691E"/>
                </a:solidFill>
                <a:latin typeface="Lato"/>
                <a:ea typeface="Lato"/>
                <a:cs typeface="Lato"/>
                <a:sym typeface="Lato"/>
              </a:rPr>
              <a:t>- BTS DAI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ater Transport Infographics by Slidesgo">
  <a:themeElements>
    <a:clrScheme name="Personnalisé 3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B0D0E2"/>
      </a:accent1>
      <a:accent2>
        <a:srgbClr val="C00000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