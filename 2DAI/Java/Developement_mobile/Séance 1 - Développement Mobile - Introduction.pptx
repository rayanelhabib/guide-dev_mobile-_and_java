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60" r:id="rId1"/>
  </p:sldMasterIdLst>
  <p:notesMasterIdLst>
    <p:notesMasterId r:id="rId24"/>
  </p:notesMasterIdLst>
  <p:handoutMasterIdLst>
    <p:handoutMasterId r:id="rId25"/>
  </p:handoutMasterIdLst>
  <p:sldIdLst>
    <p:sldId id="316" r:id="rId2"/>
    <p:sldId id="391" r:id="rId3"/>
    <p:sldId id="407" r:id="rId4"/>
    <p:sldId id="409" r:id="rId5"/>
    <p:sldId id="392" r:id="rId6"/>
    <p:sldId id="397" r:id="rId7"/>
    <p:sldId id="399" r:id="rId8"/>
    <p:sldId id="398" r:id="rId9"/>
    <p:sldId id="400" r:id="rId10"/>
    <p:sldId id="401" r:id="rId11"/>
    <p:sldId id="402" r:id="rId12"/>
    <p:sldId id="403" r:id="rId13"/>
    <p:sldId id="405" r:id="rId14"/>
    <p:sldId id="406" r:id="rId15"/>
    <p:sldId id="404" r:id="rId16"/>
    <p:sldId id="410" r:id="rId17"/>
    <p:sldId id="411" r:id="rId18"/>
    <p:sldId id="393" r:id="rId19"/>
    <p:sldId id="394" r:id="rId20"/>
    <p:sldId id="395" r:id="rId21"/>
    <p:sldId id="396" r:id="rId22"/>
    <p:sldId id="385" r:id="rId23"/>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8043"/>
    <a:srgbClr val="7B2E39"/>
    <a:srgbClr val="712337"/>
    <a:srgbClr val="7716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p:cViewPr varScale="1">
        <p:scale>
          <a:sx n="62" d="100"/>
          <a:sy n="62" d="100"/>
        </p:scale>
        <p:origin x="825" y="4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EF8515DF-D1B2-4BEC-8CF0-419581036E52}"/>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r">
              <a:defRPr sz="1200"/>
            </a:lvl1pPr>
          </a:lstStyle>
          <a:p>
            <a:endParaRPr lang="ar-MA"/>
          </a:p>
        </p:txBody>
      </p:sp>
      <p:sp>
        <p:nvSpPr>
          <p:cNvPr id="3" name="Espace réservé de la date 2">
            <a:extLst>
              <a:ext uri="{FF2B5EF4-FFF2-40B4-BE49-F238E27FC236}">
                <a16:creationId xmlns:a16="http://schemas.microsoft.com/office/drawing/2014/main" id="{B94D4C3D-31C4-41AC-BC9D-D6F18602F788}"/>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l">
              <a:defRPr sz="1200"/>
            </a:lvl1pPr>
          </a:lstStyle>
          <a:p>
            <a:fld id="{F7903896-6931-475E-978B-19F5AF5460A9}" type="datetimeFigureOut">
              <a:rPr lang="ar-MA" smtClean="0"/>
              <a:t>10-05-1447</a:t>
            </a:fld>
            <a:endParaRPr lang="ar-MA"/>
          </a:p>
        </p:txBody>
      </p:sp>
      <p:sp>
        <p:nvSpPr>
          <p:cNvPr id="4" name="Espace réservé du pied de page 3">
            <a:extLst>
              <a:ext uri="{FF2B5EF4-FFF2-40B4-BE49-F238E27FC236}">
                <a16:creationId xmlns:a16="http://schemas.microsoft.com/office/drawing/2014/main" id="{62C59F68-C1E7-4865-82AC-55E2E72C9445}"/>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r">
              <a:defRPr sz="1200"/>
            </a:lvl1pPr>
          </a:lstStyle>
          <a:p>
            <a:endParaRPr lang="ar-MA"/>
          </a:p>
        </p:txBody>
      </p:sp>
      <p:sp>
        <p:nvSpPr>
          <p:cNvPr id="5" name="Espace réservé du numéro de diapositive 4">
            <a:extLst>
              <a:ext uri="{FF2B5EF4-FFF2-40B4-BE49-F238E27FC236}">
                <a16:creationId xmlns:a16="http://schemas.microsoft.com/office/drawing/2014/main" id="{52AFD17E-42C4-4C24-A895-011FDD530422}"/>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l">
              <a:defRPr sz="1200"/>
            </a:lvl1pPr>
          </a:lstStyle>
          <a:p>
            <a:fld id="{395C00F8-D1EE-43A8-894F-2261B95C8826}" type="slidenum">
              <a:rPr lang="ar-MA" smtClean="0"/>
              <a:t>‹N°›</a:t>
            </a:fld>
            <a:endParaRPr lang="ar-MA"/>
          </a:p>
        </p:txBody>
      </p:sp>
    </p:spTree>
    <p:extLst>
      <p:ext uri="{BB962C8B-B14F-4D97-AF65-F5344CB8AC3E}">
        <p14:creationId xmlns:p14="http://schemas.microsoft.com/office/powerpoint/2010/main" val="3087458898"/>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DD32038-7368-4562-A9A0-BC4963CA344D}" type="datetimeFigureOut">
              <a:rPr lang="fr-FR" smtClean="0"/>
              <a:t>31/10/2025</a:t>
            </a:fld>
            <a:endParaRPr lang="fr-FR"/>
          </a:p>
        </p:txBody>
      </p:sp>
      <p:sp>
        <p:nvSpPr>
          <p:cNvPr id="4" name="Espace réservé de l'image des diapositives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AB0502C-F3F9-4DAF-85C6-2B9CDE5F5088}" type="slidenum">
              <a:rPr lang="fr-FR" smtClean="0"/>
              <a:t>‹N°›</a:t>
            </a:fld>
            <a:endParaRPr lang="fr-FR"/>
          </a:p>
        </p:txBody>
      </p:sp>
    </p:spTree>
    <p:extLst>
      <p:ext uri="{BB962C8B-B14F-4D97-AF65-F5344CB8AC3E}">
        <p14:creationId xmlns:p14="http://schemas.microsoft.com/office/powerpoint/2010/main" val="319732187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Tree>
    <p:extLst>
      <p:ext uri="{BB962C8B-B14F-4D97-AF65-F5344CB8AC3E}">
        <p14:creationId xmlns:p14="http://schemas.microsoft.com/office/powerpoint/2010/main" val="2982725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609600" y="548633"/>
            <a:ext cx="10972800" cy="4952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19" name="Google Shape;19;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Tree>
    <p:extLst>
      <p:ext uri="{BB962C8B-B14F-4D97-AF65-F5344CB8AC3E}">
        <p14:creationId xmlns:p14="http://schemas.microsoft.com/office/powerpoint/2010/main" val="3570488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24" name="Google Shape;24;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Tree>
    <p:extLst>
      <p:ext uri="{BB962C8B-B14F-4D97-AF65-F5344CB8AC3E}">
        <p14:creationId xmlns:p14="http://schemas.microsoft.com/office/powerpoint/2010/main" val="736740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Tree>
    <p:extLst>
      <p:ext uri="{BB962C8B-B14F-4D97-AF65-F5344CB8AC3E}">
        <p14:creationId xmlns:p14="http://schemas.microsoft.com/office/powerpoint/2010/main" val="394477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7"/>
        <p:cNvGrpSpPr/>
        <p:nvPr/>
      </p:nvGrpSpPr>
      <p:grpSpPr>
        <a:xfrm>
          <a:off x="0" y="0"/>
          <a:ext cx="0" cy="0"/>
          <a:chOff x="0" y="0"/>
          <a:chExt cx="0" cy="0"/>
        </a:xfrm>
      </p:grpSpPr>
      <p:sp>
        <p:nvSpPr>
          <p:cNvPr id="28" name="Google Shape;28;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 name="Google Shape;29;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0" name="Google Shape;30;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1" name="Google Shape;31;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23323">
              <a:spcBef>
                <a:spcPts val="0"/>
              </a:spcBef>
              <a:spcAft>
                <a:spcPts val="0"/>
              </a:spcAft>
              <a:buSzPts val="14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Tree>
    <p:extLst>
      <p:ext uri="{BB962C8B-B14F-4D97-AF65-F5344CB8AC3E}">
        <p14:creationId xmlns:p14="http://schemas.microsoft.com/office/powerpoint/2010/main" val="3921312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2"/>
        <p:cNvGrpSpPr/>
        <p:nvPr/>
      </p:nvGrpSpPr>
      <p:grpSpPr>
        <a:xfrm>
          <a:off x="0" y="0"/>
          <a:ext cx="0" cy="0"/>
          <a:chOff x="0" y="0"/>
          <a:chExt cx="0" cy="0"/>
        </a:xfrm>
      </p:grpSpPr>
      <p:sp>
        <p:nvSpPr>
          <p:cNvPr id="33" name="Google Shape;33;p10"/>
          <p:cNvSpPr txBox="1">
            <a:spLocks noGrp="1"/>
          </p:cNvSpPr>
          <p:nvPr>
            <p:ph type="body" idx="1"/>
          </p:nvPr>
        </p:nvSpPr>
        <p:spPr>
          <a:xfrm>
            <a:off x="188236" y="4574539"/>
            <a:ext cx="9489163" cy="8068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SzPts val="1400"/>
              <a:buNone/>
              <a:defRPr sz="3600" b="1">
                <a:solidFill>
                  <a:srgbClr val="408043"/>
                </a:solidFill>
                <a:latin typeface="Calibri" panose="020F0502020204030204" pitchFamily="34" charset="0"/>
                <a:cs typeface="Calibri" panose="020F0502020204030204" pitchFamily="34" charset="0"/>
              </a:defRPr>
            </a:lvl1pPr>
          </a:lstStyle>
          <a:p>
            <a:endParaRPr dirty="0"/>
          </a:p>
        </p:txBody>
      </p:sp>
      <p:cxnSp>
        <p:nvCxnSpPr>
          <p:cNvPr id="3" name="Connecteur droit 2">
            <a:extLst>
              <a:ext uri="{FF2B5EF4-FFF2-40B4-BE49-F238E27FC236}">
                <a16:creationId xmlns:a16="http://schemas.microsoft.com/office/drawing/2014/main" id="{D60B665D-9C23-4E79-9793-C791A8FE7E4B}"/>
              </a:ext>
            </a:extLst>
          </p:cNvPr>
          <p:cNvCxnSpPr>
            <a:cxnSpLocks/>
          </p:cNvCxnSpPr>
          <p:nvPr userDrawn="1"/>
        </p:nvCxnSpPr>
        <p:spPr>
          <a:xfrm flipV="1">
            <a:off x="194000" y="5381339"/>
            <a:ext cx="9483399" cy="26894"/>
          </a:xfrm>
          <a:prstGeom prst="line">
            <a:avLst/>
          </a:prstGeom>
          <a:ln w="38100">
            <a:solidFill>
              <a:srgbClr val="408043"/>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CED613C6-68D5-4583-97D9-EDF1C63909BE}"/>
              </a:ext>
            </a:extLst>
          </p:cNvPr>
          <p:cNvSpPr/>
          <p:nvPr userDrawn="1"/>
        </p:nvSpPr>
        <p:spPr>
          <a:xfrm>
            <a:off x="0" y="373316"/>
            <a:ext cx="9829800" cy="914363"/>
          </a:xfrm>
          <a:prstGeom prst="rect">
            <a:avLst/>
          </a:prstGeom>
          <a:gradFill flip="none" rotWithShape="1">
            <a:gsLst>
              <a:gs pos="0">
                <a:srgbClr val="408043">
                  <a:shade val="30000"/>
                  <a:satMod val="115000"/>
                </a:srgbClr>
              </a:gs>
              <a:gs pos="50000">
                <a:srgbClr val="408043">
                  <a:shade val="67500"/>
                  <a:satMod val="115000"/>
                </a:srgbClr>
              </a:gs>
              <a:gs pos="100000">
                <a:srgbClr val="408043">
                  <a:shade val="100000"/>
                  <a:satMod val="115000"/>
                </a:srgbClr>
              </a:gs>
            </a:gsLst>
            <a:lin ang="5400000" scaled="1"/>
            <a:tileRect/>
          </a:gradFill>
          <a:ln>
            <a:solidFill>
              <a:srgbClr val="40804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MA"/>
          </a:p>
        </p:txBody>
      </p:sp>
      <p:sp>
        <p:nvSpPr>
          <p:cNvPr id="2" name="Larme 1">
            <a:extLst>
              <a:ext uri="{FF2B5EF4-FFF2-40B4-BE49-F238E27FC236}">
                <a16:creationId xmlns:a16="http://schemas.microsoft.com/office/drawing/2014/main" id="{3E464C7D-C6A4-4A10-B6F0-5E8AAC53FFB7}"/>
              </a:ext>
            </a:extLst>
          </p:cNvPr>
          <p:cNvSpPr/>
          <p:nvPr userDrawn="1"/>
        </p:nvSpPr>
        <p:spPr>
          <a:xfrm>
            <a:off x="9067800" y="0"/>
            <a:ext cx="3142129" cy="2971800"/>
          </a:xfrm>
          <a:prstGeom prst="teardrop">
            <a:avLst/>
          </a:prstGeom>
          <a:gradFill flip="none" rotWithShape="1">
            <a:gsLst>
              <a:gs pos="0">
                <a:srgbClr val="408043">
                  <a:shade val="30000"/>
                  <a:satMod val="115000"/>
                </a:srgbClr>
              </a:gs>
              <a:gs pos="50000">
                <a:srgbClr val="408043">
                  <a:shade val="67500"/>
                  <a:satMod val="115000"/>
                </a:srgbClr>
              </a:gs>
              <a:gs pos="100000">
                <a:srgbClr val="408043">
                  <a:shade val="100000"/>
                  <a:satMod val="115000"/>
                </a:srgbClr>
              </a:gs>
            </a:gsLst>
            <a:lin ang="5400000" scaled="1"/>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MA"/>
          </a:p>
        </p:txBody>
      </p:sp>
    </p:spTree>
    <p:extLst>
      <p:ext uri="{BB962C8B-B14F-4D97-AF65-F5344CB8AC3E}">
        <p14:creationId xmlns:p14="http://schemas.microsoft.com/office/powerpoint/2010/main" val="3161865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4"/>
        <p:cNvGrpSpPr/>
        <p:nvPr/>
      </p:nvGrpSpPr>
      <p:grpSpPr>
        <a:xfrm>
          <a:off x="0" y="0"/>
          <a:ext cx="0" cy="0"/>
          <a:chOff x="0" y="0"/>
          <a:chExt cx="0" cy="0"/>
        </a:xfrm>
      </p:grpSpPr>
      <p:sp>
        <p:nvSpPr>
          <p:cNvPr id="35" name="Google Shape;3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36" name="Google Shape;3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23323" algn="ctr">
              <a:spcBef>
                <a:spcPts val="0"/>
              </a:spcBef>
              <a:spcAft>
                <a:spcPts val="0"/>
              </a:spcAft>
              <a:buSzPts val="14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Tree>
    <p:extLst>
      <p:ext uri="{BB962C8B-B14F-4D97-AF65-F5344CB8AC3E}">
        <p14:creationId xmlns:p14="http://schemas.microsoft.com/office/powerpoint/2010/main" val="953173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
        <p:cNvGrpSpPr/>
        <p:nvPr/>
      </p:nvGrpSpPr>
      <p:grpSpPr>
        <a:xfrm>
          <a:off x="0" y="0"/>
          <a:ext cx="0" cy="0"/>
          <a:chOff x="0" y="0"/>
          <a:chExt cx="0" cy="0"/>
        </a:xfrm>
      </p:grpSpPr>
    </p:spTree>
    <p:extLst>
      <p:ext uri="{BB962C8B-B14F-4D97-AF65-F5344CB8AC3E}">
        <p14:creationId xmlns:p14="http://schemas.microsoft.com/office/powerpoint/2010/main" val="3441235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a:extLst>
              <a:ext uri="{FF2B5EF4-FFF2-40B4-BE49-F238E27FC236}">
                <a16:creationId xmlns:a16="http://schemas.microsoft.com/office/drawing/2014/main" id="{8C16CA8F-396F-4983-AE31-0C02BB3F84EA}"/>
              </a:ext>
            </a:extLst>
          </p:cNvPr>
          <p:cNvSpPr/>
          <p:nvPr userDrawn="1"/>
        </p:nvSpPr>
        <p:spPr>
          <a:xfrm>
            <a:off x="0" y="22967"/>
            <a:ext cx="12192000" cy="1043833"/>
          </a:xfrm>
          <a:prstGeom prst="rect">
            <a:avLst/>
          </a:prstGeom>
          <a:gradFill>
            <a:gsLst>
              <a:gs pos="100000">
                <a:srgbClr val="408043"/>
              </a:gs>
              <a:gs pos="100000">
                <a:schemeClr val="bg1">
                  <a:shade val="100000"/>
                  <a:satMod val="115000"/>
                </a:schemeClr>
              </a:gs>
            </a:gsLst>
            <a:lin ang="5400000" scaled="1"/>
          </a:gradFill>
          <a:effectLst>
            <a:outerShdw blurRad="50800" dist="38100" dir="2700000" algn="tl" rotWithShape="0">
              <a:prstClr val="black">
                <a:alpha val="40000"/>
              </a:prstClr>
            </a:outerShdw>
            <a:reflection stA="45000" endPos="200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MA"/>
          </a:p>
        </p:txBody>
      </p:sp>
      <p:sp>
        <p:nvSpPr>
          <p:cNvPr id="8" name="Titre 7">
            <a:extLst>
              <a:ext uri="{FF2B5EF4-FFF2-40B4-BE49-F238E27FC236}">
                <a16:creationId xmlns:a16="http://schemas.microsoft.com/office/drawing/2014/main" id="{82E01707-A541-45B2-850C-B1ED8831059B}"/>
              </a:ext>
            </a:extLst>
          </p:cNvPr>
          <p:cNvSpPr>
            <a:spLocks noGrp="1"/>
          </p:cNvSpPr>
          <p:nvPr>
            <p:ph type="title"/>
          </p:nvPr>
        </p:nvSpPr>
        <p:spPr>
          <a:xfrm>
            <a:off x="457200" y="297283"/>
            <a:ext cx="10972800" cy="495200"/>
          </a:xfrm>
        </p:spPr>
        <p:txBody>
          <a:bodyPr>
            <a:noAutofit/>
          </a:bodyPr>
          <a:lstStyle>
            <a:lvl1pPr>
              <a:defRPr sz="3600">
                <a:solidFill>
                  <a:schemeClr val="bg1"/>
                </a:solidFill>
              </a:defRPr>
            </a:lvl1pPr>
          </a:lstStyle>
          <a:p>
            <a:r>
              <a:rPr lang="fr-FR" dirty="0"/>
              <a:t>Modifiez le style du titre</a:t>
            </a:r>
            <a:endParaRPr lang="ar-MA" dirty="0"/>
          </a:p>
        </p:txBody>
      </p:sp>
    </p:spTree>
    <p:extLst>
      <p:ext uri="{BB962C8B-B14F-4D97-AF65-F5344CB8AC3E}">
        <p14:creationId xmlns:p14="http://schemas.microsoft.com/office/powerpoint/2010/main" val="83817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1117602" y="342901"/>
            <a:ext cx="10809817" cy="546100"/>
          </a:xfrm>
        </p:spPr>
        <p:txBody>
          <a:bodyPr/>
          <a:lstStyle/>
          <a:p>
            <a:r>
              <a:rPr lang="fr-FR"/>
              <a:t>Cliquez pour modifier le style du titre</a:t>
            </a:r>
          </a:p>
        </p:txBody>
      </p:sp>
      <p:sp>
        <p:nvSpPr>
          <p:cNvPr id="3" name="Espace réservé du tableau 2"/>
          <p:cNvSpPr>
            <a:spLocks noGrp="1"/>
          </p:cNvSpPr>
          <p:nvPr>
            <p:ph type="tbl" idx="1"/>
          </p:nvPr>
        </p:nvSpPr>
        <p:spPr>
          <a:xfrm>
            <a:off x="1117602" y="1130300"/>
            <a:ext cx="10809817" cy="5410200"/>
          </a:xfrm>
        </p:spPr>
        <p:txBody>
          <a:bodyPr/>
          <a:lstStyle/>
          <a:p>
            <a:pPr lvl="0"/>
            <a:endParaRPr lang="fr-FR" noProof="0"/>
          </a:p>
        </p:txBody>
      </p:sp>
    </p:spTree>
    <p:extLst>
      <p:ext uri="{BB962C8B-B14F-4D97-AF65-F5344CB8AC3E}">
        <p14:creationId xmlns:p14="http://schemas.microsoft.com/office/powerpoint/2010/main" val="2053464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tIns="45720" rIns="91440" bIns="45720" anchor="ctr">
            <a:normAutofit/>
          </a:bodyPr>
          <a:lstStyle>
            <a:lvl1pPr marL="0" indent="0">
              <a:lnSpc>
                <a:spcPct val="100000"/>
              </a:lnSpc>
              <a:spcBef>
                <a:spcPts val="0"/>
              </a:spcBef>
              <a:buNone/>
              <a:defRPr sz="1800">
                <a:solidFill>
                  <a:schemeClr val="tx1">
                    <a:lumMod val="95000"/>
                    <a:lumOff val="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CB14B3-67E1-467A-B937-2787C2860C82}" type="datetime1">
              <a:rPr lang="en-US" smtClean="0"/>
              <a:t>10/31/2025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cxnSp>
        <p:nvCxnSpPr>
          <p:cNvPr id="8" name="Straight Connector 7"/>
          <p:cNvCxnSpPr/>
          <p:nvPr/>
        </p:nvCxnSpPr>
        <p:spPr>
          <a:xfrm flipV="1">
            <a:off x="8386843" y="5264107"/>
            <a:ext cx="0" cy="91440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pic>
        <p:nvPicPr>
          <p:cNvPr id="1034" name="Picture 10" descr="Application Development Services | Web &amp; Mobile Apps">
            <a:extLst>
              <a:ext uri="{FF2B5EF4-FFF2-40B4-BE49-F238E27FC236}">
                <a16:creationId xmlns:a16="http://schemas.microsoft.com/office/drawing/2014/main" id="{7FF2CECF-2DD2-4D12-81ED-725A02EC6D3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4419600"/>
          </a:xfrm>
          <a:prstGeom prst="rect">
            <a:avLst/>
          </a:prstGeom>
          <a:noFill/>
          <a:extLst>
            <a:ext uri="{909E8E84-426E-40DD-AFC4-6F175D3DCCD1}">
              <a14:hiddenFill xmlns:a14="http://schemas.microsoft.com/office/drawing/2010/main">
                <a:solidFill>
                  <a:srgbClr val="FFFFFF"/>
                </a:solidFill>
              </a14:hiddenFill>
            </a:ext>
          </a:extLst>
        </p:spPr>
      </p:pic>
      <p:sp>
        <p:nvSpPr>
          <p:cNvPr id="457" name="Rectangle 456">
            <a:extLst>
              <a:ext uri="{FF2B5EF4-FFF2-40B4-BE49-F238E27FC236}">
                <a16:creationId xmlns:a16="http://schemas.microsoft.com/office/drawing/2014/main" id="{3E46C9BB-2184-49F6-929C-B63DCCC43EC0}"/>
              </a:ext>
            </a:extLst>
          </p:cNvPr>
          <p:cNvSpPr/>
          <p:nvPr userDrawn="1"/>
        </p:nvSpPr>
        <p:spPr>
          <a:xfrm>
            <a:off x="-1" y="-2309"/>
            <a:ext cx="12192001" cy="4802909"/>
          </a:xfrm>
          <a:prstGeom prst="rect">
            <a:avLst/>
          </a:prstGeom>
          <a:solidFill>
            <a:schemeClr val="tx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6">
            <a:extLst>
              <a:ext uri="{FF2B5EF4-FFF2-40B4-BE49-F238E27FC236}">
                <a16:creationId xmlns:a16="http://schemas.microsoft.com/office/drawing/2014/main" id="{0E5F99D5-362B-4E9D-827E-12E0AEE28714}"/>
              </a:ext>
            </a:extLst>
          </p:cNvPr>
          <p:cNvSpPr/>
          <p:nvPr userDrawn="1"/>
        </p:nvSpPr>
        <p:spPr>
          <a:xfrm>
            <a:off x="0" y="4419600"/>
            <a:ext cx="12192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MA"/>
          </a:p>
        </p:txBody>
      </p:sp>
    </p:spTree>
    <p:extLst>
      <p:ext uri="{BB962C8B-B14F-4D97-AF65-F5344CB8AC3E}">
        <p14:creationId xmlns:p14="http://schemas.microsoft.com/office/powerpoint/2010/main" val="1616229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548633"/>
            <a:ext cx="10972800" cy="495200"/>
          </a:xfrm>
          <a:prstGeom prst="rect">
            <a:avLst/>
          </a:prstGeom>
          <a:noFill/>
          <a:ln>
            <a:noFill/>
          </a:ln>
        </p:spPr>
        <p:txBody>
          <a:bodyPr spcFirstLastPara="1" wrap="square" lIns="91425" tIns="91425" rIns="91425" bIns="91425" anchor="ctr" anchorCtr="0">
            <a:normAutofit/>
          </a:bodyPr>
          <a:lstStyle>
            <a:lvl1pPr lvl="0"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1pPr>
            <a:lvl2pPr lvl="1"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2pPr>
            <a:lvl3pPr lvl="2"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3pPr>
            <a:lvl4pPr lvl="3"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4pPr>
            <a:lvl5pPr lvl="4"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5pPr>
            <a:lvl6pPr lvl="5"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6pPr>
            <a:lvl7pPr lvl="6"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7pPr>
            <a:lvl8pPr lvl="7"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8pPr>
            <a:lvl9pPr lvl="8"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9pPr>
          </a:lstStyle>
          <a:p>
            <a:endParaRPr/>
          </a:p>
        </p:txBody>
      </p:sp>
      <p:sp>
        <p:nvSpPr>
          <p:cNvPr id="7" name="Google Shape;7;p1"/>
          <p:cNvSpPr txBox="1">
            <a:spLocks noGrp="1"/>
          </p:cNvSpPr>
          <p:nvPr>
            <p:ph type="body" idx="1"/>
          </p:nvPr>
        </p:nvSpPr>
        <p:spPr>
          <a:xfrm>
            <a:off x="609600" y="1536633"/>
            <a:ext cx="10972800" cy="47728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extLst>
      <p:ext uri="{BB962C8B-B14F-4D97-AF65-F5344CB8AC3E}">
        <p14:creationId xmlns:p14="http://schemas.microsoft.com/office/powerpoint/2010/main" val="1198086284"/>
      </p:ext>
    </p:extLst>
  </p:cSld>
  <p:clrMap bg1="lt1" tx1="dk1" bg2="dk2" tx2="lt2" accent1="accent1" accent2="accent2" accent3="accent3" accent4="accent4" accent5="accent5" accent6="accent6" hlink="hlink" folHlink="folHlink"/>
  <p:sldLayoutIdLst>
    <p:sldLayoutId id="2147483761"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www.trade.gov/country-commercial-guides/morocco-telecommunications" TargetMode="External"/><Relationship Id="rId2" Type="http://schemas.openxmlformats.org/officeDocument/2006/relationships/hyperlink" Target="https://www.tic-maroc.com/2025/04/telephonie-mobile-croissance-du-parc.html" TargetMode="Externa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92EA3E-A478-45AF-8BCF-AA318BB56406}"/>
              </a:ext>
            </a:extLst>
          </p:cNvPr>
          <p:cNvSpPr>
            <a:spLocks noGrp="1"/>
          </p:cNvSpPr>
          <p:nvPr>
            <p:ph type="title"/>
          </p:nvPr>
        </p:nvSpPr>
        <p:spPr>
          <a:xfrm>
            <a:off x="0" y="5383864"/>
            <a:ext cx="8763000" cy="615589"/>
          </a:xfrm>
        </p:spPr>
        <p:txBody>
          <a:bodyPr>
            <a:noAutofit/>
          </a:bodyPr>
          <a:lstStyle/>
          <a:p>
            <a:pPr algn="l"/>
            <a:r>
              <a:rPr lang="en" sz="4000" b="1" dirty="0">
                <a:solidFill>
                  <a:srgbClr val="002060"/>
                </a:solidFill>
              </a:rPr>
              <a:t>Cours de </a:t>
            </a:r>
            <a:r>
              <a:rPr lang="en-US" sz="4000" b="1" dirty="0" err="1">
                <a:solidFill>
                  <a:srgbClr val="002060"/>
                </a:solidFill>
              </a:rPr>
              <a:t>Développement</a:t>
            </a:r>
            <a:r>
              <a:rPr lang="en-US" sz="4000" b="1" dirty="0">
                <a:solidFill>
                  <a:srgbClr val="002060"/>
                </a:solidFill>
              </a:rPr>
              <a:t> Mobile</a:t>
            </a:r>
            <a:endParaRPr lang="en-IN" sz="2400" b="1" dirty="0">
              <a:solidFill>
                <a:srgbClr val="002060"/>
              </a:solidFill>
            </a:endParaRPr>
          </a:p>
        </p:txBody>
      </p:sp>
      <p:sp>
        <p:nvSpPr>
          <p:cNvPr id="2" name="Footer Placeholder 1">
            <a:extLst>
              <a:ext uri="{FF2B5EF4-FFF2-40B4-BE49-F238E27FC236}">
                <a16:creationId xmlns:a16="http://schemas.microsoft.com/office/drawing/2014/main" id="{F70F3D5B-21AD-40E2-B2FA-5C660E700671}"/>
              </a:ext>
            </a:extLst>
          </p:cNvPr>
          <p:cNvSpPr>
            <a:spLocks noGrp="1"/>
          </p:cNvSpPr>
          <p:nvPr>
            <p:ph type="ftr" sz="quarter" idx="11"/>
          </p:nvPr>
        </p:nvSpPr>
        <p:spPr/>
        <p:txBody>
          <a:bodyPr/>
          <a:lstStyle/>
          <a:p>
            <a:pPr defTabSz="1219140">
              <a:buClr>
                <a:srgbClr val="000000"/>
              </a:buClr>
            </a:pPr>
            <a:r>
              <a:rPr lang="en-US" sz="1867" kern="0" dirty="0">
                <a:solidFill>
                  <a:srgbClr val="000000"/>
                </a:solidFill>
                <a:latin typeface="Arial"/>
                <a:cs typeface="Arial"/>
                <a:sym typeface="Arial"/>
              </a:rPr>
              <a:t>AMINA ABOULMIRA</a:t>
            </a:r>
          </a:p>
        </p:txBody>
      </p:sp>
      <p:sp>
        <p:nvSpPr>
          <p:cNvPr id="3" name="Sous-titre 2">
            <a:extLst>
              <a:ext uri="{FF2B5EF4-FFF2-40B4-BE49-F238E27FC236}">
                <a16:creationId xmlns:a16="http://schemas.microsoft.com/office/drawing/2014/main" id="{F421A536-FAB3-A183-8059-3F83B2F9B295}"/>
              </a:ext>
            </a:extLst>
          </p:cNvPr>
          <p:cNvSpPr txBox="1">
            <a:spLocks/>
          </p:cNvSpPr>
          <p:nvPr/>
        </p:nvSpPr>
        <p:spPr>
          <a:xfrm>
            <a:off x="87086" y="5988567"/>
            <a:ext cx="5486400" cy="528400"/>
          </a:xfrm>
          <a:prstGeom prst="rect">
            <a:avLst/>
          </a:prstGeom>
          <a:noFill/>
          <a:ln>
            <a:noFill/>
          </a:ln>
        </p:spPr>
        <p:txBody>
          <a:bodyPr spcFirstLastPara="1" wrap="square" lIns="121920" tIns="60960" rIns="121920" bIns="60960" anchor="ctr" anchorCtr="0">
            <a:norm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SzPts val="1400"/>
              <a:buFont typeface="Roboto"/>
              <a:buNone/>
              <a:defRPr sz="1350" b="0" i="0" u="none" strike="noStrike" cap="none">
                <a:solidFill>
                  <a:schemeClr val="tx1">
                    <a:lumMod val="95000"/>
                    <a:lumOff val="5000"/>
                  </a:schemeClr>
                </a:solidFill>
                <a:latin typeface="Roboto"/>
                <a:ea typeface="Roboto"/>
                <a:cs typeface="Roboto"/>
                <a:sym typeface="Roboto"/>
              </a:defRPr>
            </a:lvl1pPr>
            <a:lvl2pPr marL="342900" marR="0" lvl="1" indent="0" algn="l" rtl="0">
              <a:lnSpc>
                <a:spcPct val="100000"/>
              </a:lnSpc>
              <a:spcBef>
                <a:spcPts val="0"/>
              </a:spcBef>
              <a:spcAft>
                <a:spcPts val="0"/>
              </a:spcAft>
              <a:buClr>
                <a:schemeClr val="dk1"/>
              </a:buClr>
              <a:buSzPts val="1400"/>
              <a:buFont typeface="Roboto"/>
              <a:buNone/>
              <a:defRPr sz="1350" b="0" i="0" u="none" strike="noStrike" cap="none">
                <a:solidFill>
                  <a:schemeClr val="tx1">
                    <a:tint val="75000"/>
                  </a:schemeClr>
                </a:solidFill>
                <a:latin typeface="Roboto"/>
                <a:ea typeface="Roboto"/>
                <a:cs typeface="Roboto"/>
                <a:sym typeface="Roboto"/>
              </a:defRPr>
            </a:lvl2pPr>
            <a:lvl3pPr marL="685800" marR="0" lvl="2" indent="0" algn="l" rtl="0">
              <a:lnSpc>
                <a:spcPct val="100000"/>
              </a:lnSpc>
              <a:spcBef>
                <a:spcPts val="0"/>
              </a:spcBef>
              <a:spcAft>
                <a:spcPts val="0"/>
              </a:spcAft>
              <a:buClr>
                <a:schemeClr val="dk1"/>
              </a:buClr>
              <a:buSzPts val="1400"/>
              <a:buFont typeface="Roboto"/>
              <a:buNone/>
              <a:defRPr sz="1200" b="0" i="0" u="none" strike="noStrike" cap="none">
                <a:solidFill>
                  <a:schemeClr val="tx1">
                    <a:tint val="75000"/>
                  </a:schemeClr>
                </a:solidFill>
                <a:latin typeface="Roboto"/>
                <a:ea typeface="Roboto"/>
                <a:cs typeface="Roboto"/>
                <a:sym typeface="Roboto"/>
              </a:defRPr>
            </a:lvl3pPr>
            <a:lvl4pPr marL="1028700" marR="0" lvl="3"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4pPr>
            <a:lvl5pPr marL="1371600" marR="0" lvl="4"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5pPr>
            <a:lvl6pPr marL="1714500" marR="0" lvl="5"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6pPr>
            <a:lvl7pPr marL="2057400" marR="0" lvl="6"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7pPr>
            <a:lvl8pPr marL="2400300" marR="0" lvl="7"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8pPr>
            <a:lvl9pPr marL="2743200" marR="0" lvl="8"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9pPr>
          </a:lstStyle>
          <a:p>
            <a:pPr defTabSz="1219140">
              <a:buClr>
                <a:srgbClr val="000000"/>
              </a:buClr>
            </a:pPr>
            <a:r>
              <a:rPr lang="en-US" sz="1867" b="1" kern="0" dirty="0">
                <a:solidFill>
                  <a:srgbClr val="00B050"/>
                </a:solidFill>
              </a:rPr>
              <a:t>Introduction </a:t>
            </a:r>
            <a:r>
              <a:rPr lang="en" sz="1867" b="1" kern="0" dirty="0">
                <a:solidFill>
                  <a:srgbClr val="00B050"/>
                </a:solidFill>
              </a:rPr>
              <a:t>– </a:t>
            </a:r>
            <a:r>
              <a:rPr lang="en-US" sz="1867" b="1" kern="0" dirty="0" err="1">
                <a:solidFill>
                  <a:srgbClr val="00B050"/>
                </a:solidFill>
              </a:rPr>
              <a:t>Développement</a:t>
            </a:r>
            <a:r>
              <a:rPr lang="en-US" sz="1867" b="1" kern="0" dirty="0">
                <a:solidFill>
                  <a:srgbClr val="00B050"/>
                </a:solidFill>
              </a:rPr>
              <a:t> Mobile</a:t>
            </a:r>
            <a:endParaRPr lang="en" sz="1867" b="1" kern="0" dirty="0">
              <a:solidFill>
                <a:srgbClr val="00B050"/>
              </a:solidFill>
            </a:endParaRPr>
          </a:p>
        </p:txBody>
      </p:sp>
      <p:sp>
        <p:nvSpPr>
          <p:cNvPr id="5" name="Text Placeholder 4">
            <a:extLst>
              <a:ext uri="{FF2B5EF4-FFF2-40B4-BE49-F238E27FC236}">
                <a16:creationId xmlns:a16="http://schemas.microsoft.com/office/drawing/2014/main" id="{E0C7514F-103F-498E-B864-8F5B1FE5E87C}"/>
              </a:ext>
            </a:extLst>
          </p:cNvPr>
          <p:cNvSpPr>
            <a:spLocks noGrp="1"/>
          </p:cNvSpPr>
          <p:nvPr>
            <p:ph type="body" idx="1"/>
          </p:nvPr>
        </p:nvSpPr>
        <p:spPr>
          <a:xfrm>
            <a:off x="8511419" y="5195259"/>
            <a:ext cx="3200400" cy="992796"/>
          </a:xfrm>
        </p:spPr>
        <p:txBody>
          <a:bodyPr/>
          <a:lstStyle/>
          <a:p>
            <a:r>
              <a:rPr lang="en-IN" b="1" dirty="0"/>
              <a:t>AMINA ABOULMIRA</a:t>
            </a:r>
          </a:p>
        </p:txBody>
      </p:sp>
      <p:sp>
        <p:nvSpPr>
          <p:cNvPr id="10" name="Rectangle 9">
            <a:extLst>
              <a:ext uri="{FF2B5EF4-FFF2-40B4-BE49-F238E27FC236}">
                <a16:creationId xmlns:a16="http://schemas.microsoft.com/office/drawing/2014/main" id="{C341DCF9-588E-4536-BE09-9F9C6D554AD1}"/>
              </a:ext>
            </a:extLst>
          </p:cNvPr>
          <p:cNvSpPr/>
          <p:nvPr/>
        </p:nvSpPr>
        <p:spPr>
          <a:xfrm>
            <a:off x="8903305" y="4119015"/>
            <a:ext cx="2819400" cy="992796"/>
          </a:xfrm>
          <a:prstGeom prst="rect">
            <a:avLst/>
          </a:prstGeom>
          <a:solidFill>
            <a:schemeClr val="bg1"/>
          </a:solidFill>
          <a:ln>
            <a:noFill/>
          </a:ln>
          <a:effectLst>
            <a:outerShdw blurRad="50800" dist="38100" dir="2700000" sx="103000" sy="10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MA"/>
          </a:p>
        </p:txBody>
      </p:sp>
      <p:pic>
        <p:nvPicPr>
          <p:cNvPr id="7" name="object 13">
            <a:extLst>
              <a:ext uri="{FF2B5EF4-FFF2-40B4-BE49-F238E27FC236}">
                <a16:creationId xmlns:a16="http://schemas.microsoft.com/office/drawing/2014/main" id="{53F4EF88-02C2-421B-A5A3-19CFFE18F05F}"/>
              </a:ext>
            </a:extLst>
          </p:cNvPr>
          <p:cNvPicPr/>
          <p:nvPr/>
        </p:nvPicPr>
        <p:blipFill>
          <a:blip r:embed="rId2" cstate="print">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9199735" y="4219282"/>
            <a:ext cx="2226539" cy="792262"/>
          </a:xfrm>
          <a:prstGeom prst="rect">
            <a:avLst/>
          </a:prstGeom>
          <a:noFill/>
          <a:ln>
            <a:noFill/>
          </a:ln>
        </p:spPr>
      </p:pic>
    </p:spTree>
    <p:extLst>
      <p:ext uri="{BB962C8B-B14F-4D97-AF65-F5344CB8AC3E}">
        <p14:creationId xmlns:p14="http://schemas.microsoft.com/office/powerpoint/2010/main" val="118343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a:xfrm>
            <a:off x="457200" y="274231"/>
            <a:ext cx="10972800" cy="495200"/>
          </a:xfrm>
        </p:spPr>
        <p:txBody>
          <a:bodyPr/>
          <a:lstStyle/>
          <a:p>
            <a:r>
              <a:rPr lang="fr-FR" dirty="0"/>
              <a:t>Objectifs</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609600" y="1536700"/>
            <a:ext cx="10972800" cy="4408869"/>
          </a:xfrm>
          <a:prstGeom prst="rect">
            <a:avLst/>
          </a:prstGeom>
        </p:spPr>
        <p:txBody>
          <a:bodyPr wrap="square">
            <a:spAutoFit/>
          </a:bodyPr>
          <a:lstStyle/>
          <a:p>
            <a:pPr marL="12700" lvl="0" algn="just" defTabSz="914400">
              <a:spcBef>
                <a:spcPts val="870"/>
              </a:spcBef>
            </a:pPr>
            <a:r>
              <a:rPr lang="fr-FR" sz="2400" b="1" kern="0" dirty="0">
                <a:solidFill>
                  <a:prstClr val="black"/>
                </a:solidFill>
                <a:latin typeface="Calibri"/>
                <a:cs typeface="Calibri"/>
              </a:rPr>
              <a:t>Intitulé</a:t>
            </a:r>
            <a:r>
              <a:rPr lang="fr-FR" sz="2400" b="1" kern="0" spc="-50" dirty="0">
                <a:solidFill>
                  <a:prstClr val="black"/>
                </a:solidFill>
                <a:latin typeface="Calibri"/>
                <a:cs typeface="Calibri"/>
              </a:rPr>
              <a:t> </a:t>
            </a:r>
            <a:r>
              <a:rPr lang="fr-FR" sz="2400" b="1" kern="0" dirty="0">
                <a:solidFill>
                  <a:prstClr val="black"/>
                </a:solidFill>
                <a:latin typeface="Calibri"/>
                <a:cs typeface="Calibri"/>
              </a:rPr>
              <a:t>:</a:t>
            </a:r>
            <a:r>
              <a:rPr lang="fr-FR" sz="2400" b="1" kern="0" spc="-10" dirty="0">
                <a:solidFill>
                  <a:prstClr val="black"/>
                </a:solidFill>
                <a:latin typeface="Calibri"/>
                <a:cs typeface="Calibri"/>
              </a:rPr>
              <a:t> </a:t>
            </a:r>
            <a:r>
              <a:rPr lang="fr-FR" sz="2400" kern="0" spc="-10" dirty="0">
                <a:solidFill>
                  <a:prstClr val="black"/>
                </a:solidFill>
                <a:latin typeface="Calibri"/>
                <a:cs typeface="Calibri"/>
              </a:rPr>
              <a:t>Développement</a:t>
            </a:r>
            <a:r>
              <a:rPr lang="fr-FR" sz="2400" kern="0" dirty="0">
                <a:solidFill>
                  <a:prstClr val="black"/>
                </a:solidFill>
                <a:latin typeface="Calibri"/>
                <a:cs typeface="Calibri"/>
              </a:rPr>
              <a:t> </a:t>
            </a:r>
            <a:r>
              <a:rPr lang="fr-FR" sz="2400" kern="0" spc="-30" dirty="0">
                <a:solidFill>
                  <a:prstClr val="black"/>
                </a:solidFill>
                <a:latin typeface="Calibri"/>
                <a:cs typeface="Calibri"/>
              </a:rPr>
              <a:t>d’Applications</a:t>
            </a:r>
            <a:r>
              <a:rPr lang="fr-FR" sz="2400" kern="0" spc="-40" dirty="0">
                <a:solidFill>
                  <a:prstClr val="black"/>
                </a:solidFill>
                <a:latin typeface="Calibri"/>
                <a:cs typeface="Calibri"/>
              </a:rPr>
              <a:t> </a:t>
            </a:r>
            <a:r>
              <a:rPr lang="fr-FR" sz="2400" kern="0" spc="-10" dirty="0">
                <a:solidFill>
                  <a:prstClr val="black"/>
                </a:solidFill>
                <a:latin typeface="Calibri"/>
                <a:cs typeface="Calibri"/>
              </a:rPr>
              <a:t>Mobiles</a:t>
            </a:r>
            <a:endParaRPr lang="fr-FR" sz="2400" kern="0" dirty="0">
              <a:solidFill>
                <a:prstClr val="black"/>
              </a:solidFill>
              <a:latin typeface="Calibri"/>
              <a:cs typeface="Calibri"/>
            </a:endParaRPr>
          </a:p>
          <a:p>
            <a:pPr marL="12700" lvl="0" algn="just" defTabSz="914400">
              <a:spcBef>
                <a:spcPts val="770"/>
              </a:spcBef>
            </a:pPr>
            <a:r>
              <a:rPr lang="fr-FR" sz="2400" b="1" kern="0" dirty="0">
                <a:solidFill>
                  <a:prstClr val="black"/>
                </a:solidFill>
                <a:latin typeface="Calibri"/>
                <a:cs typeface="Calibri"/>
              </a:rPr>
              <a:t>Code</a:t>
            </a:r>
            <a:r>
              <a:rPr lang="fr-FR" sz="2400" b="1" kern="0" spc="-30" dirty="0">
                <a:solidFill>
                  <a:prstClr val="black"/>
                </a:solidFill>
                <a:latin typeface="Calibri"/>
                <a:cs typeface="Calibri"/>
              </a:rPr>
              <a:t> </a:t>
            </a:r>
            <a:r>
              <a:rPr lang="fr-FR" sz="2400" b="1" kern="0" dirty="0">
                <a:solidFill>
                  <a:prstClr val="black"/>
                </a:solidFill>
                <a:latin typeface="Calibri"/>
                <a:cs typeface="Calibri"/>
              </a:rPr>
              <a:t>:</a:t>
            </a:r>
            <a:r>
              <a:rPr lang="fr-FR" sz="2400" b="1" kern="0" spc="-30" dirty="0">
                <a:solidFill>
                  <a:prstClr val="black"/>
                </a:solidFill>
                <a:latin typeface="Calibri"/>
                <a:cs typeface="Calibri"/>
              </a:rPr>
              <a:t> </a:t>
            </a:r>
            <a:r>
              <a:rPr lang="fr-FR" sz="2400" kern="0" dirty="0">
                <a:solidFill>
                  <a:prstClr val="black"/>
                </a:solidFill>
                <a:latin typeface="Calibri"/>
                <a:cs typeface="Calibri"/>
              </a:rPr>
              <a:t>M15</a:t>
            </a:r>
          </a:p>
          <a:p>
            <a:pPr marL="12700" marR="464184" lvl="0" algn="just" defTabSz="914400">
              <a:lnSpc>
                <a:spcPts val="2160"/>
              </a:lnSpc>
              <a:spcBef>
                <a:spcPts val="1025"/>
              </a:spcBef>
            </a:pPr>
            <a:r>
              <a:rPr lang="fr-FR" sz="2400" b="1" kern="0" dirty="0">
                <a:solidFill>
                  <a:prstClr val="black"/>
                </a:solidFill>
                <a:latin typeface="Calibri"/>
                <a:cs typeface="Calibri"/>
              </a:rPr>
              <a:t>Description</a:t>
            </a:r>
            <a:r>
              <a:rPr lang="fr-FR" sz="2400" b="1" kern="0" spc="-55" dirty="0">
                <a:solidFill>
                  <a:prstClr val="black"/>
                </a:solidFill>
                <a:latin typeface="Calibri"/>
                <a:cs typeface="Calibri"/>
              </a:rPr>
              <a:t> </a:t>
            </a:r>
            <a:r>
              <a:rPr lang="fr-FR" sz="2400" b="1" kern="0" dirty="0">
                <a:solidFill>
                  <a:prstClr val="black"/>
                </a:solidFill>
                <a:latin typeface="Calibri"/>
                <a:cs typeface="Calibri"/>
              </a:rPr>
              <a:t>:</a:t>
            </a:r>
            <a:r>
              <a:rPr lang="fr-FR" sz="2400" b="1" kern="0" spc="-50" dirty="0">
                <a:solidFill>
                  <a:prstClr val="black"/>
                </a:solidFill>
                <a:latin typeface="Calibri"/>
                <a:cs typeface="Calibri"/>
              </a:rPr>
              <a:t> </a:t>
            </a:r>
            <a:r>
              <a:rPr lang="fr-FR" sz="2400" dirty="0">
                <a:solidFill>
                  <a:prstClr val="black"/>
                </a:solidFill>
                <a:latin typeface="Calibri"/>
                <a:cs typeface="Calibri"/>
              </a:rPr>
              <a:t>Ce module vise à initier les étudiants aux principes, outils et techniques du développement mobile. Il couvre les bases des systèmes d’exploitation mobiles (Android, iOS), les approches de développement (applications natives, web et hybrides), ainsi que les environnements de développement comme Android Studio. Les étudiants apprendront à concevoir et déployer des applications Android intégrant interfaces utilisateur, gestion des événements, persistance de données (SQLite, </a:t>
            </a:r>
            <a:r>
              <a:rPr lang="fr-FR" sz="2400" dirty="0" err="1">
                <a:solidFill>
                  <a:prstClr val="black"/>
                </a:solidFill>
                <a:latin typeface="Calibri"/>
                <a:cs typeface="Calibri"/>
              </a:rPr>
              <a:t>Firebase</a:t>
            </a:r>
            <a:r>
              <a:rPr lang="fr-FR" sz="2400" dirty="0">
                <a:solidFill>
                  <a:prstClr val="black"/>
                </a:solidFill>
                <a:latin typeface="Calibri"/>
                <a:cs typeface="Calibri"/>
              </a:rPr>
              <a:t>) et publication sur Google Play Store.</a:t>
            </a:r>
          </a:p>
          <a:p>
            <a:pPr marL="12700" marR="464184" lvl="0" algn="just" defTabSz="914400">
              <a:lnSpc>
                <a:spcPts val="2160"/>
              </a:lnSpc>
              <a:spcBef>
                <a:spcPts val="1025"/>
              </a:spcBef>
            </a:pPr>
            <a:r>
              <a:rPr lang="fr-FR" sz="2400" b="1" kern="0" spc="-10" dirty="0">
                <a:solidFill>
                  <a:prstClr val="black"/>
                </a:solidFill>
                <a:latin typeface="Calibri"/>
                <a:cs typeface="Calibri"/>
              </a:rPr>
              <a:t>Prérequis</a:t>
            </a:r>
            <a:r>
              <a:rPr lang="fr-FR" sz="2400" b="1" kern="0" spc="-25" dirty="0">
                <a:solidFill>
                  <a:prstClr val="black"/>
                </a:solidFill>
                <a:latin typeface="Calibri"/>
                <a:cs typeface="Calibri"/>
              </a:rPr>
              <a:t> </a:t>
            </a:r>
            <a:r>
              <a:rPr lang="fr-FR" sz="2400" b="1" kern="0" dirty="0">
                <a:solidFill>
                  <a:prstClr val="black"/>
                </a:solidFill>
                <a:latin typeface="Calibri"/>
                <a:cs typeface="Calibri"/>
              </a:rPr>
              <a:t>:</a:t>
            </a:r>
            <a:r>
              <a:rPr lang="fr-FR" sz="2400" b="1" kern="0" spc="-20" dirty="0">
                <a:solidFill>
                  <a:prstClr val="black"/>
                </a:solidFill>
                <a:latin typeface="Calibri"/>
                <a:cs typeface="Calibri"/>
              </a:rPr>
              <a:t> </a:t>
            </a:r>
            <a:r>
              <a:rPr lang="fr-FR" sz="2400" kern="0" spc="-10" dirty="0">
                <a:solidFill>
                  <a:prstClr val="black"/>
                </a:solidFill>
                <a:latin typeface="Calibri"/>
                <a:cs typeface="Calibri"/>
              </a:rPr>
              <a:t>Programmation</a:t>
            </a:r>
            <a:r>
              <a:rPr lang="fr-FR" sz="2400" kern="0" spc="-20" dirty="0">
                <a:solidFill>
                  <a:prstClr val="black"/>
                </a:solidFill>
                <a:latin typeface="Calibri"/>
                <a:cs typeface="Calibri"/>
              </a:rPr>
              <a:t> </a:t>
            </a:r>
            <a:r>
              <a:rPr lang="fr-FR" sz="2400" kern="0" dirty="0">
                <a:solidFill>
                  <a:prstClr val="black"/>
                </a:solidFill>
                <a:latin typeface="Calibri"/>
                <a:cs typeface="Calibri"/>
              </a:rPr>
              <a:t>OO</a:t>
            </a:r>
            <a:r>
              <a:rPr lang="fr-FR" sz="2400" kern="0" spc="-30" dirty="0">
                <a:solidFill>
                  <a:prstClr val="black"/>
                </a:solidFill>
                <a:latin typeface="Calibri"/>
                <a:cs typeface="Calibri"/>
              </a:rPr>
              <a:t> </a:t>
            </a:r>
            <a:r>
              <a:rPr lang="fr-FR" sz="2400" kern="0" dirty="0">
                <a:solidFill>
                  <a:prstClr val="black"/>
                </a:solidFill>
                <a:latin typeface="Calibri"/>
                <a:cs typeface="Calibri"/>
              </a:rPr>
              <a:t>–</a:t>
            </a:r>
            <a:r>
              <a:rPr lang="fr-FR" sz="2400" kern="0" spc="-20" dirty="0">
                <a:solidFill>
                  <a:prstClr val="black"/>
                </a:solidFill>
                <a:latin typeface="Calibri"/>
                <a:cs typeface="Calibri"/>
              </a:rPr>
              <a:t> Java</a:t>
            </a:r>
            <a:endParaRPr lang="fr-FR" sz="2400" kern="0" dirty="0">
              <a:solidFill>
                <a:prstClr val="black"/>
              </a:solidFill>
              <a:latin typeface="Calibri"/>
              <a:cs typeface="Calibri"/>
            </a:endParaRPr>
          </a:p>
          <a:p>
            <a:pPr marL="12700" lvl="0" algn="just" defTabSz="914400">
              <a:spcBef>
                <a:spcPts val="770"/>
              </a:spcBef>
            </a:pPr>
            <a:r>
              <a:rPr lang="fr-FR" sz="2400" b="1" kern="0" dirty="0">
                <a:solidFill>
                  <a:prstClr val="black"/>
                </a:solidFill>
                <a:latin typeface="Calibri"/>
                <a:cs typeface="Calibri"/>
              </a:rPr>
              <a:t>Durée</a:t>
            </a:r>
            <a:r>
              <a:rPr lang="fr-FR" sz="2400" b="1" kern="0" spc="-15" dirty="0">
                <a:solidFill>
                  <a:prstClr val="black"/>
                </a:solidFill>
                <a:latin typeface="Calibri"/>
                <a:cs typeface="Calibri"/>
              </a:rPr>
              <a:t> </a:t>
            </a:r>
            <a:r>
              <a:rPr lang="fr-FR" sz="2400" b="1" kern="0" dirty="0">
                <a:solidFill>
                  <a:prstClr val="black"/>
                </a:solidFill>
                <a:latin typeface="Calibri"/>
                <a:cs typeface="Calibri"/>
              </a:rPr>
              <a:t>:</a:t>
            </a:r>
            <a:r>
              <a:rPr lang="fr-FR" sz="2400" b="1" kern="0" spc="-25" dirty="0">
                <a:solidFill>
                  <a:prstClr val="black"/>
                </a:solidFill>
                <a:latin typeface="Calibri"/>
                <a:cs typeface="Calibri"/>
              </a:rPr>
              <a:t> </a:t>
            </a:r>
            <a:r>
              <a:rPr lang="fr-FR" sz="2400" kern="0" dirty="0">
                <a:solidFill>
                  <a:prstClr val="black"/>
                </a:solidFill>
                <a:latin typeface="Calibri"/>
                <a:cs typeface="Calibri"/>
              </a:rPr>
              <a:t>12</a:t>
            </a:r>
            <a:r>
              <a:rPr lang="fr-FR" sz="2400" kern="0" spc="-40" dirty="0">
                <a:solidFill>
                  <a:prstClr val="black"/>
                </a:solidFill>
                <a:latin typeface="Calibri"/>
                <a:cs typeface="Calibri"/>
              </a:rPr>
              <a:t> </a:t>
            </a:r>
            <a:r>
              <a:rPr lang="fr-FR" sz="2400" kern="0" spc="-10" dirty="0">
                <a:solidFill>
                  <a:prstClr val="black"/>
                </a:solidFill>
                <a:latin typeface="Calibri"/>
                <a:cs typeface="Calibri"/>
              </a:rPr>
              <a:t>semaines</a:t>
            </a:r>
            <a:endParaRPr lang="fr-FR" sz="2400" kern="0" dirty="0">
              <a:solidFill>
                <a:prstClr val="black"/>
              </a:solidFill>
              <a:latin typeface="Calibri"/>
              <a:cs typeface="Calibri"/>
            </a:endParaRPr>
          </a:p>
        </p:txBody>
      </p:sp>
    </p:spTree>
    <p:extLst>
      <p:ext uri="{BB962C8B-B14F-4D97-AF65-F5344CB8AC3E}">
        <p14:creationId xmlns:p14="http://schemas.microsoft.com/office/powerpoint/2010/main" val="3259371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dirty="0"/>
              <a:t>Objectifs</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846844" y="2209800"/>
            <a:ext cx="10193511" cy="3093124"/>
          </a:xfrm>
          <a:prstGeom prst="rect">
            <a:avLst/>
          </a:prstGeom>
        </p:spPr>
        <p:txBody>
          <a:bodyPr wrap="square">
            <a:spAutoFit/>
          </a:bodyPr>
          <a:lstStyle/>
          <a:p>
            <a:pPr marL="0" lvl="0" indent="0" eaLnBrk="0" fontAlgn="base" hangingPunct="0">
              <a:lnSpc>
                <a:spcPct val="150000"/>
              </a:lnSpc>
              <a:spcBef>
                <a:spcPct val="0"/>
              </a:spcBef>
              <a:spcAft>
                <a:spcPct val="0"/>
              </a:spcAft>
              <a:buClrTx/>
              <a:buSzTx/>
              <a:buFontTx/>
              <a:buChar char="•"/>
            </a:pPr>
            <a:r>
              <a:rPr lang="fr-FR" sz="1800" b="1" dirty="0"/>
              <a:t>Introduction, historique et importance du Développement Mobile:</a:t>
            </a:r>
            <a:endParaRPr lang="fr-FR" altLang="ar-MA" sz="1800" b="1" dirty="0">
              <a:solidFill>
                <a:srgbClr val="408043"/>
              </a:solidFill>
              <a:latin typeface="Calibri" panose="020F0502020204030204" pitchFamily="34" charset="0"/>
              <a:cs typeface="Calibri" panose="020F0502020204030204" pitchFamily="34" charset="0"/>
            </a:endParaRPr>
          </a:p>
          <a:p>
            <a:pPr marL="457200" lvl="1" indent="0" eaLnBrk="0" fontAlgn="base" hangingPunct="0">
              <a:lnSpc>
                <a:spcPct val="150000"/>
              </a:lnSpc>
              <a:spcBef>
                <a:spcPct val="0"/>
              </a:spcBef>
              <a:spcAft>
                <a:spcPct val="0"/>
              </a:spcAft>
              <a:buClrTx/>
              <a:buSzTx/>
              <a:buFontTx/>
              <a:buChar char="•"/>
            </a:pPr>
            <a:r>
              <a:rPr lang="ar-MA" altLang="ar-MA" sz="1800" b="1" dirty="0" err="1">
                <a:solidFill>
                  <a:srgbClr val="408043"/>
                </a:solidFill>
                <a:latin typeface="Calibri" panose="020F0502020204030204" pitchFamily="34" charset="0"/>
                <a:cs typeface="Calibri" panose="020F0502020204030204" pitchFamily="34" charset="0"/>
              </a:rPr>
              <a:t>Comprendre</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l’évolution</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du</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développement</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mobile</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depuis</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ses</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débuts</a:t>
            </a:r>
            <a:r>
              <a:rPr lang="ar-MA" altLang="ar-MA" sz="1800" b="1" dirty="0">
                <a:solidFill>
                  <a:srgbClr val="408043"/>
                </a:solidFill>
                <a:latin typeface="Calibri" panose="020F0502020204030204" pitchFamily="34" charset="0"/>
                <a:cs typeface="Calibri" panose="020F0502020204030204" pitchFamily="34" charset="0"/>
              </a:rPr>
              <a:t> </a:t>
            </a:r>
            <a:r>
              <a:rPr lang="fr-FR" altLang="ar-MA" sz="1800" b="1" dirty="0">
                <a:solidFill>
                  <a:srgbClr val="408043"/>
                </a:solidFill>
                <a:latin typeface="Calibri" panose="020F0502020204030204" pitchFamily="34" charset="0"/>
                <a:cs typeface="Calibri" panose="020F0502020204030204" pitchFamily="34" charset="0"/>
              </a:rPr>
              <a:t>(</a:t>
            </a:r>
            <a:r>
              <a:rPr lang="ar-MA" altLang="ar-MA" sz="1800" b="1" dirty="0" err="1">
                <a:solidFill>
                  <a:srgbClr val="408043"/>
                </a:solidFill>
                <a:latin typeface="Calibri" panose="020F0502020204030204" pitchFamily="34" charset="0"/>
                <a:cs typeface="Calibri" panose="020F0502020204030204" pitchFamily="34" charset="0"/>
              </a:rPr>
              <a:t>téléphones</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classiques</a:t>
            </a:r>
            <a:r>
              <a:rPr lang="ar-MA" altLang="ar-MA" sz="1800" b="1" dirty="0">
                <a:solidFill>
                  <a:srgbClr val="408043"/>
                </a:solidFill>
                <a:latin typeface="Calibri" panose="020F0502020204030204" pitchFamily="34" charset="0"/>
                <a:cs typeface="Calibri" panose="020F0502020204030204" pitchFamily="34" charset="0"/>
              </a:rPr>
              <a:t> </a:t>
            </a:r>
            <a:r>
              <a:rPr lang="fr-FR" altLang="ar-MA" sz="1800" b="1" dirty="0">
                <a:solidFill>
                  <a:srgbClr val="408043"/>
                </a:solidFill>
                <a:latin typeface="Calibri" panose="020F0502020204030204" pitchFamily="34" charset="0"/>
                <a:cs typeface="Calibri" panose="020F0502020204030204" pitchFamily="34" charset="0"/>
              </a:rPr>
              <a:t>vers</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smartphones</a:t>
            </a:r>
            <a:r>
              <a:rPr lang="fr-FR" altLang="ar-MA" sz="1800" b="1" dirty="0">
                <a:solidFill>
                  <a:srgbClr val="408043"/>
                </a:solidFill>
                <a:latin typeface="Calibri" panose="020F0502020204030204" pitchFamily="34" charset="0"/>
                <a:cs typeface="Calibri" panose="020F0502020204030204" pitchFamily="34" charset="0"/>
              </a:rPr>
              <a:t>).</a:t>
            </a:r>
            <a:endParaRPr lang="ar-MA" altLang="ar-MA" sz="1800" b="1" dirty="0">
              <a:solidFill>
                <a:srgbClr val="408043"/>
              </a:solidFill>
              <a:latin typeface="Calibri" panose="020F0502020204030204" pitchFamily="34" charset="0"/>
              <a:cs typeface="Calibri" panose="020F0502020204030204" pitchFamily="34" charset="0"/>
            </a:endParaRPr>
          </a:p>
          <a:p>
            <a:pPr marL="457200" lvl="1" indent="0" eaLnBrk="0" fontAlgn="base" hangingPunct="0">
              <a:lnSpc>
                <a:spcPct val="150000"/>
              </a:lnSpc>
              <a:spcBef>
                <a:spcPct val="0"/>
              </a:spcBef>
              <a:spcAft>
                <a:spcPct val="0"/>
              </a:spcAft>
              <a:buClrTx/>
              <a:buSzTx/>
              <a:buFontTx/>
              <a:buChar char="•"/>
            </a:pPr>
            <a:r>
              <a:rPr lang="ar-MA" altLang="ar-MA" sz="1800" b="1" dirty="0" err="1">
                <a:solidFill>
                  <a:srgbClr val="408043"/>
                </a:solidFill>
                <a:latin typeface="Calibri" panose="020F0502020204030204" pitchFamily="34" charset="0"/>
                <a:cs typeface="Calibri" panose="020F0502020204030204" pitchFamily="34" charset="0"/>
              </a:rPr>
              <a:t>Identifier</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les</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besoins</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qui</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ont</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conduit</a:t>
            </a:r>
            <a:r>
              <a:rPr lang="ar-MA" altLang="ar-MA" sz="1800" b="1" dirty="0">
                <a:solidFill>
                  <a:srgbClr val="408043"/>
                </a:solidFill>
                <a:latin typeface="Calibri" panose="020F0502020204030204" pitchFamily="34" charset="0"/>
                <a:cs typeface="Calibri" panose="020F0502020204030204" pitchFamily="34" charset="0"/>
              </a:rPr>
              <a:t> à </a:t>
            </a:r>
            <a:r>
              <a:rPr lang="ar-MA" altLang="ar-MA" sz="1800" b="1" dirty="0" err="1">
                <a:solidFill>
                  <a:srgbClr val="408043"/>
                </a:solidFill>
                <a:latin typeface="Calibri" panose="020F0502020204030204" pitchFamily="34" charset="0"/>
                <a:cs typeface="Calibri" panose="020F0502020204030204" pitchFamily="34" charset="0"/>
              </a:rPr>
              <a:t>l’essor</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des</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applications</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mobiles</a:t>
            </a:r>
            <a:r>
              <a:rPr lang="ar-MA" altLang="ar-MA" sz="1800" b="1" dirty="0">
                <a:solidFill>
                  <a:srgbClr val="408043"/>
                </a:solidFill>
                <a:latin typeface="Calibri" panose="020F0502020204030204" pitchFamily="34" charset="0"/>
                <a:cs typeface="Calibri" panose="020F0502020204030204" pitchFamily="34" charset="0"/>
              </a:rPr>
              <a:t>.</a:t>
            </a:r>
          </a:p>
          <a:p>
            <a:pPr marL="457200" lvl="1" indent="0" eaLnBrk="0" fontAlgn="base" hangingPunct="0">
              <a:lnSpc>
                <a:spcPct val="150000"/>
              </a:lnSpc>
              <a:spcBef>
                <a:spcPct val="0"/>
              </a:spcBef>
              <a:spcAft>
                <a:spcPct val="0"/>
              </a:spcAft>
              <a:buClrTx/>
              <a:buSzTx/>
              <a:buFontTx/>
              <a:buChar char="•"/>
            </a:pPr>
            <a:r>
              <a:rPr lang="ar-MA" altLang="ar-MA" sz="1800" b="1" dirty="0" err="1">
                <a:solidFill>
                  <a:srgbClr val="408043"/>
                </a:solidFill>
                <a:latin typeface="Calibri" panose="020F0502020204030204" pitchFamily="34" charset="0"/>
                <a:cs typeface="Calibri" panose="020F0502020204030204" pitchFamily="34" charset="0"/>
              </a:rPr>
              <a:t>Mettre</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en</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évidence</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l’importance</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économique</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sociale</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et</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technologique</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du</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développement</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mobile</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dans</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la</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société</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actuelle</a:t>
            </a:r>
            <a:r>
              <a:rPr lang="ar-MA" altLang="ar-MA" sz="1800" b="1" dirty="0">
                <a:solidFill>
                  <a:srgbClr val="408043"/>
                </a:solidFill>
                <a:latin typeface="Calibri" panose="020F0502020204030204" pitchFamily="34" charset="0"/>
                <a:cs typeface="Calibri" panose="020F0502020204030204" pitchFamily="34" charset="0"/>
              </a:rPr>
              <a:t>.</a:t>
            </a:r>
          </a:p>
          <a:p>
            <a:pPr marL="457200" lvl="1" indent="0" eaLnBrk="0" fontAlgn="base" hangingPunct="0">
              <a:lnSpc>
                <a:spcPct val="150000"/>
              </a:lnSpc>
              <a:spcBef>
                <a:spcPct val="0"/>
              </a:spcBef>
              <a:spcAft>
                <a:spcPct val="0"/>
              </a:spcAft>
              <a:buClrTx/>
              <a:buSzTx/>
              <a:buFontTx/>
              <a:buChar char="•"/>
            </a:pPr>
            <a:r>
              <a:rPr lang="ar-MA" altLang="ar-MA" sz="1800" b="1" dirty="0" err="1">
                <a:solidFill>
                  <a:srgbClr val="408043"/>
                </a:solidFill>
                <a:latin typeface="Calibri" panose="020F0502020204030204" pitchFamily="34" charset="0"/>
                <a:cs typeface="Calibri" panose="020F0502020204030204" pitchFamily="34" charset="0"/>
              </a:rPr>
              <a:t>Sensibiliser</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les</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étudiants</a:t>
            </a:r>
            <a:r>
              <a:rPr lang="ar-MA" altLang="ar-MA" sz="1800" b="1" dirty="0">
                <a:solidFill>
                  <a:srgbClr val="408043"/>
                </a:solidFill>
                <a:latin typeface="Calibri" panose="020F0502020204030204" pitchFamily="34" charset="0"/>
                <a:cs typeface="Calibri" panose="020F0502020204030204" pitchFamily="34" charset="0"/>
              </a:rPr>
              <a:t> à </a:t>
            </a:r>
            <a:r>
              <a:rPr lang="ar-MA" altLang="ar-MA" sz="1800" b="1" dirty="0" err="1">
                <a:solidFill>
                  <a:srgbClr val="408043"/>
                </a:solidFill>
                <a:latin typeface="Calibri" panose="020F0502020204030204" pitchFamily="34" charset="0"/>
                <a:cs typeface="Calibri" panose="020F0502020204030204" pitchFamily="34" charset="0"/>
              </a:rPr>
              <a:t>la</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place</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du</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mobile</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dans</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la</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transformation</a:t>
            </a:r>
            <a:r>
              <a:rPr lang="ar-MA" altLang="ar-MA" sz="1800" b="1" dirty="0">
                <a:solidFill>
                  <a:srgbClr val="408043"/>
                </a:solidFill>
                <a:latin typeface="Calibri" panose="020F0502020204030204" pitchFamily="34" charset="0"/>
                <a:cs typeface="Calibri" panose="020F0502020204030204" pitchFamily="34" charset="0"/>
              </a:rPr>
              <a:t> </a:t>
            </a:r>
            <a:r>
              <a:rPr lang="ar-MA" altLang="ar-MA" sz="1800" b="1" dirty="0" err="1">
                <a:solidFill>
                  <a:srgbClr val="408043"/>
                </a:solidFill>
                <a:latin typeface="Calibri" panose="020F0502020204030204" pitchFamily="34" charset="0"/>
                <a:cs typeface="Calibri" panose="020F0502020204030204" pitchFamily="34" charset="0"/>
              </a:rPr>
              <a:t>digitale</a:t>
            </a:r>
            <a:r>
              <a:rPr lang="ar-MA" altLang="ar-MA" sz="1800" b="1" dirty="0">
                <a:solidFill>
                  <a:srgbClr val="408043"/>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576158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CADEF61-1125-42E8-94E9-EDDC993081CA}"/>
              </a:ext>
            </a:extLst>
          </p:cNvPr>
          <p:cNvSpPr>
            <a:spLocks noGrp="1"/>
          </p:cNvSpPr>
          <p:nvPr>
            <p:ph type="body" idx="1"/>
          </p:nvPr>
        </p:nvSpPr>
        <p:spPr>
          <a:xfrm>
            <a:off x="5123" y="4648200"/>
            <a:ext cx="8755939" cy="806800"/>
          </a:xfrm>
        </p:spPr>
        <p:txBody>
          <a:bodyPr/>
          <a:lstStyle/>
          <a:p>
            <a:r>
              <a:rPr lang="en-US" sz="3200" dirty="0">
                <a:latin typeface="Arial Narrow"/>
                <a:cs typeface="Arial Narrow"/>
              </a:rPr>
              <a:t>1. SPÉCIFICITÉS DU DÉVELOPPEMENT MOBILE</a:t>
            </a:r>
            <a:endParaRPr lang="ar-MA" sz="4400" dirty="0"/>
          </a:p>
        </p:txBody>
      </p:sp>
    </p:spTree>
    <p:extLst>
      <p:ext uri="{BB962C8B-B14F-4D97-AF65-F5344CB8AC3E}">
        <p14:creationId xmlns:p14="http://schemas.microsoft.com/office/powerpoint/2010/main" val="3498497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dirty="0"/>
              <a:t>Etat de l’ Art des Applications Mobiles</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609600" y="1536700"/>
            <a:ext cx="10972800" cy="4775636"/>
          </a:xfrm>
          <a:prstGeom prst="rect">
            <a:avLst/>
          </a:prstGeom>
        </p:spPr>
        <p:txBody>
          <a:bodyPr wrap="square">
            <a:spAutoFit/>
          </a:bodyPr>
          <a:lstStyle/>
          <a:p>
            <a:pPr marL="12700">
              <a:spcBef>
                <a:spcPts val="450"/>
              </a:spcBef>
            </a:pPr>
            <a:r>
              <a:rPr lang="fr-FR" sz="1800" spc="-10" dirty="0">
                <a:solidFill>
                  <a:schemeClr val="tx1"/>
                </a:solidFill>
                <a:latin typeface="Calibri"/>
                <a:cs typeface="Calibri"/>
              </a:rPr>
              <a:t>Utilisation des mobiles</a:t>
            </a:r>
            <a:r>
              <a:rPr lang="fr-FR" sz="1800" spc="-10" dirty="0">
                <a:solidFill>
                  <a:srgbClr val="408043"/>
                </a:solidFill>
                <a:latin typeface="Calibri"/>
                <a:cs typeface="Calibri"/>
              </a:rPr>
              <a:t>(*)</a:t>
            </a:r>
          </a:p>
          <a:p>
            <a:pPr marL="469900" lvl="1">
              <a:spcBef>
                <a:spcPts val="450"/>
              </a:spcBef>
            </a:pPr>
            <a:r>
              <a:rPr lang="fr-FR" sz="1800" spc="-10" dirty="0">
                <a:solidFill>
                  <a:schemeClr val="tx1"/>
                </a:solidFill>
                <a:latin typeface="Calibri"/>
                <a:cs typeface="Calibri"/>
              </a:rPr>
              <a:t>6,9 milliards de terminaux vendus fin 2014</a:t>
            </a:r>
          </a:p>
          <a:p>
            <a:pPr marL="469900" lvl="1">
              <a:spcBef>
                <a:spcPts val="450"/>
              </a:spcBef>
            </a:pPr>
            <a:r>
              <a:rPr lang="fr-FR" sz="1800" spc="-10" dirty="0">
                <a:solidFill>
                  <a:schemeClr val="tx1"/>
                </a:solidFill>
                <a:latin typeface="Calibri"/>
                <a:cs typeface="Calibri"/>
              </a:rPr>
              <a:t>Taux de couverture atteint environ 95% de la population mondiale</a:t>
            </a:r>
          </a:p>
          <a:p>
            <a:pPr marL="12700">
              <a:spcBef>
                <a:spcPts val="450"/>
              </a:spcBef>
            </a:pPr>
            <a:r>
              <a:rPr lang="fr-FR" sz="1800" spc="-10" dirty="0">
                <a:solidFill>
                  <a:schemeClr val="tx1"/>
                </a:solidFill>
                <a:latin typeface="Calibri"/>
                <a:cs typeface="Calibri"/>
              </a:rPr>
              <a:t>Smartphones</a:t>
            </a:r>
            <a:r>
              <a:rPr lang="fr-FR" sz="1800" spc="-10" dirty="0">
                <a:solidFill>
                  <a:srgbClr val="408043"/>
                </a:solidFill>
                <a:latin typeface="Calibri"/>
                <a:cs typeface="Calibri"/>
              </a:rPr>
              <a:t>(*)</a:t>
            </a:r>
          </a:p>
          <a:p>
            <a:pPr marL="469900" lvl="1">
              <a:spcBef>
                <a:spcPts val="450"/>
              </a:spcBef>
            </a:pPr>
            <a:r>
              <a:rPr lang="fr-FR" sz="1800" spc="-10" dirty="0">
                <a:solidFill>
                  <a:schemeClr val="tx1"/>
                </a:solidFill>
                <a:latin typeface="Calibri"/>
                <a:cs typeface="Calibri"/>
              </a:rPr>
              <a:t>1,76 milliards d’utilisateurs de smartphones</a:t>
            </a:r>
          </a:p>
          <a:p>
            <a:pPr marL="469900" lvl="1">
              <a:spcBef>
                <a:spcPts val="450"/>
              </a:spcBef>
            </a:pPr>
            <a:r>
              <a:rPr lang="fr-FR" sz="1800" spc="-10" dirty="0">
                <a:solidFill>
                  <a:schemeClr val="tx1"/>
                </a:solidFill>
                <a:latin typeface="Calibri"/>
                <a:cs typeface="Calibri"/>
              </a:rPr>
              <a:t>Augmentation de 23% par rapport à 2013</a:t>
            </a:r>
          </a:p>
          <a:p>
            <a:pPr marL="469900" lvl="1">
              <a:spcBef>
                <a:spcPts val="450"/>
              </a:spcBef>
            </a:pPr>
            <a:r>
              <a:rPr lang="fr-FR" sz="1800" spc="-10" dirty="0">
                <a:solidFill>
                  <a:schemeClr val="tx1"/>
                </a:solidFill>
                <a:latin typeface="Calibri"/>
                <a:cs typeface="Calibri"/>
              </a:rPr>
              <a:t>395 millions de Go de données transférées</a:t>
            </a:r>
          </a:p>
          <a:p>
            <a:pPr marL="469900" lvl="1">
              <a:spcBef>
                <a:spcPts val="450"/>
              </a:spcBef>
            </a:pPr>
            <a:r>
              <a:rPr lang="fr-FR" sz="1800" spc="-10" dirty="0">
                <a:solidFill>
                  <a:schemeClr val="tx1"/>
                </a:solidFill>
                <a:latin typeface="Calibri"/>
                <a:cs typeface="Calibri"/>
              </a:rPr>
              <a:t>Augmentation de 48% par rapport à 2013</a:t>
            </a:r>
          </a:p>
          <a:p>
            <a:pPr marL="12700">
              <a:spcBef>
                <a:spcPts val="450"/>
              </a:spcBef>
            </a:pPr>
            <a:r>
              <a:rPr lang="fr-FR" sz="1800" spc="-10" dirty="0">
                <a:solidFill>
                  <a:schemeClr val="tx1"/>
                </a:solidFill>
                <a:latin typeface="Calibri"/>
                <a:cs typeface="Calibri"/>
              </a:rPr>
              <a:t>En Maroc</a:t>
            </a:r>
          </a:p>
          <a:p>
            <a:pPr marL="469900" lvl="1">
              <a:spcBef>
                <a:spcPts val="450"/>
              </a:spcBef>
            </a:pPr>
            <a:r>
              <a:rPr lang="fr-FR" sz="1800" spc="-10" dirty="0">
                <a:solidFill>
                  <a:schemeClr val="tx1"/>
                </a:solidFill>
                <a:latin typeface="Calibri"/>
                <a:cs typeface="Calibri"/>
              </a:rPr>
              <a:t>Plus de 58,29 millions de cartes SIM vendues (158,26 % de taux de pénétration) </a:t>
            </a:r>
            <a:r>
              <a:rPr lang="fr-FR" sz="1800" spc="-10" dirty="0">
                <a:solidFill>
                  <a:srgbClr val="408043"/>
                </a:solidFill>
                <a:latin typeface="Calibri"/>
                <a:cs typeface="Calibri"/>
              </a:rPr>
              <a:t>(**)</a:t>
            </a:r>
          </a:p>
          <a:p>
            <a:pPr marL="469900" lvl="1">
              <a:spcBef>
                <a:spcPts val="450"/>
              </a:spcBef>
            </a:pPr>
            <a:r>
              <a:rPr lang="fr-FR" sz="1800" spc="-10" dirty="0">
                <a:solidFill>
                  <a:schemeClr val="tx1"/>
                </a:solidFill>
                <a:latin typeface="Calibri"/>
                <a:cs typeface="Calibri"/>
              </a:rPr>
              <a:t>Environ 80 % des abonnés à la téléphonie mobile utilisent des smartphones </a:t>
            </a:r>
            <a:r>
              <a:rPr lang="fr-FR" sz="1800" spc="-10" dirty="0">
                <a:solidFill>
                  <a:srgbClr val="408043"/>
                </a:solidFill>
                <a:latin typeface="Calibri"/>
                <a:cs typeface="Calibri"/>
              </a:rPr>
              <a:t>(***)</a:t>
            </a:r>
          </a:p>
          <a:p>
            <a:pPr marL="0" indent="0">
              <a:spcBef>
                <a:spcPts val="450"/>
              </a:spcBef>
              <a:buNone/>
            </a:pPr>
            <a:r>
              <a:rPr lang="fr-FR" sz="1400" spc="-10" dirty="0">
                <a:solidFill>
                  <a:srgbClr val="408043"/>
                </a:solidFill>
                <a:latin typeface="Calibri"/>
                <a:cs typeface="Calibri"/>
              </a:rPr>
              <a:t>(*)</a:t>
            </a:r>
            <a:r>
              <a:rPr lang="fr-FR" sz="1400" spc="-10" dirty="0">
                <a:solidFill>
                  <a:schemeClr val="tx1"/>
                </a:solidFill>
                <a:latin typeface="Calibri"/>
                <a:cs typeface="Calibri"/>
              </a:rPr>
              <a:t>       D’ après l’union mondiale des télécommunications</a:t>
            </a:r>
          </a:p>
          <a:p>
            <a:pPr marL="0" indent="0">
              <a:spcBef>
                <a:spcPts val="450"/>
              </a:spcBef>
              <a:buNone/>
            </a:pPr>
            <a:r>
              <a:rPr lang="fr-FR" sz="1400" spc="-10" dirty="0">
                <a:solidFill>
                  <a:srgbClr val="408043"/>
                </a:solidFill>
                <a:latin typeface="Calibri"/>
                <a:cs typeface="Calibri"/>
              </a:rPr>
              <a:t>(**)    </a:t>
            </a:r>
            <a:r>
              <a:rPr lang="fr-FR" sz="1400" spc="-10" dirty="0">
                <a:solidFill>
                  <a:schemeClr val="tx1"/>
                </a:solidFill>
                <a:latin typeface="Calibri"/>
                <a:cs typeface="Calibri"/>
              </a:rPr>
              <a:t>D’après l’Agence Nationale de Réglementation des Télécommunications (ANRT)</a:t>
            </a:r>
            <a:r>
              <a:rPr lang="fr-FR" sz="1400" spc="-10" baseline="30000" dirty="0">
                <a:solidFill>
                  <a:schemeClr val="tx1"/>
                </a:solidFill>
                <a:latin typeface="Calibri"/>
                <a:cs typeface="Calibri"/>
                <a:hlinkClick r:id="rId2"/>
              </a:rPr>
              <a:t>1</a:t>
            </a:r>
            <a:endParaRPr lang="fr-FR" sz="1400" spc="-10" baseline="30000" dirty="0">
              <a:solidFill>
                <a:schemeClr val="tx1"/>
              </a:solidFill>
              <a:latin typeface="Calibri"/>
              <a:cs typeface="Calibri"/>
            </a:endParaRPr>
          </a:p>
          <a:p>
            <a:pPr marL="0" indent="0">
              <a:spcBef>
                <a:spcPts val="450"/>
              </a:spcBef>
              <a:buNone/>
            </a:pPr>
            <a:r>
              <a:rPr lang="fr-FR" sz="1400" spc="-10" dirty="0">
                <a:solidFill>
                  <a:srgbClr val="408043"/>
                </a:solidFill>
                <a:latin typeface="Calibri"/>
                <a:cs typeface="Calibri"/>
              </a:rPr>
              <a:t>(***) </a:t>
            </a:r>
            <a:r>
              <a:rPr lang="fr-FR" sz="1400" spc="-10" dirty="0">
                <a:solidFill>
                  <a:schemeClr val="tx1"/>
                </a:solidFill>
                <a:latin typeface="Calibri"/>
                <a:cs typeface="Calibri"/>
              </a:rPr>
              <a:t> D’après U.S. International Trade Administration</a:t>
            </a:r>
            <a:r>
              <a:rPr lang="fr-FR" sz="1400" spc="-10" baseline="30000" dirty="0">
                <a:solidFill>
                  <a:schemeClr val="tx1"/>
                </a:solidFill>
                <a:latin typeface="Calibri"/>
                <a:cs typeface="Calibri"/>
                <a:hlinkClick r:id="rId3"/>
              </a:rPr>
              <a:t>2</a:t>
            </a:r>
            <a:endParaRPr lang="fr-FR" sz="1400" spc="-10" baseline="30000" dirty="0">
              <a:solidFill>
                <a:schemeClr val="tx1"/>
              </a:solidFill>
              <a:latin typeface="Calibri"/>
              <a:cs typeface="Calibri"/>
            </a:endParaRPr>
          </a:p>
        </p:txBody>
      </p:sp>
    </p:spTree>
    <p:extLst>
      <p:ext uri="{BB962C8B-B14F-4D97-AF65-F5344CB8AC3E}">
        <p14:creationId xmlns:p14="http://schemas.microsoft.com/office/powerpoint/2010/main" val="700398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spc="-165" dirty="0"/>
              <a:t>Systèmes</a:t>
            </a:r>
            <a:r>
              <a:rPr lang="fr-FR" spc="-45" dirty="0"/>
              <a:t> d’Exploitation</a:t>
            </a:r>
            <a:r>
              <a:rPr lang="fr-FR" spc="-160" dirty="0"/>
              <a:t> </a:t>
            </a:r>
            <a:r>
              <a:rPr lang="fr-FR" spc="-150" dirty="0"/>
              <a:t>Mobiles</a:t>
            </a:r>
            <a:r>
              <a:rPr lang="fr-FR" spc="-55" dirty="0"/>
              <a:t> </a:t>
            </a:r>
            <a:r>
              <a:rPr lang="fr-FR" dirty="0"/>
              <a:t>:</a:t>
            </a:r>
            <a:r>
              <a:rPr lang="fr-FR" spc="-100" dirty="0"/>
              <a:t> </a:t>
            </a:r>
            <a:r>
              <a:rPr lang="fr-FR" spc="-90" dirty="0"/>
              <a:t>Parts</a:t>
            </a:r>
            <a:r>
              <a:rPr lang="fr-FR" spc="-75" dirty="0"/>
              <a:t> </a:t>
            </a:r>
            <a:r>
              <a:rPr lang="fr-FR" spc="-195" dirty="0"/>
              <a:t>de</a:t>
            </a:r>
            <a:r>
              <a:rPr lang="fr-FR" spc="-10" dirty="0"/>
              <a:t> </a:t>
            </a:r>
            <a:r>
              <a:rPr lang="fr-FR" spc="-180" dirty="0"/>
              <a:t>Marché</a:t>
            </a:r>
            <a:endParaRPr lang="ar-MA" dirty="0"/>
          </a:p>
        </p:txBody>
      </p:sp>
      <p:sp>
        <p:nvSpPr>
          <p:cNvPr id="23" name="object 19">
            <a:extLst>
              <a:ext uri="{FF2B5EF4-FFF2-40B4-BE49-F238E27FC236}">
                <a16:creationId xmlns:a16="http://schemas.microsoft.com/office/drawing/2014/main" id="{4E9EEC93-B113-4CFA-A942-9067730A8675}"/>
              </a:ext>
            </a:extLst>
          </p:cNvPr>
          <p:cNvSpPr txBox="1"/>
          <p:nvPr/>
        </p:nvSpPr>
        <p:spPr>
          <a:xfrm>
            <a:off x="685189" y="4081779"/>
            <a:ext cx="5888098" cy="382156"/>
          </a:xfrm>
          <a:prstGeom prst="rect">
            <a:avLst/>
          </a:prstGeom>
        </p:spPr>
        <p:txBody>
          <a:bodyPr vert="horz" wrap="square" lIns="0" tIns="12700" rIns="0" bIns="0" rtlCol="0">
            <a:spAutoFit/>
          </a:bodyPr>
          <a:lstStyle/>
          <a:p>
            <a:pPr marL="354965" indent="-342265">
              <a:lnSpc>
                <a:spcPct val="100000"/>
              </a:lnSpc>
              <a:spcBef>
                <a:spcPts val="100"/>
              </a:spcBef>
              <a:buSzPct val="79166"/>
              <a:buFont typeface="Arial"/>
              <a:buChar char="•"/>
              <a:tabLst>
                <a:tab pos="354965" algn="l"/>
              </a:tabLst>
            </a:pPr>
            <a:r>
              <a:rPr sz="2400" b="1" dirty="0">
                <a:latin typeface="Calibri" panose="020F0502020204030204" pitchFamily="34" charset="0"/>
                <a:cs typeface="Calibri" panose="020F0502020204030204" pitchFamily="34" charset="0"/>
              </a:rPr>
              <a:t>USA (de Avril 2013 à Avril 2014)</a:t>
            </a:r>
          </a:p>
        </p:txBody>
      </p:sp>
      <p:grpSp>
        <p:nvGrpSpPr>
          <p:cNvPr id="24" name="object 20">
            <a:extLst>
              <a:ext uri="{FF2B5EF4-FFF2-40B4-BE49-F238E27FC236}">
                <a16:creationId xmlns:a16="http://schemas.microsoft.com/office/drawing/2014/main" id="{BA55BFC0-3F64-42F5-8879-DCC8F54AF0F4}"/>
              </a:ext>
            </a:extLst>
          </p:cNvPr>
          <p:cNvGrpSpPr/>
          <p:nvPr/>
        </p:nvGrpSpPr>
        <p:grpSpPr>
          <a:xfrm>
            <a:off x="2263513" y="1980672"/>
            <a:ext cx="3806190" cy="2039620"/>
            <a:chOff x="683374" y="1717294"/>
            <a:chExt cx="3806190" cy="2039620"/>
          </a:xfrm>
        </p:grpSpPr>
        <p:sp>
          <p:nvSpPr>
            <p:cNvPr id="25" name="object 21">
              <a:extLst>
                <a:ext uri="{FF2B5EF4-FFF2-40B4-BE49-F238E27FC236}">
                  <a16:creationId xmlns:a16="http://schemas.microsoft.com/office/drawing/2014/main" id="{671DA92A-A93E-4CE1-807C-280194C4B984}"/>
                </a:ext>
              </a:extLst>
            </p:cNvPr>
            <p:cNvSpPr/>
            <p:nvPr/>
          </p:nvSpPr>
          <p:spPr>
            <a:xfrm>
              <a:off x="683374" y="1717294"/>
              <a:ext cx="3806190" cy="2039620"/>
            </a:xfrm>
            <a:custGeom>
              <a:avLst/>
              <a:gdLst/>
              <a:ahLst/>
              <a:cxnLst/>
              <a:rect l="l" t="t" r="r" b="b"/>
              <a:pathLst>
                <a:path w="3806190" h="2039620">
                  <a:moveTo>
                    <a:pt x="3805901" y="0"/>
                  </a:moveTo>
                  <a:lnTo>
                    <a:pt x="0" y="0"/>
                  </a:lnTo>
                  <a:lnTo>
                    <a:pt x="0" y="2039287"/>
                  </a:lnTo>
                  <a:lnTo>
                    <a:pt x="3805901" y="2039287"/>
                  </a:lnTo>
                  <a:lnTo>
                    <a:pt x="3805901" y="0"/>
                  </a:lnTo>
                  <a:close/>
                </a:path>
              </a:pathLst>
            </a:custGeom>
            <a:solidFill>
              <a:srgbClr val="FFFFFF"/>
            </a:solidFill>
          </p:spPr>
          <p:txBody>
            <a:bodyPr wrap="square" lIns="0" tIns="0" rIns="0" bIns="0" rtlCol="0"/>
            <a:lstStyle/>
            <a:p>
              <a:endParaRPr/>
            </a:p>
          </p:txBody>
        </p:sp>
        <p:sp>
          <p:nvSpPr>
            <p:cNvPr id="26" name="object 22">
              <a:extLst>
                <a:ext uri="{FF2B5EF4-FFF2-40B4-BE49-F238E27FC236}">
                  <a16:creationId xmlns:a16="http://schemas.microsoft.com/office/drawing/2014/main" id="{9341BCD2-5054-4968-9254-83D685F25CB7}"/>
                </a:ext>
              </a:extLst>
            </p:cNvPr>
            <p:cNvSpPr/>
            <p:nvPr/>
          </p:nvSpPr>
          <p:spPr>
            <a:xfrm>
              <a:off x="1380751" y="2346556"/>
              <a:ext cx="1085850" cy="1140460"/>
            </a:xfrm>
            <a:custGeom>
              <a:avLst/>
              <a:gdLst/>
              <a:ahLst/>
              <a:cxnLst/>
              <a:rect l="l" t="t" r="r" b="b"/>
              <a:pathLst>
                <a:path w="1085850" h="1140460">
                  <a:moveTo>
                    <a:pt x="515713" y="0"/>
                  </a:moveTo>
                  <a:lnTo>
                    <a:pt x="515713" y="569959"/>
                  </a:lnTo>
                  <a:lnTo>
                    <a:pt x="0" y="812634"/>
                  </a:lnTo>
                  <a:lnTo>
                    <a:pt x="23551" y="857428"/>
                  </a:lnTo>
                  <a:lnTo>
                    <a:pt x="50661" y="899505"/>
                  </a:lnTo>
                  <a:lnTo>
                    <a:pt x="81092" y="938715"/>
                  </a:lnTo>
                  <a:lnTo>
                    <a:pt x="114605" y="974906"/>
                  </a:lnTo>
                  <a:lnTo>
                    <a:pt x="150963" y="1007929"/>
                  </a:lnTo>
                  <a:lnTo>
                    <a:pt x="189928" y="1037631"/>
                  </a:lnTo>
                  <a:lnTo>
                    <a:pt x="231263" y="1063863"/>
                  </a:lnTo>
                  <a:lnTo>
                    <a:pt x="274729" y="1086473"/>
                  </a:lnTo>
                  <a:lnTo>
                    <a:pt x="320089" y="1105311"/>
                  </a:lnTo>
                  <a:lnTo>
                    <a:pt x="367106" y="1120225"/>
                  </a:lnTo>
                  <a:lnTo>
                    <a:pt x="415540" y="1131064"/>
                  </a:lnTo>
                  <a:lnTo>
                    <a:pt x="465155" y="1137679"/>
                  </a:lnTo>
                  <a:lnTo>
                    <a:pt x="515713" y="1139917"/>
                  </a:lnTo>
                  <a:lnTo>
                    <a:pt x="564892" y="1137825"/>
                  </a:lnTo>
                  <a:lnTo>
                    <a:pt x="612908" y="1131663"/>
                  </a:lnTo>
                  <a:lnTo>
                    <a:pt x="659592" y="1121602"/>
                  </a:lnTo>
                  <a:lnTo>
                    <a:pt x="704772" y="1107812"/>
                  </a:lnTo>
                  <a:lnTo>
                    <a:pt x="748277" y="1090466"/>
                  </a:lnTo>
                  <a:lnTo>
                    <a:pt x="789936" y="1069734"/>
                  </a:lnTo>
                  <a:lnTo>
                    <a:pt x="829578" y="1045788"/>
                  </a:lnTo>
                  <a:lnTo>
                    <a:pt x="867032" y="1018798"/>
                  </a:lnTo>
                  <a:lnTo>
                    <a:pt x="902127" y="988935"/>
                  </a:lnTo>
                  <a:lnTo>
                    <a:pt x="934691" y="956371"/>
                  </a:lnTo>
                  <a:lnTo>
                    <a:pt x="964553" y="921277"/>
                  </a:lnTo>
                  <a:lnTo>
                    <a:pt x="991544" y="883823"/>
                  </a:lnTo>
                  <a:lnTo>
                    <a:pt x="1015490" y="844181"/>
                  </a:lnTo>
                  <a:lnTo>
                    <a:pt x="1036222" y="802522"/>
                  </a:lnTo>
                  <a:lnTo>
                    <a:pt x="1053568" y="759017"/>
                  </a:lnTo>
                  <a:lnTo>
                    <a:pt x="1067357" y="713837"/>
                  </a:lnTo>
                  <a:lnTo>
                    <a:pt x="1077419" y="667153"/>
                  </a:lnTo>
                  <a:lnTo>
                    <a:pt x="1083581" y="619137"/>
                  </a:lnTo>
                  <a:lnTo>
                    <a:pt x="1085673" y="569959"/>
                  </a:lnTo>
                  <a:lnTo>
                    <a:pt x="1083581" y="520781"/>
                  </a:lnTo>
                  <a:lnTo>
                    <a:pt x="1077419" y="472764"/>
                  </a:lnTo>
                  <a:lnTo>
                    <a:pt x="1067357" y="426080"/>
                  </a:lnTo>
                  <a:lnTo>
                    <a:pt x="1053568" y="380900"/>
                  </a:lnTo>
                  <a:lnTo>
                    <a:pt x="1036222" y="337395"/>
                  </a:lnTo>
                  <a:lnTo>
                    <a:pt x="1015490" y="295736"/>
                  </a:lnTo>
                  <a:lnTo>
                    <a:pt x="991544" y="256094"/>
                  </a:lnTo>
                  <a:lnTo>
                    <a:pt x="964553" y="218640"/>
                  </a:lnTo>
                  <a:lnTo>
                    <a:pt x="934691" y="183546"/>
                  </a:lnTo>
                  <a:lnTo>
                    <a:pt x="902127" y="150982"/>
                  </a:lnTo>
                  <a:lnTo>
                    <a:pt x="867032" y="121119"/>
                  </a:lnTo>
                  <a:lnTo>
                    <a:pt x="829578" y="94129"/>
                  </a:lnTo>
                  <a:lnTo>
                    <a:pt x="789936" y="70182"/>
                  </a:lnTo>
                  <a:lnTo>
                    <a:pt x="748277" y="49450"/>
                  </a:lnTo>
                  <a:lnTo>
                    <a:pt x="704772" y="32104"/>
                  </a:lnTo>
                  <a:lnTo>
                    <a:pt x="659592" y="18315"/>
                  </a:lnTo>
                  <a:lnTo>
                    <a:pt x="612908" y="8254"/>
                  </a:lnTo>
                  <a:lnTo>
                    <a:pt x="564892" y="2092"/>
                  </a:lnTo>
                  <a:lnTo>
                    <a:pt x="515713" y="0"/>
                  </a:lnTo>
                  <a:close/>
                </a:path>
              </a:pathLst>
            </a:custGeom>
            <a:solidFill>
              <a:srgbClr val="615660"/>
            </a:solidFill>
          </p:spPr>
          <p:txBody>
            <a:bodyPr wrap="square" lIns="0" tIns="0" rIns="0" bIns="0" rtlCol="0"/>
            <a:lstStyle/>
            <a:p>
              <a:endParaRPr/>
            </a:p>
          </p:txBody>
        </p:sp>
        <p:sp>
          <p:nvSpPr>
            <p:cNvPr id="27" name="object 23">
              <a:extLst>
                <a:ext uri="{FF2B5EF4-FFF2-40B4-BE49-F238E27FC236}">
                  <a16:creationId xmlns:a16="http://schemas.microsoft.com/office/drawing/2014/main" id="{5EB1BB54-DDB1-45A7-B91A-3D65151BCCE9}"/>
                </a:ext>
              </a:extLst>
            </p:cNvPr>
            <p:cNvSpPr/>
            <p:nvPr/>
          </p:nvSpPr>
          <p:spPr>
            <a:xfrm>
              <a:off x="1380752" y="2346556"/>
              <a:ext cx="1085850" cy="1140460"/>
            </a:xfrm>
            <a:custGeom>
              <a:avLst/>
              <a:gdLst/>
              <a:ahLst/>
              <a:cxnLst/>
              <a:rect l="l" t="t" r="r" b="b"/>
              <a:pathLst>
                <a:path w="1085850" h="1140460">
                  <a:moveTo>
                    <a:pt x="515714" y="0"/>
                  </a:moveTo>
                  <a:lnTo>
                    <a:pt x="564892" y="2092"/>
                  </a:lnTo>
                  <a:lnTo>
                    <a:pt x="612908" y="8254"/>
                  </a:lnTo>
                  <a:lnTo>
                    <a:pt x="659592" y="18315"/>
                  </a:lnTo>
                  <a:lnTo>
                    <a:pt x="704772" y="32104"/>
                  </a:lnTo>
                  <a:lnTo>
                    <a:pt x="748277" y="49450"/>
                  </a:lnTo>
                  <a:lnTo>
                    <a:pt x="789936" y="70182"/>
                  </a:lnTo>
                  <a:lnTo>
                    <a:pt x="829578" y="94129"/>
                  </a:lnTo>
                  <a:lnTo>
                    <a:pt x="867032" y="121119"/>
                  </a:lnTo>
                  <a:lnTo>
                    <a:pt x="902126" y="150982"/>
                  </a:lnTo>
                  <a:lnTo>
                    <a:pt x="934691" y="183546"/>
                  </a:lnTo>
                  <a:lnTo>
                    <a:pt x="964553" y="218640"/>
                  </a:lnTo>
                  <a:lnTo>
                    <a:pt x="991543" y="256094"/>
                  </a:lnTo>
                  <a:lnTo>
                    <a:pt x="1015490" y="295736"/>
                  </a:lnTo>
                  <a:lnTo>
                    <a:pt x="1036222" y="337395"/>
                  </a:lnTo>
                  <a:lnTo>
                    <a:pt x="1053568" y="380900"/>
                  </a:lnTo>
                  <a:lnTo>
                    <a:pt x="1067357" y="426080"/>
                  </a:lnTo>
                  <a:lnTo>
                    <a:pt x="1077418" y="472764"/>
                  </a:lnTo>
                  <a:lnTo>
                    <a:pt x="1083581" y="520780"/>
                  </a:lnTo>
                  <a:lnTo>
                    <a:pt x="1085673" y="569959"/>
                  </a:lnTo>
                  <a:lnTo>
                    <a:pt x="1083581" y="619137"/>
                  </a:lnTo>
                  <a:lnTo>
                    <a:pt x="1077418" y="667153"/>
                  </a:lnTo>
                  <a:lnTo>
                    <a:pt x="1067357" y="713837"/>
                  </a:lnTo>
                  <a:lnTo>
                    <a:pt x="1053568" y="759017"/>
                  </a:lnTo>
                  <a:lnTo>
                    <a:pt x="1036222" y="802522"/>
                  </a:lnTo>
                  <a:lnTo>
                    <a:pt x="1015490" y="844181"/>
                  </a:lnTo>
                  <a:lnTo>
                    <a:pt x="991543" y="883823"/>
                  </a:lnTo>
                  <a:lnTo>
                    <a:pt x="964553" y="921277"/>
                  </a:lnTo>
                  <a:lnTo>
                    <a:pt x="934691" y="956371"/>
                  </a:lnTo>
                  <a:lnTo>
                    <a:pt x="902126" y="988935"/>
                  </a:lnTo>
                  <a:lnTo>
                    <a:pt x="867032" y="1018798"/>
                  </a:lnTo>
                  <a:lnTo>
                    <a:pt x="829578" y="1045788"/>
                  </a:lnTo>
                  <a:lnTo>
                    <a:pt x="789936" y="1069735"/>
                  </a:lnTo>
                  <a:lnTo>
                    <a:pt x="748277" y="1090466"/>
                  </a:lnTo>
                  <a:lnTo>
                    <a:pt x="704772" y="1107813"/>
                  </a:lnTo>
                  <a:lnTo>
                    <a:pt x="659592" y="1121602"/>
                  </a:lnTo>
                  <a:lnTo>
                    <a:pt x="612908" y="1131663"/>
                  </a:lnTo>
                  <a:lnTo>
                    <a:pt x="564892" y="1137825"/>
                  </a:lnTo>
                  <a:lnTo>
                    <a:pt x="515714" y="1139917"/>
                  </a:lnTo>
                  <a:lnTo>
                    <a:pt x="465156" y="1137679"/>
                  </a:lnTo>
                  <a:lnTo>
                    <a:pt x="415540" y="1131064"/>
                  </a:lnTo>
                  <a:lnTo>
                    <a:pt x="367106" y="1120225"/>
                  </a:lnTo>
                  <a:lnTo>
                    <a:pt x="320090" y="1105311"/>
                  </a:lnTo>
                  <a:lnTo>
                    <a:pt x="274729" y="1086473"/>
                  </a:lnTo>
                  <a:lnTo>
                    <a:pt x="231263" y="1063863"/>
                  </a:lnTo>
                  <a:lnTo>
                    <a:pt x="189929" y="1037632"/>
                  </a:lnTo>
                  <a:lnTo>
                    <a:pt x="150963" y="1007929"/>
                  </a:lnTo>
                  <a:lnTo>
                    <a:pt x="114605" y="974907"/>
                  </a:lnTo>
                  <a:lnTo>
                    <a:pt x="81092" y="938715"/>
                  </a:lnTo>
                  <a:lnTo>
                    <a:pt x="50662" y="899505"/>
                  </a:lnTo>
                  <a:lnTo>
                    <a:pt x="23551" y="857429"/>
                  </a:lnTo>
                  <a:lnTo>
                    <a:pt x="0" y="812635"/>
                  </a:lnTo>
                  <a:lnTo>
                    <a:pt x="515714" y="569959"/>
                  </a:lnTo>
                  <a:lnTo>
                    <a:pt x="515714" y="0"/>
                  </a:lnTo>
                  <a:close/>
                </a:path>
              </a:pathLst>
            </a:custGeom>
            <a:ln w="9524">
              <a:solidFill>
                <a:srgbClr val="463D45"/>
              </a:solidFill>
            </a:ln>
          </p:spPr>
          <p:txBody>
            <a:bodyPr wrap="square" lIns="0" tIns="0" rIns="0" bIns="0" rtlCol="0"/>
            <a:lstStyle/>
            <a:p>
              <a:endParaRPr/>
            </a:p>
          </p:txBody>
        </p:sp>
        <p:sp>
          <p:nvSpPr>
            <p:cNvPr id="28" name="object 24">
              <a:extLst>
                <a:ext uri="{FF2B5EF4-FFF2-40B4-BE49-F238E27FC236}">
                  <a16:creationId xmlns:a16="http://schemas.microsoft.com/office/drawing/2014/main" id="{7B31DBD2-76B7-457E-B3EE-4420179114C2}"/>
                </a:ext>
              </a:extLst>
            </p:cNvPr>
            <p:cNvSpPr/>
            <p:nvPr/>
          </p:nvSpPr>
          <p:spPr>
            <a:xfrm>
              <a:off x="1326508" y="2584405"/>
              <a:ext cx="570230" cy="575310"/>
            </a:xfrm>
            <a:custGeom>
              <a:avLst/>
              <a:gdLst/>
              <a:ahLst/>
              <a:cxnLst/>
              <a:rect l="l" t="t" r="r" b="b"/>
              <a:pathLst>
                <a:path w="570230" h="575310">
                  <a:moveTo>
                    <a:pt x="106755" y="0"/>
                  </a:moveTo>
                  <a:lnTo>
                    <a:pt x="78751" y="43012"/>
                  </a:lnTo>
                  <a:lnTo>
                    <a:pt x="54953" y="87897"/>
                  </a:lnTo>
                  <a:lnTo>
                    <a:pt x="35388" y="134359"/>
                  </a:lnTo>
                  <a:lnTo>
                    <a:pt x="20084" y="182102"/>
                  </a:lnTo>
                  <a:lnTo>
                    <a:pt x="9066" y="230832"/>
                  </a:lnTo>
                  <a:lnTo>
                    <a:pt x="2362" y="280254"/>
                  </a:lnTo>
                  <a:lnTo>
                    <a:pt x="0" y="330072"/>
                  </a:lnTo>
                  <a:lnTo>
                    <a:pt x="2005" y="379992"/>
                  </a:lnTo>
                  <a:lnTo>
                    <a:pt x="8405" y="429719"/>
                  </a:lnTo>
                  <a:lnTo>
                    <a:pt x="19226" y="478956"/>
                  </a:lnTo>
                  <a:lnTo>
                    <a:pt x="34497" y="527411"/>
                  </a:lnTo>
                  <a:lnTo>
                    <a:pt x="54243" y="574786"/>
                  </a:lnTo>
                  <a:lnTo>
                    <a:pt x="569957" y="332110"/>
                  </a:lnTo>
                  <a:lnTo>
                    <a:pt x="106755" y="0"/>
                  </a:lnTo>
                  <a:close/>
                </a:path>
              </a:pathLst>
            </a:custGeom>
            <a:solidFill>
              <a:srgbClr val="FFD441"/>
            </a:solidFill>
          </p:spPr>
          <p:txBody>
            <a:bodyPr wrap="square" lIns="0" tIns="0" rIns="0" bIns="0" rtlCol="0"/>
            <a:lstStyle/>
            <a:p>
              <a:endParaRPr/>
            </a:p>
          </p:txBody>
        </p:sp>
        <p:sp>
          <p:nvSpPr>
            <p:cNvPr id="29" name="object 25">
              <a:extLst>
                <a:ext uri="{FF2B5EF4-FFF2-40B4-BE49-F238E27FC236}">
                  <a16:creationId xmlns:a16="http://schemas.microsoft.com/office/drawing/2014/main" id="{47341813-A95F-4F80-B3A3-852F7740B5D1}"/>
                </a:ext>
              </a:extLst>
            </p:cNvPr>
            <p:cNvSpPr/>
            <p:nvPr/>
          </p:nvSpPr>
          <p:spPr>
            <a:xfrm>
              <a:off x="1326508" y="2584405"/>
              <a:ext cx="570230" cy="575310"/>
            </a:xfrm>
            <a:custGeom>
              <a:avLst/>
              <a:gdLst/>
              <a:ahLst/>
              <a:cxnLst/>
              <a:rect l="l" t="t" r="r" b="b"/>
              <a:pathLst>
                <a:path w="570230" h="575310">
                  <a:moveTo>
                    <a:pt x="54243" y="574786"/>
                  </a:moveTo>
                  <a:lnTo>
                    <a:pt x="34497" y="527411"/>
                  </a:lnTo>
                  <a:lnTo>
                    <a:pt x="19226" y="478956"/>
                  </a:lnTo>
                  <a:lnTo>
                    <a:pt x="8405" y="429719"/>
                  </a:lnTo>
                  <a:lnTo>
                    <a:pt x="2005" y="379992"/>
                  </a:lnTo>
                  <a:lnTo>
                    <a:pt x="0" y="330073"/>
                  </a:lnTo>
                  <a:lnTo>
                    <a:pt x="2362" y="280254"/>
                  </a:lnTo>
                  <a:lnTo>
                    <a:pt x="9066" y="230833"/>
                  </a:lnTo>
                  <a:lnTo>
                    <a:pt x="20084" y="182102"/>
                  </a:lnTo>
                  <a:lnTo>
                    <a:pt x="35388" y="134359"/>
                  </a:lnTo>
                  <a:lnTo>
                    <a:pt x="54953" y="87897"/>
                  </a:lnTo>
                  <a:lnTo>
                    <a:pt x="78751" y="43013"/>
                  </a:lnTo>
                  <a:lnTo>
                    <a:pt x="106755" y="0"/>
                  </a:lnTo>
                  <a:lnTo>
                    <a:pt x="569957" y="332109"/>
                  </a:lnTo>
                  <a:lnTo>
                    <a:pt x="54243" y="574786"/>
                  </a:lnTo>
                  <a:close/>
                </a:path>
              </a:pathLst>
            </a:custGeom>
            <a:ln w="9524">
              <a:solidFill>
                <a:srgbClr val="C8A326"/>
              </a:solidFill>
            </a:ln>
          </p:spPr>
          <p:txBody>
            <a:bodyPr wrap="square" lIns="0" tIns="0" rIns="0" bIns="0" rtlCol="0"/>
            <a:lstStyle/>
            <a:p>
              <a:endParaRPr/>
            </a:p>
          </p:txBody>
        </p:sp>
        <p:sp>
          <p:nvSpPr>
            <p:cNvPr id="30" name="object 26">
              <a:extLst>
                <a:ext uri="{FF2B5EF4-FFF2-40B4-BE49-F238E27FC236}">
                  <a16:creationId xmlns:a16="http://schemas.microsoft.com/office/drawing/2014/main" id="{7648A080-0D55-4D0E-B0EE-5EBAA64F0FCD}"/>
                </a:ext>
              </a:extLst>
            </p:cNvPr>
            <p:cNvSpPr/>
            <p:nvPr/>
          </p:nvSpPr>
          <p:spPr>
            <a:xfrm>
              <a:off x="1433263" y="2433373"/>
              <a:ext cx="463550" cy="483234"/>
            </a:xfrm>
            <a:custGeom>
              <a:avLst/>
              <a:gdLst/>
              <a:ahLst/>
              <a:cxnLst/>
              <a:rect l="l" t="t" r="r" b="b"/>
              <a:pathLst>
                <a:path w="463550" h="483235">
                  <a:moveTo>
                    <a:pt x="160832" y="0"/>
                  </a:moveTo>
                  <a:lnTo>
                    <a:pt x="115235" y="31730"/>
                  </a:lnTo>
                  <a:lnTo>
                    <a:pt x="73038" y="67659"/>
                  </a:lnTo>
                  <a:lnTo>
                    <a:pt x="34531" y="107516"/>
                  </a:lnTo>
                  <a:lnTo>
                    <a:pt x="0" y="151032"/>
                  </a:lnTo>
                  <a:lnTo>
                    <a:pt x="463202" y="483142"/>
                  </a:lnTo>
                  <a:lnTo>
                    <a:pt x="160832" y="0"/>
                  </a:lnTo>
                  <a:close/>
                </a:path>
              </a:pathLst>
            </a:custGeom>
            <a:solidFill>
              <a:srgbClr val="C0C0C0"/>
            </a:solidFill>
          </p:spPr>
          <p:txBody>
            <a:bodyPr wrap="square" lIns="0" tIns="0" rIns="0" bIns="0" rtlCol="0"/>
            <a:lstStyle/>
            <a:p>
              <a:endParaRPr/>
            </a:p>
          </p:txBody>
        </p:sp>
        <p:sp>
          <p:nvSpPr>
            <p:cNvPr id="31" name="object 27">
              <a:extLst>
                <a:ext uri="{FF2B5EF4-FFF2-40B4-BE49-F238E27FC236}">
                  <a16:creationId xmlns:a16="http://schemas.microsoft.com/office/drawing/2014/main" id="{8062B967-39C7-4B3E-8E86-AF3DC867C362}"/>
                </a:ext>
              </a:extLst>
            </p:cNvPr>
            <p:cNvSpPr/>
            <p:nvPr/>
          </p:nvSpPr>
          <p:spPr>
            <a:xfrm>
              <a:off x="1433264" y="2433373"/>
              <a:ext cx="463550" cy="483234"/>
            </a:xfrm>
            <a:custGeom>
              <a:avLst/>
              <a:gdLst/>
              <a:ahLst/>
              <a:cxnLst/>
              <a:rect l="l" t="t" r="r" b="b"/>
              <a:pathLst>
                <a:path w="463550" h="483235">
                  <a:moveTo>
                    <a:pt x="0" y="151031"/>
                  </a:moveTo>
                  <a:lnTo>
                    <a:pt x="34530" y="107516"/>
                  </a:lnTo>
                  <a:lnTo>
                    <a:pt x="73038" y="67659"/>
                  </a:lnTo>
                  <a:lnTo>
                    <a:pt x="115235" y="31730"/>
                  </a:lnTo>
                  <a:lnTo>
                    <a:pt x="160832" y="0"/>
                  </a:lnTo>
                  <a:lnTo>
                    <a:pt x="463201" y="483141"/>
                  </a:lnTo>
                  <a:lnTo>
                    <a:pt x="0" y="151031"/>
                  </a:lnTo>
                  <a:close/>
                </a:path>
              </a:pathLst>
            </a:custGeom>
            <a:ln w="9524">
              <a:solidFill>
                <a:srgbClr val="929292"/>
              </a:solidFill>
            </a:ln>
          </p:spPr>
          <p:txBody>
            <a:bodyPr wrap="square" lIns="0" tIns="0" rIns="0" bIns="0" rtlCol="0"/>
            <a:lstStyle/>
            <a:p>
              <a:endParaRPr/>
            </a:p>
          </p:txBody>
        </p:sp>
        <p:sp>
          <p:nvSpPr>
            <p:cNvPr id="32" name="object 28">
              <a:extLst>
                <a:ext uri="{FF2B5EF4-FFF2-40B4-BE49-F238E27FC236}">
                  <a16:creationId xmlns:a16="http://schemas.microsoft.com/office/drawing/2014/main" id="{1B393EA1-47DE-4814-91E5-DA071F355460}"/>
                </a:ext>
              </a:extLst>
            </p:cNvPr>
            <p:cNvSpPr/>
            <p:nvPr/>
          </p:nvSpPr>
          <p:spPr>
            <a:xfrm>
              <a:off x="1594096" y="2375569"/>
              <a:ext cx="302895" cy="541020"/>
            </a:xfrm>
            <a:custGeom>
              <a:avLst/>
              <a:gdLst/>
              <a:ahLst/>
              <a:cxnLst/>
              <a:rect l="l" t="t" r="r" b="b"/>
              <a:pathLst>
                <a:path w="302894" h="541019">
                  <a:moveTo>
                    <a:pt x="122839" y="0"/>
                  </a:moveTo>
                  <a:lnTo>
                    <a:pt x="90875" y="11678"/>
                  </a:lnTo>
                  <a:lnTo>
                    <a:pt x="59692" y="25231"/>
                  </a:lnTo>
                  <a:lnTo>
                    <a:pt x="29373" y="40619"/>
                  </a:lnTo>
                  <a:lnTo>
                    <a:pt x="0" y="57804"/>
                  </a:lnTo>
                  <a:lnTo>
                    <a:pt x="302369" y="540946"/>
                  </a:lnTo>
                  <a:lnTo>
                    <a:pt x="122839" y="0"/>
                  </a:lnTo>
                  <a:close/>
                </a:path>
              </a:pathLst>
            </a:custGeom>
            <a:solidFill>
              <a:srgbClr val="FF7D00"/>
            </a:solidFill>
          </p:spPr>
          <p:txBody>
            <a:bodyPr wrap="square" lIns="0" tIns="0" rIns="0" bIns="0" rtlCol="0"/>
            <a:lstStyle/>
            <a:p>
              <a:endParaRPr/>
            </a:p>
          </p:txBody>
        </p:sp>
        <p:sp>
          <p:nvSpPr>
            <p:cNvPr id="33" name="object 29">
              <a:extLst>
                <a:ext uri="{FF2B5EF4-FFF2-40B4-BE49-F238E27FC236}">
                  <a16:creationId xmlns:a16="http://schemas.microsoft.com/office/drawing/2014/main" id="{267D867C-3726-4C87-8777-E67FF97B023B}"/>
                </a:ext>
              </a:extLst>
            </p:cNvPr>
            <p:cNvSpPr/>
            <p:nvPr/>
          </p:nvSpPr>
          <p:spPr>
            <a:xfrm>
              <a:off x="1594096" y="2375569"/>
              <a:ext cx="302895" cy="541020"/>
            </a:xfrm>
            <a:custGeom>
              <a:avLst/>
              <a:gdLst/>
              <a:ahLst/>
              <a:cxnLst/>
              <a:rect l="l" t="t" r="r" b="b"/>
              <a:pathLst>
                <a:path w="302894" h="541019">
                  <a:moveTo>
                    <a:pt x="0" y="57804"/>
                  </a:moveTo>
                  <a:lnTo>
                    <a:pt x="29373" y="40619"/>
                  </a:lnTo>
                  <a:lnTo>
                    <a:pt x="59692" y="25231"/>
                  </a:lnTo>
                  <a:lnTo>
                    <a:pt x="90875" y="11678"/>
                  </a:lnTo>
                  <a:lnTo>
                    <a:pt x="122840" y="0"/>
                  </a:lnTo>
                  <a:lnTo>
                    <a:pt x="302369" y="540946"/>
                  </a:lnTo>
                  <a:lnTo>
                    <a:pt x="0" y="57804"/>
                  </a:lnTo>
                  <a:close/>
                </a:path>
              </a:pathLst>
            </a:custGeom>
            <a:ln w="9524">
              <a:solidFill>
                <a:srgbClr val="CA5C00"/>
              </a:solidFill>
            </a:ln>
          </p:spPr>
          <p:txBody>
            <a:bodyPr wrap="square" lIns="0" tIns="0" rIns="0" bIns="0" rtlCol="0"/>
            <a:lstStyle/>
            <a:p>
              <a:endParaRPr/>
            </a:p>
          </p:txBody>
        </p:sp>
        <p:sp>
          <p:nvSpPr>
            <p:cNvPr id="34" name="object 30">
              <a:extLst>
                <a:ext uri="{FF2B5EF4-FFF2-40B4-BE49-F238E27FC236}">
                  <a16:creationId xmlns:a16="http://schemas.microsoft.com/office/drawing/2014/main" id="{AB5E2102-1845-4B50-B891-C5B52A130D38}"/>
                </a:ext>
              </a:extLst>
            </p:cNvPr>
            <p:cNvSpPr/>
            <p:nvPr/>
          </p:nvSpPr>
          <p:spPr>
            <a:xfrm>
              <a:off x="1716937" y="2346556"/>
              <a:ext cx="179705" cy="570230"/>
            </a:xfrm>
            <a:custGeom>
              <a:avLst/>
              <a:gdLst/>
              <a:ahLst/>
              <a:cxnLst/>
              <a:rect l="l" t="t" r="r" b="b"/>
              <a:pathLst>
                <a:path w="179705" h="570230">
                  <a:moveTo>
                    <a:pt x="179528" y="0"/>
                  </a:moveTo>
                  <a:lnTo>
                    <a:pt x="133881" y="1830"/>
                  </a:lnTo>
                  <a:lnTo>
                    <a:pt x="88599" y="7299"/>
                  </a:lnTo>
                  <a:lnTo>
                    <a:pt x="43900" y="16372"/>
                  </a:lnTo>
                  <a:lnTo>
                    <a:pt x="0" y="29013"/>
                  </a:lnTo>
                  <a:lnTo>
                    <a:pt x="179528" y="569959"/>
                  </a:lnTo>
                  <a:lnTo>
                    <a:pt x="179528" y="0"/>
                  </a:lnTo>
                  <a:close/>
                </a:path>
              </a:pathLst>
            </a:custGeom>
            <a:solidFill>
              <a:srgbClr val="FF2600"/>
            </a:solidFill>
          </p:spPr>
          <p:txBody>
            <a:bodyPr wrap="square" lIns="0" tIns="0" rIns="0" bIns="0" rtlCol="0"/>
            <a:lstStyle/>
            <a:p>
              <a:endParaRPr/>
            </a:p>
          </p:txBody>
        </p:sp>
        <p:sp>
          <p:nvSpPr>
            <p:cNvPr id="35" name="object 31">
              <a:extLst>
                <a:ext uri="{FF2B5EF4-FFF2-40B4-BE49-F238E27FC236}">
                  <a16:creationId xmlns:a16="http://schemas.microsoft.com/office/drawing/2014/main" id="{17962A93-E484-4BF5-B198-F68372489C99}"/>
                </a:ext>
              </a:extLst>
            </p:cNvPr>
            <p:cNvSpPr/>
            <p:nvPr/>
          </p:nvSpPr>
          <p:spPr>
            <a:xfrm>
              <a:off x="1716937" y="2346556"/>
              <a:ext cx="179705" cy="570230"/>
            </a:xfrm>
            <a:custGeom>
              <a:avLst/>
              <a:gdLst/>
              <a:ahLst/>
              <a:cxnLst/>
              <a:rect l="l" t="t" r="r" b="b"/>
              <a:pathLst>
                <a:path w="179705" h="570230">
                  <a:moveTo>
                    <a:pt x="0" y="29012"/>
                  </a:moveTo>
                  <a:lnTo>
                    <a:pt x="43900" y="16372"/>
                  </a:lnTo>
                  <a:lnTo>
                    <a:pt x="88600" y="7299"/>
                  </a:lnTo>
                  <a:lnTo>
                    <a:pt x="133882" y="1830"/>
                  </a:lnTo>
                  <a:lnTo>
                    <a:pt x="179529" y="0"/>
                  </a:lnTo>
                  <a:lnTo>
                    <a:pt x="179528" y="569959"/>
                  </a:lnTo>
                  <a:lnTo>
                    <a:pt x="0" y="29012"/>
                  </a:lnTo>
                  <a:close/>
                </a:path>
              </a:pathLst>
            </a:custGeom>
            <a:ln w="9524">
              <a:solidFill>
                <a:srgbClr val="CA1B00"/>
              </a:solidFill>
            </a:ln>
          </p:spPr>
          <p:txBody>
            <a:bodyPr wrap="square" lIns="0" tIns="0" rIns="0" bIns="0" rtlCol="0"/>
            <a:lstStyle/>
            <a:p>
              <a:endParaRPr/>
            </a:p>
          </p:txBody>
        </p:sp>
        <p:sp>
          <p:nvSpPr>
            <p:cNvPr id="36" name="object 32">
              <a:extLst>
                <a:ext uri="{FF2B5EF4-FFF2-40B4-BE49-F238E27FC236}">
                  <a16:creationId xmlns:a16="http://schemas.microsoft.com/office/drawing/2014/main" id="{F521EB59-9353-4B0A-8BCF-51DCD96DC44E}"/>
                </a:ext>
              </a:extLst>
            </p:cNvPr>
            <p:cNvSpPr/>
            <p:nvPr/>
          </p:nvSpPr>
          <p:spPr>
            <a:xfrm>
              <a:off x="1435676" y="2166179"/>
              <a:ext cx="216535" cy="233045"/>
            </a:xfrm>
            <a:custGeom>
              <a:avLst/>
              <a:gdLst/>
              <a:ahLst/>
              <a:cxnLst/>
              <a:rect l="l" t="t" r="r" b="b"/>
              <a:pathLst>
                <a:path w="216535" h="233044">
                  <a:moveTo>
                    <a:pt x="216130" y="232757"/>
                  </a:moveTo>
                  <a:lnTo>
                    <a:pt x="74814" y="0"/>
                  </a:lnTo>
                </a:path>
                <a:path w="216535" h="233044">
                  <a:moveTo>
                    <a:pt x="74814" y="0"/>
                  </a:moveTo>
                  <a:lnTo>
                    <a:pt x="0" y="0"/>
                  </a:lnTo>
                </a:path>
              </a:pathLst>
            </a:custGeom>
            <a:ln w="9524">
              <a:solidFill>
                <a:srgbClr val="000000"/>
              </a:solidFill>
            </a:ln>
          </p:spPr>
          <p:txBody>
            <a:bodyPr wrap="square" lIns="0" tIns="0" rIns="0" bIns="0" rtlCol="0"/>
            <a:lstStyle/>
            <a:p>
              <a:endParaRPr/>
            </a:p>
          </p:txBody>
        </p:sp>
      </p:grpSp>
      <p:sp>
        <p:nvSpPr>
          <p:cNvPr id="37" name="object 33">
            <a:extLst>
              <a:ext uri="{FF2B5EF4-FFF2-40B4-BE49-F238E27FC236}">
                <a16:creationId xmlns:a16="http://schemas.microsoft.com/office/drawing/2014/main" id="{D38BC626-6D3E-42B0-AD25-A068B929EBE2}"/>
              </a:ext>
            </a:extLst>
          </p:cNvPr>
          <p:cNvSpPr txBox="1"/>
          <p:nvPr/>
        </p:nvSpPr>
        <p:spPr>
          <a:xfrm>
            <a:off x="458480" y="984794"/>
            <a:ext cx="12578897" cy="604653"/>
          </a:xfrm>
          <a:prstGeom prst="rect">
            <a:avLst/>
          </a:prstGeom>
        </p:spPr>
        <p:txBody>
          <a:bodyPr vert="horz" wrap="square" lIns="0" tIns="233045" rIns="0" bIns="0" rtlCol="0">
            <a:spAutoFit/>
          </a:bodyPr>
          <a:lstStyle/>
          <a:p>
            <a:pPr marL="438150" indent="-342900">
              <a:lnSpc>
                <a:spcPct val="100000"/>
              </a:lnSpc>
              <a:spcBef>
                <a:spcPts val="1485"/>
              </a:spcBef>
              <a:buSzPct val="79166"/>
              <a:buFont typeface="Arial"/>
              <a:buChar char="•"/>
              <a:tabLst>
                <a:tab pos="438150" algn="l"/>
              </a:tabLst>
            </a:pPr>
            <a:r>
              <a:rPr sz="2400" b="1" dirty="0">
                <a:latin typeface="Calibri" panose="020F0502020204030204" pitchFamily="34" charset="0"/>
                <a:cs typeface="Calibri" panose="020F0502020204030204" pitchFamily="34" charset="0"/>
              </a:rPr>
              <a:t>France (de Avril 2013 à Avril 2014)</a:t>
            </a:r>
          </a:p>
        </p:txBody>
      </p:sp>
      <p:sp>
        <p:nvSpPr>
          <p:cNvPr id="38" name="object 34">
            <a:extLst>
              <a:ext uri="{FF2B5EF4-FFF2-40B4-BE49-F238E27FC236}">
                <a16:creationId xmlns:a16="http://schemas.microsoft.com/office/drawing/2014/main" id="{695662E7-3578-478F-81DD-07A816C6459E}"/>
              </a:ext>
            </a:extLst>
          </p:cNvPr>
          <p:cNvSpPr txBox="1"/>
          <p:nvPr/>
        </p:nvSpPr>
        <p:spPr>
          <a:xfrm>
            <a:off x="3546214" y="3206220"/>
            <a:ext cx="391795" cy="208279"/>
          </a:xfrm>
          <a:prstGeom prst="rect">
            <a:avLst/>
          </a:prstGeom>
        </p:spPr>
        <p:txBody>
          <a:bodyPr vert="horz" wrap="square" lIns="0" tIns="12700" rIns="0" bIns="0" rtlCol="0">
            <a:spAutoFit/>
          </a:bodyPr>
          <a:lstStyle/>
          <a:p>
            <a:pPr>
              <a:lnSpc>
                <a:spcPct val="100000"/>
              </a:lnSpc>
              <a:spcBef>
                <a:spcPts val="100"/>
              </a:spcBef>
            </a:pPr>
            <a:r>
              <a:rPr sz="1200" spc="-10" dirty="0">
                <a:latin typeface="Calibri"/>
                <a:cs typeface="Calibri"/>
              </a:rPr>
              <a:t>68,0%</a:t>
            </a:r>
            <a:endParaRPr sz="1200">
              <a:latin typeface="Calibri"/>
              <a:cs typeface="Calibri"/>
            </a:endParaRPr>
          </a:p>
        </p:txBody>
      </p:sp>
      <p:sp>
        <p:nvSpPr>
          <p:cNvPr id="39" name="object 35">
            <a:extLst>
              <a:ext uri="{FF2B5EF4-FFF2-40B4-BE49-F238E27FC236}">
                <a16:creationId xmlns:a16="http://schemas.microsoft.com/office/drawing/2014/main" id="{5C02A3E5-3F2C-4FB8-A8BA-DDF5551FA0E9}"/>
              </a:ext>
            </a:extLst>
          </p:cNvPr>
          <p:cNvSpPr txBox="1"/>
          <p:nvPr/>
        </p:nvSpPr>
        <p:spPr>
          <a:xfrm>
            <a:off x="2479414" y="3003020"/>
            <a:ext cx="391795" cy="208279"/>
          </a:xfrm>
          <a:prstGeom prst="rect">
            <a:avLst/>
          </a:prstGeom>
        </p:spPr>
        <p:txBody>
          <a:bodyPr vert="horz" wrap="square" lIns="0" tIns="12700" rIns="0" bIns="0" rtlCol="0">
            <a:spAutoFit/>
          </a:bodyPr>
          <a:lstStyle/>
          <a:p>
            <a:pPr>
              <a:lnSpc>
                <a:spcPct val="100000"/>
              </a:lnSpc>
              <a:spcBef>
                <a:spcPts val="100"/>
              </a:spcBef>
            </a:pPr>
            <a:r>
              <a:rPr sz="1200" spc="-10" dirty="0">
                <a:latin typeface="Calibri"/>
                <a:cs typeface="Calibri"/>
              </a:rPr>
              <a:t>16,9%</a:t>
            </a:r>
            <a:endParaRPr sz="1200">
              <a:latin typeface="Calibri"/>
              <a:cs typeface="Calibri"/>
            </a:endParaRPr>
          </a:p>
        </p:txBody>
      </p:sp>
      <p:sp>
        <p:nvSpPr>
          <p:cNvPr id="40" name="object 36">
            <a:extLst>
              <a:ext uri="{FF2B5EF4-FFF2-40B4-BE49-F238E27FC236}">
                <a16:creationId xmlns:a16="http://schemas.microsoft.com/office/drawing/2014/main" id="{6F8D0056-901C-4DA3-A53C-B1F7AD099621}"/>
              </a:ext>
            </a:extLst>
          </p:cNvPr>
          <p:cNvSpPr txBox="1"/>
          <p:nvPr/>
        </p:nvSpPr>
        <p:spPr>
          <a:xfrm>
            <a:off x="2682614" y="2182600"/>
            <a:ext cx="390525" cy="558800"/>
          </a:xfrm>
          <a:prstGeom prst="rect">
            <a:avLst/>
          </a:prstGeom>
        </p:spPr>
        <p:txBody>
          <a:bodyPr vert="horz" wrap="square" lIns="0" tIns="96520" rIns="0" bIns="0" rtlCol="0">
            <a:spAutoFit/>
          </a:bodyPr>
          <a:lstStyle/>
          <a:p>
            <a:pPr>
              <a:lnSpc>
                <a:spcPct val="100000"/>
              </a:lnSpc>
              <a:spcBef>
                <a:spcPts val="760"/>
              </a:spcBef>
            </a:pPr>
            <a:r>
              <a:rPr sz="1200" spc="-20" dirty="0">
                <a:latin typeface="Calibri"/>
                <a:cs typeface="Calibri"/>
              </a:rPr>
              <a:t>3,8%</a:t>
            </a:r>
            <a:endParaRPr sz="1200">
              <a:latin typeface="Calibri"/>
              <a:cs typeface="Calibri"/>
            </a:endParaRPr>
          </a:p>
          <a:p>
            <a:pPr marL="75565">
              <a:lnSpc>
                <a:spcPct val="100000"/>
              </a:lnSpc>
              <a:spcBef>
                <a:spcPts val="660"/>
              </a:spcBef>
            </a:pPr>
            <a:r>
              <a:rPr sz="1200" spc="-20" dirty="0">
                <a:latin typeface="Calibri"/>
                <a:cs typeface="Calibri"/>
              </a:rPr>
              <a:t>6,2%</a:t>
            </a:r>
            <a:endParaRPr sz="1200">
              <a:latin typeface="Calibri"/>
              <a:cs typeface="Calibri"/>
            </a:endParaRPr>
          </a:p>
        </p:txBody>
      </p:sp>
      <p:sp>
        <p:nvSpPr>
          <p:cNvPr id="41" name="object 37">
            <a:extLst>
              <a:ext uri="{FF2B5EF4-FFF2-40B4-BE49-F238E27FC236}">
                <a16:creationId xmlns:a16="http://schemas.microsoft.com/office/drawing/2014/main" id="{7AF84ED4-49AC-446D-97F4-A6031A313079}"/>
              </a:ext>
            </a:extLst>
          </p:cNvPr>
          <p:cNvSpPr txBox="1"/>
          <p:nvPr/>
        </p:nvSpPr>
        <p:spPr>
          <a:xfrm>
            <a:off x="3216013" y="2355320"/>
            <a:ext cx="314325" cy="208279"/>
          </a:xfrm>
          <a:prstGeom prst="rect">
            <a:avLst/>
          </a:prstGeom>
        </p:spPr>
        <p:txBody>
          <a:bodyPr vert="horz" wrap="square" lIns="0" tIns="12700" rIns="0" bIns="0" rtlCol="0">
            <a:spAutoFit/>
          </a:bodyPr>
          <a:lstStyle/>
          <a:p>
            <a:pPr>
              <a:lnSpc>
                <a:spcPct val="100000"/>
              </a:lnSpc>
              <a:spcBef>
                <a:spcPts val="100"/>
              </a:spcBef>
            </a:pPr>
            <a:r>
              <a:rPr sz="1200" spc="-20" dirty="0">
                <a:latin typeface="Calibri"/>
                <a:cs typeface="Calibri"/>
              </a:rPr>
              <a:t>5,1%</a:t>
            </a:r>
            <a:endParaRPr sz="1200">
              <a:latin typeface="Calibri"/>
              <a:cs typeface="Calibri"/>
            </a:endParaRPr>
          </a:p>
        </p:txBody>
      </p:sp>
      <p:grpSp>
        <p:nvGrpSpPr>
          <p:cNvPr id="42" name="object 38">
            <a:extLst>
              <a:ext uri="{FF2B5EF4-FFF2-40B4-BE49-F238E27FC236}">
                <a16:creationId xmlns:a16="http://schemas.microsoft.com/office/drawing/2014/main" id="{AD474F6B-E232-4A47-9BB9-FA2EF5799556}"/>
              </a:ext>
            </a:extLst>
          </p:cNvPr>
          <p:cNvGrpSpPr/>
          <p:nvPr/>
        </p:nvGrpSpPr>
        <p:grpSpPr>
          <a:xfrm>
            <a:off x="4764881" y="2561819"/>
            <a:ext cx="93345" cy="1236345"/>
            <a:chOff x="3184742" y="2298441"/>
            <a:chExt cx="93345" cy="1236345"/>
          </a:xfrm>
        </p:grpSpPr>
        <p:sp>
          <p:nvSpPr>
            <p:cNvPr id="43" name="object 39">
              <a:extLst>
                <a:ext uri="{FF2B5EF4-FFF2-40B4-BE49-F238E27FC236}">
                  <a16:creationId xmlns:a16="http://schemas.microsoft.com/office/drawing/2014/main" id="{40582879-853E-4A0C-884E-E6B8DC21B287}"/>
                </a:ext>
              </a:extLst>
            </p:cNvPr>
            <p:cNvSpPr/>
            <p:nvPr/>
          </p:nvSpPr>
          <p:spPr>
            <a:xfrm>
              <a:off x="3189504" y="2303203"/>
              <a:ext cx="83820" cy="83820"/>
            </a:xfrm>
            <a:custGeom>
              <a:avLst/>
              <a:gdLst/>
              <a:ahLst/>
              <a:cxnLst/>
              <a:rect l="l" t="t" r="r" b="b"/>
              <a:pathLst>
                <a:path w="83820" h="83819">
                  <a:moveTo>
                    <a:pt x="83696" y="0"/>
                  </a:moveTo>
                  <a:lnTo>
                    <a:pt x="0" y="0"/>
                  </a:lnTo>
                  <a:lnTo>
                    <a:pt x="0" y="83696"/>
                  </a:lnTo>
                  <a:lnTo>
                    <a:pt x="83696" y="83696"/>
                  </a:lnTo>
                  <a:lnTo>
                    <a:pt x="83696" y="0"/>
                  </a:lnTo>
                  <a:close/>
                </a:path>
              </a:pathLst>
            </a:custGeom>
            <a:solidFill>
              <a:srgbClr val="615660"/>
            </a:solidFill>
          </p:spPr>
          <p:txBody>
            <a:bodyPr wrap="square" lIns="0" tIns="0" rIns="0" bIns="0" rtlCol="0"/>
            <a:lstStyle/>
            <a:p>
              <a:endParaRPr/>
            </a:p>
          </p:txBody>
        </p:sp>
        <p:sp>
          <p:nvSpPr>
            <p:cNvPr id="44" name="object 40">
              <a:extLst>
                <a:ext uri="{FF2B5EF4-FFF2-40B4-BE49-F238E27FC236}">
                  <a16:creationId xmlns:a16="http://schemas.microsoft.com/office/drawing/2014/main" id="{5154F682-784A-4E80-A7B2-D4AF7F8F7A4B}"/>
                </a:ext>
              </a:extLst>
            </p:cNvPr>
            <p:cNvSpPr/>
            <p:nvPr/>
          </p:nvSpPr>
          <p:spPr>
            <a:xfrm>
              <a:off x="3189504" y="2303203"/>
              <a:ext cx="83820" cy="83820"/>
            </a:xfrm>
            <a:custGeom>
              <a:avLst/>
              <a:gdLst/>
              <a:ahLst/>
              <a:cxnLst/>
              <a:rect l="l" t="t" r="r" b="b"/>
              <a:pathLst>
                <a:path w="83820" h="83819">
                  <a:moveTo>
                    <a:pt x="0" y="0"/>
                  </a:moveTo>
                  <a:lnTo>
                    <a:pt x="83696" y="0"/>
                  </a:lnTo>
                  <a:lnTo>
                    <a:pt x="83696" y="83696"/>
                  </a:lnTo>
                  <a:lnTo>
                    <a:pt x="0" y="83696"/>
                  </a:lnTo>
                  <a:lnTo>
                    <a:pt x="0" y="0"/>
                  </a:lnTo>
                  <a:close/>
                </a:path>
              </a:pathLst>
            </a:custGeom>
            <a:ln w="9524">
              <a:solidFill>
                <a:srgbClr val="463D45"/>
              </a:solidFill>
            </a:ln>
          </p:spPr>
          <p:txBody>
            <a:bodyPr wrap="square" lIns="0" tIns="0" rIns="0" bIns="0" rtlCol="0"/>
            <a:lstStyle/>
            <a:p>
              <a:endParaRPr/>
            </a:p>
          </p:txBody>
        </p:sp>
        <p:sp>
          <p:nvSpPr>
            <p:cNvPr id="45" name="object 41">
              <a:extLst>
                <a:ext uri="{FF2B5EF4-FFF2-40B4-BE49-F238E27FC236}">
                  <a16:creationId xmlns:a16="http://schemas.microsoft.com/office/drawing/2014/main" id="{92C40654-8F9E-401E-B2AC-7FB1F0256737}"/>
                </a:ext>
              </a:extLst>
            </p:cNvPr>
            <p:cNvSpPr/>
            <p:nvPr/>
          </p:nvSpPr>
          <p:spPr>
            <a:xfrm>
              <a:off x="3189504" y="2588934"/>
              <a:ext cx="83820" cy="83820"/>
            </a:xfrm>
            <a:custGeom>
              <a:avLst/>
              <a:gdLst/>
              <a:ahLst/>
              <a:cxnLst/>
              <a:rect l="l" t="t" r="r" b="b"/>
              <a:pathLst>
                <a:path w="83820" h="83819">
                  <a:moveTo>
                    <a:pt x="83696" y="0"/>
                  </a:moveTo>
                  <a:lnTo>
                    <a:pt x="0" y="0"/>
                  </a:lnTo>
                  <a:lnTo>
                    <a:pt x="0" y="83696"/>
                  </a:lnTo>
                  <a:lnTo>
                    <a:pt x="83696" y="83696"/>
                  </a:lnTo>
                  <a:lnTo>
                    <a:pt x="83696" y="0"/>
                  </a:lnTo>
                  <a:close/>
                </a:path>
              </a:pathLst>
            </a:custGeom>
            <a:solidFill>
              <a:srgbClr val="FFD441"/>
            </a:solidFill>
          </p:spPr>
          <p:txBody>
            <a:bodyPr wrap="square" lIns="0" tIns="0" rIns="0" bIns="0" rtlCol="0"/>
            <a:lstStyle/>
            <a:p>
              <a:endParaRPr/>
            </a:p>
          </p:txBody>
        </p:sp>
        <p:sp>
          <p:nvSpPr>
            <p:cNvPr id="46" name="object 42">
              <a:extLst>
                <a:ext uri="{FF2B5EF4-FFF2-40B4-BE49-F238E27FC236}">
                  <a16:creationId xmlns:a16="http://schemas.microsoft.com/office/drawing/2014/main" id="{8DE7FB0C-8CDF-4A28-A40C-AC8B81B37ECA}"/>
                </a:ext>
              </a:extLst>
            </p:cNvPr>
            <p:cNvSpPr/>
            <p:nvPr/>
          </p:nvSpPr>
          <p:spPr>
            <a:xfrm>
              <a:off x="3189504" y="2588934"/>
              <a:ext cx="83820" cy="83820"/>
            </a:xfrm>
            <a:custGeom>
              <a:avLst/>
              <a:gdLst/>
              <a:ahLst/>
              <a:cxnLst/>
              <a:rect l="l" t="t" r="r" b="b"/>
              <a:pathLst>
                <a:path w="83820" h="83819">
                  <a:moveTo>
                    <a:pt x="0" y="0"/>
                  </a:moveTo>
                  <a:lnTo>
                    <a:pt x="83696" y="0"/>
                  </a:lnTo>
                  <a:lnTo>
                    <a:pt x="83696" y="83696"/>
                  </a:lnTo>
                  <a:lnTo>
                    <a:pt x="0" y="83696"/>
                  </a:lnTo>
                  <a:lnTo>
                    <a:pt x="0" y="0"/>
                  </a:lnTo>
                  <a:close/>
                </a:path>
              </a:pathLst>
            </a:custGeom>
            <a:ln w="9524">
              <a:solidFill>
                <a:srgbClr val="C8A326"/>
              </a:solidFill>
            </a:ln>
          </p:spPr>
          <p:txBody>
            <a:bodyPr wrap="square" lIns="0" tIns="0" rIns="0" bIns="0" rtlCol="0"/>
            <a:lstStyle/>
            <a:p>
              <a:endParaRPr/>
            </a:p>
          </p:txBody>
        </p:sp>
        <p:sp>
          <p:nvSpPr>
            <p:cNvPr id="47" name="object 43">
              <a:extLst>
                <a:ext uri="{FF2B5EF4-FFF2-40B4-BE49-F238E27FC236}">
                  <a16:creationId xmlns:a16="http://schemas.microsoft.com/office/drawing/2014/main" id="{5140D0B7-6EFA-4C8E-8C49-33CB9639FDB9}"/>
                </a:ext>
              </a:extLst>
            </p:cNvPr>
            <p:cNvSpPr/>
            <p:nvPr/>
          </p:nvSpPr>
          <p:spPr>
            <a:xfrm>
              <a:off x="3189504" y="2874666"/>
              <a:ext cx="83820" cy="83820"/>
            </a:xfrm>
            <a:custGeom>
              <a:avLst/>
              <a:gdLst/>
              <a:ahLst/>
              <a:cxnLst/>
              <a:rect l="l" t="t" r="r" b="b"/>
              <a:pathLst>
                <a:path w="83820" h="83819">
                  <a:moveTo>
                    <a:pt x="83696" y="0"/>
                  </a:moveTo>
                  <a:lnTo>
                    <a:pt x="0" y="0"/>
                  </a:lnTo>
                  <a:lnTo>
                    <a:pt x="0" y="83695"/>
                  </a:lnTo>
                  <a:lnTo>
                    <a:pt x="83696" y="83695"/>
                  </a:lnTo>
                  <a:lnTo>
                    <a:pt x="83696" y="0"/>
                  </a:lnTo>
                  <a:close/>
                </a:path>
              </a:pathLst>
            </a:custGeom>
            <a:solidFill>
              <a:srgbClr val="C0C0C0"/>
            </a:solidFill>
          </p:spPr>
          <p:txBody>
            <a:bodyPr wrap="square" lIns="0" tIns="0" rIns="0" bIns="0" rtlCol="0"/>
            <a:lstStyle/>
            <a:p>
              <a:endParaRPr/>
            </a:p>
          </p:txBody>
        </p:sp>
        <p:sp>
          <p:nvSpPr>
            <p:cNvPr id="48" name="object 44">
              <a:extLst>
                <a:ext uri="{FF2B5EF4-FFF2-40B4-BE49-F238E27FC236}">
                  <a16:creationId xmlns:a16="http://schemas.microsoft.com/office/drawing/2014/main" id="{3F3CEA9E-E891-44A3-BF29-1DFE4B8CB31E}"/>
                </a:ext>
              </a:extLst>
            </p:cNvPr>
            <p:cNvSpPr/>
            <p:nvPr/>
          </p:nvSpPr>
          <p:spPr>
            <a:xfrm>
              <a:off x="3189504" y="2874666"/>
              <a:ext cx="83820" cy="83820"/>
            </a:xfrm>
            <a:custGeom>
              <a:avLst/>
              <a:gdLst/>
              <a:ahLst/>
              <a:cxnLst/>
              <a:rect l="l" t="t" r="r" b="b"/>
              <a:pathLst>
                <a:path w="83820" h="83819">
                  <a:moveTo>
                    <a:pt x="0" y="0"/>
                  </a:moveTo>
                  <a:lnTo>
                    <a:pt x="83696" y="0"/>
                  </a:lnTo>
                  <a:lnTo>
                    <a:pt x="83696" y="83696"/>
                  </a:lnTo>
                  <a:lnTo>
                    <a:pt x="0" y="83696"/>
                  </a:lnTo>
                  <a:lnTo>
                    <a:pt x="0" y="0"/>
                  </a:lnTo>
                  <a:close/>
                </a:path>
              </a:pathLst>
            </a:custGeom>
            <a:ln w="9524">
              <a:solidFill>
                <a:srgbClr val="929292"/>
              </a:solidFill>
            </a:ln>
          </p:spPr>
          <p:txBody>
            <a:bodyPr wrap="square" lIns="0" tIns="0" rIns="0" bIns="0" rtlCol="0"/>
            <a:lstStyle/>
            <a:p>
              <a:endParaRPr/>
            </a:p>
          </p:txBody>
        </p:sp>
        <p:sp>
          <p:nvSpPr>
            <p:cNvPr id="49" name="object 45">
              <a:extLst>
                <a:ext uri="{FF2B5EF4-FFF2-40B4-BE49-F238E27FC236}">
                  <a16:creationId xmlns:a16="http://schemas.microsoft.com/office/drawing/2014/main" id="{BAE76C0B-5F56-49D9-8CFD-C0B3AF2A0626}"/>
                </a:ext>
              </a:extLst>
            </p:cNvPr>
            <p:cNvSpPr/>
            <p:nvPr/>
          </p:nvSpPr>
          <p:spPr>
            <a:xfrm>
              <a:off x="3189504" y="3160397"/>
              <a:ext cx="83820" cy="83820"/>
            </a:xfrm>
            <a:custGeom>
              <a:avLst/>
              <a:gdLst/>
              <a:ahLst/>
              <a:cxnLst/>
              <a:rect l="l" t="t" r="r" b="b"/>
              <a:pathLst>
                <a:path w="83820" h="83819">
                  <a:moveTo>
                    <a:pt x="83696" y="0"/>
                  </a:moveTo>
                  <a:lnTo>
                    <a:pt x="0" y="0"/>
                  </a:lnTo>
                  <a:lnTo>
                    <a:pt x="0" y="83695"/>
                  </a:lnTo>
                  <a:lnTo>
                    <a:pt x="83696" y="83695"/>
                  </a:lnTo>
                  <a:lnTo>
                    <a:pt x="83696" y="0"/>
                  </a:lnTo>
                  <a:close/>
                </a:path>
              </a:pathLst>
            </a:custGeom>
            <a:solidFill>
              <a:srgbClr val="FF7D00"/>
            </a:solidFill>
          </p:spPr>
          <p:txBody>
            <a:bodyPr wrap="square" lIns="0" tIns="0" rIns="0" bIns="0" rtlCol="0"/>
            <a:lstStyle/>
            <a:p>
              <a:endParaRPr/>
            </a:p>
          </p:txBody>
        </p:sp>
        <p:sp>
          <p:nvSpPr>
            <p:cNvPr id="50" name="object 46">
              <a:extLst>
                <a:ext uri="{FF2B5EF4-FFF2-40B4-BE49-F238E27FC236}">
                  <a16:creationId xmlns:a16="http://schemas.microsoft.com/office/drawing/2014/main" id="{E931DA5E-9E3B-41B3-B9BE-DEF01D90B315}"/>
                </a:ext>
              </a:extLst>
            </p:cNvPr>
            <p:cNvSpPr/>
            <p:nvPr/>
          </p:nvSpPr>
          <p:spPr>
            <a:xfrm>
              <a:off x="3189504" y="3160397"/>
              <a:ext cx="83820" cy="83820"/>
            </a:xfrm>
            <a:custGeom>
              <a:avLst/>
              <a:gdLst/>
              <a:ahLst/>
              <a:cxnLst/>
              <a:rect l="l" t="t" r="r" b="b"/>
              <a:pathLst>
                <a:path w="83820" h="83819">
                  <a:moveTo>
                    <a:pt x="0" y="0"/>
                  </a:moveTo>
                  <a:lnTo>
                    <a:pt x="83696" y="0"/>
                  </a:lnTo>
                  <a:lnTo>
                    <a:pt x="83696" y="83696"/>
                  </a:lnTo>
                  <a:lnTo>
                    <a:pt x="0" y="83696"/>
                  </a:lnTo>
                  <a:lnTo>
                    <a:pt x="0" y="0"/>
                  </a:lnTo>
                  <a:close/>
                </a:path>
              </a:pathLst>
            </a:custGeom>
            <a:ln w="9524">
              <a:solidFill>
                <a:srgbClr val="CA5C00"/>
              </a:solidFill>
            </a:ln>
          </p:spPr>
          <p:txBody>
            <a:bodyPr wrap="square" lIns="0" tIns="0" rIns="0" bIns="0" rtlCol="0"/>
            <a:lstStyle/>
            <a:p>
              <a:endParaRPr/>
            </a:p>
          </p:txBody>
        </p:sp>
        <p:sp>
          <p:nvSpPr>
            <p:cNvPr id="51" name="object 47">
              <a:extLst>
                <a:ext uri="{FF2B5EF4-FFF2-40B4-BE49-F238E27FC236}">
                  <a16:creationId xmlns:a16="http://schemas.microsoft.com/office/drawing/2014/main" id="{67FFC1D5-0A74-452B-8018-E2ECD82A925E}"/>
                </a:ext>
              </a:extLst>
            </p:cNvPr>
            <p:cNvSpPr/>
            <p:nvPr/>
          </p:nvSpPr>
          <p:spPr>
            <a:xfrm>
              <a:off x="3189504" y="3446128"/>
              <a:ext cx="83820" cy="83820"/>
            </a:xfrm>
            <a:custGeom>
              <a:avLst/>
              <a:gdLst/>
              <a:ahLst/>
              <a:cxnLst/>
              <a:rect l="l" t="t" r="r" b="b"/>
              <a:pathLst>
                <a:path w="83820" h="83820">
                  <a:moveTo>
                    <a:pt x="83696" y="0"/>
                  </a:moveTo>
                  <a:lnTo>
                    <a:pt x="0" y="0"/>
                  </a:lnTo>
                  <a:lnTo>
                    <a:pt x="0" y="83695"/>
                  </a:lnTo>
                  <a:lnTo>
                    <a:pt x="83696" y="83695"/>
                  </a:lnTo>
                  <a:lnTo>
                    <a:pt x="83696" y="0"/>
                  </a:lnTo>
                  <a:close/>
                </a:path>
              </a:pathLst>
            </a:custGeom>
            <a:solidFill>
              <a:srgbClr val="FF2600"/>
            </a:solidFill>
          </p:spPr>
          <p:txBody>
            <a:bodyPr wrap="square" lIns="0" tIns="0" rIns="0" bIns="0" rtlCol="0"/>
            <a:lstStyle/>
            <a:p>
              <a:endParaRPr/>
            </a:p>
          </p:txBody>
        </p:sp>
        <p:sp>
          <p:nvSpPr>
            <p:cNvPr id="52" name="object 48">
              <a:extLst>
                <a:ext uri="{FF2B5EF4-FFF2-40B4-BE49-F238E27FC236}">
                  <a16:creationId xmlns:a16="http://schemas.microsoft.com/office/drawing/2014/main" id="{72FBC98F-4EC1-49B1-8CA6-1DA3976CC023}"/>
                </a:ext>
              </a:extLst>
            </p:cNvPr>
            <p:cNvSpPr/>
            <p:nvPr/>
          </p:nvSpPr>
          <p:spPr>
            <a:xfrm>
              <a:off x="3189504" y="3446128"/>
              <a:ext cx="83820" cy="83820"/>
            </a:xfrm>
            <a:custGeom>
              <a:avLst/>
              <a:gdLst/>
              <a:ahLst/>
              <a:cxnLst/>
              <a:rect l="l" t="t" r="r" b="b"/>
              <a:pathLst>
                <a:path w="83820" h="83820">
                  <a:moveTo>
                    <a:pt x="0" y="0"/>
                  </a:moveTo>
                  <a:lnTo>
                    <a:pt x="83696" y="0"/>
                  </a:lnTo>
                  <a:lnTo>
                    <a:pt x="83696" y="83696"/>
                  </a:lnTo>
                  <a:lnTo>
                    <a:pt x="0" y="83696"/>
                  </a:lnTo>
                  <a:lnTo>
                    <a:pt x="0" y="0"/>
                  </a:lnTo>
                  <a:close/>
                </a:path>
              </a:pathLst>
            </a:custGeom>
            <a:ln w="9524">
              <a:solidFill>
                <a:srgbClr val="CA1B00"/>
              </a:solidFill>
            </a:ln>
          </p:spPr>
          <p:txBody>
            <a:bodyPr wrap="square" lIns="0" tIns="0" rIns="0" bIns="0" rtlCol="0"/>
            <a:lstStyle/>
            <a:p>
              <a:endParaRPr/>
            </a:p>
          </p:txBody>
        </p:sp>
      </p:grpSp>
      <p:sp>
        <p:nvSpPr>
          <p:cNvPr id="53" name="object 49">
            <a:extLst>
              <a:ext uri="{FF2B5EF4-FFF2-40B4-BE49-F238E27FC236}">
                <a16:creationId xmlns:a16="http://schemas.microsoft.com/office/drawing/2014/main" id="{F066910B-148B-463D-8E4E-C93853466C74}"/>
              </a:ext>
            </a:extLst>
          </p:cNvPr>
          <p:cNvSpPr txBox="1"/>
          <p:nvPr/>
        </p:nvSpPr>
        <p:spPr>
          <a:xfrm>
            <a:off x="4888838" y="2399882"/>
            <a:ext cx="1022350" cy="1454150"/>
          </a:xfrm>
          <a:prstGeom prst="rect">
            <a:avLst/>
          </a:prstGeom>
        </p:spPr>
        <p:txBody>
          <a:bodyPr vert="horz" wrap="square" lIns="0" tIns="12700" rIns="0" bIns="0" rtlCol="0">
            <a:spAutoFit/>
          </a:bodyPr>
          <a:lstStyle/>
          <a:p>
            <a:pPr marR="516890">
              <a:lnSpc>
                <a:spcPct val="156200"/>
              </a:lnSpc>
              <a:spcBef>
                <a:spcPts val="100"/>
              </a:spcBef>
            </a:pPr>
            <a:r>
              <a:rPr sz="1200" spc="-10" dirty="0">
                <a:latin typeface="Calibri"/>
                <a:cs typeface="Calibri"/>
              </a:rPr>
              <a:t>Android </a:t>
            </a:r>
            <a:r>
              <a:rPr sz="1200" spc="-25" dirty="0">
                <a:latin typeface="Calibri"/>
                <a:cs typeface="Calibri"/>
              </a:rPr>
              <a:t>iOS</a:t>
            </a:r>
            <a:endParaRPr sz="1200">
              <a:latin typeface="Calibri"/>
              <a:cs typeface="Calibri"/>
            </a:endParaRPr>
          </a:p>
          <a:p>
            <a:pPr marR="5080">
              <a:lnSpc>
                <a:spcPct val="156200"/>
              </a:lnSpc>
            </a:pPr>
            <a:r>
              <a:rPr sz="1200" dirty="0">
                <a:latin typeface="Calibri"/>
                <a:cs typeface="Calibri"/>
              </a:rPr>
              <a:t>Windows</a:t>
            </a:r>
            <a:r>
              <a:rPr sz="1200" spc="-30" dirty="0">
                <a:latin typeface="Calibri"/>
                <a:cs typeface="Calibri"/>
              </a:rPr>
              <a:t> </a:t>
            </a:r>
            <a:r>
              <a:rPr sz="1200" spc="-20" dirty="0">
                <a:latin typeface="Calibri"/>
                <a:cs typeface="Calibri"/>
              </a:rPr>
              <a:t>Phone </a:t>
            </a:r>
            <a:r>
              <a:rPr sz="1200" spc="-10" dirty="0">
                <a:latin typeface="Calibri"/>
                <a:cs typeface="Calibri"/>
              </a:rPr>
              <a:t>Blackberry</a:t>
            </a:r>
            <a:r>
              <a:rPr sz="1200" spc="500" dirty="0">
                <a:latin typeface="Calibri"/>
                <a:cs typeface="Calibri"/>
              </a:rPr>
              <a:t> </a:t>
            </a:r>
            <a:r>
              <a:rPr sz="1200" spc="-10" dirty="0">
                <a:latin typeface="Calibri"/>
                <a:cs typeface="Calibri"/>
              </a:rPr>
              <a:t>Other</a:t>
            </a:r>
            <a:endParaRPr sz="1200">
              <a:latin typeface="Calibri"/>
              <a:cs typeface="Calibri"/>
            </a:endParaRPr>
          </a:p>
        </p:txBody>
      </p:sp>
      <p:sp>
        <p:nvSpPr>
          <p:cNvPr id="54" name="object 50">
            <a:extLst>
              <a:ext uri="{FF2B5EF4-FFF2-40B4-BE49-F238E27FC236}">
                <a16:creationId xmlns:a16="http://schemas.microsoft.com/office/drawing/2014/main" id="{D96F66A1-BB06-4A0D-A0B9-C2C3B4D2AEE4}"/>
              </a:ext>
            </a:extLst>
          </p:cNvPr>
          <p:cNvSpPr/>
          <p:nvPr/>
        </p:nvSpPr>
        <p:spPr>
          <a:xfrm>
            <a:off x="2263513" y="1980671"/>
            <a:ext cx="3806190" cy="2039620"/>
          </a:xfrm>
          <a:custGeom>
            <a:avLst/>
            <a:gdLst/>
            <a:ahLst/>
            <a:cxnLst/>
            <a:rect l="l" t="t" r="r" b="b"/>
            <a:pathLst>
              <a:path w="3806190" h="2039620">
                <a:moveTo>
                  <a:pt x="0" y="0"/>
                </a:moveTo>
                <a:lnTo>
                  <a:pt x="3805901" y="0"/>
                </a:lnTo>
                <a:lnTo>
                  <a:pt x="3805901" y="2039287"/>
                </a:lnTo>
                <a:lnTo>
                  <a:pt x="0" y="2039287"/>
                </a:lnTo>
                <a:lnTo>
                  <a:pt x="0" y="0"/>
                </a:lnTo>
                <a:close/>
              </a:path>
            </a:pathLst>
          </a:custGeom>
          <a:ln w="9524">
            <a:solidFill>
              <a:srgbClr val="989898"/>
            </a:solidFill>
          </a:ln>
        </p:spPr>
        <p:txBody>
          <a:bodyPr wrap="square" lIns="0" tIns="0" rIns="0" bIns="0" rtlCol="0"/>
          <a:lstStyle/>
          <a:p>
            <a:endParaRPr/>
          </a:p>
        </p:txBody>
      </p:sp>
      <p:grpSp>
        <p:nvGrpSpPr>
          <p:cNvPr id="55" name="object 51">
            <a:extLst>
              <a:ext uri="{FF2B5EF4-FFF2-40B4-BE49-F238E27FC236}">
                <a16:creationId xmlns:a16="http://schemas.microsoft.com/office/drawing/2014/main" id="{77786391-3BAC-4594-9B1B-0AB802238938}"/>
              </a:ext>
            </a:extLst>
          </p:cNvPr>
          <p:cNvGrpSpPr/>
          <p:nvPr/>
        </p:nvGrpSpPr>
        <p:grpSpPr>
          <a:xfrm>
            <a:off x="6230386" y="1980672"/>
            <a:ext cx="3806190" cy="2039620"/>
            <a:chOff x="4650247" y="1717294"/>
            <a:chExt cx="3806190" cy="2039620"/>
          </a:xfrm>
        </p:grpSpPr>
        <p:sp>
          <p:nvSpPr>
            <p:cNvPr id="56" name="object 52">
              <a:extLst>
                <a:ext uri="{FF2B5EF4-FFF2-40B4-BE49-F238E27FC236}">
                  <a16:creationId xmlns:a16="http://schemas.microsoft.com/office/drawing/2014/main" id="{A068B381-04E9-4957-ADC0-F552C6B259C3}"/>
                </a:ext>
              </a:extLst>
            </p:cNvPr>
            <p:cNvSpPr/>
            <p:nvPr/>
          </p:nvSpPr>
          <p:spPr>
            <a:xfrm>
              <a:off x="4650247" y="1717294"/>
              <a:ext cx="3806190" cy="2039620"/>
            </a:xfrm>
            <a:custGeom>
              <a:avLst/>
              <a:gdLst/>
              <a:ahLst/>
              <a:cxnLst/>
              <a:rect l="l" t="t" r="r" b="b"/>
              <a:pathLst>
                <a:path w="3806190" h="2039620">
                  <a:moveTo>
                    <a:pt x="3805900" y="0"/>
                  </a:moveTo>
                  <a:lnTo>
                    <a:pt x="0" y="0"/>
                  </a:lnTo>
                  <a:lnTo>
                    <a:pt x="0" y="2039287"/>
                  </a:lnTo>
                  <a:lnTo>
                    <a:pt x="3805900" y="2039287"/>
                  </a:lnTo>
                  <a:lnTo>
                    <a:pt x="3805900" y="0"/>
                  </a:lnTo>
                  <a:close/>
                </a:path>
              </a:pathLst>
            </a:custGeom>
            <a:solidFill>
              <a:srgbClr val="FFFFFF"/>
            </a:solidFill>
          </p:spPr>
          <p:txBody>
            <a:bodyPr wrap="square" lIns="0" tIns="0" rIns="0" bIns="0" rtlCol="0"/>
            <a:lstStyle/>
            <a:p>
              <a:endParaRPr/>
            </a:p>
          </p:txBody>
        </p:sp>
        <p:sp>
          <p:nvSpPr>
            <p:cNvPr id="57" name="object 53">
              <a:extLst>
                <a:ext uri="{FF2B5EF4-FFF2-40B4-BE49-F238E27FC236}">
                  <a16:creationId xmlns:a16="http://schemas.microsoft.com/office/drawing/2014/main" id="{3289E880-BD6D-4400-9FE7-5D1144A70BCD}"/>
                </a:ext>
              </a:extLst>
            </p:cNvPr>
            <p:cNvSpPr/>
            <p:nvPr/>
          </p:nvSpPr>
          <p:spPr>
            <a:xfrm>
              <a:off x="5370937" y="2346556"/>
              <a:ext cx="1062355" cy="1140460"/>
            </a:xfrm>
            <a:custGeom>
              <a:avLst/>
              <a:gdLst/>
              <a:ahLst/>
              <a:cxnLst/>
              <a:rect l="l" t="t" r="r" b="b"/>
              <a:pathLst>
                <a:path w="1062354" h="1140460">
                  <a:moveTo>
                    <a:pt x="492400" y="0"/>
                  </a:moveTo>
                  <a:lnTo>
                    <a:pt x="492400" y="569959"/>
                  </a:lnTo>
                  <a:lnTo>
                    <a:pt x="0" y="857003"/>
                  </a:lnTo>
                  <a:lnTo>
                    <a:pt x="27268" y="899370"/>
                  </a:lnTo>
                  <a:lnTo>
                    <a:pt x="57851" y="938787"/>
                  </a:lnTo>
                  <a:lnTo>
                    <a:pt x="91505" y="975113"/>
                  </a:lnTo>
                  <a:lnTo>
                    <a:pt x="127986" y="1008210"/>
                  </a:lnTo>
                  <a:lnTo>
                    <a:pt x="167050" y="1037936"/>
                  </a:lnTo>
                  <a:lnTo>
                    <a:pt x="208456" y="1064153"/>
                  </a:lnTo>
                  <a:lnTo>
                    <a:pt x="251958" y="1086720"/>
                  </a:lnTo>
                  <a:lnTo>
                    <a:pt x="297313" y="1105498"/>
                  </a:lnTo>
                  <a:lnTo>
                    <a:pt x="344278" y="1120347"/>
                  </a:lnTo>
                  <a:lnTo>
                    <a:pt x="392610" y="1131126"/>
                  </a:lnTo>
                  <a:lnTo>
                    <a:pt x="442065" y="1137696"/>
                  </a:lnTo>
                  <a:lnTo>
                    <a:pt x="492400" y="1139917"/>
                  </a:lnTo>
                  <a:lnTo>
                    <a:pt x="541578" y="1137825"/>
                  </a:lnTo>
                  <a:lnTo>
                    <a:pt x="589595" y="1131663"/>
                  </a:lnTo>
                  <a:lnTo>
                    <a:pt x="636279" y="1121602"/>
                  </a:lnTo>
                  <a:lnTo>
                    <a:pt x="681459" y="1107812"/>
                  </a:lnTo>
                  <a:lnTo>
                    <a:pt x="724964" y="1090466"/>
                  </a:lnTo>
                  <a:lnTo>
                    <a:pt x="766623" y="1069734"/>
                  </a:lnTo>
                  <a:lnTo>
                    <a:pt x="806265" y="1045788"/>
                  </a:lnTo>
                  <a:lnTo>
                    <a:pt x="843719" y="1018798"/>
                  </a:lnTo>
                  <a:lnTo>
                    <a:pt x="878813" y="988935"/>
                  </a:lnTo>
                  <a:lnTo>
                    <a:pt x="911377" y="956371"/>
                  </a:lnTo>
                  <a:lnTo>
                    <a:pt x="941240" y="921277"/>
                  </a:lnTo>
                  <a:lnTo>
                    <a:pt x="968230" y="883823"/>
                  </a:lnTo>
                  <a:lnTo>
                    <a:pt x="992177" y="844181"/>
                  </a:lnTo>
                  <a:lnTo>
                    <a:pt x="1012909" y="802522"/>
                  </a:lnTo>
                  <a:lnTo>
                    <a:pt x="1030255" y="759017"/>
                  </a:lnTo>
                  <a:lnTo>
                    <a:pt x="1044044" y="713837"/>
                  </a:lnTo>
                  <a:lnTo>
                    <a:pt x="1054105" y="667153"/>
                  </a:lnTo>
                  <a:lnTo>
                    <a:pt x="1060267" y="619137"/>
                  </a:lnTo>
                  <a:lnTo>
                    <a:pt x="1062360" y="569959"/>
                  </a:lnTo>
                  <a:lnTo>
                    <a:pt x="1060267" y="520781"/>
                  </a:lnTo>
                  <a:lnTo>
                    <a:pt x="1054105" y="472764"/>
                  </a:lnTo>
                  <a:lnTo>
                    <a:pt x="1044044" y="426080"/>
                  </a:lnTo>
                  <a:lnTo>
                    <a:pt x="1030255" y="380900"/>
                  </a:lnTo>
                  <a:lnTo>
                    <a:pt x="1012909" y="337395"/>
                  </a:lnTo>
                  <a:lnTo>
                    <a:pt x="992177" y="295736"/>
                  </a:lnTo>
                  <a:lnTo>
                    <a:pt x="968230" y="256094"/>
                  </a:lnTo>
                  <a:lnTo>
                    <a:pt x="941240" y="218640"/>
                  </a:lnTo>
                  <a:lnTo>
                    <a:pt x="911377" y="183546"/>
                  </a:lnTo>
                  <a:lnTo>
                    <a:pt x="878813" y="150982"/>
                  </a:lnTo>
                  <a:lnTo>
                    <a:pt x="843719" y="121119"/>
                  </a:lnTo>
                  <a:lnTo>
                    <a:pt x="806265" y="94129"/>
                  </a:lnTo>
                  <a:lnTo>
                    <a:pt x="766623" y="70182"/>
                  </a:lnTo>
                  <a:lnTo>
                    <a:pt x="724964" y="49450"/>
                  </a:lnTo>
                  <a:lnTo>
                    <a:pt x="681459" y="32104"/>
                  </a:lnTo>
                  <a:lnTo>
                    <a:pt x="636279" y="18315"/>
                  </a:lnTo>
                  <a:lnTo>
                    <a:pt x="589595" y="8254"/>
                  </a:lnTo>
                  <a:lnTo>
                    <a:pt x="541578" y="2092"/>
                  </a:lnTo>
                  <a:lnTo>
                    <a:pt x="492400" y="0"/>
                  </a:lnTo>
                  <a:close/>
                </a:path>
              </a:pathLst>
            </a:custGeom>
            <a:solidFill>
              <a:srgbClr val="615660"/>
            </a:solidFill>
          </p:spPr>
          <p:txBody>
            <a:bodyPr wrap="square" lIns="0" tIns="0" rIns="0" bIns="0" rtlCol="0"/>
            <a:lstStyle/>
            <a:p>
              <a:endParaRPr/>
            </a:p>
          </p:txBody>
        </p:sp>
        <p:sp>
          <p:nvSpPr>
            <p:cNvPr id="58" name="object 54">
              <a:extLst>
                <a:ext uri="{FF2B5EF4-FFF2-40B4-BE49-F238E27FC236}">
                  <a16:creationId xmlns:a16="http://schemas.microsoft.com/office/drawing/2014/main" id="{74BC6E04-B6A8-4B28-9628-E1BAC470B280}"/>
                </a:ext>
              </a:extLst>
            </p:cNvPr>
            <p:cNvSpPr/>
            <p:nvPr/>
          </p:nvSpPr>
          <p:spPr>
            <a:xfrm>
              <a:off x="5370938" y="2346556"/>
              <a:ext cx="1062355" cy="1140460"/>
            </a:xfrm>
            <a:custGeom>
              <a:avLst/>
              <a:gdLst/>
              <a:ahLst/>
              <a:cxnLst/>
              <a:rect l="l" t="t" r="r" b="b"/>
              <a:pathLst>
                <a:path w="1062354" h="1140460">
                  <a:moveTo>
                    <a:pt x="492400" y="0"/>
                  </a:moveTo>
                  <a:lnTo>
                    <a:pt x="541579" y="2092"/>
                  </a:lnTo>
                  <a:lnTo>
                    <a:pt x="589595" y="8254"/>
                  </a:lnTo>
                  <a:lnTo>
                    <a:pt x="636279" y="18315"/>
                  </a:lnTo>
                  <a:lnTo>
                    <a:pt x="681459" y="32104"/>
                  </a:lnTo>
                  <a:lnTo>
                    <a:pt x="724964" y="49450"/>
                  </a:lnTo>
                  <a:lnTo>
                    <a:pt x="766623" y="70182"/>
                  </a:lnTo>
                  <a:lnTo>
                    <a:pt x="806265" y="94129"/>
                  </a:lnTo>
                  <a:lnTo>
                    <a:pt x="843719" y="121119"/>
                  </a:lnTo>
                  <a:lnTo>
                    <a:pt x="878813" y="150982"/>
                  </a:lnTo>
                  <a:lnTo>
                    <a:pt x="911377" y="183546"/>
                  </a:lnTo>
                  <a:lnTo>
                    <a:pt x="941240" y="218640"/>
                  </a:lnTo>
                  <a:lnTo>
                    <a:pt x="968230" y="256094"/>
                  </a:lnTo>
                  <a:lnTo>
                    <a:pt x="992177" y="295736"/>
                  </a:lnTo>
                  <a:lnTo>
                    <a:pt x="1012909" y="337395"/>
                  </a:lnTo>
                  <a:lnTo>
                    <a:pt x="1030255" y="380900"/>
                  </a:lnTo>
                  <a:lnTo>
                    <a:pt x="1044044" y="426080"/>
                  </a:lnTo>
                  <a:lnTo>
                    <a:pt x="1054105" y="472764"/>
                  </a:lnTo>
                  <a:lnTo>
                    <a:pt x="1060267" y="520780"/>
                  </a:lnTo>
                  <a:lnTo>
                    <a:pt x="1062359" y="569959"/>
                  </a:lnTo>
                  <a:lnTo>
                    <a:pt x="1060267" y="619137"/>
                  </a:lnTo>
                  <a:lnTo>
                    <a:pt x="1054105" y="667153"/>
                  </a:lnTo>
                  <a:lnTo>
                    <a:pt x="1044044" y="713837"/>
                  </a:lnTo>
                  <a:lnTo>
                    <a:pt x="1030255" y="759017"/>
                  </a:lnTo>
                  <a:lnTo>
                    <a:pt x="1012909" y="802522"/>
                  </a:lnTo>
                  <a:lnTo>
                    <a:pt x="992177" y="844181"/>
                  </a:lnTo>
                  <a:lnTo>
                    <a:pt x="968230" y="883823"/>
                  </a:lnTo>
                  <a:lnTo>
                    <a:pt x="941240" y="921277"/>
                  </a:lnTo>
                  <a:lnTo>
                    <a:pt x="911377" y="956371"/>
                  </a:lnTo>
                  <a:lnTo>
                    <a:pt x="878813" y="988935"/>
                  </a:lnTo>
                  <a:lnTo>
                    <a:pt x="843719" y="1018798"/>
                  </a:lnTo>
                  <a:lnTo>
                    <a:pt x="806265" y="1045788"/>
                  </a:lnTo>
                  <a:lnTo>
                    <a:pt x="766623" y="1069735"/>
                  </a:lnTo>
                  <a:lnTo>
                    <a:pt x="724964" y="1090466"/>
                  </a:lnTo>
                  <a:lnTo>
                    <a:pt x="681459" y="1107813"/>
                  </a:lnTo>
                  <a:lnTo>
                    <a:pt x="636279" y="1121602"/>
                  </a:lnTo>
                  <a:lnTo>
                    <a:pt x="589595" y="1131663"/>
                  </a:lnTo>
                  <a:lnTo>
                    <a:pt x="541579" y="1137825"/>
                  </a:lnTo>
                  <a:lnTo>
                    <a:pt x="492400" y="1139917"/>
                  </a:lnTo>
                  <a:lnTo>
                    <a:pt x="442066" y="1137696"/>
                  </a:lnTo>
                  <a:lnTo>
                    <a:pt x="392610" y="1131126"/>
                  </a:lnTo>
                  <a:lnTo>
                    <a:pt x="344278" y="1120347"/>
                  </a:lnTo>
                  <a:lnTo>
                    <a:pt x="297313" y="1105498"/>
                  </a:lnTo>
                  <a:lnTo>
                    <a:pt x="251957" y="1086720"/>
                  </a:lnTo>
                  <a:lnTo>
                    <a:pt x="208455" y="1064153"/>
                  </a:lnTo>
                  <a:lnTo>
                    <a:pt x="167050" y="1037936"/>
                  </a:lnTo>
                  <a:lnTo>
                    <a:pt x="127986" y="1008209"/>
                  </a:lnTo>
                  <a:lnTo>
                    <a:pt x="91505" y="975113"/>
                  </a:lnTo>
                  <a:lnTo>
                    <a:pt x="57851" y="938786"/>
                  </a:lnTo>
                  <a:lnTo>
                    <a:pt x="27268" y="899370"/>
                  </a:lnTo>
                  <a:lnTo>
                    <a:pt x="0" y="857003"/>
                  </a:lnTo>
                  <a:lnTo>
                    <a:pt x="492400" y="569959"/>
                  </a:lnTo>
                  <a:lnTo>
                    <a:pt x="492400" y="0"/>
                  </a:lnTo>
                  <a:close/>
                </a:path>
              </a:pathLst>
            </a:custGeom>
            <a:ln w="9524">
              <a:solidFill>
                <a:srgbClr val="463D45"/>
              </a:solidFill>
            </a:ln>
          </p:spPr>
          <p:txBody>
            <a:bodyPr wrap="square" lIns="0" tIns="0" rIns="0" bIns="0" rtlCol="0"/>
            <a:lstStyle/>
            <a:p>
              <a:endParaRPr/>
            </a:p>
          </p:txBody>
        </p:sp>
        <p:sp>
          <p:nvSpPr>
            <p:cNvPr id="59" name="object 55">
              <a:extLst>
                <a:ext uri="{FF2B5EF4-FFF2-40B4-BE49-F238E27FC236}">
                  <a16:creationId xmlns:a16="http://schemas.microsoft.com/office/drawing/2014/main" id="{C4B4AD21-CFDF-4CA2-883F-6B5236EF92F0}"/>
                </a:ext>
              </a:extLst>
            </p:cNvPr>
            <p:cNvSpPr/>
            <p:nvPr/>
          </p:nvSpPr>
          <p:spPr>
            <a:xfrm>
              <a:off x="5293463" y="2531602"/>
              <a:ext cx="570230" cy="672465"/>
            </a:xfrm>
            <a:custGeom>
              <a:avLst/>
              <a:gdLst/>
              <a:ahLst/>
              <a:cxnLst/>
              <a:rect l="l" t="t" r="r" b="b"/>
              <a:pathLst>
                <a:path w="570229" h="672464">
                  <a:moveTo>
                    <a:pt x="149522" y="0"/>
                  </a:moveTo>
                  <a:lnTo>
                    <a:pt x="117677" y="37945"/>
                  </a:lnTo>
                  <a:lnTo>
                    <a:pt x="89575" y="77985"/>
                  </a:lnTo>
                  <a:lnTo>
                    <a:pt x="65245" y="119863"/>
                  </a:lnTo>
                  <a:lnTo>
                    <a:pt x="44713" y="163321"/>
                  </a:lnTo>
                  <a:lnTo>
                    <a:pt x="28007" y="208102"/>
                  </a:lnTo>
                  <a:lnTo>
                    <a:pt x="15155" y="253948"/>
                  </a:lnTo>
                  <a:lnTo>
                    <a:pt x="6185" y="300600"/>
                  </a:lnTo>
                  <a:lnTo>
                    <a:pt x="1124" y="347802"/>
                  </a:lnTo>
                  <a:lnTo>
                    <a:pt x="0" y="395296"/>
                  </a:lnTo>
                  <a:lnTo>
                    <a:pt x="2840" y="442824"/>
                  </a:lnTo>
                  <a:lnTo>
                    <a:pt x="9672" y="490128"/>
                  </a:lnTo>
                  <a:lnTo>
                    <a:pt x="20524" y="536951"/>
                  </a:lnTo>
                  <a:lnTo>
                    <a:pt x="35423" y="583035"/>
                  </a:lnTo>
                  <a:lnTo>
                    <a:pt x="54397" y="628123"/>
                  </a:lnTo>
                  <a:lnTo>
                    <a:pt x="77474" y="671957"/>
                  </a:lnTo>
                  <a:lnTo>
                    <a:pt x="569874" y="384912"/>
                  </a:lnTo>
                  <a:lnTo>
                    <a:pt x="149522" y="0"/>
                  </a:lnTo>
                  <a:close/>
                </a:path>
              </a:pathLst>
            </a:custGeom>
            <a:solidFill>
              <a:srgbClr val="FFD441"/>
            </a:solidFill>
          </p:spPr>
          <p:txBody>
            <a:bodyPr wrap="square" lIns="0" tIns="0" rIns="0" bIns="0" rtlCol="0"/>
            <a:lstStyle/>
            <a:p>
              <a:endParaRPr/>
            </a:p>
          </p:txBody>
        </p:sp>
        <p:sp>
          <p:nvSpPr>
            <p:cNvPr id="60" name="object 56">
              <a:extLst>
                <a:ext uri="{FF2B5EF4-FFF2-40B4-BE49-F238E27FC236}">
                  <a16:creationId xmlns:a16="http://schemas.microsoft.com/office/drawing/2014/main" id="{9FAEA57A-FAA7-44AB-A182-180799E677F4}"/>
                </a:ext>
              </a:extLst>
            </p:cNvPr>
            <p:cNvSpPr/>
            <p:nvPr/>
          </p:nvSpPr>
          <p:spPr>
            <a:xfrm>
              <a:off x="5293463" y="2531603"/>
              <a:ext cx="570230" cy="672465"/>
            </a:xfrm>
            <a:custGeom>
              <a:avLst/>
              <a:gdLst/>
              <a:ahLst/>
              <a:cxnLst/>
              <a:rect l="l" t="t" r="r" b="b"/>
              <a:pathLst>
                <a:path w="570229" h="672464">
                  <a:moveTo>
                    <a:pt x="77474" y="671956"/>
                  </a:moveTo>
                  <a:lnTo>
                    <a:pt x="54397" y="628122"/>
                  </a:lnTo>
                  <a:lnTo>
                    <a:pt x="35423" y="583035"/>
                  </a:lnTo>
                  <a:lnTo>
                    <a:pt x="20524" y="536950"/>
                  </a:lnTo>
                  <a:lnTo>
                    <a:pt x="9672" y="490127"/>
                  </a:lnTo>
                  <a:lnTo>
                    <a:pt x="2840" y="442823"/>
                  </a:lnTo>
                  <a:lnTo>
                    <a:pt x="0" y="395295"/>
                  </a:lnTo>
                  <a:lnTo>
                    <a:pt x="1124" y="347801"/>
                  </a:lnTo>
                  <a:lnTo>
                    <a:pt x="6185" y="300599"/>
                  </a:lnTo>
                  <a:lnTo>
                    <a:pt x="15155" y="253947"/>
                  </a:lnTo>
                  <a:lnTo>
                    <a:pt x="28007" y="208102"/>
                  </a:lnTo>
                  <a:lnTo>
                    <a:pt x="44713" y="163321"/>
                  </a:lnTo>
                  <a:lnTo>
                    <a:pt x="65245" y="119863"/>
                  </a:lnTo>
                  <a:lnTo>
                    <a:pt x="89576" y="77985"/>
                  </a:lnTo>
                  <a:lnTo>
                    <a:pt x="117677" y="37944"/>
                  </a:lnTo>
                  <a:lnTo>
                    <a:pt x="149523" y="0"/>
                  </a:lnTo>
                  <a:lnTo>
                    <a:pt x="569875" y="384911"/>
                  </a:lnTo>
                  <a:lnTo>
                    <a:pt x="77474" y="671956"/>
                  </a:lnTo>
                  <a:close/>
                </a:path>
              </a:pathLst>
            </a:custGeom>
            <a:ln w="9524">
              <a:solidFill>
                <a:srgbClr val="C8A326"/>
              </a:solidFill>
            </a:ln>
          </p:spPr>
          <p:txBody>
            <a:bodyPr wrap="square" lIns="0" tIns="0" rIns="0" bIns="0" rtlCol="0"/>
            <a:lstStyle/>
            <a:p>
              <a:endParaRPr/>
            </a:p>
          </p:txBody>
        </p:sp>
        <p:sp>
          <p:nvSpPr>
            <p:cNvPr id="61" name="object 57">
              <a:extLst>
                <a:ext uri="{FF2B5EF4-FFF2-40B4-BE49-F238E27FC236}">
                  <a16:creationId xmlns:a16="http://schemas.microsoft.com/office/drawing/2014/main" id="{9A369D62-4E4E-41CB-90F6-D06D6EE279FF}"/>
                </a:ext>
              </a:extLst>
            </p:cNvPr>
            <p:cNvSpPr/>
            <p:nvPr/>
          </p:nvSpPr>
          <p:spPr>
            <a:xfrm>
              <a:off x="5442987" y="2357333"/>
              <a:ext cx="420370" cy="559435"/>
            </a:xfrm>
            <a:custGeom>
              <a:avLst/>
              <a:gdLst/>
              <a:ahLst/>
              <a:cxnLst/>
              <a:rect l="l" t="t" r="r" b="b"/>
              <a:pathLst>
                <a:path w="420370" h="559435">
                  <a:moveTo>
                    <a:pt x="310036" y="0"/>
                  </a:moveTo>
                  <a:lnTo>
                    <a:pt x="259611" y="12357"/>
                  </a:lnTo>
                  <a:lnTo>
                    <a:pt x="210767" y="29154"/>
                  </a:lnTo>
                  <a:lnTo>
                    <a:pt x="163784" y="50234"/>
                  </a:lnTo>
                  <a:lnTo>
                    <a:pt x="118938" y="75442"/>
                  </a:lnTo>
                  <a:lnTo>
                    <a:pt x="76507" y="104621"/>
                  </a:lnTo>
                  <a:lnTo>
                    <a:pt x="36768" y="137616"/>
                  </a:lnTo>
                  <a:lnTo>
                    <a:pt x="0" y="174269"/>
                  </a:lnTo>
                  <a:lnTo>
                    <a:pt x="420350" y="559182"/>
                  </a:lnTo>
                  <a:lnTo>
                    <a:pt x="310036" y="0"/>
                  </a:lnTo>
                  <a:close/>
                </a:path>
              </a:pathLst>
            </a:custGeom>
            <a:solidFill>
              <a:srgbClr val="C0C0C0"/>
            </a:solidFill>
          </p:spPr>
          <p:txBody>
            <a:bodyPr wrap="square" lIns="0" tIns="0" rIns="0" bIns="0" rtlCol="0"/>
            <a:lstStyle/>
            <a:p>
              <a:endParaRPr/>
            </a:p>
          </p:txBody>
        </p:sp>
        <p:sp>
          <p:nvSpPr>
            <p:cNvPr id="62" name="object 58">
              <a:extLst>
                <a:ext uri="{FF2B5EF4-FFF2-40B4-BE49-F238E27FC236}">
                  <a16:creationId xmlns:a16="http://schemas.microsoft.com/office/drawing/2014/main" id="{23CABC24-FC41-45CF-896F-225EB51129E8}"/>
                </a:ext>
              </a:extLst>
            </p:cNvPr>
            <p:cNvSpPr/>
            <p:nvPr/>
          </p:nvSpPr>
          <p:spPr>
            <a:xfrm>
              <a:off x="5442987" y="2357333"/>
              <a:ext cx="420370" cy="559435"/>
            </a:xfrm>
            <a:custGeom>
              <a:avLst/>
              <a:gdLst/>
              <a:ahLst/>
              <a:cxnLst/>
              <a:rect l="l" t="t" r="r" b="b"/>
              <a:pathLst>
                <a:path w="420370" h="559435">
                  <a:moveTo>
                    <a:pt x="0" y="174269"/>
                  </a:moveTo>
                  <a:lnTo>
                    <a:pt x="36768" y="137615"/>
                  </a:lnTo>
                  <a:lnTo>
                    <a:pt x="76507" y="104621"/>
                  </a:lnTo>
                  <a:lnTo>
                    <a:pt x="118938" y="75442"/>
                  </a:lnTo>
                  <a:lnTo>
                    <a:pt x="163784" y="50234"/>
                  </a:lnTo>
                  <a:lnTo>
                    <a:pt x="210768" y="29154"/>
                  </a:lnTo>
                  <a:lnTo>
                    <a:pt x="259611" y="12357"/>
                  </a:lnTo>
                  <a:lnTo>
                    <a:pt x="310036" y="0"/>
                  </a:lnTo>
                  <a:lnTo>
                    <a:pt x="420351" y="559181"/>
                  </a:lnTo>
                  <a:lnTo>
                    <a:pt x="0" y="174269"/>
                  </a:lnTo>
                  <a:close/>
                </a:path>
              </a:pathLst>
            </a:custGeom>
            <a:ln w="9524">
              <a:solidFill>
                <a:srgbClr val="929292"/>
              </a:solidFill>
            </a:ln>
          </p:spPr>
          <p:txBody>
            <a:bodyPr wrap="square" lIns="0" tIns="0" rIns="0" bIns="0" rtlCol="0"/>
            <a:lstStyle/>
            <a:p>
              <a:endParaRPr/>
            </a:p>
          </p:txBody>
        </p:sp>
        <p:sp>
          <p:nvSpPr>
            <p:cNvPr id="63" name="object 59">
              <a:extLst>
                <a:ext uri="{FF2B5EF4-FFF2-40B4-BE49-F238E27FC236}">
                  <a16:creationId xmlns:a16="http://schemas.microsoft.com/office/drawing/2014/main" id="{62A2D86D-5306-4B52-B323-7F5B7722ED0B}"/>
                </a:ext>
              </a:extLst>
            </p:cNvPr>
            <p:cNvSpPr/>
            <p:nvPr/>
          </p:nvSpPr>
          <p:spPr>
            <a:xfrm>
              <a:off x="5753023" y="2351050"/>
              <a:ext cx="110489" cy="565785"/>
            </a:xfrm>
            <a:custGeom>
              <a:avLst/>
              <a:gdLst/>
              <a:ahLst/>
              <a:cxnLst/>
              <a:rect l="l" t="t" r="r" b="b"/>
              <a:pathLst>
                <a:path w="110489" h="565785">
                  <a:moveTo>
                    <a:pt x="38881" y="0"/>
                  </a:moveTo>
                  <a:lnTo>
                    <a:pt x="19386" y="2805"/>
                  </a:lnTo>
                  <a:lnTo>
                    <a:pt x="0" y="6283"/>
                  </a:lnTo>
                  <a:lnTo>
                    <a:pt x="110314" y="565464"/>
                  </a:lnTo>
                  <a:lnTo>
                    <a:pt x="38881" y="0"/>
                  </a:lnTo>
                  <a:close/>
                </a:path>
              </a:pathLst>
            </a:custGeom>
            <a:solidFill>
              <a:srgbClr val="FF7D00"/>
            </a:solidFill>
          </p:spPr>
          <p:txBody>
            <a:bodyPr wrap="square" lIns="0" tIns="0" rIns="0" bIns="0" rtlCol="0"/>
            <a:lstStyle/>
            <a:p>
              <a:endParaRPr/>
            </a:p>
          </p:txBody>
        </p:sp>
        <p:sp>
          <p:nvSpPr>
            <p:cNvPr id="64" name="object 60">
              <a:extLst>
                <a:ext uri="{FF2B5EF4-FFF2-40B4-BE49-F238E27FC236}">
                  <a16:creationId xmlns:a16="http://schemas.microsoft.com/office/drawing/2014/main" id="{A70D7006-57F7-4E32-8800-01831CFD2D5F}"/>
                </a:ext>
              </a:extLst>
            </p:cNvPr>
            <p:cNvSpPr/>
            <p:nvPr/>
          </p:nvSpPr>
          <p:spPr>
            <a:xfrm>
              <a:off x="5753024" y="2351050"/>
              <a:ext cx="110489" cy="565785"/>
            </a:xfrm>
            <a:custGeom>
              <a:avLst/>
              <a:gdLst/>
              <a:ahLst/>
              <a:cxnLst/>
              <a:rect l="l" t="t" r="r" b="b"/>
              <a:pathLst>
                <a:path w="110489" h="565785">
                  <a:moveTo>
                    <a:pt x="0" y="6283"/>
                  </a:moveTo>
                  <a:lnTo>
                    <a:pt x="9678" y="4460"/>
                  </a:lnTo>
                  <a:lnTo>
                    <a:pt x="19385" y="2805"/>
                  </a:lnTo>
                  <a:lnTo>
                    <a:pt x="29120" y="1318"/>
                  </a:lnTo>
                  <a:lnTo>
                    <a:pt x="38880" y="0"/>
                  </a:lnTo>
                  <a:lnTo>
                    <a:pt x="110314" y="565464"/>
                  </a:lnTo>
                  <a:lnTo>
                    <a:pt x="0" y="6283"/>
                  </a:lnTo>
                  <a:close/>
                </a:path>
              </a:pathLst>
            </a:custGeom>
            <a:ln w="9524">
              <a:solidFill>
                <a:srgbClr val="CA5C00"/>
              </a:solidFill>
            </a:ln>
          </p:spPr>
          <p:txBody>
            <a:bodyPr wrap="square" lIns="0" tIns="0" rIns="0" bIns="0" rtlCol="0"/>
            <a:lstStyle/>
            <a:p>
              <a:endParaRPr/>
            </a:p>
          </p:txBody>
        </p:sp>
        <p:sp>
          <p:nvSpPr>
            <p:cNvPr id="65" name="object 61">
              <a:extLst>
                <a:ext uri="{FF2B5EF4-FFF2-40B4-BE49-F238E27FC236}">
                  <a16:creationId xmlns:a16="http://schemas.microsoft.com/office/drawing/2014/main" id="{2CAB74E9-F56E-4F63-A8C6-E0D2903FC657}"/>
                </a:ext>
              </a:extLst>
            </p:cNvPr>
            <p:cNvSpPr/>
            <p:nvPr/>
          </p:nvSpPr>
          <p:spPr>
            <a:xfrm>
              <a:off x="5791903" y="2346556"/>
              <a:ext cx="71755" cy="570230"/>
            </a:xfrm>
            <a:custGeom>
              <a:avLst/>
              <a:gdLst/>
              <a:ahLst/>
              <a:cxnLst/>
              <a:rect l="l" t="t" r="r" b="b"/>
              <a:pathLst>
                <a:path w="71754" h="570230">
                  <a:moveTo>
                    <a:pt x="71434" y="0"/>
                  </a:moveTo>
                  <a:lnTo>
                    <a:pt x="53529" y="281"/>
                  </a:lnTo>
                  <a:lnTo>
                    <a:pt x="35646" y="1124"/>
                  </a:lnTo>
                  <a:lnTo>
                    <a:pt x="17799" y="2528"/>
                  </a:lnTo>
                  <a:lnTo>
                    <a:pt x="0" y="4493"/>
                  </a:lnTo>
                  <a:lnTo>
                    <a:pt x="71434" y="569959"/>
                  </a:lnTo>
                  <a:lnTo>
                    <a:pt x="71434" y="0"/>
                  </a:lnTo>
                  <a:close/>
                </a:path>
              </a:pathLst>
            </a:custGeom>
            <a:solidFill>
              <a:srgbClr val="FF2600"/>
            </a:solidFill>
          </p:spPr>
          <p:txBody>
            <a:bodyPr wrap="square" lIns="0" tIns="0" rIns="0" bIns="0" rtlCol="0"/>
            <a:lstStyle/>
            <a:p>
              <a:endParaRPr/>
            </a:p>
          </p:txBody>
        </p:sp>
        <p:sp>
          <p:nvSpPr>
            <p:cNvPr id="66" name="object 62">
              <a:extLst>
                <a:ext uri="{FF2B5EF4-FFF2-40B4-BE49-F238E27FC236}">
                  <a16:creationId xmlns:a16="http://schemas.microsoft.com/office/drawing/2014/main" id="{3FAAF372-1402-4F5A-AAFF-DBEE829F215A}"/>
                </a:ext>
              </a:extLst>
            </p:cNvPr>
            <p:cNvSpPr/>
            <p:nvPr/>
          </p:nvSpPr>
          <p:spPr>
            <a:xfrm>
              <a:off x="5791904" y="2346555"/>
              <a:ext cx="71755" cy="570230"/>
            </a:xfrm>
            <a:custGeom>
              <a:avLst/>
              <a:gdLst/>
              <a:ahLst/>
              <a:cxnLst/>
              <a:rect l="l" t="t" r="r" b="b"/>
              <a:pathLst>
                <a:path w="71754" h="570230">
                  <a:moveTo>
                    <a:pt x="0" y="4494"/>
                  </a:moveTo>
                  <a:lnTo>
                    <a:pt x="17799" y="2529"/>
                  </a:lnTo>
                  <a:lnTo>
                    <a:pt x="35646" y="1124"/>
                  </a:lnTo>
                  <a:lnTo>
                    <a:pt x="53529" y="281"/>
                  </a:lnTo>
                  <a:lnTo>
                    <a:pt x="71434" y="0"/>
                  </a:lnTo>
                  <a:lnTo>
                    <a:pt x="71435" y="569959"/>
                  </a:lnTo>
                  <a:lnTo>
                    <a:pt x="0" y="4494"/>
                  </a:lnTo>
                  <a:close/>
                </a:path>
              </a:pathLst>
            </a:custGeom>
            <a:ln w="9524">
              <a:solidFill>
                <a:srgbClr val="CA1B00"/>
              </a:solidFill>
            </a:ln>
          </p:spPr>
          <p:txBody>
            <a:bodyPr wrap="square" lIns="0" tIns="0" rIns="0" bIns="0" rtlCol="0"/>
            <a:lstStyle/>
            <a:p>
              <a:endParaRPr/>
            </a:p>
          </p:txBody>
        </p:sp>
        <p:sp>
          <p:nvSpPr>
            <p:cNvPr id="67" name="object 63">
              <a:extLst>
                <a:ext uri="{FF2B5EF4-FFF2-40B4-BE49-F238E27FC236}">
                  <a16:creationId xmlns:a16="http://schemas.microsoft.com/office/drawing/2014/main" id="{91B12469-F420-42F3-BC64-C23329E91D59}"/>
                </a:ext>
              </a:extLst>
            </p:cNvPr>
            <p:cNvSpPr/>
            <p:nvPr/>
          </p:nvSpPr>
          <p:spPr>
            <a:xfrm>
              <a:off x="5398392" y="2062270"/>
              <a:ext cx="428625" cy="357505"/>
            </a:xfrm>
            <a:custGeom>
              <a:avLst/>
              <a:gdLst/>
              <a:ahLst/>
              <a:cxnLst/>
              <a:rect l="l" t="t" r="r" b="b"/>
              <a:pathLst>
                <a:path w="428625" h="357505">
                  <a:moveTo>
                    <a:pt x="187037" y="357394"/>
                  </a:moveTo>
                  <a:lnTo>
                    <a:pt x="78970" y="241069"/>
                  </a:lnTo>
                </a:path>
                <a:path w="428625" h="357505">
                  <a:moveTo>
                    <a:pt x="78970" y="241069"/>
                  </a:moveTo>
                  <a:lnTo>
                    <a:pt x="0" y="241069"/>
                  </a:lnTo>
                </a:path>
                <a:path w="428625" h="357505">
                  <a:moveTo>
                    <a:pt x="374072" y="290945"/>
                  </a:moveTo>
                  <a:lnTo>
                    <a:pt x="133003" y="0"/>
                  </a:lnTo>
                </a:path>
                <a:path w="428625" h="357505">
                  <a:moveTo>
                    <a:pt x="133003" y="0"/>
                  </a:moveTo>
                  <a:lnTo>
                    <a:pt x="58189" y="0"/>
                  </a:lnTo>
                </a:path>
                <a:path w="428625" h="357505">
                  <a:moveTo>
                    <a:pt x="428105" y="286788"/>
                  </a:moveTo>
                  <a:lnTo>
                    <a:pt x="428105" y="166254"/>
                  </a:lnTo>
                </a:path>
                <a:path w="428625" h="357505">
                  <a:moveTo>
                    <a:pt x="428105" y="166254"/>
                  </a:moveTo>
                  <a:lnTo>
                    <a:pt x="428105" y="87283"/>
                  </a:lnTo>
                </a:path>
              </a:pathLst>
            </a:custGeom>
            <a:ln w="9524">
              <a:solidFill>
                <a:srgbClr val="000000"/>
              </a:solidFill>
            </a:ln>
          </p:spPr>
          <p:txBody>
            <a:bodyPr wrap="square" lIns="0" tIns="0" rIns="0" bIns="0" rtlCol="0"/>
            <a:lstStyle/>
            <a:p>
              <a:endParaRPr/>
            </a:p>
          </p:txBody>
        </p:sp>
      </p:grpSp>
      <p:sp>
        <p:nvSpPr>
          <p:cNvPr id="68" name="object 64">
            <a:extLst>
              <a:ext uri="{FF2B5EF4-FFF2-40B4-BE49-F238E27FC236}">
                <a16:creationId xmlns:a16="http://schemas.microsoft.com/office/drawing/2014/main" id="{9A92E3B4-039A-467C-872D-C79D57B130B0}"/>
              </a:ext>
            </a:extLst>
          </p:cNvPr>
          <p:cNvSpPr txBox="1"/>
          <p:nvPr/>
        </p:nvSpPr>
        <p:spPr>
          <a:xfrm>
            <a:off x="7513086" y="3206220"/>
            <a:ext cx="391795" cy="208279"/>
          </a:xfrm>
          <a:prstGeom prst="rect">
            <a:avLst/>
          </a:prstGeom>
        </p:spPr>
        <p:txBody>
          <a:bodyPr vert="horz" wrap="square" lIns="0" tIns="12700" rIns="0" bIns="0" rtlCol="0">
            <a:spAutoFit/>
          </a:bodyPr>
          <a:lstStyle/>
          <a:p>
            <a:pPr>
              <a:lnSpc>
                <a:spcPct val="100000"/>
              </a:lnSpc>
              <a:spcBef>
                <a:spcPts val="100"/>
              </a:spcBef>
            </a:pPr>
            <a:r>
              <a:rPr sz="1200" spc="-10" dirty="0">
                <a:latin typeface="Calibri"/>
                <a:cs typeface="Calibri"/>
              </a:rPr>
              <a:t>66,6%</a:t>
            </a:r>
            <a:endParaRPr sz="1200">
              <a:latin typeface="Calibri"/>
              <a:cs typeface="Calibri"/>
            </a:endParaRPr>
          </a:p>
        </p:txBody>
      </p:sp>
      <p:sp>
        <p:nvSpPr>
          <p:cNvPr id="139" name="object 6">
            <a:extLst>
              <a:ext uri="{FF2B5EF4-FFF2-40B4-BE49-F238E27FC236}">
                <a16:creationId xmlns:a16="http://schemas.microsoft.com/office/drawing/2014/main" id="{12323690-B306-4F43-9FD7-8B3598A7F6D2}"/>
              </a:ext>
            </a:extLst>
          </p:cNvPr>
          <p:cNvSpPr/>
          <p:nvPr/>
        </p:nvSpPr>
        <p:spPr>
          <a:xfrm>
            <a:off x="2359772" y="4588826"/>
            <a:ext cx="3806190" cy="2039620"/>
          </a:xfrm>
          <a:custGeom>
            <a:avLst/>
            <a:gdLst/>
            <a:ahLst/>
            <a:cxnLst/>
            <a:rect l="l" t="t" r="r" b="b"/>
            <a:pathLst>
              <a:path w="3806190" h="2039620">
                <a:moveTo>
                  <a:pt x="3805901" y="0"/>
                </a:moveTo>
                <a:lnTo>
                  <a:pt x="0" y="0"/>
                </a:lnTo>
                <a:lnTo>
                  <a:pt x="0" y="2039287"/>
                </a:lnTo>
                <a:lnTo>
                  <a:pt x="3805901" y="2039287"/>
                </a:lnTo>
                <a:lnTo>
                  <a:pt x="3805901" y="0"/>
                </a:lnTo>
                <a:close/>
              </a:path>
            </a:pathLst>
          </a:custGeom>
          <a:solidFill>
            <a:srgbClr val="FFFFFF"/>
          </a:solidFill>
        </p:spPr>
        <p:txBody>
          <a:bodyPr wrap="square" lIns="0" tIns="0" rIns="0" bIns="0" rtlCol="0"/>
          <a:lstStyle/>
          <a:p>
            <a:endParaRPr/>
          </a:p>
        </p:txBody>
      </p:sp>
      <p:sp>
        <p:nvSpPr>
          <p:cNvPr id="140" name="object 7">
            <a:extLst>
              <a:ext uri="{FF2B5EF4-FFF2-40B4-BE49-F238E27FC236}">
                <a16:creationId xmlns:a16="http://schemas.microsoft.com/office/drawing/2014/main" id="{5EAFBA4D-4BE1-45FF-A0A3-C307D0DE5F67}"/>
              </a:ext>
            </a:extLst>
          </p:cNvPr>
          <p:cNvSpPr/>
          <p:nvPr/>
        </p:nvSpPr>
        <p:spPr>
          <a:xfrm>
            <a:off x="3510381" y="5218088"/>
            <a:ext cx="632460" cy="1140460"/>
          </a:xfrm>
          <a:custGeom>
            <a:avLst/>
            <a:gdLst/>
            <a:ahLst/>
            <a:cxnLst/>
            <a:rect l="l" t="t" r="r" b="b"/>
            <a:pathLst>
              <a:path w="632460" h="1140460">
                <a:moveTo>
                  <a:pt x="62482" y="0"/>
                </a:moveTo>
                <a:lnTo>
                  <a:pt x="62482" y="569959"/>
                </a:lnTo>
                <a:lnTo>
                  <a:pt x="0" y="1136482"/>
                </a:lnTo>
                <a:lnTo>
                  <a:pt x="15580" y="1137985"/>
                </a:lnTo>
                <a:lnTo>
                  <a:pt x="31194" y="1139058"/>
                </a:lnTo>
                <a:lnTo>
                  <a:pt x="46831" y="1139703"/>
                </a:lnTo>
                <a:lnTo>
                  <a:pt x="62482" y="1139918"/>
                </a:lnTo>
                <a:lnTo>
                  <a:pt x="111660" y="1137826"/>
                </a:lnTo>
                <a:lnTo>
                  <a:pt x="159677" y="1131663"/>
                </a:lnTo>
                <a:lnTo>
                  <a:pt x="206361" y="1121602"/>
                </a:lnTo>
                <a:lnTo>
                  <a:pt x="251541" y="1107813"/>
                </a:lnTo>
                <a:lnTo>
                  <a:pt x="295046" y="1090467"/>
                </a:lnTo>
                <a:lnTo>
                  <a:pt x="336705" y="1069735"/>
                </a:lnTo>
                <a:lnTo>
                  <a:pt x="376347" y="1045788"/>
                </a:lnTo>
                <a:lnTo>
                  <a:pt x="413800" y="1018798"/>
                </a:lnTo>
                <a:lnTo>
                  <a:pt x="448895" y="988936"/>
                </a:lnTo>
                <a:lnTo>
                  <a:pt x="481459" y="956371"/>
                </a:lnTo>
                <a:lnTo>
                  <a:pt x="511321" y="921277"/>
                </a:lnTo>
                <a:lnTo>
                  <a:pt x="538311" y="883823"/>
                </a:lnTo>
                <a:lnTo>
                  <a:pt x="562258" y="844181"/>
                </a:lnTo>
                <a:lnTo>
                  <a:pt x="582990" y="802522"/>
                </a:lnTo>
                <a:lnTo>
                  <a:pt x="600336" y="759017"/>
                </a:lnTo>
                <a:lnTo>
                  <a:pt x="614125" y="713837"/>
                </a:lnTo>
                <a:lnTo>
                  <a:pt x="624186" y="667154"/>
                </a:lnTo>
                <a:lnTo>
                  <a:pt x="630348" y="619137"/>
                </a:lnTo>
                <a:lnTo>
                  <a:pt x="632440" y="569959"/>
                </a:lnTo>
                <a:lnTo>
                  <a:pt x="630348" y="520781"/>
                </a:lnTo>
                <a:lnTo>
                  <a:pt x="624186" y="472764"/>
                </a:lnTo>
                <a:lnTo>
                  <a:pt x="614125" y="426080"/>
                </a:lnTo>
                <a:lnTo>
                  <a:pt x="600336" y="380900"/>
                </a:lnTo>
                <a:lnTo>
                  <a:pt x="582990" y="337395"/>
                </a:lnTo>
                <a:lnTo>
                  <a:pt x="562258" y="295736"/>
                </a:lnTo>
                <a:lnTo>
                  <a:pt x="538311" y="256094"/>
                </a:lnTo>
                <a:lnTo>
                  <a:pt x="511321" y="218640"/>
                </a:lnTo>
                <a:lnTo>
                  <a:pt x="481459" y="183546"/>
                </a:lnTo>
                <a:lnTo>
                  <a:pt x="448895" y="150982"/>
                </a:lnTo>
                <a:lnTo>
                  <a:pt x="413800" y="121119"/>
                </a:lnTo>
                <a:lnTo>
                  <a:pt x="376347" y="94129"/>
                </a:lnTo>
                <a:lnTo>
                  <a:pt x="336705" y="70182"/>
                </a:lnTo>
                <a:lnTo>
                  <a:pt x="295046" y="49450"/>
                </a:lnTo>
                <a:lnTo>
                  <a:pt x="251541" y="32104"/>
                </a:lnTo>
                <a:lnTo>
                  <a:pt x="206361" y="18315"/>
                </a:lnTo>
                <a:lnTo>
                  <a:pt x="159677" y="8254"/>
                </a:lnTo>
                <a:lnTo>
                  <a:pt x="111660" y="2092"/>
                </a:lnTo>
                <a:lnTo>
                  <a:pt x="62482" y="0"/>
                </a:lnTo>
                <a:close/>
              </a:path>
            </a:pathLst>
          </a:custGeom>
          <a:solidFill>
            <a:srgbClr val="615660"/>
          </a:solidFill>
        </p:spPr>
        <p:txBody>
          <a:bodyPr wrap="square" lIns="0" tIns="0" rIns="0" bIns="0" rtlCol="0"/>
          <a:lstStyle/>
          <a:p>
            <a:endParaRPr/>
          </a:p>
        </p:txBody>
      </p:sp>
      <p:sp>
        <p:nvSpPr>
          <p:cNvPr id="141" name="object 8">
            <a:extLst>
              <a:ext uri="{FF2B5EF4-FFF2-40B4-BE49-F238E27FC236}">
                <a16:creationId xmlns:a16="http://schemas.microsoft.com/office/drawing/2014/main" id="{07CC6820-99D6-4DC4-9EA8-5015B2EC20D5}"/>
              </a:ext>
            </a:extLst>
          </p:cNvPr>
          <p:cNvSpPr/>
          <p:nvPr/>
        </p:nvSpPr>
        <p:spPr>
          <a:xfrm>
            <a:off x="3510382" y="5218088"/>
            <a:ext cx="632460" cy="1140460"/>
          </a:xfrm>
          <a:custGeom>
            <a:avLst/>
            <a:gdLst/>
            <a:ahLst/>
            <a:cxnLst/>
            <a:rect l="l" t="t" r="r" b="b"/>
            <a:pathLst>
              <a:path w="632460" h="1140460">
                <a:moveTo>
                  <a:pt x="62481" y="0"/>
                </a:moveTo>
                <a:lnTo>
                  <a:pt x="111660" y="2092"/>
                </a:lnTo>
                <a:lnTo>
                  <a:pt x="159676" y="8254"/>
                </a:lnTo>
                <a:lnTo>
                  <a:pt x="206360" y="18315"/>
                </a:lnTo>
                <a:lnTo>
                  <a:pt x="251540" y="32104"/>
                </a:lnTo>
                <a:lnTo>
                  <a:pt x="295045" y="49450"/>
                </a:lnTo>
                <a:lnTo>
                  <a:pt x="336704" y="70182"/>
                </a:lnTo>
                <a:lnTo>
                  <a:pt x="376346" y="94129"/>
                </a:lnTo>
                <a:lnTo>
                  <a:pt x="413800" y="121119"/>
                </a:lnTo>
                <a:lnTo>
                  <a:pt x="448894" y="150982"/>
                </a:lnTo>
                <a:lnTo>
                  <a:pt x="481458" y="183546"/>
                </a:lnTo>
                <a:lnTo>
                  <a:pt x="511321" y="218640"/>
                </a:lnTo>
                <a:lnTo>
                  <a:pt x="538311" y="256094"/>
                </a:lnTo>
                <a:lnTo>
                  <a:pt x="562258" y="295736"/>
                </a:lnTo>
                <a:lnTo>
                  <a:pt x="582989" y="337395"/>
                </a:lnTo>
                <a:lnTo>
                  <a:pt x="600336" y="380900"/>
                </a:lnTo>
                <a:lnTo>
                  <a:pt x="614125" y="426080"/>
                </a:lnTo>
                <a:lnTo>
                  <a:pt x="624186" y="472764"/>
                </a:lnTo>
                <a:lnTo>
                  <a:pt x="630348" y="520780"/>
                </a:lnTo>
                <a:lnTo>
                  <a:pt x="632440" y="569958"/>
                </a:lnTo>
                <a:lnTo>
                  <a:pt x="630348" y="619137"/>
                </a:lnTo>
                <a:lnTo>
                  <a:pt x="624186" y="667153"/>
                </a:lnTo>
                <a:lnTo>
                  <a:pt x="614125" y="713837"/>
                </a:lnTo>
                <a:lnTo>
                  <a:pt x="600336" y="759017"/>
                </a:lnTo>
                <a:lnTo>
                  <a:pt x="582989" y="802522"/>
                </a:lnTo>
                <a:lnTo>
                  <a:pt x="562258" y="844181"/>
                </a:lnTo>
                <a:lnTo>
                  <a:pt x="538311" y="883823"/>
                </a:lnTo>
                <a:lnTo>
                  <a:pt x="511321" y="921277"/>
                </a:lnTo>
                <a:lnTo>
                  <a:pt x="481458" y="956371"/>
                </a:lnTo>
                <a:lnTo>
                  <a:pt x="448894" y="988935"/>
                </a:lnTo>
                <a:lnTo>
                  <a:pt x="413800" y="1018798"/>
                </a:lnTo>
                <a:lnTo>
                  <a:pt x="376346" y="1045788"/>
                </a:lnTo>
                <a:lnTo>
                  <a:pt x="336704" y="1069735"/>
                </a:lnTo>
                <a:lnTo>
                  <a:pt x="295045" y="1090467"/>
                </a:lnTo>
                <a:lnTo>
                  <a:pt x="251540" y="1107813"/>
                </a:lnTo>
                <a:lnTo>
                  <a:pt x="206360" y="1121602"/>
                </a:lnTo>
                <a:lnTo>
                  <a:pt x="159676" y="1131663"/>
                </a:lnTo>
                <a:lnTo>
                  <a:pt x="111660" y="1137825"/>
                </a:lnTo>
                <a:lnTo>
                  <a:pt x="62481" y="1139917"/>
                </a:lnTo>
                <a:lnTo>
                  <a:pt x="46830" y="1139702"/>
                </a:lnTo>
                <a:lnTo>
                  <a:pt x="31193" y="1139058"/>
                </a:lnTo>
                <a:lnTo>
                  <a:pt x="15580" y="1137984"/>
                </a:lnTo>
                <a:lnTo>
                  <a:pt x="0" y="1136482"/>
                </a:lnTo>
                <a:lnTo>
                  <a:pt x="62481" y="569958"/>
                </a:lnTo>
                <a:lnTo>
                  <a:pt x="62481" y="0"/>
                </a:lnTo>
                <a:close/>
              </a:path>
            </a:pathLst>
          </a:custGeom>
          <a:ln w="9524">
            <a:solidFill>
              <a:srgbClr val="463D45"/>
            </a:solidFill>
          </a:ln>
        </p:spPr>
        <p:txBody>
          <a:bodyPr wrap="square" lIns="0" tIns="0" rIns="0" bIns="0" rtlCol="0"/>
          <a:lstStyle/>
          <a:p>
            <a:endParaRPr/>
          </a:p>
        </p:txBody>
      </p:sp>
      <p:sp>
        <p:nvSpPr>
          <p:cNvPr id="142" name="object 9">
            <a:extLst>
              <a:ext uri="{FF2B5EF4-FFF2-40B4-BE49-F238E27FC236}">
                <a16:creationId xmlns:a16="http://schemas.microsoft.com/office/drawing/2014/main" id="{86DE59D7-107A-4C50-B0DB-3ABE8B5E9256}"/>
              </a:ext>
            </a:extLst>
          </p:cNvPr>
          <p:cNvSpPr/>
          <p:nvPr/>
        </p:nvSpPr>
        <p:spPr>
          <a:xfrm>
            <a:off x="3003028" y="5270714"/>
            <a:ext cx="570230" cy="1083945"/>
          </a:xfrm>
          <a:custGeom>
            <a:avLst/>
            <a:gdLst/>
            <a:ahLst/>
            <a:cxnLst/>
            <a:rect l="l" t="t" r="r" b="b"/>
            <a:pathLst>
              <a:path w="570230" h="1083945">
                <a:moveTo>
                  <a:pt x="330627" y="0"/>
                </a:moveTo>
                <a:lnTo>
                  <a:pt x="286529" y="22764"/>
                </a:lnTo>
                <a:lnTo>
                  <a:pt x="244967" y="49009"/>
                </a:lnTo>
                <a:lnTo>
                  <a:pt x="206096" y="78515"/>
                </a:lnTo>
                <a:lnTo>
                  <a:pt x="170075" y="111064"/>
                </a:lnTo>
                <a:lnTo>
                  <a:pt x="137060" y="146439"/>
                </a:lnTo>
                <a:lnTo>
                  <a:pt x="107208" y="184421"/>
                </a:lnTo>
                <a:lnTo>
                  <a:pt x="80677" y="224792"/>
                </a:lnTo>
                <a:lnTo>
                  <a:pt x="57622" y="267334"/>
                </a:lnTo>
                <a:lnTo>
                  <a:pt x="38201" y="311829"/>
                </a:lnTo>
                <a:lnTo>
                  <a:pt x="22571" y="358059"/>
                </a:lnTo>
                <a:lnTo>
                  <a:pt x="10889" y="405806"/>
                </a:lnTo>
                <a:lnTo>
                  <a:pt x="3311" y="454851"/>
                </a:lnTo>
                <a:lnTo>
                  <a:pt x="0" y="503962"/>
                </a:lnTo>
                <a:lnTo>
                  <a:pt x="861" y="552365"/>
                </a:lnTo>
                <a:lnTo>
                  <a:pt x="5743" y="599870"/>
                </a:lnTo>
                <a:lnTo>
                  <a:pt x="14497" y="646290"/>
                </a:lnTo>
                <a:lnTo>
                  <a:pt x="26969" y="691434"/>
                </a:lnTo>
                <a:lnTo>
                  <a:pt x="43009" y="735115"/>
                </a:lnTo>
                <a:lnTo>
                  <a:pt x="62465" y="777143"/>
                </a:lnTo>
                <a:lnTo>
                  <a:pt x="85187" y="817330"/>
                </a:lnTo>
                <a:lnTo>
                  <a:pt x="111022" y="855486"/>
                </a:lnTo>
                <a:lnTo>
                  <a:pt x="139820" y="891424"/>
                </a:lnTo>
                <a:lnTo>
                  <a:pt x="171430" y="924954"/>
                </a:lnTo>
                <a:lnTo>
                  <a:pt x="205699" y="955887"/>
                </a:lnTo>
                <a:lnTo>
                  <a:pt x="242477" y="984035"/>
                </a:lnTo>
                <a:lnTo>
                  <a:pt x="281612" y="1009209"/>
                </a:lnTo>
                <a:lnTo>
                  <a:pt x="322953" y="1031220"/>
                </a:lnTo>
                <a:lnTo>
                  <a:pt x="366349" y="1049878"/>
                </a:lnTo>
                <a:lnTo>
                  <a:pt x="411649" y="1064997"/>
                </a:lnTo>
                <a:lnTo>
                  <a:pt x="458700" y="1076386"/>
                </a:lnTo>
                <a:lnTo>
                  <a:pt x="507353" y="1083856"/>
                </a:lnTo>
                <a:lnTo>
                  <a:pt x="569835" y="517333"/>
                </a:lnTo>
                <a:lnTo>
                  <a:pt x="330627" y="0"/>
                </a:lnTo>
                <a:close/>
              </a:path>
            </a:pathLst>
          </a:custGeom>
          <a:solidFill>
            <a:srgbClr val="FFD441"/>
          </a:solidFill>
        </p:spPr>
        <p:txBody>
          <a:bodyPr wrap="square" lIns="0" tIns="0" rIns="0" bIns="0" rtlCol="0"/>
          <a:lstStyle/>
          <a:p>
            <a:endParaRPr/>
          </a:p>
        </p:txBody>
      </p:sp>
      <p:sp>
        <p:nvSpPr>
          <p:cNvPr id="143" name="object 10">
            <a:extLst>
              <a:ext uri="{FF2B5EF4-FFF2-40B4-BE49-F238E27FC236}">
                <a16:creationId xmlns:a16="http://schemas.microsoft.com/office/drawing/2014/main" id="{037E3731-19D9-413C-843C-35431F206322}"/>
              </a:ext>
            </a:extLst>
          </p:cNvPr>
          <p:cNvSpPr/>
          <p:nvPr/>
        </p:nvSpPr>
        <p:spPr>
          <a:xfrm>
            <a:off x="3003027" y="5270715"/>
            <a:ext cx="570230" cy="1083945"/>
          </a:xfrm>
          <a:custGeom>
            <a:avLst/>
            <a:gdLst/>
            <a:ahLst/>
            <a:cxnLst/>
            <a:rect l="l" t="t" r="r" b="b"/>
            <a:pathLst>
              <a:path w="570230" h="1083945">
                <a:moveTo>
                  <a:pt x="507353" y="1083856"/>
                </a:moveTo>
                <a:lnTo>
                  <a:pt x="458701" y="1076385"/>
                </a:lnTo>
                <a:lnTo>
                  <a:pt x="411649" y="1064996"/>
                </a:lnTo>
                <a:lnTo>
                  <a:pt x="366350" y="1049878"/>
                </a:lnTo>
                <a:lnTo>
                  <a:pt x="322954" y="1031219"/>
                </a:lnTo>
                <a:lnTo>
                  <a:pt x="281612" y="1009208"/>
                </a:lnTo>
                <a:lnTo>
                  <a:pt x="242477" y="984034"/>
                </a:lnTo>
                <a:lnTo>
                  <a:pt x="205699" y="955886"/>
                </a:lnTo>
                <a:lnTo>
                  <a:pt x="171430" y="924953"/>
                </a:lnTo>
                <a:lnTo>
                  <a:pt x="139821" y="891423"/>
                </a:lnTo>
                <a:lnTo>
                  <a:pt x="111023" y="855485"/>
                </a:lnTo>
                <a:lnTo>
                  <a:pt x="85187" y="817329"/>
                </a:lnTo>
                <a:lnTo>
                  <a:pt x="62466" y="777142"/>
                </a:lnTo>
                <a:lnTo>
                  <a:pt x="43009" y="735114"/>
                </a:lnTo>
                <a:lnTo>
                  <a:pt x="26969" y="691433"/>
                </a:lnTo>
                <a:lnTo>
                  <a:pt x="14497" y="646289"/>
                </a:lnTo>
                <a:lnTo>
                  <a:pt x="5744" y="599870"/>
                </a:lnTo>
                <a:lnTo>
                  <a:pt x="861" y="552364"/>
                </a:lnTo>
                <a:lnTo>
                  <a:pt x="0" y="503961"/>
                </a:lnTo>
                <a:lnTo>
                  <a:pt x="3311" y="454850"/>
                </a:lnTo>
                <a:lnTo>
                  <a:pt x="10889" y="405805"/>
                </a:lnTo>
                <a:lnTo>
                  <a:pt x="22571" y="358058"/>
                </a:lnTo>
                <a:lnTo>
                  <a:pt x="38201" y="311829"/>
                </a:lnTo>
                <a:lnTo>
                  <a:pt x="57622" y="267334"/>
                </a:lnTo>
                <a:lnTo>
                  <a:pt x="80677" y="224792"/>
                </a:lnTo>
                <a:lnTo>
                  <a:pt x="107209" y="184420"/>
                </a:lnTo>
                <a:lnTo>
                  <a:pt x="137061" y="146439"/>
                </a:lnTo>
                <a:lnTo>
                  <a:pt x="170076" y="111064"/>
                </a:lnTo>
                <a:lnTo>
                  <a:pt x="206097" y="78515"/>
                </a:lnTo>
                <a:lnTo>
                  <a:pt x="244967" y="49009"/>
                </a:lnTo>
                <a:lnTo>
                  <a:pt x="286529" y="22764"/>
                </a:lnTo>
                <a:lnTo>
                  <a:pt x="330627" y="0"/>
                </a:lnTo>
                <a:lnTo>
                  <a:pt x="569835" y="517332"/>
                </a:lnTo>
                <a:lnTo>
                  <a:pt x="507353" y="1083856"/>
                </a:lnTo>
                <a:close/>
              </a:path>
            </a:pathLst>
          </a:custGeom>
          <a:ln w="9524">
            <a:solidFill>
              <a:srgbClr val="C8A326"/>
            </a:solidFill>
          </a:ln>
        </p:spPr>
        <p:txBody>
          <a:bodyPr wrap="square" lIns="0" tIns="0" rIns="0" bIns="0" rtlCol="0"/>
          <a:lstStyle/>
          <a:p>
            <a:endParaRPr/>
          </a:p>
        </p:txBody>
      </p:sp>
      <p:sp>
        <p:nvSpPr>
          <p:cNvPr id="144" name="object 11">
            <a:extLst>
              <a:ext uri="{FF2B5EF4-FFF2-40B4-BE49-F238E27FC236}">
                <a16:creationId xmlns:a16="http://schemas.microsoft.com/office/drawing/2014/main" id="{8B0AA5D2-5A2A-43C6-9D0D-0D1CDCCC3124}"/>
              </a:ext>
            </a:extLst>
          </p:cNvPr>
          <p:cNvSpPr/>
          <p:nvPr/>
        </p:nvSpPr>
        <p:spPr>
          <a:xfrm>
            <a:off x="3333656" y="5219984"/>
            <a:ext cx="239395" cy="568325"/>
          </a:xfrm>
          <a:custGeom>
            <a:avLst/>
            <a:gdLst/>
            <a:ahLst/>
            <a:cxnLst/>
            <a:rect l="l" t="t" r="r" b="b"/>
            <a:pathLst>
              <a:path w="239394" h="568325">
                <a:moveTo>
                  <a:pt x="192750" y="0"/>
                </a:moveTo>
                <a:lnTo>
                  <a:pt x="143027" y="6277"/>
                </a:lnTo>
                <a:lnTo>
                  <a:pt x="94140" y="16874"/>
                </a:lnTo>
                <a:lnTo>
                  <a:pt x="46371" y="31716"/>
                </a:lnTo>
                <a:lnTo>
                  <a:pt x="0" y="50730"/>
                </a:lnTo>
                <a:lnTo>
                  <a:pt x="239208" y="568063"/>
                </a:lnTo>
                <a:lnTo>
                  <a:pt x="192750" y="0"/>
                </a:lnTo>
                <a:close/>
              </a:path>
            </a:pathLst>
          </a:custGeom>
          <a:solidFill>
            <a:srgbClr val="C0C0C0"/>
          </a:solidFill>
        </p:spPr>
        <p:txBody>
          <a:bodyPr wrap="square" lIns="0" tIns="0" rIns="0" bIns="0" rtlCol="0"/>
          <a:lstStyle/>
          <a:p>
            <a:endParaRPr/>
          </a:p>
        </p:txBody>
      </p:sp>
      <p:sp>
        <p:nvSpPr>
          <p:cNvPr id="145" name="object 12">
            <a:extLst>
              <a:ext uri="{FF2B5EF4-FFF2-40B4-BE49-F238E27FC236}">
                <a16:creationId xmlns:a16="http://schemas.microsoft.com/office/drawing/2014/main" id="{8DB6817A-C596-4D58-9E59-22AA0D4B7F4E}"/>
              </a:ext>
            </a:extLst>
          </p:cNvPr>
          <p:cNvSpPr/>
          <p:nvPr/>
        </p:nvSpPr>
        <p:spPr>
          <a:xfrm>
            <a:off x="3333655" y="5219984"/>
            <a:ext cx="239395" cy="568325"/>
          </a:xfrm>
          <a:custGeom>
            <a:avLst/>
            <a:gdLst/>
            <a:ahLst/>
            <a:cxnLst/>
            <a:rect l="l" t="t" r="r" b="b"/>
            <a:pathLst>
              <a:path w="239394" h="568325">
                <a:moveTo>
                  <a:pt x="0" y="50730"/>
                </a:moveTo>
                <a:lnTo>
                  <a:pt x="46371" y="31716"/>
                </a:lnTo>
                <a:lnTo>
                  <a:pt x="94140" y="16873"/>
                </a:lnTo>
                <a:lnTo>
                  <a:pt x="143027" y="6277"/>
                </a:lnTo>
                <a:lnTo>
                  <a:pt x="192750" y="0"/>
                </a:lnTo>
                <a:lnTo>
                  <a:pt x="239208" y="568062"/>
                </a:lnTo>
                <a:lnTo>
                  <a:pt x="0" y="50730"/>
                </a:lnTo>
                <a:close/>
              </a:path>
            </a:pathLst>
          </a:custGeom>
          <a:ln w="9524">
            <a:solidFill>
              <a:srgbClr val="929292"/>
            </a:solidFill>
          </a:ln>
        </p:spPr>
        <p:txBody>
          <a:bodyPr wrap="square" lIns="0" tIns="0" rIns="0" bIns="0" rtlCol="0"/>
          <a:lstStyle/>
          <a:p>
            <a:endParaRPr/>
          </a:p>
        </p:txBody>
      </p:sp>
      <p:sp>
        <p:nvSpPr>
          <p:cNvPr id="146" name="object 13">
            <a:extLst>
              <a:ext uri="{FF2B5EF4-FFF2-40B4-BE49-F238E27FC236}">
                <a16:creationId xmlns:a16="http://schemas.microsoft.com/office/drawing/2014/main" id="{E456EAB4-90B6-490B-8F9F-3F8DE56767B0}"/>
              </a:ext>
            </a:extLst>
          </p:cNvPr>
          <p:cNvSpPr/>
          <p:nvPr/>
        </p:nvSpPr>
        <p:spPr>
          <a:xfrm>
            <a:off x="3526406" y="5218492"/>
            <a:ext cx="46990" cy="569595"/>
          </a:xfrm>
          <a:custGeom>
            <a:avLst/>
            <a:gdLst/>
            <a:ahLst/>
            <a:cxnLst/>
            <a:rect l="l" t="t" r="r" b="b"/>
            <a:pathLst>
              <a:path w="46989" h="569595">
                <a:moveTo>
                  <a:pt x="24997" y="0"/>
                </a:moveTo>
                <a:lnTo>
                  <a:pt x="16654" y="313"/>
                </a:lnTo>
                <a:lnTo>
                  <a:pt x="0" y="1492"/>
                </a:lnTo>
                <a:lnTo>
                  <a:pt x="46457" y="569555"/>
                </a:lnTo>
                <a:lnTo>
                  <a:pt x="24997" y="0"/>
                </a:lnTo>
                <a:close/>
              </a:path>
            </a:pathLst>
          </a:custGeom>
          <a:solidFill>
            <a:srgbClr val="FF7D00"/>
          </a:solidFill>
        </p:spPr>
        <p:txBody>
          <a:bodyPr wrap="square" lIns="0" tIns="0" rIns="0" bIns="0" rtlCol="0"/>
          <a:lstStyle/>
          <a:p>
            <a:endParaRPr/>
          </a:p>
        </p:txBody>
      </p:sp>
      <p:sp>
        <p:nvSpPr>
          <p:cNvPr id="147" name="object 14">
            <a:extLst>
              <a:ext uri="{FF2B5EF4-FFF2-40B4-BE49-F238E27FC236}">
                <a16:creationId xmlns:a16="http://schemas.microsoft.com/office/drawing/2014/main" id="{71B49A20-904B-4340-B0E5-0ED8809B6F36}"/>
              </a:ext>
            </a:extLst>
          </p:cNvPr>
          <p:cNvSpPr/>
          <p:nvPr/>
        </p:nvSpPr>
        <p:spPr>
          <a:xfrm>
            <a:off x="3526406" y="5218492"/>
            <a:ext cx="46990" cy="569595"/>
          </a:xfrm>
          <a:custGeom>
            <a:avLst/>
            <a:gdLst/>
            <a:ahLst/>
            <a:cxnLst/>
            <a:rect l="l" t="t" r="r" b="b"/>
            <a:pathLst>
              <a:path w="46989" h="569595">
                <a:moveTo>
                  <a:pt x="0" y="1492"/>
                </a:moveTo>
                <a:lnTo>
                  <a:pt x="8320" y="811"/>
                </a:lnTo>
                <a:lnTo>
                  <a:pt x="16654" y="314"/>
                </a:lnTo>
                <a:lnTo>
                  <a:pt x="24996" y="0"/>
                </a:lnTo>
                <a:lnTo>
                  <a:pt x="46456" y="569555"/>
                </a:lnTo>
                <a:lnTo>
                  <a:pt x="0" y="1492"/>
                </a:lnTo>
                <a:close/>
              </a:path>
            </a:pathLst>
          </a:custGeom>
          <a:ln w="9524">
            <a:solidFill>
              <a:srgbClr val="CA5C00"/>
            </a:solidFill>
          </a:ln>
        </p:spPr>
        <p:txBody>
          <a:bodyPr wrap="square" lIns="0" tIns="0" rIns="0" bIns="0" rtlCol="0"/>
          <a:lstStyle/>
          <a:p>
            <a:endParaRPr/>
          </a:p>
        </p:txBody>
      </p:sp>
      <p:sp>
        <p:nvSpPr>
          <p:cNvPr id="148" name="object 15">
            <a:extLst>
              <a:ext uri="{FF2B5EF4-FFF2-40B4-BE49-F238E27FC236}">
                <a16:creationId xmlns:a16="http://schemas.microsoft.com/office/drawing/2014/main" id="{FBCAA1F9-486C-4A14-9E0D-DBEEDD0409A7}"/>
              </a:ext>
            </a:extLst>
          </p:cNvPr>
          <p:cNvSpPr/>
          <p:nvPr/>
        </p:nvSpPr>
        <p:spPr>
          <a:xfrm>
            <a:off x="3551403" y="5218088"/>
            <a:ext cx="21590" cy="570230"/>
          </a:xfrm>
          <a:custGeom>
            <a:avLst/>
            <a:gdLst/>
            <a:ahLst/>
            <a:cxnLst/>
            <a:rect l="l" t="t" r="r" b="b"/>
            <a:pathLst>
              <a:path w="21589" h="570229">
                <a:moveTo>
                  <a:pt x="21460" y="0"/>
                </a:moveTo>
                <a:lnTo>
                  <a:pt x="14305" y="0"/>
                </a:lnTo>
                <a:lnTo>
                  <a:pt x="0" y="403"/>
                </a:lnTo>
                <a:lnTo>
                  <a:pt x="21460" y="569959"/>
                </a:lnTo>
                <a:lnTo>
                  <a:pt x="21460" y="0"/>
                </a:lnTo>
                <a:close/>
              </a:path>
            </a:pathLst>
          </a:custGeom>
          <a:solidFill>
            <a:srgbClr val="FF2600"/>
          </a:solidFill>
        </p:spPr>
        <p:txBody>
          <a:bodyPr wrap="square" lIns="0" tIns="0" rIns="0" bIns="0" rtlCol="0"/>
          <a:lstStyle/>
          <a:p>
            <a:endParaRPr/>
          </a:p>
        </p:txBody>
      </p:sp>
      <p:sp>
        <p:nvSpPr>
          <p:cNvPr id="149" name="object 16">
            <a:extLst>
              <a:ext uri="{FF2B5EF4-FFF2-40B4-BE49-F238E27FC236}">
                <a16:creationId xmlns:a16="http://schemas.microsoft.com/office/drawing/2014/main" id="{C06FDD3D-C5CC-4D26-AA48-A1FF138D044C}"/>
              </a:ext>
            </a:extLst>
          </p:cNvPr>
          <p:cNvSpPr/>
          <p:nvPr/>
        </p:nvSpPr>
        <p:spPr>
          <a:xfrm>
            <a:off x="3551403" y="5218088"/>
            <a:ext cx="21590" cy="570230"/>
          </a:xfrm>
          <a:custGeom>
            <a:avLst/>
            <a:gdLst/>
            <a:ahLst/>
            <a:cxnLst/>
            <a:rect l="l" t="t" r="r" b="b"/>
            <a:pathLst>
              <a:path w="21589" h="570229">
                <a:moveTo>
                  <a:pt x="0" y="404"/>
                </a:moveTo>
                <a:lnTo>
                  <a:pt x="7150" y="134"/>
                </a:lnTo>
                <a:lnTo>
                  <a:pt x="14305" y="0"/>
                </a:lnTo>
                <a:lnTo>
                  <a:pt x="21460" y="0"/>
                </a:lnTo>
                <a:lnTo>
                  <a:pt x="21460" y="569959"/>
                </a:lnTo>
                <a:lnTo>
                  <a:pt x="0" y="404"/>
                </a:lnTo>
                <a:close/>
              </a:path>
            </a:pathLst>
          </a:custGeom>
          <a:ln w="9524">
            <a:solidFill>
              <a:srgbClr val="CA1B00"/>
            </a:solidFill>
          </a:ln>
        </p:spPr>
        <p:txBody>
          <a:bodyPr wrap="square" lIns="0" tIns="0" rIns="0" bIns="0" rtlCol="0"/>
          <a:lstStyle/>
          <a:p>
            <a:endParaRPr/>
          </a:p>
        </p:txBody>
      </p:sp>
      <p:sp>
        <p:nvSpPr>
          <p:cNvPr id="150" name="object 17">
            <a:extLst>
              <a:ext uri="{FF2B5EF4-FFF2-40B4-BE49-F238E27FC236}">
                <a16:creationId xmlns:a16="http://schemas.microsoft.com/office/drawing/2014/main" id="{A0B69346-F4D8-40FB-A5BF-054C8B7E6508}"/>
              </a:ext>
            </a:extLst>
          </p:cNvPr>
          <p:cNvSpPr/>
          <p:nvPr/>
        </p:nvSpPr>
        <p:spPr>
          <a:xfrm>
            <a:off x="3540179" y="4875614"/>
            <a:ext cx="125095" cy="343535"/>
          </a:xfrm>
          <a:custGeom>
            <a:avLst/>
            <a:gdLst/>
            <a:ahLst/>
            <a:cxnLst/>
            <a:rect l="l" t="t" r="r" b="b"/>
            <a:pathLst>
              <a:path w="125094" h="343535">
                <a:moveTo>
                  <a:pt x="0" y="343487"/>
                </a:moveTo>
                <a:lnTo>
                  <a:pt x="0" y="74815"/>
                </a:lnTo>
              </a:path>
              <a:path w="125094" h="343535">
                <a:moveTo>
                  <a:pt x="0" y="74815"/>
                </a:moveTo>
                <a:lnTo>
                  <a:pt x="0" y="0"/>
                </a:lnTo>
              </a:path>
              <a:path w="125094" h="343535">
                <a:moveTo>
                  <a:pt x="20781" y="340822"/>
                </a:moveTo>
                <a:lnTo>
                  <a:pt x="49876" y="286789"/>
                </a:lnTo>
              </a:path>
              <a:path w="125094" h="343535">
                <a:moveTo>
                  <a:pt x="49876" y="286789"/>
                </a:moveTo>
                <a:lnTo>
                  <a:pt x="124690" y="286789"/>
                </a:lnTo>
              </a:path>
            </a:pathLst>
          </a:custGeom>
          <a:ln w="9524">
            <a:solidFill>
              <a:srgbClr val="000000"/>
            </a:solidFill>
          </a:ln>
        </p:spPr>
        <p:txBody>
          <a:bodyPr wrap="square" lIns="0" tIns="0" rIns="0" bIns="0" rtlCol="0"/>
          <a:lstStyle/>
          <a:p>
            <a:endParaRPr/>
          </a:p>
        </p:txBody>
      </p:sp>
      <p:sp>
        <p:nvSpPr>
          <p:cNvPr id="69" name="object 65">
            <a:extLst>
              <a:ext uri="{FF2B5EF4-FFF2-40B4-BE49-F238E27FC236}">
                <a16:creationId xmlns:a16="http://schemas.microsoft.com/office/drawing/2014/main" id="{3C794F36-81F3-49BE-99E0-8C2E960875E6}"/>
              </a:ext>
            </a:extLst>
          </p:cNvPr>
          <p:cNvSpPr txBox="1"/>
          <p:nvPr/>
        </p:nvSpPr>
        <p:spPr>
          <a:xfrm>
            <a:off x="6446287" y="2952220"/>
            <a:ext cx="391795" cy="208279"/>
          </a:xfrm>
          <a:prstGeom prst="rect">
            <a:avLst/>
          </a:prstGeom>
        </p:spPr>
        <p:txBody>
          <a:bodyPr vert="horz" wrap="square" lIns="0" tIns="12700" rIns="0" bIns="0" rtlCol="0">
            <a:spAutoFit/>
          </a:bodyPr>
          <a:lstStyle/>
          <a:p>
            <a:pPr>
              <a:lnSpc>
                <a:spcPct val="100000"/>
              </a:lnSpc>
              <a:spcBef>
                <a:spcPts val="100"/>
              </a:spcBef>
            </a:pPr>
            <a:r>
              <a:rPr sz="1200" spc="-10" dirty="0">
                <a:latin typeface="Calibri"/>
                <a:cs typeface="Calibri"/>
              </a:rPr>
              <a:t>20,2%</a:t>
            </a:r>
            <a:endParaRPr sz="1200">
              <a:latin typeface="Calibri"/>
              <a:cs typeface="Calibri"/>
            </a:endParaRPr>
          </a:p>
        </p:txBody>
      </p:sp>
      <p:sp>
        <p:nvSpPr>
          <p:cNvPr id="70" name="object 66">
            <a:extLst>
              <a:ext uri="{FF2B5EF4-FFF2-40B4-BE49-F238E27FC236}">
                <a16:creationId xmlns:a16="http://schemas.microsoft.com/office/drawing/2014/main" id="{520120C2-74EA-4F5F-9440-EAD1A55A7853}"/>
              </a:ext>
            </a:extLst>
          </p:cNvPr>
          <p:cNvSpPr txBox="1"/>
          <p:nvPr/>
        </p:nvSpPr>
        <p:spPr>
          <a:xfrm>
            <a:off x="6573287" y="2106400"/>
            <a:ext cx="441325" cy="508000"/>
          </a:xfrm>
          <a:prstGeom prst="rect">
            <a:avLst/>
          </a:prstGeom>
        </p:spPr>
        <p:txBody>
          <a:bodyPr vert="horz" wrap="square" lIns="0" tIns="71120" rIns="0" bIns="0" rtlCol="0">
            <a:spAutoFit/>
          </a:bodyPr>
          <a:lstStyle/>
          <a:p>
            <a:pPr marR="5080" algn="r">
              <a:lnSpc>
                <a:spcPct val="100000"/>
              </a:lnSpc>
              <a:spcBef>
                <a:spcPts val="560"/>
              </a:spcBef>
            </a:pPr>
            <a:r>
              <a:rPr sz="1200" spc="-20" dirty="0">
                <a:latin typeface="Calibri"/>
                <a:cs typeface="Calibri"/>
              </a:rPr>
              <a:t>1,1%</a:t>
            </a:r>
            <a:endParaRPr sz="1200">
              <a:latin typeface="Calibri"/>
              <a:cs typeface="Calibri"/>
            </a:endParaRPr>
          </a:p>
          <a:p>
            <a:pPr marR="54610" algn="r">
              <a:lnSpc>
                <a:spcPct val="100000"/>
              </a:lnSpc>
              <a:spcBef>
                <a:spcPts val="459"/>
              </a:spcBef>
            </a:pPr>
            <a:r>
              <a:rPr sz="1200" spc="-20" dirty="0">
                <a:latin typeface="Calibri"/>
                <a:cs typeface="Calibri"/>
              </a:rPr>
              <a:t>10,1%</a:t>
            </a:r>
            <a:endParaRPr sz="1200">
              <a:latin typeface="Calibri"/>
              <a:cs typeface="Calibri"/>
            </a:endParaRPr>
          </a:p>
        </p:txBody>
      </p:sp>
      <p:sp>
        <p:nvSpPr>
          <p:cNvPr id="71" name="object 67">
            <a:extLst>
              <a:ext uri="{FF2B5EF4-FFF2-40B4-BE49-F238E27FC236}">
                <a16:creationId xmlns:a16="http://schemas.microsoft.com/office/drawing/2014/main" id="{FFDCC366-F930-4979-9DFC-9FC55F144614}"/>
              </a:ext>
            </a:extLst>
          </p:cNvPr>
          <p:cNvSpPr txBox="1"/>
          <p:nvPr/>
        </p:nvSpPr>
        <p:spPr>
          <a:xfrm>
            <a:off x="7246386" y="2215620"/>
            <a:ext cx="314325" cy="208279"/>
          </a:xfrm>
          <a:prstGeom prst="rect">
            <a:avLst/>
          </a:prstGeom>
        </p:spPr>
        <p:txBody>
          <a:bodyPr vert="horz" wrap="square" lIns="0" tIns="12700" rIns="0" bIns="0" rtlCol="0">
            <a:spAutoFit/>
          </a:bodyPr>
          <a:lstStyle/>
          <a:p>
            <a:pPr>
              <a:lnSpc>
                <a:spcPct val="100000"/>
              </a:lnSpc>
              <a:spcBef>
                <a:spcPts val="100"/>
              </a:spcBef>
            </a:pPr>
            <a:r>
              <a:rPr sz="1200" spc="-20" dirty="0">
                <a:latin typeface="Calibri"/>
                <a:cs typeface="Calibri"/>
              </a:rPr>
              <a:t>2,0%</a:t>
            </a:r>
            <a:endParaRPr sz="1200">
              <a:latin typeface="Calibri"/>
              <a:cs typeface="Calibri"/>
            </a:endParaRPr>
          </a:p>
        </p:txBody>
      </p:sp>
      <p:sp>
        <p:nvSpPr>
          <p:cNvPr id="72" name="object 68">
            <a:extLst>
              <a:ext uri="{FF2B5EF4-FFF2-40B4-BE49-F238E27FC236}">
                <a16:creationId xmlns:a16="http://schemas.microsoft.com/office/drawing/2014/main" id="{603C3452-A70B-4AE5-BA7E-E8EE8CD81D6D}"/>
              </a:ext>
            </a:extLst>
          </p:cNvPr>
          <p:cNvSpPr txBox="1"/>
          <p:nvPr/>
        </p:nvSpPr>
        <p:spPr>
          <a:xfrm>
            <a:off x="3790865" y="2088620"/>
            <a:ext cx="4744085" cy="245110"/>
          </a:xfrm>
          <a:prstGeom prst="rect">
            <a:avLst/>
          </a:prstGeom>
        </p:spPr>
        <p:txBody>
          <a:bodyPr vert="horz" wrap="square" lIns="0" tIns="17780" rIns="0" bIns="0" rtlCol="0">
            <a:spAutoFit/>
          </a:bodyPr>
          <a:lstStyle/>
          <a:p>
            <a:pPr>
              <a:lnSpc>
                <a:spcPct val="100000"/>
              </a:lnSpc>
              <a:spcBef>
                <a:spcPts val="140"/>
              </a:spcBef>
              <a:tabLst>
                <a:tab pos="3966210" algn="l"/>
              </a:tabLst>
            </a:pPr>
            <a:r>
              <a:rPr sz="1400" b="1" dirty="0">
                <a:latin typeface="Calibri"/>
                <a:cs typeface="Calibri"/>
              </a:rPr>
              <a:t>Avril</a:t>
            </a:r>
            <a:r>
              <a:rPr sz="1400" b="1" spc="40" dirty="0">
                <a:latin typeface="Calibri"/>
                <a:cs typeface="Calibri"/>
              </a:rPr>
              <a:t> </a:t>
            </a:r>
            <a:r>
              <a:rPr sz="1400" b="1" spc="-20" dirty="0">
                <a:latin typeface="Calibri"/>
                <a:cs typeface="Calibri"/>
              </a:rPr>
              <a:t>2013</a:t>
            </a:r>
            <a:r>
              <a:rPr sz="1400" b="1" dirty="0">
                <a:latin typeface="Calibri"/>
                <a:cs typeface="Calibri"/>
              </a:rPr>
              <a:t>	Avril</a:t>
            </a:r>
            <a:r>
              <a:rPr sz="1400" b="1" spc="40" dirty="0">
                <a:latin typeface="Calibri"/>
                <a:cs typeface="Calibri"/>
              </a:rPr>
              <a:t> </a:t>
            </a:r>
            <a:r>
              <a:rPr sz="1400" b="1" spc="-20" dirty="0">
                <a:latin typeface="Calibri"/>
                <a:cs typeface="Calibri"/>
              </a:rPr>
              <a:t>2014</a:t>
            </a:r>
            <a:endParaRPr sz="1400">
              <a:latin typeface="Calibri"/>
              <a:cs typeface="Calibri"/>
            </a:endParaRPr>
          </a:p>
        </p:txBody>
      </p:sp>
      <p:grpSp>
        <p:nvGrpSpPr>
          <p:cNvPr id="73" name="object 69">
            <a:extLst>
              <a:ext uri="{FF2B5EF4-FFF2-40B4-BE49-F238E27FC236}">
                <a16:creationId xmlns:a16="http://schemas.microsoft.com/office/drawing/2014/main" id="{94361344-F85F-44F9-946B-FA93FBA97D48}"/>
              </a:ext>
            </a:extLst>
          </p:cNvPr>
          <p:cNvGrpSpPr/>
          <p:nvPr/>
        </p:nvGrpSpPr>
        <p:grpSpPr>
          <a:xfrm>
            <a:off x="8731754" y="2561819"/>
            <a:ext cx="93345" cy="1236345"/>
            <a:chOff x="7151615" y="2298441"/>
            <a:chExt cx="93345" cy="1236345"/>
          </a:xfrm>
        </p:grpSpPr>
        <p:sp>
          <p:nvSpPr>
            <p:cNvPr id="74" name="object 70">
              <a:extLst>
                <a:ext uri="{FF2B5EF4-FFF2-40B4-BE49-F238E27FC236}">
                  <a16:creationId xmlns:a16="http://schemas.microsoft.com/office/drawing/2014/main" id="{A77F2E33-178C-4834-B38D-F990641B65D5}"/>
                </a:ext>
              </a:extLst>
            </p:cNvPr>
            <p:cNvSpPr/>
            <p:nvPr/>
          </p:nvSpPr>
          <p:spPr>
            <a:xfrm>
              <a:off x="7156377" y="2303203"/>
              <a:ext cx="83820" cy="83820"/>
            </a:xfrm>
            <a:custGeom>
              <a:avLst/>
              <a:gdLst/>
              <a:ahLst/>
              <a:cxnLst/>
              <a:rect l="l" t="t" r="r" b="b"/>
              <a:pathLst>
                <a:path w="83820" h="83819">
                  <a:moveTo>
                    <a:pt x="83695" y="0"/>
                  </a:moveTo>
                  <a:lnTo>
                    <a:pt x="0" y="0"/>
                  </a:lnTo>
                  <a:lnTo>
                    <a:pt x="0" y="83696"/>
                  </a:lnTo>
                  <a:lnTo>
                    <a:pt x="83695" y="83696"/>
                  </a:lnTo>
                  <a:lnTo>
                    <a:pt x="83695" y="0"/>
                  </a:lnTo>
                  <a:close/>
                </a:path>
              </a:pathLst>
            </a:custGeom>
            <a:solidFill>
              <a:srgbClr val="615660"/>
            </a:solidFill>
          </p:spPr>
          <p:txBody>
            <a:bodyPr wrap="square" lIns="0" tIns="0" rIns="0" bIns="0" rtlCol="0"/>
            <a:lstStyle/>
            <a:p>
              <a:endParaRPr/>
            </a:p>
          </p:txBody>
        </p:sp>
        <p:sp>
          <p:nvSpPr>
            <p:cNvPr id="75" name="object 71">
              <a:extLst>
                <a:ext uri="{FF2B5EF4-FFF2-40B4-BE49-F238E27FC236}">
                  <a16:creationId xmlns:a16="http://schemas.microsoft.com/office/drawing/2014/main" id="{9AA412A8-0E64-4632-A2C9-178E7519D726}"/>
                </a:ext>
              </a:extLst>
            </p:cNvPr>
            <p:cNvSpPr/>
            <p:nvPr/>
          </p:nvSpPr>
          <p:spPr>
            <a:xfrm>
              <a:off x="7156377" y="2303203"/>
              <a:ext cx="83820" cy="83820"/>
            </a:xfrm>
            <a:custGeom>
              <a:avLst/>
              <a:gdLst/>
              <a:ahLst/>
              <a:cxnLst/>
              <a:rect l="l" t="t" r="r" b="b"/>
              <a:pathLst>
                <a:path w="83820" h="83819">
                  <a:moveTo>
                    <a:pt x="0" y="0"/>
                  </a:moveTo>
                  <a:lnTo>
                    <a:pt x="83695" y="0"/>
                  </a:lnTo>
                  <a:lnTo>
                    <a:pt x="83695" y="83696"/>
                  </a:lnTo>
                  <a:lnTo>
                    <a:pt x="0" y="83696"/>
                  </a:lnTo>
                  <a:lnTo>
                    <a:pt x="0" y="0"/>
                  </a:lnTo>
                  <a:close/>
                </a:path>
              </a:pathLst>
            </a:custGeom>
            <a:ln w="9524">
              <a:solidFill>
                <a:srgbClr val="463D45"/>
              </a:solidFill>
            </a:ln>
          </p:spPr>
          <p:txBody>
            <a:bodyPr wrap="square" lIns="0" tIns="0" rIns="0" bIns="0" rtlCol="0"/>
            <a:lstStyle/>
            <a:p>
              <a:endParaRPr/>
            </a:p>
          </p:txBody>
        </p:sp>
        <p:sp>
          <p:nvSpPr>
            <p:cNvPr id="76" name="object 72">
              <a:extLst>
                <a:ext uri="{FF2B5EF4-FFF2-40B4-BE49-F238E27FC236}">
                  <a16:creationId xmlns:a16="http://schemas.microsoft.com/office/drawing/2014/main" id="{BE2DEF1B-A18F-4E2E-9563-F9AB3ECFB9E9}"/>
                </a:ext>
              </a:extLst>
            </p:cNvPr>
            <p:cNvSpPr/>
            <p:nvPr/>
          </p:nvSpPr>
          <p:spPr>
            <a:xfrm>
              <a:off x="7156377" y="2588934"/>
              <a:ext cx="83820" cy="83820"/>
            </a:xfrm>
            <a:custGeom>
              <a:avLst/>
              <a:gdLst/>
              <a:ahLst/>
              <a:cxnLst/>
              <a:rect l="l" t="t" r="r" b="b"/>
              <a:pathLst>
                <a:path w="83820" h="83819">
                  <a:moveTo>
                    <a:pt x="83695" y="0"/>
                  </a:moveTo>
                  <a:lnTo>
                    <a:pt x="0" y="0"/>
                  </a:lnTo>
                  <a:lnTo>
                    <a:pt x="0" y="83696"/>
                  </a:lnTo>
                  <a:lnTo>
                    <a:pt x="83695" y="83696"/>
                  </a:lnTo>
                  <a:lnTo>
                    <a:pt x="83695" y="0"/>
                  </a:lnTo>
                  <a:close/>
                </a:path>
              </a:pathLst>
            </a:custGeom>
            <a:solidFill>
              <a:srgbClr val="FFD441"/>
            </a:solidFill>
          </p:spPr>
          <p:txBody>
            <a:bodyPr wrap="square" lIns="0" tIns="0" rIns="0" bIns="0" rtlCol="0"/>
            <a:lstStyle/>
            <a:p>
              <a:endParaRPr/>
            </a:p>
          </p:txBody>
        </p:sp>
        <p:sp>
          <p:nvSpPr>
            <p:cNvPr id="77" name="object 73">
              <a:extLst>
                <a:ext uri="{FF2B5EF4-FFF2-40B4-BE49-F238E27FC236}">
                  <a16:creationId xmlns:a16="http://schemas.microsoft.com/office/drawing/2014/main" id="{D7495F7A-9950-4FB7-9DBA-5248D28F03B2}"/>
                </a:ext>
              </a:extLst>
            </p:cNvPr>
            <p:cNvSpPr/>
            <p:nvPr/>
          </p:nvSpPr>
          <p:spPr>
            <a:xfrm>
              <a:off x="7156377" y="2588934"/>
              <a:ext cx="83820" cy="83820"/>
            </a:xfrm>
            <a:custGeom>
              <a:avLst/>
              <a:gdLst/>
              <a:ahLst/>
              <a:cxnLst/>
              <a:rect l="l" t="t" r="r" b="b"/>
              <a:pathLst>
                <a:path w="83820" h="83819">
                  <a:moveTo>
                    <a:pt x="0" y="0"/>
                  </a:moveTo>
                  <a:lnTo>
                    <a:pt x="83695" y="0"/>
                  </a:lnTo>
                  <a:lnTo>
                    <a:pt x="83695" y="83696"/>
                  </a:lnTo>
                  <a:lnTo>
                    <a:pt x="0" y="83696"/>
                  </a:lnTo>
                  <a:lnTo>
                    <a:pt x="0" y="0"/>
                  </a:lnTo>
                  <a:close/>
                </a:path>
              </a:pathLst>
            </a:custGeom>
            <a:ln w="9524">
              <a:solidFill>
                <a:srgbClr val="C8A326"/>
              </a:solidFill>
            </a:ln>
          </p:spPr>
          <p:txBody>
            <a:bodyPr wrap="square" lIns="0" tIns="0" rIns="0" bIns="0" rtlCol="0"/>
            <a:lstStyle/>
            <a:p>
              <a:endParaRPr/>
            </a:p>
          </p:txBody>
        </p:sp>
        <p:sp>
          <p:nvSpPr>
            <p:cNvPr id="78" name="object 74">
              <a:extLst>
                <a:ext uri="{FF2B5EF4-FFF2-40B4-BE49-F238E27FC236}">
                  <a16:creationId xmlns:a16="http://schemas.microsoft.com/office/drawing/2014/main" id="{D3EA1655-87B3-4F59-A1FB-C617D5299DC7}"/>
                </a:ext>
              </a:extLst>
            </p:cNvPr>
            <p:cNvSpPr/>
            <p:nvPr/>
          </p:nvSpPr>
          <p:spPr>
            <a:xfrm>
              <a:off x="7156377" y="2874666"/>
              <a:ext cx="83820" cy="83820"/>
            </a:xfrm>
            <a:custGeom>
              <a:avLst/>
              <a:gdLst/>
              <a:ahLst/>
              <a:cxnLst/>
              <a:rect l="l" t="t" r="r" b="b"/>
              <a:pathLst>
                <a:path w="83820" h="83819">
                  <a:moveTo>
                    <a:pt x="83695" y="0"/>
                  </a:moveTo>
                  <a:lnTo>
                    <a:pt x="0" y="0"/>
                  </a:lnTo>
                  <a:lnTo>
                    <a:pt x="0" y="83695"/>
                  </a:lnTo>
                  <a:lnTo>
                    <a:pt x="83695" y="83695"/>
                  </a:lnTo>
                  <a:lnTo>
                    <a:pt x="83695" y="0"/>
                  </a:lnTo>
                  <a:close/>
                </a:path>
              </a:pathLst>
            </a:custGeom>
            <a:solidFill>
              <a:srgbClr val="C0C0C0"/>
            </a:solidFill>
          </p:spPr>
          <p:txBody>
            <a:bodyPr wrap="square" lIns="0" tIns="0" rIns="0" bIns="0" rtlCol="0"/>
            <a:lstStyle/>
            <a:p>
              <a:endParaRPr/>
            </a:p>
          </p:txBody>
        </p:sp>
        <p:sp>
          <p:nvSpPr>
            <p:cNvPr id="79" name="object 75">
              <a:extLst>
                <a:ext uri="{FF2B5EF4-FFF2-40B4-BE49-F238E27FC236}">
                  <a16:creationId xmlns:a16="http://schemas.microsoft.com/office/drawing/2014/main" id="{E49B9C08-647F-499B-B731-C5D2BBE7A0B5}"/>
                </a:ext>
              </a:extLst>
            </p:cNvPr>
            <p:cNvSpPr/>
            <p:nvPr/>
          </p:nvSpPr>
          <p:spPr>
            <a:xfrm>
              <a:off x="7156377" y="2874666"/>
              <a:ext cx="83820" cy="83820"/>
            </a:xfrm>
            <a:custGeom>
              <a:avLst/>
              <a:gdLst/>
              <a:ahLst/>
              <a:cxnLst/>
              <a:rect l="l" t="t" r="r" b="b"/>
              <a:pathLst>
                <a:path w="83820" h="83819">
                  <a:moveTo>
                    <a:pt x="0" y="0"/>
                  </a:moveTo>
                  <a:lnTo>
                    <a:pt x="83695" y="0"/>
                  </a:lnTo>
                  <a:lnTo>
                    <a:pt x="83695" y="83696"/>
                  </a:lnTo>
                  <a:lnTo>
                    <a:pt x="0" y="83696"/>
                  </a:lnTo>
                  <a:lnTo>
                    <a:pt x="0" y="0"/>
                  </a:lnTo>
                  <a:close/>
                </a:path>
              </a:pathLst>
            </a:custGeom>
            <a:ln w="9524">
              <a:solidFill>
                <a:srgbClr val="929292"/>
              </a:solidFill>
            </a:ln>
          </p:spPr>
          <p:txBody>
            <a:bodyPr wrap="square" lIns="0" tIns="0" rIns="0" bIns="0" rtlCol="0"/>
            <a:lstStyle/>
            <a:p>
              <a:endParaRPr/>
            </a:p>
          </p:txBody>
        </p:sp>
        <p:sp>
          <p:nvSpPr>
            <p:cNvPr id="80" name="object 76">
              <a:extLst>
                <a:ext uri="{FF2B5EF4-FFF2-40B4-BE49-F238E27FC236}">
                  <a16:creationId xmlns:a16="http://schemas.microsoft.com/office/drawing/2014/main" id="{5B042FEB-8EA5-4851-AA9C-CF8CBEC78151}"/>
                </a:ext>
              </a:extLst>
            </p:cNvPr>
            <p:cNvSpPr/>
            <p:nvPr/>
          </p:nvSpPr>
          <p:spPr>
            <a:xfrm>
              <a:off x="7156377" y="3160397"/>
              <a:ext cx="83820" cy="83820"/>
            </a:xfrm>
            <a:custGeom>
              <a:avLst/>
              <a:gdLst/>
              <a:ahLst/>
              <a:cxnLst/>
              <a:rect l="l" t="t" r="r" b="b"/>
              <a:pathLst>
                <a:path w="83820" h="83819">
                  <a:moveTo>
                    <a:pt x="83695" y="0"/>
                  </a:moveTo>
                  <a:lnTo>
                    <a:pt x="0" y="0"/>
                  </a:lnTo>
                  <a:lnTo>
                    <a:pt x="0" y="83695"/>
                  </a:lnTo>
                  <a:lnTo>
                    <a:pt x="83695" y="83695"/>
                  </a:lnTo>
                  <a:lnTo>
                    <a:pt x="83695" y="0"/>
                  </a:lnTo>
                  <a:close/>
                </a:path>
              </a:pathLst>
            </a:custGeom>
            <a:solidFill>
              <a:srgbClr val="FF7D00"/>
            </a:solidFill>
          </p:spPr>
          <p:txBody>
            <a:bodyPr wrap="square" lIns="0" tIns="0" rIns="0" bIns="0" rtlCol="0"/>
            <a:lstStyle/>
            <a:p>
              <a:endParaRPr/>
            </a:p>
          </p:txBody>
        </p:sp>
        <p:sp>
          <p:nvSpPr>
            <p:cNvPr id="81" name="object 77">
              <a:extLst>
                <a:ext uri="{FF2B5EF4-FFF2-40B4-BE49-F238E27FC236}">
                  <a16:creationId xmlns:a16="http://schemas.microsoft.com/office/drawing/2014/main" id="{0D7A6CB5-4517-4EB2-A8C2-DAE86A19D9B3}"/>
                </a:ext>
              </a:extLst>
            </p:cNvPr>
            <p:cNvSpPr/>
            <p:nvPr/>
          </p:nvSpPr>
          <p:spPr>
            <a:xfrm>
              <a:off x="7156377" y="3160397"/>
              <a:ext cx="83820" cy="83820"/>
            </a:xfrm>
            <a:custGeom>
              <a:avLst/>
              <a:gdLst/>
              <a:ahLst/>
              <a:cxnLst/>
              <a:rect l="l" t="t" r="r" b="b"/>
              <a:pathLst>
                <a:path w="83820" h="83819">
                  <a:moveTo>
                    <a:pt x="0" y="0"/>
                  </a:moveTo>
                  <a:lnTo>
                    <a:pt x="83695" y="0"/>
                  </a:lnTo>
                  <a:lnTo>
                    <a:pt x="83695" y="83696"/>
                  </a:lnTo>
                  <a:lnTo>
                    <a:pt x="0" y="83696"/>
                  </a:lnTo>
                  <a:lnTo>
                    <a:pt x="0" y="0"/>
                  </a:lnTo>
                  <a:close/>
                </a:path>
              </a:pathLst>
            </a:custGeom>
            <a:ln w="9524">
              <a:solidFill>
                <a:srgbClr val="CA5C00"/>
              </a:solidFill>
            </a:ln>
          </p:spPr>
          <p:txBody>
            <a:bodyPr wrap="square" lIns="0" tIns="0" rIns="0" bIns="0" rtlCol="0"/>
            <a:lstStyle/>
            <a:p>
              <a:endParaRPr/>
            </a:p>
          </p:txBody>
        </p:sp>
        <p:sp>
          <p:nvSpPr>
            <p:cNvPr id="82" name="object 78">
              <a:extLst>
                <a:ext uri="{FF2B5EF4-FFF2-40B4-BE49-F238E27FC236}">
                  <a16:creationId xmlns:a16="http://schemas.microsoft.com/office/drawing/2014/main" id="{BCE060A0-3EB6-42EE-9174-B18E36816AED}"/>
                </a:ext>
              </a:extLst>
            </p:cNvPr>
            <p:cNvSpPr/>
            <p:nvPr/>
          </p:nvSpPr>
          <p:spPr>
            <a:xfrm>
              <a:off x="7156377" y="3446128"/>
              <a:ext cx="83820" cy="83820"/>
            </a:xfrm>
            <a:custGeom>
              <a:avLst/>
              <a:gdLst/>
              <a:ahLst/>
              <a:cxnLst/>
              <a:rect l="l" t="t" r="r" b="b"/>
              <a:pathLst>
                <a:path w="83820" h="83820">
                  <a:moveTo>
                    <a:pt x="83695" y="0"/>
                  </a:moveTo>
                  <a:lnTo>
                    <a:pt x="0" y="0"/>
                  </a:lnTo>
                  <a:lnTo>
                    <a:pt x="0" y="83695"/>
                  </a:lnTo>
                  <a:lnTo>
                    <a:pt x="83695" y="83695"/>
                  </a:lnTo>
                  <a:lnTo>
                    <a:pt x="83695" y="0"/>
                  </a:lnTo>
                  <a:close/>
                </a:path>
              </a:pathLst>
            </a:custGeom>
            <a:solidFill>
              <a:srgbClr val="FF2600"/>
            </a:solidFill>
          </p:spPr>
          <p:txBody>
            <a:bodyPr wrap="square" lIns="0" tIns="0" rIns="0" bIns="0" rtlCol="0"/>
            <a:lstStyle/>
            <a:p>
              <a:endParaRPr/>
            </a:p>
          </p:txBody>
        </p:sp>
        <p:sp>
          <p:nvSpPr>
            <p:cNvPr id="83" name="object 79">
              <a:extLst>
                <a:ext uri="{FF2B5EF4-FFF2-40B4-BE49-F238E27FC236}">
                  <a16:creationId xmlns:a16="http://schemas.microsoft.com/office/drawing/2014/main" id="{A0CFBB7D-BBED-4E9B-8772-DDBF36B3F087}"/>
                </a:ext>
              </a:extLst>
            </p:cNvPr>
            <p:cNvSpPr/>
            <p:nvPr/>
          </p:nvSpPr>
          <p:spPr>
            <a:xfrm>
              <a:off x="7156377" y="3446128"/>
              <a:ext cx="83820" cy="83820"/>
            </a:xfrm>
            <a:custGeom>
              <a:avLst/>
              <a:gdLst/>
              <a:ahLst/>
              <a:cxnLst/>
              <a:rect l="l" t="t" r="r" b="b"/>
              <a:pathLst>
                <a:path w="83820" h="83820">
                  <a:moveTo>
                    <a:pt x="0" y="0"/>
                  </a:moveTo>
                  <a:lnTo>
                    <a:pt x="83695" y="0"/>
                  </a:lnTo>
                  <a:lnTo>
                    <a:pt x="83695" y="83696"/>
                  </a:lnTo>
                  <a:lnTo>
                    <a:pt x="0" y="83696"/>
                  </a:lnTo>
                  <a:lnTo>
                    <a:pt x="0" y="0"/>
                  </a:lnTo>
                  <a:close/>
                </a:path>
              </a:pathLst>
            </a:custGeom>
            <a:ln w="9524">
              <a:solidFill>
                <a:srgbClr val="CA1B00"/>
              </a:solidFill>
            </a:ln>
          </p:spPr>
          <p:txBody>
            <a:bodyPr wrap="square" lIns="0" tIns="0" rIns="0" bIns="0" rtlCol="0"/>
            <a:lstStyle/>
            <a:p>
              <a:endParaRPr/>
            </a:p>
          </p:txBody>
        </p:sp>
      </p:grpSp>
      <p:sp>
        <p:nvSpPr>
          <p:cNvPr id="84" name="object 80">
            <a:extLst>
              <a:ext uri="{FF2B5EF4-FFF2-40B4-BE49-F238E27FC236}">
                <a16:creationId xmlns:a16="http://schemas.microsoft.com/office/drawing/2014/main" id="{2A7DC839-52CE-4BEB-8DA6-D59308DBCD1E}"/>
              </a:ext>
            </a:extLst>
          </p:cNvPr>
          <p:cNvSpPr txBox="1"/>
          <p:nvPr/>
        </p:nvSpPr>
        <p:spPr>
          <a:xfrm>
            <a:off x="8855709" y="2399882"/>
            <a:ext cx="1022350" cy="1454150"/>
          </a:xfrm>
          <a:prstGeom prst="rect">
            <a:avLst/>
          </a:prstGeom>
        </p:spPr>
        <p:txBody>
          <a:bodyPr vert="horz" wrap="square" lIns="0" tIns="12700" rIns="0" bIns="0" rtlCol="0">
            <a:spAutoFit/>
          </a:bodyPr>
          <a:lstStyle/>
          <a:p>
            <a:pPr marR="516890">
              <a:lnSpc>
                <a:spcPct val="156200"/>
              </a:lnSpc>
              <a:spcBef>
                <a:spcPts val="100"/>
              </a:spcBef>
            </a:pPr>
            <a:r>
              <a:rPr sz="1200" spc="-10" dirty="0">
                <a:latin typeface="Calibri"/>
                <a:cs typeface="Calibri"/>
              </a:rPr>
              <a:t>Android </a:t>
            </a:r>
            <a:r>
              <a:rPr sz="1200" spc="-25" dirty="0">
                <a:latin typeface="Calibri"/>
                <a:cs typeface="Calibri"/>
              </a:rPr>
              <a:t>iOS</a:t>
            </a:r>
            <a:endParaRPr sz="1200">
              <a:latin typeface="Calibri"/>
              <a:cs typeface="Calibri"/>
            </a:endParaRPr>
          </a:p>
          <a:p>
            <a:pPr marR="5080">
              <a:lnSpc>
                <a:spcPct val="156200"/>
              </a:lnSpc>
            </a:pPr>
            <a:r>
              <a:rPr sz="1200" dirty="0">
                <a:latin typeface="Calibri"/>
                <a:cs typeface="Calibri"/>
              </a:rPr>
              <a:t>Windows</a:t>
            </a:r>
            <a:r>
              <a:rPr sz="1200" spc="-30" dirty="0">
                <a:latin typeface="Calibri"/>
                <a:cs typeface="Calibri"/>
              </a:rPr>
              <a:t> </a:t>
            </a:r>
            <a:r>
              <a:rPr sz="1200" spc="-20" dirty="0">
                <a:latin typeface="Calibri"/>
                <a:cs typeface="Calibri"/>
              </a:rPr>
              <a:t>Phone </a:t>
            </a:r>
            <a:r>
              <a:rPr sz="1200" spc="-10" dirty="0">
                <a:latin typeface="Calibri"/>
                <a:cs typeface="Calibri"/>
              </a:rPr>
              <a:t>Blackberry</a:t>
            </a:r>
            <a:r>
              <a:rPr sz="1200" spc="500" dirty="0">
                <a:latin typeface="Calibri"/>
                <a:cs typeface="Calibri"/>
              </a:rPr>
              <a:t> </a:t>
            </a:r>
            <a:r>
              <a:rPr sz="1200" spc="-10" dirty="0">
                <a:latin typeface="Calibri"/>
                <a:cs typeface="Calibri"/>
              </a:rPr>
              <a:t>Other</a:t>
            </a:r>
            <a:endParaRPr sz="1200">
              <a:latin typeface="Calibri"/>
              <a:cs typeface="Calibri"/>
            </a:endParaRPr>
          </a:p>
        </p:txBody>
      </p:sp>
      <p:sp>
        <p:nvSpPr>
          <p:cNvPr id="85" name="object 81">
            <a:extLst>
              <a:ext uri="{FF2B5EF4-FFF2-40B4-BE49-F238E27FC236}">
                <a16:creationId xmlns:a16="http://schemas.microsoft.com/office/drawing/2014/main" id="{1686EDB3-64BB-4BE8-A9B2-CDCCF123D71E}"/>
              </a:ext>
            </a:extLst>
          </p:cNvPr>
          <p:cNvSpPr/>
          <p:nvPr/>
        </p:nvSpPr>
        <p:spPr>
          <a:xfrm>
            <a:off x="6230386" y="1980671"/>
            <a:ext cx="3806190" cy="2039620"/>
          </a:xfrm>
          <a:custGeom>
            <a:avLst/>
            <a:gdLst/>
            <a:ahLst/>
            <a:cxnLst/>
            <a:rect l="l" t="t" r="r" b="b"/>
            <a:pathLst>
              <a:path w="3806190" h="2039620">
                <a:moveTo>
                  <a:pt x="0" y="0"/>
                </a:moveTo>
                <a:lnTo>
                  <a:pt x="3805901" y="0"/>
                </a:lnTo>
                <a:lnTo>
                  <a:pt x="3805901" y="2039287"/>
                </a:lnTo>
                <a:lnTo>
                  <a:pt x="0" y="2039287"/>
                </a:lnTo>
                <a:lnTo>
                  <a:pt x="0" y="0"/>
                </a:lnTo>
                <a:close/>
              </a:path>
            </a:pathLst>
          </a:custGeom>
          <a:ln w="9524">
            <a:solidFill>
              <a:srgbClr val="989898"/>
            </a:solidFill>
          </a:ln>
        </p:spPr>
        <p:txBody>
          <a:bodyPr wrap="square" lIns="0" tIns="0" rIns="0" bIns="0" rtlCol="0"/>
          <a:lstStyle/>
          <a:p>
            <a:endParaRPr/>
          </a:p>
        </p:txBody>
      </p:sp>
      <p:sp>
        <p:nvSpPr>
          <p:cNvPr id="86" name="object 82">
            <a:extLst>
              <a:ext uri="{FF2B5EF4-FFF2-40B4-BE49-F238E27FC236}">
                <a16:creationId xmlns:a16="http://schemas.microsoft.com/office/drawing/2014/main" id="{2584C301-186D-4A38-B9F5-C370A142C557}"/>
              </a:ext>
            </a:extLst>
          </p:cNvPr>
          <p:cNvSpPr txBox="1"/>
          <p:nvPr/>
        </p:nvSpPr>
        <p:spPr>
          <a:xfrm>
            <a:off x="3576927" y="5759450"/>
            <a:ext cx="391795" cy="208279"/>
          </a:xfrm>
          <a:prstGeom prst="rect">
            <a:avLst/>
          </a:prstGeom>
        </p:spPr>
        <p:txBody>
          <a:bodyPr vert="horz" wrap="square" lIns="0" tIns="12700" rIns="0" bIns="0" rtlCol="0">
            <a:spAutoFit/>
          </a:bodyPr>
          <a:lstStyle/>
          <a:p>
            <a:pPr>
              <a:lnSpc>
                <a:spcPct val="100000"/>
              </a:lnSpc>
              <a:spcBef>
                <a:spcPts val="100"/>
              </a:spcBef>
            </a:pPr>
            <a:r>
              <a:rPr sz="1200" spc="-10" dirty="0">
                <a:latin typeface="Calibri"/>
                <a:cs typeface="Calibri"/>
              </a:rPr>
              <a:t>51,8%</a:t>
            </a:r>
            <a:endParaRPr sz="1200">
              <a:latin typeface="Calibri"/>
              <a:cs typeface="Calibri"/>
            </a:endParaRPr>
          </a:p>
        </p:txBody>
      </p:sp>
      <p:sp>
        <p:nvSpPr>
          <p:cNvPr id="87" name="object 83">
            <a:extLst>
              <a:ext uri="{FF2B5EF4-FFF2-40B4-BE49-F238E27FC236}">
                <a16:creationId xmlns:a16="http://schemas.microsoft.com/office/drawing/2014/main" id="{B1ADF693-D16C-4827-9F6B-B7CE1A4764F1}"/>
              </a:ext>
            </a:extLst>
          </p:cNvPr>
          <p:cNvSpPr txBox="1"/>
          <p:nvPr/>
        </p:nvSpPr>
        <p:spPr>
          <a:xfrm>
            <a:off x="3005427" y="5734050"/>
            <a:ext cx="391795" cy="208279"/>
          </a:xfrm>
          <a:prstGeom prst="rect">
            <a:avLst/>
          </a:prstGeom>
        </p:spPr>
        <p:txBody>
          <a:bodyPr vert="horz" wrap="square" lIns="0" tIns="12700" rIns="0" bIns="0" rtlCol="0">
            <a:spAutoFit/>
          </a:bodyPr>
          <a:lstStyle/>
          <a:p>
            <a:pPr>
              <a:lnSpc>
                <a:spcPct val="100000"/>
              </a:lnSpc>
              <a:spcBef>
                <a:spcPts val="100"/>
              </a:spcBef>
            </a:pPr>
            <a:r>
              <a:rPr sz="1200" spc="-10" dirty="0">
                <a:latin typeface="Calibri"/>
                <a:cs typeface="Calibri"/>
              </a:rPr>
              <a:t>41,4%</a:t>
            </a:r>
            <a:endParaRPr sz="1200">
              <a:latin typeface="Calibri"/>
              <a:cs typeface="Calibri"/>
            </a:endParaRPr>
          </a:p>
        </p:txBody>
      </p:sp>
      <p:sp>
        <p:nvSpPr>
          <p:cNvPr id="88" name="object 84">
            <a:extLst>
              <a:ext uri="{FF2B5EF4-FFF2-40B4-BE49-F238E27FC236}">
                <a16:creationId xmlns:a16="http://schemas.microsoft.com/office/drawing/2014/main" id="{44A7B7E2-4795-4B78-8817-3F2111C6CAD3}"/>
              </a:ext>
            </a:extLst>
          </p:cNvPr>
          <p:cNvSpPr txBox="1"/>
          <p:nvPr/>
        </p:nvSpPr>
        <p:spPr>
          <a:xfrm>
            <a:off x="3094327" y="4946650"/>
            <a:ext cx="314325" cy="208279"/>
          </a:xfrm>
          <a:prstGeom prst="rect">
            <a:avLst/>
          </a:prstGeom>
        </p:spPr>
        <p:txBody>
          <a:bodyPr vert="horz" wrap="square" lIns="0" tIns="12700" rIns="0" bIns="0" rtlCol="0">
            <a:spAutoFit/>
          </a:bodyPr>
          <a:lstStyle/>
          <a:p>
            <a:pPr>
              <a:lnSpc>
                <a:spcPct val="100000"/>
              </a:lnSpc>
              <a:spcBef>
                <a:spcPts val="100"/>
              </a:spcBef>
            </a:pPr>
            <a:r>
              <a:rPr sz="1200" spc="-20" dirty="0">
                <a:latin typeface="Calibri"/>
                <a:cs typeface="Calibri"/>
              </a:rPr>
              <a:t>5,6%</a:t>
            </a:r>
            <a:endParaRPr sz="1200">
              <a:latin typeface="Calibri"/>
              <a:cs typeface="Calibri"/>
            </a:endParaRPr>
          </a:p>
        </p:txBody>
      </p:sp>
      <p:sp>
        <p:nvSpPr>
          <p:cNvPr id="89" name="object 85">
            <a:extLst>
              <a:ext uri="{FF2B5EF4-FFF2-40B4-BE49-F238E27FC236}">
                <a16:creationId xmlns:a16="http://schemas.microsoft.com/office/drawing/2014/main" id="{29634128-C08C-4389-99A8-BB889ED20096}"/>
              </a:ext>
            </a:extLst>
          </p:cNvPr>
          <p:cNvSpPr txBox="1"/>
          <p:nvPr/>
        </p:nvSpPr>
        <p:spPr>
          <a:xfrm>
            <a:off x="3315076" y="4654550"/>
            <a:ext cx="314325" cy="208279"/>
          </a:xfrm>
          <a:prstGeom prst="rect">
            <a:avLst/>
          </a:prstGeom>
        </p:spPr>
        <p:txBody>
          <a:bodyPr vert="horz" wrap="square" lIns="0" tIns="12700" rIns="0" bIns="0" rtlCol="0">
            <a:spAutoFit/>
          </a:bodyPr>
          <a:lstStyle/>
          <a:p>
            <a:pPr>
              <a:lnSpc>
                <a:spcPct val="100000"/>
              </a:lnSpc>
              <a:spcBef>
                <a:spcPts val="100"/>
              </a:spcBef>
            </a:pPr>
            <a:r>
              <a:rPr sz="1200" spc="-20" dirty="0">
                <a:latin typeface="Calibri"/>
                <a:cs typeface="Calibri"/>
              </a:rPr>
              <a:t>0,7%</a:t>
            </a:r>
            <a:endParaRPr sz="1200">
              <a:latin typeface="Calibri"/>
              <a:cs typeface="Calibri"/>
            </a:endParaRPr>
          </a:p>
        </p:txBody>
      </p:sp>
      <p:sp>
        <p:nvSpPr>
          <p:cNvPr id="90" name="object 86">
            <a:extLst>
              <a:ext uri="{FF2B5EF4-FFF2-40B4-BE49-F238E27FC236}">
                <a16:creationId xmlns:a16="http://schemas.microsoft.com/office/drawing/2014/main" id="{BFDCE4A8-C814-420C-A210-DFB74CF9281F}"/>
              </a:ext>
            </a:extLst>
          </p:cNvPr>
          <p:cNvSpPr txBox="1"/>
          <p:nvPr/>
        </p:nvSpPr>
        <p:spPr>
          <a:xfrm>
            <a:off x="3607176" y="4984749"/>
            <a:ext cx="314325" cy="208279"/>
          </a:xfrm>
          <a:prstGeom prst="rect">
            <a:avLst/>
          </a:prstGeom>
        </p:spPr>
        <p:txBody>
          <a:bodyPr vert="horz" wrap="square" lIns="0" tIns="12700" rIns="0" bIns="0" rtlCol="0">
            <a:spAutoFit/>
          </a:bodyPr>
          <a:lstStyle/>
          <a:p>
            <a:pPr>
              <a:lnSpc>
                <a:spcPct val="100000"/>
              </a:lnSpc>
              <a:spcBef>
                <a:spcPts val="100"/>
              </a:spcBef>
            </a:pPr>
            <a:r>
              <a:rPr sz="1200" spc="-20" dirty="0">
                <a:latin typeface="Calibri"/>
                <a:cs typeface="Calibri"/>
              </a:rPr>
              <a:t>0,6%</a:t>
            </a:r>
            <a:endParaRPr sz="1200">
              <a:latin typeface="Calibri"/>
              <a:cs typeface="Calibri"/>
            </a:endParaRPr>
          </a:p>
        </p:txBody>
      </p:sp>
      <p:sp>
        <p:nvSpPr>
          <p:cNvPr id="91" name="object 87">
            <a:extLst>
              <a:ext uri="{FF2B5EF4-FFF2-40B4-BE49-F238E27FC236}">
                <a16:creationId xmlns:a16="http://schemas.microsoft.com/office/drawing/2014/main" id="{DFD18017-60B0-4132-BAC5-1FD90973F62E}"/>
              </a:ext>
            </a:extLst>
          </p:cNvPr>
          <p:cNvSpPr txBox="1"/>
          <p:nvPr/>
        </p:nvSpPr>
        <p:spPr>
          <a:xfrm>
            <a:off x="3808878" y="4679950"/>
            <a:ext cx="777240" cy="245110"/>
          </a:xfrm>
          <a:prstGeom prst="rect">
            <a:avLst/>
          </a:prstGeom>
        </p:spPr>
        <p:txBody>
          <a:bodyPr vert="horz" wrap="square" lIns="0" tIns="17780" rIns="0" bIns="0" rtlCol="0">
            <a:spAutoFit/>
          </a:bodyPr>
          <a:lstStyle/>
          <a:p>
            <a:pPr>
              <a:lnSpc>
                <a:spcPct val="100000"/>
              </a:lnSpc>
              <a:spcBef>
                <a:spcPts val="140"/>
              </a:spcBef>
            </a:pPr>
            <a:r>
              <a:rPr sz="1400" b="1" dirty="0">
                <a:latin typeface="Calibri"/>
                <a:cs typeface="Calibri"/>
              </a:rPr>
              <a:t>Avril</a:t>
            </a:r>
            <a:r>
              <a:rPr sz="1400" b="1" spc="40" dirty="0">
                <a:latin typeface="Calibri"/>
                <a:cs typeface="Calibri"/>
              </a:rPr>
              <a:t> </a:t>
            </a:r>
            <a:r>
              <a:rPr sz="1400" b="1" spc="-20" dirty="0">
                <a:latin typeface="Calibri"/>
                <a:cs typeface="Calibri"/>
              </a:rPr>
              <a:t>2013</a:t>
            </a:r>
            <a:endParaRPr sz="1400">
              <a:latin typeface="Calibri"/>
              <a:cs typeface="Calibri"/>
            </a:endParaRPr>
          </a:p>
        </p:txBody>
      </p:sp>
      <p:grpSp>
        <p:nvGrpSpPr>
          <p:cNvPr id="92" name="object 88">
            <a:extLst>
              <a:ext uri="{FF2B5EF4-FFF2-40B4-BE49-F238E27FC236}">
                <a16:creationId xmlns:a16="http://schemas.microsoft.com/office/drawing/2014/main" id="{E0E7AE5C-20AC-411B-8BEE-CB5726F1F5B2}"/>
              </a:ext>
            </a:extLst>
          </p:cNvPr>
          <p:cNvGrpSpPr/>
          <p:nvPr/>
        </p:nvGrpSpPr>
        <p:grpSpPr>
          <a:xfrm>
            <a:off x="4782894" y="5153148"/>
            <a:ext cx="93345" cy="1236345"/>
            <a:chOff x="3202755" y="4889770"/>
            <a:chExt cx="93345" cy="1236345"/>
          </a:xfrm>
        </p:grpSpPr>
        <p:sp>
          <p:nvSpPr>
            <p:cNvPr id="93" name="object 89">
              <a:extLst>
                <a:ext uri="{FF2B5EF4-FFF2-40B4-BE49-F238E27FC236}">
                  <a16:creationId xmlns:a16="http://schemas.microsoft.com/office/drawing/2014/main" id="{08D37B71-6975-4375-8855-AE709A1C5AF8}"/>
                </a:ext>
              </a:extLst>
            </p:cNvPr>
            <p:cNvSpPr/>
            <p:nvPr/>
          </p:nvSpPr>
          <p:spPr>
            <a:xfrm>
              <a:off x="3207518" y="4894533"/>
              <a:ext cx="83820" cy="83820"/>
            </a:xfrm>
            <a:custGeom>
              <a:avLst/>
              <a:gdLst/>
              <a:ahLst/>
              <a:cxnLst/>
              <a:rect l="l" t="t" r="r" b="b"/>
              <a:pathLst>
                <a:path w="83820" h="83820">
                  <a:moveTo>
                    <a:pt x="83695" y="0"/>
                  </a:moveTo>
                  <a:lnTo>
                    <a:pt x="0" y="0"/>
                  </a:lnTo>
                  <a:lnTo>
                    <a:pt x="0" y="83695"/>
                  </a:lnTo>
                  <a:lnTo>
                    <a:pt x="83695" y="83695"/>
                  </a:lnTo>
                  <a:lnTo>
                    <a:pt x="83695" y="0"/>
                  </a:lnTo>
                  <a:close/>
                </a:path>
              </a:pathLst>
            </a:custGeom>
            <a:solidFill>
              <a:srgbClr val="615660"/>
            </a:solidFill>
          </p:spPr>
          <p:txBody>
            <a:bodyPr wrap="square" lIns="0" tIns="0" rIns="0" bIns="0" rtlCol="0"/>
            <a:lstStyle/>
            <a:p>
              <a:endParaRPr/>
            </a:p>
          </p:txBody>
        </p:sp>
        <p:sp>
          <p:nvSpPr>
            <p:cNvPr id="94" name="object 90">
              <a:extLst>
                <a:ext uri="{FF2B5EF4-FFF2-40B4-BE49-F238E27FC236}">
                  <a16:creationId xmlns:a16="http://schemas.microsoft.com/office/drawing/2014/main" id="{7D06E315-F44A-474D-8E64-C40D4F14F025}"/>
                </a:ext>
              </a:extLst>
            </p:cNvPr>
            <p:cNvSpPr/>
            <p:nvPr/>
          </p:nvSpPr>
          <p:spPr>
            <a:xfrm>
              <a:off x="3207518" y="4894533"/>
              <a:ext cx="83820" cy="83820"/>
            </a:xfrm>
            <a:custGeom>
              <a:avLst/>
              <a:gdLst/>
              <a:ahLst/>
              <a:cxnLst/>
              <a:rect l="l" t="t" r="r" b="b"/>
              <a:pathLst>
                <a:path w="83820" h="83820">
                  <a:moveTo>
                    <a:pt x="0" y="0"/>
                  </a:moveTo>
                  <a:lnTo>
                    <a:pt x="83696" y="0"/>
                  </a:lnTo>
                  <a:lnTo>
                    <a:pt x="83696" y="83696"/>
                  </a:lnTo>
                  <a:lnTo>
                    <a:pt x="0" y="83696"/>
                  </a:lnTo>
                  <a:lnTo>
                    <a:pt x="0" y="0"/>
                  </a:lnTo>
                  <a:close/>
                </a:path>
              </a:pathLst>
            </a:custGeom>
            <a:ln w="9524">
              <a:solidFill>
                <a:srgbClr val="463D45"/>
              </a:solidFill>
            </a:ln>
          </p:spPr>
          <p:txBody>
            <a:bodyPr wrap="square" lIns="0" tIns="0" rIns="0" bIns="0" rtlCol="0"/>
            <a:lstStyle/>
            <a:p>
              <a:endParaRPr/>
            </a:p>
          </p:txBody>
        </p:sp>
        <p:sp>
          <p:nvSpPr>
            <p:cNvPr id="95" name="object 91">
              <a:extLst>
                <a:ext uri="{FF2B5EF4-FFF2-40B4-BE49-F238E27FC236}">
                  <a16:creationId xmlns:a16="http://schemas.microsoft.com/office/drawing/2014/main" id="{49F4E12D-A354-4263-8E35-D0F2E33B1DD2}"/>
                </a:ext>
              </a:extLst>
            </p:cNvPr>
            <p:cNvSpPr/>
            <p:nvPr/>
          </p:nvSpPr>
          <p:spPr>
            <a:xfrm>
              <a:off x="3207518" y="5180263"/>
              <a:ext cx="83820" cy="83820"/>
            </a:xfrm>
            <a:custGeom>
              <a:avLst/>
              <a:gdLst/>
              <a:ahLst/>
              <a:cxnLst/>
              <a:rect l="l" t="t" r="r" b="b"/>
              <a:pathLst>
                <a:path w="83820" h="83820">
                  <a:moveTo>
                    <a:pt x="83695" y="0"/>
                  </a:moveTo>
                  <a:lnTo>
                    <a:pt x="0" y="0"/>
                  </a:lnTo>
                  <a:lnTo>
                    <a:pt x="0" y="83695"/>
                  </a:lnTo>
                  <a:lnTo>
                    <a:pt x="83695" y="83695"/>
                  </a:lnTo>
                  <a:lnTo>
                    <a:pt x="83695" y="0"/>
                  </a:lnTo>
                  <a:close/>
                </a:path>
              </a:pathLst>
            </a:custGeom>
            <a:solidFill>
              <a:srgbClr val="FFD441"/>
            </a:solidFill>
          </p:spPr>
          <p:txBody>
            <a:bodyPr wrap="square" lIns="0" tIns="0" rIns="0" bIns="0" rtlCol="0"/>
            <a:lstStyle/>
            <a:p>
              <a:endParaRPr/>
            </a:p>
          </p:txBody>
        </p:sp>
        <p:sp>
          <p:nvSpPr>
            <p:cNvPr id="96" name="object 92">
              <a:extLst>
                <a:ext uri="{FF2B5EF4-FFF2-40B4-BE49-F238E27FC236}">
                  <a16:creationId xmlns:a16="http://schemas.microsoft.com/office/drawing/2014/main" id="{5DACBC3D-8A6D-4187-A9B5-6074487E889A}"/>
                </a:ext>
              </a:extLst>
            </p:cNvPr>
            <p:cNvSpPr/>
            <p:nvPr/>
          </p:nvSpPr>
          <p:spPr>
            <a:xfrm>
              <a:off x="3207518" y="5180263"/>
              <a:ext cx="83820" cy="83820"/>
            </a:xfrm>
            <a:custGeom>
              <a:avLst/>
              <a:gdLst/>
              <a:ahLst/>
              <a:cxnLst/>
              <a:rect l="l" t="t" r="r" b="b"/>
              <a:pathLst>
                <a:path w="83820" h="83820">
                  <a:moveTo>
                    <a:pt x="0" y="0"/>
                  </a:moveTo>
                  <a:lnTo>
                    <a:pt x="83696" y="0"/>
                  </a:lnTo>
                  <a:lnTo>
                    <a:pt x="83696" y="83695"/>
                  </a:lnTo>
                  <a:lnTo>
                    <a:pt x="0" y="83695"/>
                  </a:lnTo>
                  <a:lnTo>
                    <a:pt x="0" y="0"/>
                  </a:lnTo>
                  <a:close/>
                </a:path>
              </a:pathLst>
            </a:custGeom>
            <a:ln w="9524">
              <a:solidFill>
                <a:srgbClr val="C8A326"/>
              </a:solidFill>
            </a:ln>
          </p:spPr>
          <p:txBody>
            <a:bodyPr wrap="square" lIns="0" tIns="0" rIns="0" bIns="0" rtlCol="0"/>
            <a:lstStyle/>
            <a:p>
              <a:endParaRPr/>
            </a:p>
          </p:txBody>
        </p:sp>
        <p:sp>
          <p:nvSpPr>
            <p:cNvPr id="97" name="object 93">
              <a:extLst>
                <a:ext uri="{FF2B5EF4-FFF2-40B4-BE49-F238E27FC236}">
                  <a16:creationId xmlns:a16="http://schemas.microsoft.com/office/drawing/2014/main" id="{AAEFF528-0997-4AFB-AFC4-9A3099C5E953}"/>
                </a:ext>
              </a:extLst>
            </p:cNvPr>
            <p:cNvSpPr/>
            <p:nvPr/>
          </p:nvSpPr>
          <p:spPr>
            <a:xfrm>
              <a:off x="3207518" y="5465994"/>
              <a:ext cx="83820" cy="83820"/>
            </a:xfrm>
            <a:custGeom>
              <a:avLst/>
              <a:gdLst/>
              <a:ahLst/>
              <a:cxnLst/>
              <a:rect l="l" t="t" r="r" b="b"/>
              <a:pathLst>
                <a:path w="83820" h="83820">
                  <a:moveTo>
                    <a:pt x="83695" y="0"/>
                  </a:moveTo>
                  <a:lnTo>
                    <a:pt x="0" y="0"/>
                  </a:lnTo>
                  <a:lnTo>
                    <a:pt x="0" y="83695"/>
                  </a:lnTo>
                  <a:lnTo>
                    <a:pt x="83695" y="83695"/>
                  </a:lnTo>
                  <a:lnTo>
                    <a:pt x="83695" y="0"/>
                  </a:lnTo>
                  <a:close/>
                </a:path>
              </a:pathLst>
            </a:custGeom>
            <a:solidFill>
              <a:srgbClr val="C0C0C0"/>
            </a:solidFill>
          </p:spPr>
          <p:txBody>
            <a:bodyPr wrap="square" lIns="0" tIns="0" rIns="0" bIns="0" rtlCol="0"/>
            <a:lstStyle/>
            <a:p>
              <a:endParaRPr/>
            </a:p>
          </p:txBody>
        </p:sp>
        <p:sp>
          <p:nvSpPr>
            <p:cNvPr id="98" name="object 94">
              <a:extLst>
                <a:ext uri="{FF2B5EF4-FFF2-40B4-BE49-F238E27FC236}">
                  <a16:creationId xmlns:a16="http://schemas.microsoft.com/office/drawing/2014/main" id="{65A5C8C0-3675-4881-B6B6-B5C4428D0F34}"/>
                </a:ext>
              </a:extLst>
            </p:cNvPr>
            <p:cNvSpPr/>
            <p:nvPr/>
          </p:nvSpPr>
          <p:spPr>
            <a:xfrm>
              <a:off x="3207518" y="5465994"/>
              <a:ext cx="83820" cy="83820"/>
            </a:xfrm>
            <a:custGeom>
              <a:avLst/>
              <a:gdLst/>
              <a:ahLst/>
              <a:cxnLst/>
              <a:rect l="l" t="t" r="r" b="b"/>
              <a:pathLst>
                <a:path w="83820" h="83820">
                  <a:moveTo>
                    <a:pt x="0" y="0"/>
                  </a:moveTo>
                  <a:lnTo>
                    <a:pt x="83696" y="0"/>
                  </a:lnTo>
                  <a:lnTo>
                    <a:pt x="83696" y="83695"/>
                  </a:lnTo>
                  <a:lnTo>
                    <a:pt x="0" y="83695"/>
                  </a:lnTo>
                  <a:lnTo>
                    <a:pt x="0" y="0"/>
                  </a:lnTo>
                  <a:close/>
                </a:path>
              </a:pathLst>
            </a:custGeom>
            <a:ln w="9524">
              <a:solidFill>
                <a:srgbClr val="929292"/>
              </a:solidFill>
            </a:ln>
          </p:spPr>
          <p:txBody>
            <a:bodyPr wrap="square" lIns="0" tIns="0" rIns="0" bIns="0" rtlCol="0"/>
            <a:lstStyle/>
            <a:p>
              <a:endParaRPr/>
            </a:p>
          </p:txBody>
        </p:sp>
        <p:sp>
          <p:nvSpPr>
            <p:cNvPr id="99" name="object 95">
              <a:extLst>
                <a:ext uri="{FF2B5EF4-FFF2-40B4-BE49-F238E27FC236}">
                  <a16:creationId xmlns:a16="http://schemas.microsoft.com/office/drawing/2014/main" id="{47483954-3B31-4E8D-B456-B43DC4954F3C}"/>
                </a:ext>
              </a:extLst>
            </p:cNvPr>
            <p:cNvSpPr/>
            <p:nvPr/>
          </p:nvSpPr>
          <p:spPr>
            <a:xfrm>
              <a:off x="3207518" y="5751725"/>
              <a:ext cx="83820" cy="83820"/>
            </a:xfrm>
            <a:custGeom>
              <a:avLst/>
              <a:gdLst/>
              <a:ahLst/>
              <a:cxnLst/>
              <a:rect l="l" t="t" r="r" b="b"/>
              <a:pathLst>
                <a:path w="83820" h="83820">
                  <a:moveTo>
                    <a:pt x="83695" y="0"/>
                  </a:moveTo>
                  <a:lnTo>
                    <a:pt x="0" y="0"/>
                  </a:lnTo>
                  <a:lnTo>
                    <a:pt x="0" y="83696"/>
                  </a:lnTo>
                  <a:lnTo>
                    <a:pt x="83695" y="83696"/>
                  </a:lnTo>
                  <a:lnTo>
                    <a:pt x="83695" y="0"/>
                  </a:lnTo>
                  <a:close/>
                </a:path>
              </a:pathLst>
            </a:custGeom>
            <a:solidFill>
              <a:srgbClr val="FF7D00"/>
            </a:solidFill>
          </p:spPr>
          <p:txBody>
            <a:bodyPr wrap="square" lIns="0" tIns="0" rIns="0" bIns="0" rtlCol="0"/>
            <a:lstStyle/>
            <a:p>
              <a:endParaRPr/>
            </a:p>
          </p:txBody>
        </p:sp>
        <p:sp>
          <p:nvSpPr>
            <p:cNvPr id="100" name="object 96">
              <a:extLst>
                <a:ext uri="{FF2B5EF4-FFF2-40B4-BE49-F238E27FC236}">
                  <a16:creationId xmlns:a16="http://schemas.microsoft.com/office/drawing/2014/main" id="{BEFAFC0B-E810-426E-A477-6FEC427BD86C}"/>
                </a:ext>
              </a:extLst>
            </p:cNvPr>
            <p:cNvSpPr/>
            <p:nvPr/>
          </p:nvSpPr>
          <p:spPr>
            <a:xfrm>
              <a:off x="3207518" y="5751725"/>
              <a:ext cx="83820" cy="83820"/>
            </a:xfrm>
            <a:custGeom>
              <a:avLst/>
              <a:gdLst/>
              <a:ahLst/>
              <a:cxnLst/>
              <a:rect l="l" t="t" r="r" b="b"/>
              <a:pathLst>
                <a:path w="83820" h="83820">
                  <a:moveTo>
                    <a:pt x="0" y="0"/>
                  </a:moveTo>
                  <a:lnTo>
                    <a:pt x="83696" y="0"/>
                  </a:lnTo>
                  <a:lnTo>
                    <a:pt x="83696" y="83695"/>
                  </a:lnTo>
                  <a:lnTo>
                    <a:pt x="0" y="83695"/>
                  </a:lnTo>
                  <a:lnTo>
                    <a:pt x="0" y="0"/>
                  </a:lnTo>
                  <a:close/>
                </a:path>
              </a:pathLst>
            </a:custGeom>
            <a:ln w="9524">
              <a:solidFill>
                <a:srgbClr val="CA5C00"/>
              </a:solidFill>
            </a:ln>
          </p:spPr>
          <p:txBody>
            <a:bodyPr wrap="square" lIns="0" tIns="0" rIns="0" bIns="0" rtlCol="0"/>
            <a:lstStyle/>
            <a:p>
              <a:endParaRPr/>
            </a:p>
          </p:txBody>
        </p:sp>
        <p:sp>
          <p:nvSpPr>
            <p:cNvPr id="101" name="object 97">
              <a:extLst>
                <a:ext uri="{FF2B5EF4-FFF2-40B4-BE49-F238E27FC236}">
                  <a16:creationId xmlns:a16="http://schemas.microsoft.com/office/drawing/2014/main" id="{530E2F55-F483-45FB-B81C-2DE478E542DB}"/>
                </a:ext>
              </a:extLst>
            </p:cNvPr>
            <p:cNvSpPr/>
            <p:nvPr/>
          </p:nvSpPr>
          <p:spPr>
            <a:xfrm>
              <a:off x="3207518" y="6037456"/>
              <a:ext cx="83820" cy="83820"/>
            </a:xfrm>
            <a:custGeom>
              <a:avLst/>
              <a:gdLst/>
              <a:ahLst/>
              <a:cxnLst/>
              <a:rect l="l" t="t" r="r" b="b"/>
              <a:pathLst>
                <a:path w="83820" h="83820">
                  <a:moveTo>
                    <a:pt x="83695" y="0"/>
                  </a:moveTo>
                  <a:lnTo>
                    <a:pt x="0" y="0"/>
                  </a:lnTo>
                  <a:lnTo>
                    <a:pt x="0" y="83696"/>
                  </a:lnTo>
                  <a:lnTo>
                    <a:pt x="83695" y="83696"/>
                  </a:lnTo>
                  <a:lnTo>
                    <a:pt x="83695" y="0"/>
                  </a:lnTo>
                  <a:close/>
                </a:path>
              </a:pathLst>
            </a:custGeom>
            <a:solidFill>
              <a:srgbClr val="FF2600"/>
            </a:solidFill>
          </p:spPr>
          <p:txBody>
            <a:bodyPr wrap="square" lIns="0" tIns="0" rIns="0" bIns="0" rtlCol="0"/>
            <a:lstStyle/>
            <a:p>
              <a:endParaRPr/>
            </a:p>
          </p:txBody>
        </p:sp>
        <p:sp>
          <p:nvSpPr>
            <p:cNvPr id="102" name="object 98">
              <a:extLst>
                <a:ext uri="{FF2B5EF4-FFF2-40B4-BE49-F238E27FC236}">
                  <a16:creationId xmlns:a16="http://schemas.microsoft.com/office/drawing/2014/main" id="{CB540AB2-FE24-4307-A8B1-8FCECCA08FB5}"/>
                </a:ext>
              </a:extLst>
            </p:cNvPr>
            <p:cNvSpPr/>
            <p:nvPr/>
          </p:nvSpPr>
          <p:spPr>
            <a:xfrm>
              <a:off x="3207518" y="6037456"/>
              <a:ext cx="83820" cy="83820"/>
            </a:xfrm>
            <a:custGeom>
              <a:avLst/>
              <a:gdLst/>
              <a:ahLst/>
              <a:cxnLst/>
              <a:rect l="l" t="t" r="r" b="b"/>
              <a:pathLst>
                <a:path w="83820" h="83820">
                  <a:moveTo>
                    <a:pt x="0" y="0"/>
                  </a:moveTo>
                  <a:lnTo>
                    <a:pt x="83696" y="0"/>
                  </a:lnTo>
                  <a:lnTo>
                    <a:pt x="83696" y="83696"/>
                  </a:lnTo>
                  <a:lnTo>
                    <a:pt x="0" y="83696"/>
                  </a:lnTo>
                  <a:lnTo>
                    <a:pt x="0" y="0"/>
                  </a:lnTo>
                  <a:close/>
                </a:path>
              </a:pathLst>
            </a:custGeom>
            <a:ln w="9524">
              <a:solidFill>
                <a:srgbClr val="CA1B00"/>
              </a:solidFill>
            </a:ln>
          </p:spPr>
          <p:txBody>
            <a:bodyPr wrap="square" lIns="0" tIns="0" rIns="0" bIns="0" rtlCol="0"/>
            <a:lstStyle/>
            <a:p>
              <a:endParaRPr/>
            </a:p>
          </p:txBody>
        </p:sp>
      </p:grpSp>
      <p:sp>
        <p:nvSpPr>
          <p:cNvPr id="103" name="object 99">
            <a:extLst>
              <a:ext uri="{FF2B5EF4-FFF2-40B4-BE49-F238E27FC236}">
                <a16:creationId xmlns:a16="http://schemas.microsoft.com/office/drawing/2014/main" id="{1DAEF008-18F8-4DC5-A65B-D6F37B5057DD}"/>
              </a:ext>
            </a:extLst>
          </p:cNvPr>
          <p:cNvSpPr txBox="1"/>
          <p:nvPr/>
        </p:nvSpPr>
        <p:spPr>
          <a:xfrm>
            <a:off x="4906850" y="4991211"/>
            <a:ext cx="1022350" cy="1454150"/>
          </a:xfrm>
          <a:prstGeom prst="rect">
            <a:avLst/>
          </a:prstGeom>
        </p:spPr>
        <p:txBody>
          <a:bodyPr vert="horz" wrap="square" lIns="0" tIns="12700" rIns="0" bIns="0" rtlCol="0">
            <a:spAutoFit/>
          </a:bodyPr>
          <a:lstStyle/>
          <a:p>
            <a:pPr marR="516890">
              <a:lnSpc>
                <a:spcPct val="156200"/>
              </a:lnSpc>
              <a:spcBef>
                <a:spcPts val="100"/>
              </a:spcBef>
            </a:pPr>
            <a:r>
              <a:rPr sz="1200" spc="-10" dirty="0">
                <a:latin typeface="Calibri"/>
                <a:cs typeface="Calibri"/>
              </a:rPr>
              <a:t>Android </a:t>
            </a:r>
            <a:r>
              <a:rPr sz="1200" spc="-25" dirty="0">
                <a:latin typeface="Calibri"/>
                <a:cs typeface="Calibri"/>
              </a:rPr>
              <a:t>iOS</a:t>
            </a:r>
            <a:endParaRPr sz="1200">
              <a:latin typeface="Calibri"/>
              <a:cs typeface="Calibri"/>
            </a:endParaRPr>
          </a:p>
          <a:p>
            <a:pPr marR="5080">
              <a:lnSpc>
                <a:spcPct val="156200"/>
              </a:lnSpc>
            </a:pPr>
            <a:r>
              <a:rPr sz="1200" dirty="0">
                <a:latin typeface="Calibri"/>
                <a:cs typeface="Calibri"/>
              </a:rPr>
              <a:t>Windows</a:t>
            </a:r>
            <a:r>
              <a:rPr sz="1200" spc="-30" dirty="0">
                <a:latin typeface="Calibri"/>
                <a:cs typeface="Calibri"/>
              </a:rPr>
              <a:t> </a:t>
            </a:r>
            <a:r>
              <a:rPr sz="1200" spc="-20" dirty="0">
                <a:latin typeface="Calibri"/>
                <a:cs typeface="Calibri"/>
              </a:rPr>
              <a:t>Phone </a:t>
            </a:r>
            <a:r>
              <a:rPr sz="1200" spc="-10" dirty="0">
                <a:latin typeface="Calibri"/>
                <a:cs typeface="Calibri"/>
              </a:rPr>
              <a:t>Blackberry</a:t>
            </a:r>
            <a:r>
              <a:rPr sz="1200" spc="500" dirty="0">
                <a:latin typeface="Calibri"/>
                <a:cs typeface="Calibri"/>
              </a:rPr>
              <a:t> </a:t>
            </a:r>
            <a:r>
              <a:rPr sz="1200" spc="-10" dirty="0">
                <a:latin typeface="Calibri"/>
                <a:cs typeface="Calibri"/>
              </a:rPr>
              <a:t>Other</a:t>
            </a:r>
            <a:endParaRPr sz="1200">
              <a:latin typeface="Calibri"/>
              <a:cs typeface="Calibri"/>
            </a:endParaRPr>
          </a:p>
        </p:txBody>
      </p:sp>
      <p:grpSp>
        <p:nvGrpSpPr>
          <p:cNvPr id="104" name="object 100">
            <a:extLst>
              <a:ext uri="{FF2B5EF4-FFF2-40B4-BE49-F238E27FC236}">
                <a16:creationId xmlns:a16="http://schemas.microsoft.com/office/drawing/2014/main" id="{DEE2874B-225C-4699-B7B6-A0990921C3A4}"/>
              </a:ext>
            </a:extLst>
          </p:cNvPr>
          <p:cNvGrpSpPr/>
          <p:nvPr/>
        </p:nvGrpSpPr>
        <p:grpSpPr>
          <a:xfrm>
            <a:off x="2276764" y="4567237"/>
            <a:ext cx="7778115" cy="2049145"/>
            <a:chOff x="696625" y="4303859"/>
            <a:chExt cx="7778115" cy="2049145"/>
          </a:xfrm>
        </p:grpSpPr>
        <p:sp>
          <p:nvSpPr>
            <p:cNvPr id="105" name="object 101">
              <a:extLst>
                <a:ext uri="{FF2B5EF4-FFF2-40B4-BE49-F238E27FC236}">
                  <a16:creationId xmlns:a16="http://schemas.microsoft.com/office/drawing/2014/main" id="{AE57DE48-8E92-4216-92F9-C0AAB9B0EAB7}"/>
                </a:ext>
              </a:extLst>
            </p:cNvPr>
            <p:cNvSpPr/>
            <p:nvPr/>
          </p:nvSpPr>
          <p:spPr>
            <a:xfrm>
              <a:off x="701387" y="4308622"/>
              <a:ext cx="3806190" cy="2039620"/>
            </a:xfrm>
            <a:custGeom>
              <a:avLst/>
              <a:gdLst/>
              <a:ahLst/>
              <a:cxnLst/>
              <a:rect l="l" t="t" r="r" b="b"/>
              <a:pathLst>
                <a:path w="3806190" h="2039620">
                  <a:moveTo>
                    <a:pt x="0" y="0"/>
                  </a:moveTo>
                  <a:lnTo>
                    <a:pt x="3805900" y="0"/>
                  </a:lnTo>
                  <a:lnTo>
                    <a:pt x="3805900" y="2039287"/>
                  </a:lnTo>
                  <a:lnTo>
                    <a:pt x="0" y="2039287"/>
                  </a:lnTo>
                  <a:lnTo>
                    <a:pt x="0" y="0"/>
                  </a:lnTo>
                  <a:close/>
                </a:path>
              </a:pathLst>
            </a:custGeom>
            <a:ln w="9524">
              <a:solidFill>
                <a:srgbClr val="989898"/>
              </a:solidFill>
            </a:ln>
          </p:spPr>
          <p:txBody>
            <a:bodyPr wrap="square" lIns="0" tIns="0" rIns="0" bIns="0" rtlCol="0"/>
            <a:lstStyle/>
            <a:p>
              <a:endParaRPr/>
            </a:p>
          </p:txBody>
        </p:sp>
        <p:sp>
          <p:nvSpPr>
            <p:cNvPr id="106" name="object 102">
              <a:extLst>
                <a:ext uri="{FF2B5EF4-FFF2-40B4-BE49-F238E27FC236}">
                  <a16:creationId xmlns:a16="http://schemas.microsoft.com/office/drawing/2014/main" id="{B85AF5C3-1704-429C-B4EF-AC9D78E3A98B}"/>
                </a:ext>
              </a:extLst>
            </p:cNvPr>
            <p:cNvSpPr/>
            <p:nvPr/>
          </p:nvSpPr>
          <p:spPr>
            <a:xfrm>
              <a:off x="4668260" y="4308622"/>
              <a:ext cx="3806190" cy="2039620"/>
            </a:xfrm>
            <a:custGeom>
              <a:avLst/>
              <a:gdLst/>
              <a:ahLst/>
              <a:cxnLst/>
              <a:rect l="l" t="t" r="r" b="b"/>
              <a:pathLst>
                <a:path w="3806190" h="2039620">
                  <a:moveTo>
                    <a:pt x="3805900" y="0"/>
                  </a:moveTo>
                  <a:lnTo>
                    <a:pt x="0" y="0"/>
                  </a:lnTo>
                  <a:lnTo>
                    <a:pt x="0" y="2039287"/>
                  </a:lnTo>
                  <a:lnTo>
                    <a:pt x="3805900" y="2039287"/>
                  </a:lnTo>
                  <a:lnTo>
                    <a:pt x="3805900" y="0"/>
                  </a:lnTo>
                  <a:close/>
                </a:path>
              </a:pathLst>
            </a:custGeom>
            <a:solidFill>
              <a:srgbClr val="FFFFFF"/>
            </a:solidFill>
          </p:spPr>
          <p:txBody>
            <a:bodyPr wrap="square" lIns="0" tIns="0" rIns="0" bIns="0" rtlCol="0"/>
            <a:lstStyle/>
            <a:p>
              <a:endParaRPr/>
            </a:p>
          </p:txBody>
        </p:sp>
        <p:sp>
          <p:nvSpPr>
            <p:cNvPr id="107" name="object 103">
              <a:extLst>
                <a:ext uri="{FF2B5EF4-FFF2-40B4-BE49-F238E27FC236}">
                  <a16:creationId xmlns:a16="http://schemas.microsoft.com/office/drawing/2014/main" id="{0DE5C989-4BC7-42AE-B3B7-0014220E7479}"/>
                </a:ext>
              </a:extLst>
            </p:cNvPr>
            <p:cNvSpPr/>
            <p:nvPr/>
          </p:nvSpPr>
          <p:spPr>
            <a:xfrm>
              <a:off x="5572935" y="4937884"/>
              <a:ext cx="878840" cy="1140460"/>
            </a:xfrm>
            <a:custGeom>
              <a:avLst/>
              <a:gdLst/>
              <a:ahLst/>
              <a:cxnLst/>
              <a:rect l="l" t="t" r="r" b="b"/>
              <a:pathLst>
                <a:path w="878839" h="1140460">
                  <a:moveTo>
                    <a:pt x="308415" y="0"/>
                  </a:moveTo>
                  <a:lnTo>
                    <a:pt x="308415" y="569959"/>
                  </a:lnTo>
                  <a:lnTo>
                    <a:pt x="0" y="1049262"/>
                  </a:lnTo>
                  <a:lnTo>
                    <a:pt x="40305" y="1072920"/>
                  </a:lnTo>
                  <a:lnTo>
                    <a:pt x="82234" y="1093118"/>
                  </a:lnTo>
                  <a:lnTo>
                    <a:pt x="125564" y="1109790"/>
                  </a:lnTo>
                  <a:lnTo>
                    <a:pt x="170070" y="1122872"/>
                  </a:lnTo>
                  <a:lnTo>
                    <a:pt x="215530" y="1132298"/>
                  </a:lnTo>
                  <a:lnTo>
                    <a:pt x="261719" y="1138002"/>
                  </a:lnTo>
                  <a:lnTo>
                    <a:pt x="308415" y="1139918"/>
                  </a:lnTo>
                  <a:lnTo>
                    <a:pt x="357593" y="1137826"/>
                  </a:lnTo>
                  <a:lnTo>
                    <a:pt x="405610" y="1131663"/>
                  </a:lnTo>
                  <a:lnTo>
                    <a:pt x="452294" y="1121602"/>
                  </a:lnTo>
                  <a:lnTo>
                    <a:pt x="497474" y="1107813"/>
                  </a:lnTo>
                  <a:lnTo>
                    <a:pt x="540979" y="1090467"/>
                  </a:lnTo>
                  <a:lnTo>
                    <a:pt x="582638" y="1069735"/>
                  </a:lnTo>
                  <a:lnTo>
                    <a:pt x="622280" y="1045788"/>
                  </a:lnTo>
                  <a:lnTo>
                    <a:pt x="659734" y="1018798"/>
                  </a:lnTo>
                  <a:lnTo>
                    <a:pt x="694828" y="988936"/>
                  </a:lnTo>
                  <a:lnTo>
                    <a:pt x="727392" y="956371"/>
                  </a:lnTo>
                  <a:lnTo>
                    <a:pt x="757255" y="921277"/>
                  </a:lnTo>
                  <a:lnTo>
                    <a:pt x="784245" y="883823"/>
                  </a:lnTo>
                  <a:lnTo>
                    <a:pt x="808192" y="844181"/>
                  </a:lnTo>
                  <a:lnTo>
                    <a:pt x="828924" y="802522"/>
                  </a:lnTo>
                  <a:lnTo>
                    <a:pt x="846270" y="759017"/>
                  </a:lnTo>
                  <a:lnTo>
                    <a:pt x="860059" y="713837"/>
                  </a:lnTo>
                  <a:lnTo>
                    <a:pt x="870120" y="667154"/>
                  </a:lnTo>
                  <a:lnTo>
                    <a:pt x="876283" y="619137"/>
                  </a:lnTo>
                  <a:lnTo>
                    <a:pt x="878375" y="569959"/>
                  </a:lnTo>
                  <a:lnTo>
                    <a:pt x="876283" y="520781"/>
                  </a:lnTo>
                  <a:lnTo>
                    <a:pt x="870120" y="472764"/>
                  </a:lnTo>
                  <a:lnTo>
                    <a:pt x="860059" y="426080"/>
                  </a:lnTo>
                  <a:lnTo>
                    <a:pt x="846270" y="380900"/>
                  </a:lnTo>
                  <a:lnTo>
                    <a:pt x="828924" y="337395"/>
                  </a:lnTo>
                  <a:lnTo>
                    <a:pt x="808192" y="295736"/>
                  </a:lnTo>
                  <a:lnTo>
                    <a:pt x="784245" y="256094"/>
                  </a:lnTo>
                  <a:lnTo>
                    <a:pt x="757255" y="218640"/>
                  </a:lnTo>
                  <a:lnTo>
                    <a:pt x="727392" y="183546"/>
                  </a:lnTo>
                  <a:lnTo>
                    <a:pt x="694828" y="150982"/>
                  </a:lnTo>
                  <a:lnTo>
                    <a:pt x="659734" y="121119"/>
                  </a:lnTo>
                  <a:lnTo>
                    <a:pt x="622280" y="94129"/>
                  </a:lnTo>
                  <a:lnTo>
                    <a:pt x="582638" y="70182"/>
                  </a:lnTo>
                  <a:lnTo>
                    <a:pt x="540979" y="49450"/>
                  </a:lnTo>
                  <a:lnTo>
                    <a:pt x="497474" y="32104"/>
                  </a:lnTo>
                  <a:lnTo>
                    <a:pt x="452294" y="18315"/>
                  </a:lnTo>
                  <a:lnTo>
                    <a:pt x="405610" y="8254"/>
                  </a:lnTo>
                  <a:lnTo>
                    <a:pt x="357593" y="2092"/>
                  </a:lnTo>
                  <a:lnTo>
                    <a:pt x="308415" y="0"/>
                  </a:lnTo>
                  <a:close/>
                </a:path>
              </a:pathLst>
            </a:custGeom>
            <a:solidFill>
              <a:srgbClr val="615660"/>
            </a:solidFill>
          </p:spPr>
          <p:txBody>
            <a:bodyPr wrap="square" lIns="0" tIns="0" rIns="0" bIns="0" rtlCol="0"/>
            <a:lstStyle/>
            <a:p>
              <a:endParaRPr/>
            </a:p>
          </p:txBody>
        </p:sp>
        <p:sp>
          <p:nvSpPr>
            <p:cNvPr id="108" name="object 104">
              <a:extLst>
                <a:ext uri="{FF2B5EF4-FFF2-40B4-BE49-F238E27FC236}">
                  <a16:creationId xmlns:a16="http://schemas.microsoft.com/office/drawing/2014/main" id="{8509FB4F-BC09-4B69-945B-B30E96CDA97C}"/>
                </a:ext>
              </a:extLst>
            </p:cNvPr>
            <p:cNvSpPr/>
            <p:nvPr/>
          </p:nvSpPr>
          <p:spPr>
            <a:xfrm>
              <a:off x="5572934" y="4937884"/>
              <a:ext cx="878840" cy="1140460"/>
            </a:xfrm>
            <a:custGeom>
              <a:avLst/>
              <a:gdLst/>
              <a:ahLst/>
              <a:cxnLst/>
              <a:rect l="l" t="t" r="r" b="b"/>
              <a:pathLst>
                <a:path w="878839" h="1140460">
                  <a:moveTo>
                    <a:pt x="308416" y="0"/>
                  </a:moveTo>
                  <a:lnTo>
                    <a:pt x="357595" y="2092"/>
                  </a:lnTo>
                  <a:lnTo>
                    <a:pt x="405611" y="8254"/>
                  </a:lnTo>
                  <a:lnTo>
                    <a:pt x="452295" y="18315"/>
                  </a:lnTo>
                  <a:lnTo>
                    <a:pt x="497475" y="32104"/>
                  </a:lnTo>
                  <a:lnTo>
                    <a:pt x="540980" y="49450"/>
                  </a:lnTo>
                  <a:lnTo>
                    <a:pt x="582639" y="70182"/>
                  </a:lnTo>
                  <a:lnTo>
                    <a:pt x="622281" y="94129"/>
                  </a:lnTo>
                  <a:lnTo>
                    <a:pt x="659735" y="121119"/>
                  </a:lnTo>
                  <a:lnTo>
                    <a:pt x="694829" y="150982"/>
                  </a:lnTo>
                  <a:lnTo>
                    <a:pt x="727393" y="183546"/>
                  </a:lnTo>
                  <a:lnTo>
                    <a:pt x="757256" y="218640"/>
                  </a:lnTo>
                  <a:lnTo>
                    <a:pt x="784246" y="256094"/>
                  </a:lnTo>
                  <a:lnTo>
                    <a:pt x="808193" y="295736"/>
                  </a:lnTo>
                  <a:lnTo>
                    <a:pt x="828925" y="337395"/>
                  </a:lnTo>
                  <a:lnTo>
                    <a:pt x="846271" y="380900"/>
                  </a:lnTo>
                  <a:lnTo>
                    <a:pt x="860060" y="426080"/>
                  </a:lnTo>
                  <a:lnTo>
                    <a:pt x="870121" y="472764"/>
                  </a:lnTo>
                  <a:lnTo>
                    <a:pt x="876283" y="520780"/>
                  </a:lnTo>
                  <a:lnTo>
                    <a:pt x="878375" y="569958"/>
                  </a:lnTo>
                  <a:lnTo>
                    <a:pt x="876283" y="619137"/>
                  </a:lnTo>
                  <a:lnTo>
                    <a:pt x="870121" y="667153"/>
                  </a:lnTo>
                  <a:lnTo>
                    <a:pt x="860060" y="713837"/>
                  </a:lnTo>
                  <a:lnTo>
                    <a:pt x="846271" y="759017"/>
                  </a:lnTo>
                  <a:lnTo>
                    <a:pt x="828925" y="802522"/>
                  </a:lnTo>
                  <a:lnTo>
                    <a:pt x="808193" y="844181"/>
                  </a:lnTo>
                  <a:lnTo>
                    <a:pt x="784246" y="883823"/>
                  </a:lnTo>
                  <a:lnTo>
                    <a:pt x="757256" y="921277"/>
                  </a:lnTo>
                  <a:lnTo>
                    <a:pt x="727393" y="956371"/>
                  </a:lnTo>
                  <a:lnTo>
                    <a:pt x="694829" y="988935"/>
                  </a:lnTo>
                  <a:lnTo>
                    <a:pt x="659735" y="1018798"/>
                  </a:lnTo>
                  <a:lnTo>
                    <a:pt x="622281" y="1045788"/>
                  </a:lnTo>
                  <a:lnTo>
                    <a:pt x="582639" y="1069735"/>
                  </a:lnTo>
                  <a:lnTo>
                    <a:pt x="540980" y="1090467"/>
                  </a:lnTo>
                  <a:lnTo>
                    <a:pt x="497475" y="1107813"/>
                  </a:lnTo>
                  <a:lnTo>
                    <a:pt x="452295" y="1121602"/>
                  </a:lnTo>
                  <a:lnTo>
                    <a:pt x="405611" y="1131663"/>
                  </a:lnTo>
                  <a:lnTo>
                    <a:pt x="357595" y="1137825"/>
                  </a:lnTo>
                  <a:lnTo>
                    <a:pt x="308416" y="1139917"/>
                  </a:lnTo>
                  <a:lnTo>
                    <a:pt x="261720" y="1138002"/>
                  </a:lnTo>
                  <a:lnTo>
                    <a:pt x="215530" y="1132298"/>
                  </a:lnTo>
                  <a:lnTo>
                    <a:pt x="170071" y="1122872"/>
                  </a:lnTo>
                  <a:lnTo>
                    <a:pt x="125564" y="1109790"/>
                  </a:lnTo>
                  <a:lnTo>
                    <a:pt x="82234" y="1093117"/>
                  </a:lnTo>
                  <a:lnTo>
                    <a:pt x="40305" y="1072920"/>
                  </a:lnTo>
                  <a:lnTo>
                    <a:pt x="0" y="1049262"/>
                  </a:lnTo>
                  <a:lnTo>
                    <a:pt x="308416" y="569958"/>
                  </a:lnTo>
                  <a:lnTo>
                    <a:pt x="308416" y="0"/>
                  </a:lnTo>
                  <a:close/>
                </a:path>
              </a:pathLst>
            </a:custGeom>
            <a:ln w="9524">
              <a:solidFill>
                <a:srgbClr val="463D45"/>
              </a:solidFill>
            </a:ln>
          </p:spPr>
          <p:txBody>
            <a:bodyPr wrap="square" lIns="0" tIns="0" rIns="0" bIns="0" rtlCol="0"/>
            <a:lstStyle/>
            <a:p>
              <a:endParaRPr/>
            </a:p>
          </p:txBody>
        </p:sp>
        <p:sp>
          <p:nvSpPr>
            <p:cNvPr id="109" name="object 105">
              <a:extLst>
                <a:ext uri="{FF2B5EF4-FFF2-40B4-BE49-F238E27FC236}">
                  <a16:creationId xmlns:a16="http://schemas.microsoft.com/office/drawing/2014/main" id="{AC27B809-96B0-48A0-90EF-E3668CACDC6B}"/>
                </a:ext>
              </a:extLst>
            </p:cNvPr>
            <p:cNvSpPr/>
            <p:nvPr/>
          </p:nvSpPr>
          <p:spPr>
            <a:xfrm>
              <a:off x="5311366" y="4981958"/>
              <a:ext cx="570230" cy="1005205"/>
            </a:xfrm>
            <a:custGeom>
              <a:avLst/>
              <a:gdLst/>
              <a:ahLst/>
              <a:cxnLst/>
              <a:rect l="l" t="t" r="r" b="b"/>
              <a:pathLst>
                <a:path w="570229" h="1005204">
                  <a:moveTo>
                    <a:pt x="350217" y="0"/>
                  </a:moveTo>
                  <a:lnTo>
                    <a:pt x="305572" y="20969"/>
                  </a:lnTo>
                  <a:lnTo>
                    <a:pt x="263101" y="45598"/>
                  </a:lnTo>
                  <a:lnTo>
                    <a:pt x="223012" y="73709"/>
                  </a:lnTo>
                  <a:lnTo>
                    <a:pt x="185516" y="105127"/>
                  </a:lnTo>
                  <a:lnTo>
                    <a:pt x="150823" y="139677"/>
                  </a:lnTo>
                  <a:lnTo>
                    <a:pt x="119141" y="177182"/>
                  </a:lnTo>
                  <a:lnTo>
                    <a:pt x="90681" y="217468"/>
                  </a:lnTo>
                  <a:lnTo>
                    <a:pt x="65829" y="259956"/>
                  </a:lnTo>
                  <a:lnTo>
                    <a:pt x="45028" y="303670"/>
                  </a:lnTo>
                  <a:lnTo>
                    <a:pt x="28228" y="348373"/>
                  </a:lnTo>
                  <a:lnTo>
                    <a:pt x="15376" y="393828"/>
                  </a:lnTo>
                  <a:lnTo>
                    <a:pt x="6421" y="439800"/>
                  </a:lnTo>
                  <a:lnTo>
                    <a:pt x="1313" y="486051"/>
                  </a:lnTo>
                  <a:lnTo>
                    <a:pt x="0" y="532346"/>
                  </a:lnTo>
                  <a:lnTo>
                    <a:pt x="2430" y="578447"/>
                  </a:lnTo>
                  <a:lnTo>
                    <a:pt x="8552" y="624119"/>
                  </a:lnTo>
                  <a:lnTo>
                    <a:pt x="18315" y="669125"/>
                  </a:lnTo>
                  <a:lnTo>
                    <a:pt x="31669" y="713228"/>
                  </a:lnTo>
                  <a:lnTo>
                    <a:pt x="48560" y="756192"/>
                  </a:lnTo>
                  <a:lnTo>
                    <a:pt x="68939" y="797781"/>
                  </a:lnTo>
                  <a:lnTo>
                    <a:pt x="92753" y="837758"/>
                  </a:lnTo>
                  <a:lnTo>
                    <a:pt x="119952" y="875887"/>
                  </a:lnTo>
                  <a:lnTo>
                    <a:pt x="150484" y="911930"/>
                  </a:lnTo>
                  <a:lnTo>
                    <a:pt x="184298" y="945653"/>
                  </a:lnTo>
                  <a:lnTo>
                    <a:pt x="221343" y="976818"/>
                  </a:lnTo>
                  <a:lnTo>
                    <a:pt x="261567" y="1005188"/>
                  </a:lnTo>
                  <a:lnTo>
                    <a:pt x="569984" y="525885"/>
                  </a:lnTo>
                  <a:lnTo>
                    <a:pt x="350217" y="0"/>
                  </a:lnTo>
                  <a:close/>
                </a:path>
              </a:pathLst>
            </a:custGeom>
            <a:solidFill>
              <a:srgbClr val="FFD441"/>
            </a:solidFill>
          </p:spPr>
          <p:txBody>
            <a:bodyPr wrap="square" lIns="0" tIns="0" rIns="0" bIns="0" rtlCol="0"/>
            <a:lstStyle/>
            <a:p>
              <a:endParaRPr/>
            </a:p>
          </p:txBody>
        </p:sp>
        <p:sp>
          <p:nvSpPr>
            <p:cNvPr id="110" name="object 106">
              <a:extLst>
                <a:ext uri="{FF2B5EF4-FFF2-40B4-BE49-F238E27FC236}">
                  <a16:creationId xmlns:a16="http://schemas.microsoft.com/office/drawing/2014/main" id="{4D9335E9-42D2-4BFE-A9D8-E94D0FBCE820}"/>
                </a:ext>
              </a:extLst>
            </p:cNvPr>
            <p:cNvSpPr/>
            <p:nvPr/>
          </p:nvSpPr>
          <p:spPr>
            <a:xfrm>
              <a:off x="5311366" y="4981957"/>
              <a:ext cx="570230" cy="1005205"/>
            </a:xfrm>
            <a:custGeom>
              <a:avLst/>
              <a:gdLst/>
              <a:ahLst/>
              <a:cxnLst/>
              <a:rect l="l" t="t" r="r" b="b"/>
              <a:pathLst>
                <a:path w="570229" h="1005204">
                  <a:moveTo>
                    <a:pt x="261568" y="1005189"/>
                  </a:moveTo>
                  <a:lnTo>
                    <a:pt x="221344" y="976818"/>
                  </a:lnTo>
                  <a:lnTo>
                    <a:pt x="184299" y="945653"/>
                  </a:lnTo>
                  <a:lnTo>
                    <a:pt x="150485" y="911931"/>
                  </a:lnTo>
                  <a:lnTo>
                    <a:pt x="119952" y="875887"/>
                  </a:lnTo>
                  <a:lnTo>
                    <a:pt x="92754" y="837758"/>
                  </a:lnTo>
                  <a:lnTo>
                    <a:pt x="68939" y="797782"/>
                  </a:lnTo>
                  <a:lnTo>
                    <a:pt x="48560" y="756193"/>
                  </a:lnTo>
                  <a:lnTo>
                    <a:pt x="31669" y="713229"/>
                  </a:lnTo>
                  <a:lnTo>
                    <a:pt x="18316" y="669125"/>
                  </a:lnTo>
                  <a:lnTo>
                    <a:pt x="8552" y="624120"/>
                  </a:lnTo>
                  <a:lnTo>
                    <a:pt x="2430" y="578448"/>
                  </a:lnTo>
                  <a:lnTo>
                    <a:pt x="0" y="532346"/>
                  </a:lnTo>
                  <a:lnTo>
                    <a:pt x="1313" y="486052"/>
                  </a:lnTo>
                  <a:lnTo>
                    <a:pt x="6421" y="439800"/>
                  </a:lnTo>
                  <a:lnTo>
                    <a:pt x="15376" y="393829"/>
                  </a:lnTo>
                  <a:lnTo>
                    <a:pt x="28227" y="348373"/>
                  </a:lnTo>
                  <a:lnTo>
                    <a:pt x="45028" y="303670"/>
                  </a:lnTo>
                  <a:lnTo>
                    <a:pt x="65829" y="259956"/>
                  </a:lnTo>
                  <a:lnTo>
                    <a:pt x="90681" y="217468"/>
                  </a:lnTo>
                  <a:lnTo>
                    <a:pt x="119141" y="177182"/>
                  </a:lnTo>
                  <a:lnTo>
                    <a:pt x="150823" y="139677"/>
                  </a:lnTo>
                  <a:lnTo>
                    <a:pt x="185516" y="105127"/>
                  </a:lnTo>
                  <a:lnTo>
                    <a:pt x="223012" y="73709"/>
                  </a:lnTo>
                  <a:lnTo>
                    <a:pt x="263101" y="45598"/>
                  </a:lnTo>
                  <a:lnTo>
                    <a:pt x="305573" y="20969"/>
                  </a:lnTo>
                  <a:lnTo>
                    <a:pt x="350218" y="0"/>
                  </a:lnTo>
                  <a:lnTo>
                    <a:pt x="569985" y="525885"/>
                  </a:lnTo>
                  <a:lnTo>
                    <a:pt x="261568" y="1005189"/>
                  </a:lnTo>
                  <a:close/>
                </a:path>
              </a:pathLst>
            </a:custGeom>
            <a:ln w="9524">
              <a:solidFill>
                <a:srgbClr val="C8A326"/>
              </a:solidFill>
            </a:ln>
          </p:spPr>
          <p:txBody>
            <a:bodyPr wrap="square" lIns="0" tIns="0" rIns="0" bIns="0" rtlCol="0"/>
            <a:lstStyle/>
            <a:p>
              <a:endParaRPr/>
            </a:p>
          </p:txBody>
        </p:sp>
        <p:sp>
          <p:nvSpPr>
            <p:cNvPr id="111" name="object 107">
              <a:extLst>
                <a:ext uri="{FF2B5EF4-FFF2-40B4-BE49-F238E27FC236}">
                  <a16:creationId xmlns:a16="http://schemas.microsoft.com/office/drawing/2014/main" id="{7EBA8C44-9FC1-4BC7-981F-E31A437B934B}"/>
                </a:ext>
              </a:extLst>
            </p:cNvPr>
            <p:cNvSpPr/>
            <p:nvPr/>
          </p:nvSpPr>
          <p:spPr>
            <a:xfrm>
              <a:off x="5661583" y="4940762"/>
              <a:ext cx="220345" cy="567690"/>
            </a:xfrm>
            <a:custGeom>
              <a:avLst/>
              <a:gdLst/>
              <a:ahLst/>
              <a:cxnLst/>
              <a:rect l="l" t="t" r="r" b="b"/>
              <a:pathLst>
                <a:path w="220345" h="567689">
                  <a:moveTo>
                    <a:pt x="162566" y="0"/>
                  </a:moveTo>
                  <a:lnTo>
                    <a:pt x="120865" y="5768"/>
                  </a:lnTo>
                  <a:lnTo>
                    <a:pt x="79759" y="14585"/>
                  </a:lnTo>
                  <a:lnTo>
                    <a:pt x="39415" y="26408"/>
                  </a:lnTo>
                  <a:lnTo>
                    <a:pt x="0" y="41194"/>
                  </a:lnTo>
                  <a:lnTo>
                    <a:pt x="219767" y="567081"/>
                  </a:lnTo>
                  <a:lnTo>
                    <a:pt x="162566" y="0"/>
                  </a:lnTo>
                  <a:close/>
                </a:path>
              </a:pathLst>
            </a:custGeom>
            <a:solidFill>
              <a:srgbClr val="C0C0C0"/>
            </a:solidFill>
          </p:spPr>
          <p:txBody>
            <a:bodyPr wrap="square" lIns="0" tIns="0" rIns="0" bIns="0" rtlCol="0"/>
            <a:lstStyle/>
            <a:p>
              <a:endParaRPr/>
            </a:p>
          </p:txBody>
        </p:sp>
        <p:sp>
          <p:nvSpPr>
            <p:cNvPr id="112" name="object 108">
              <a:extLst>
                <a:ext uri="{FF2B5EF4-FFF2-40B4-BE49-F238E27FC236}">
                  <a16:creationId xmlns:a16="http://schemas.microsoft.com/office/drawing/2014/main" id="{EFD4FB8C-F035-4F9B-ACF6-98F7C397E6B4}"/>
                </a:ext>
              </a:extLst>
            </p:cNvPr>
            <p:cNvSpPr/>
            <p:nvPr/>
          </p:nvSpPr>
          <p:spPr>
            <a:xfrm>
              <a:off x="5661584" y="4940761"/>
              <a:ext cx="220345" cy="567690"/>
            </a:xfrm>
            <a:custGeom>
              <a:avLst/>
              <a:gdLst/>
              <a:ahLst/>
              <a:cxnLst/>
              <a:rect l="l" t="t" r="r" b="b"/>
              <a:pathLst>
                <a:path w="220345" h="567689">
                  <a:moveTo>
                    <a:pt x="0" y="41195"/>
                  </a:moveTo>
                  <a:lnTo>
                    <a:pt x="39415" y="26408"/>
                  </a:lnTo>
                  <a:lnTo>
                    <a:pt x="79759" y="14585"/>
                  </a:lnTo>
                  <a:lnTo>
                    <a:pt x="120864" y="5768"/>
                  </a:lnTo>
                  <a:lnTo>
                    <a:pt x="162565" y="0"/>
                  </a:lnTo>
                  <a:lnTo>
                    <a:pt x="219767" y="567081"/>
                  </a:lnTo>
                  <a:lnTo>
                    <a:pt x="0" y="41195"/>
                  </a:lnTo>
                  <a:close/>
                </a:path>
              </a:pathLst>
            </a:custGeom>
            <a:ln w="9524">
              <a:solidFill>
                <a:srgbClr val="929292"/>
              </a:solidFill>
            </a:ln>
          </p:spPr>
          <p:txBody>
            <a:bodyPr wrap="square" lIns="0" tIns="0" rIns="0" bIns="0" rtlCol="0"/>
            <a:lstStyle/>
            <a:p>
              <a:endParaRPr/>
            </a:p>
          </p:txBody>
        </p:sp>
        <p:sp>
          <p:nvSpPr>
            <p:cNvPr id="113" name="object 109">
              <a:extLst>
                <a:ext uri="{FF2B5EF4-FFF2-40B4-BE49-F238E27FC236}">
                  <a16:creationId xmlns:a16="http://schemas.microsoft.com/office/drawing/2014/main" id="{08C67E4B-885B-48BC-92E9-A640E7AEFBFE}"/>
                </a:ext>
              </a:extLst>
            </p:cNvPr>
            <p:cNvSpPr/>
            <p:nvPr/>
          </p:nvSpPr>
          <p:spPr>
            <a:xfrm>
              <a:off x="5824149" y="4938289"/>
              <a:ext cx="57785" cy="569595"/>
            </a:xfrm>
            <a:custGeom>
              <a:avLst/>
              <a:gdLst/>
              <a:ahLst/>
              <a:cxnLst/>
              <a:rect l="l" t="t" r="r" b="b"/>
              <a:pathLst>
                <a:path w="57785" h="569595">
                  <a:moveTo>
                    <a:pt x="35718" y="0"/>
                  </a:moveTo>
                  <a:lnTo>
                    <a:pt x="17839" y="956"/>
                  </a:lnTo>
                  <a:lnTo>
                    <a:pt x="0" y="2472"/>
                  </a:lnTo>
                  <a:lnTo>
                    <a:pt x="57200" y="569554"/>
                  </a:lnTo>
                  <a:lnTo>
                    <a:pt x="35718" y="0"/>
                  </a:lnTo>
                  <a:close/>
                </a:path>
              </a:pathLst>
            </a:custGeom>
            <a:solidFill>
              <a:srgbClr val="FF7D00"/>
            </a:solidFill>
          </p:spPr>
          <p:txBody>
            <a:bodyPr wrap="square" lIns="0" tIns="0" rIns="0" bIns="0" rtlCol="0"/>
            <a:lstStyle/>
            <a:p>
              <a:endParaRPr/>
            </a:p>
          </p:txBody>
        </p:sp>
        <p:sp>
          <p:nvSpPr>
            <p:cNvPr id="114" name="object 110">
              <a:extLst>
                <a:ext uri="{FF2B5EF4-FFF2-40B4-BE49-F238E27FC236}">
                  <a16:creationId xmlns:a16="http://schemas.microsoft.com/office/drawing/2014/main" id="{4EDA8E37-6091-492A-AFC0-8FF2976773BA}"/>
                </a:ext>
              </a:extLst>
            </p:cNvPr>
            <p:cNvSpPr/>
            <p:nvPr/>
          </p:nvSpPr>
          <p:spPr>
            <a:xfrm>
              <a:off x="5824149" y="4938289"/>
              <a:ext cx="57785" cy="569595"/>
            </a:xfrm>
            <a:custGeom>
              <a:avLst/>
              <a:gdLst/>
              <a:ahLst/>
              <a:cxnLst/>
              <a:rect l="l" t="t" r="r" b="b"/>
              <a:pathLst>
                <a:path w="57785" h="569595">
                  <a:moveTo>
                    <a:pt x="0" y="2472"/>
                  </a:moveTo>
                  <a:lnTo>
                    <a:pt x="8914" y="1644"/>
                  </a:lnTo>
                  <a:lnTo>
                    <a:pt x="17840" y="955"/>
                  </a:lnTo>
                  <a:lnTo>
                    <a:pt x="26776" y="407"/>
                  </a:lnTo>
                  <a:lnTo>
                    <a:pt x="35719" y="0"/>
                  </a:lnTo>
                  <a:lnTo>
                    <a:pt x="57201" y="569553"/>
                  </a:lnTo>
                  <a:lnTo>
                    <a:pt x="0" y="2472"/>
                  </a:lnTo>
                  <a:close/>
                </a:path>
              </a:pathLst>
            </a:custGeom>
            <a:ln w="9524">
              <a:solidFill>
                <a:srgbClr val="CA5C00"/>
              </a:solidFill>
            </a:ln>
          </p:spPr>
          <p:txBody>
            <a:bodyPr wrap="square" lIns="0" tIns="0" rIns="0" bIns="0" rtlCol="0"/>
            <a:lstStyle/>
            <a:p>
              <a:endParaRPr/>
            </a:p>
          </p:txBody>
        </p:sp>
        <p:sp>
          <p:nvSpPr>
            <p:cNvPr id="115" name="object 111">
              <a:extLst>
                <a:ext uri="{FF2B5EF4-FFF2-40B4-BE49-F238E27FC236}">
                  <a16:creationId xmlns:a16="http://schemas.microsoft.com/office/drawing/2014/main" id="{B63EA69A-E409-46B4-9042-361EF6091F73}"/>
                </a:ext>
              </a:extLst>
            </p:cNvPr>
            <p:cNvSpPr/>
            <p:nvPr/>
          </p:nvSpPr>
          <p:spPr>
            <a:xfrm>
              <a:off x="5859868" y="4937884"/>
              <a:ext cx="21590" cy="570230"/>
            </a:xfrm>
            <a:custGeom>
              <a:avLst/>
              <a:gdLst/>
              <a:ahLst/>
              <a:cxnLst/>
              <a:rect l="l" t="t" r="r" b="b"/>
              <a:pathLst>
                <a:path w="21589" h="570229">
                  <a:moveTo>
                    <a:pt x="21482" y="0"/>
                  </a:moveTo>
                  <a:lnTo>
                    <a:pt x="14319" y="0"/>
                  </a:lnTo>
                  <a:lnTo>
                    <a:pt x="0" y="405"/>
                  </a:lnTo>
                  <a:lnTo>
                    <a:pt x="21482" y="569959"/>
                  </a:lnTo>
                  <a:lnTo>
                    <a:pt x="21482" y="0"/>
                  </a:lnTo>
                  <a:close/>
                </a:path>
              </a:pathLst>
            </a:custGeom>
            <a:solidFill>
              <a:srgbClr val="FF2600"/>
            </a:solidFill>
          </p:spPr>
          <p:txBody>
            <a:bodyPr wrap="square" lIns="0" tIns="0" rIns="0" bIns="0" rtlCol="0"/>
            <a:lstStyle/>
            <a:p>
              <a:endParaRPr/>
            </a:p>
          </p:txBody>
        </p:sp>
        <p:sp>
          <p:nvSpPr>
            <p:cNvPr id="116" name="object 112">
              <a:extLst>
                <a:ext uri="{FF2B5EF4-FFF2-40B4-BE49-F238E27FC236}">
                  <a16:creationId xmlns:a16="http://schemas.microsoft.com/office/drawing/2014/main" id="{F15FC5F9-C68D-4AAA-933A-C06CD67B45CE}"/>
                </a:ext>
              </a:extLst>
            </p:cNvPr>
            <p:cNvSpPr/>
            <p:nvPr/>
          </p:nvSpPr>
          <p:spPr>
            <a:xfrm>
              <a:off x="5859869" y="4937884"/>
              <a:ext cx="21590" cy="570230"/>
            </a:xfrm>
            <a:custGeom>
              <a:avLst/>
              <a:gdLst/>
              <a:ahLst/>
              <a:cxnLst/>
              <a:rect l="l" t="t" r="r" b="b"/>
              <a:pathLst>
                <a:path w="21589" h="570229">
                  <a:moveTo>
                    <a:pt x="0" y="405"/>
                  </a:moveTo>
                  <a:lnTo>
                    <a:pt x="7157" y="135"/>
                  </a:lnTo>
                  <a:lnTo>
                    <a:pt x="14319" y="0"/>
                  </a:lnTo>
                  <a:lnTo>
                    <a:pt x="21481" y="0"/>
                  </a:lnTo>
                  <a:lnTo>
                    <a:pt x="21481" y="569958"/>
                  </a:lnTo>
                  <a:lnTo>
                    <a:pt x="0" y="405"/>
                  </a:lnTo>
                  <a:close/>
                </a:path>
              </a:pathLst>
            </a:custGeom>
            <a:ln w="9524">
              <a:solidFill>
                <a:srgbClr val="CA1B00"/>
              </a:solidFill>
            </a:ln>
          </p:spPr>
          <p:txBody>
            <a:bodyPr wrap="square" lIns="0" tIns="0" rIns="0" bIns="0" rtlCol="0"/>
            <a:lstStyle/>
            <a:p>
              <a:endParaRPr/>
            </a:p>
          </p:txBody>
        </p:sp>
        <p:sp>
          <p:nvSpPr>
            <p:cNvPr id="117" name="object 113">
              <a:extLst>
                <a:ext uri="{FF2B5EF4-FFF2-40B4-BE49-F238E27FC236}">
                  <a16:creationId xmlns:a16="http://schemas.microsoft.com/office/drawing/2014/main" id="{A0DD5F4A-6D3A-4004-97A4-8C7D60371831}"/>
                </a:ext>
              </a:extLst>
            </p:cNvPr>
            <p:cNvSpPr/>
            <p:nvPr/>
          </p:nvSpPr>
          <p:spPr>
            <a:xfrm>
              <a:off x="5640850" y="4861418"/>
              <a:ext cx="411480" cy="93980"/>
            </a:xfrm>
            <a:custGeom>
              <a:avLst/>
              <a:gdLst/>
              <a:ahLst/>
              <a:cxnLst/>
              <a:rect l="l" t="t" r="r" b="b"/>
              <a:pathLst>
                <a:path w="411479" h="93979">
                  <a:moveTo>
                    <a:pt x="99752" y="93930"/>
                  </a:moveTo>
                  <a:lnTo>
                    <a:pt x="78970" y="37408"/>
                  </a:lnTo>
                </a:path>
                <a:path w="411479" h="93979">
                  <a:moveTo>
                    <a:pt x="78970" y="37408"/>
                  </a:moveTo>
                  <a:lnTo>
                    <a:pt x="0" y="37408"/>
                  </a:lnTo>
                </a:path>
                <a:path w="411479" h="93979">
                  <a:moveTo>
                    <a:pt x="228599" y="74815"/>
                  </a:moveTo>
                  <a:lnTo>
                    <a:pt x="336665" y="0"/>
                  </a:lnTo>
                </a:path>
                <a:path w="411479" h="93979">
                  <a:moveTo>
                    <a:pt x="336665" y="0"/>
                  </a:moveTo>
                  <a:lnTo>
                    <a:pt x="411479" y="0"/>
                  </a:lnTo>
                </a:path>
              </a:pathLst>
            </a:custGeom>
            <a:ln w="9524">
              <a:solidFill>
                <a:srgbClr val="000000"/>
              </a:solidFill>
            </a:ln>
          </p:spPr>
          <p:txBody>
            <a:bodyPr wrap="square" lIns="0" tIns="0" rIns="0" bIns="0" rtlCol="0"/>
            <a:lstStyle/>
            <a:p>
              <a:endParaRPr/>
            </a:p>
          </p:txBody>
        </p:sp>
      </p:grpSp>
      <p:sp>
        <p:nvSpPr>
          <p:cNvPr id="118" name="object 114">
            <a:extLst>
              <a:ext uri="{FF2B5EF4-FFF2-40B4-BE49-F238E27FC236}">
                <a16:creationId xmlns:a16="http://schemas.microsoft.com/office/drawing/2014/main" id="{3575CE3B-6ACB-463F-B375-2FE896586114}"/>
              </a:ext>
            </a:extLst>
          </p:cNvPr>
          <p:cNvSpPr txBox="1"/>
          <p:nvPr/>
        </p:nvSpPr>
        <p:spPr>
          <a:xfrm>
            <a:off x="7531100" y="5784849"/>
            <a:ext cx="391795" cy="208279"/>
          </a:xfrm>
          <a:prstGeom prst="rect">
            <a:avLst/>
          </a:prstGeom>
        </p:spPr>
        <p:txBody>
          <a:bodyPr vert="horz" wrap="square" lIns="0" tIns="12700" rIns="0" bIns="0" rtlCol="0">
            <a:spAutoFit/>
          </a:bodyPr>
          <a:lstStyle/>
          <a:p>
            <a:pPr>
              <a:lnSpc>
                <a:spcPct val="100000"/>
              </a:lnSpc>
              <a:spcBef>
                <a:spcPts val="100"/>
              </a:spcBef>
            </a:pPr>
            <a:r>
              <a:rPr sz="1200" spc="-10" dirty="0">
                <a:latin typeface="Calibri"/>
                <a:cs typeface="Calibri"/>
              </a:rPr>
              <a:t>59,1%</a:t>
            </a:r>
            <a:endParaRPr sz="1200">
              <a:latin typeface="Calibri"/>
              <a:cs typeface="Calibri"/>
            </a:endParaRPr>
          </a:p>
        </p:txBody>
      </p:sp>
      <p:sp>
        <p:nvSpPr>
          <p:cNvPr id="119" name="object 115">
            <a:extLst>
              <a:ext uri="{FF2B5EF4-FFF2-40B4-BE49-F238E27FC236}">
                <a16:creationId xmlns:a16="http://schemas.microsoft.com/office/drawing/2014/main" id="{114EA7DE-8CFA-4ABA-803B-04203CBDCCF9}"/>
              </a:ext>
            </a:extLst>
          </p:cNvPr>
          <p:cNvSpPr txBox="1"/>
          <p:nvPr/>
        </p:nvSpPr>
        <p:spPr>
          <a:xfrm>
            <a:off x="6959600" y="5632450"/>
            <a:ext cx="391795" cy="208279"/>
          </a:xfrm>
          <a:prstGeom prst="rect">
            <a:avLst/>
          </a:prstGeom>
        </p:spPr>
        <p:txBody>
          <a:bodyPr vert="horz" wrap="square" lIns="0" tIns="12700" rIns="0" bIns="0" rtlCol="0">
            <a:spAutoFit/>
          </a:bodyPr>
          <a:lstStyle/>
          <a:p>
            <a:pPr>
              <a:lnSpc>
                <a:spcPct val="100000"/>
              </a:lnSpc>
              <a:spcBef>
                <a:spcPts val="100"/>
              </a:spcBef>
            </a:pPr>
            <a:r>
              <a:rPr sz="1200" spc="-10" dirty="0">
                <a:latin typeface="Calibri"/>
                <a:cs typeface="Calibri"/>
              </a:rPr>
              <a:t>34,6%</a:t>
            </a:r>
            <a:endParaRPr sz="1200">
              <a:latin typeface="Calibri"/>
              <a:cs typeface="Calibri"/>
            </a:endParaRPr>
          </a:p>
        </p:txBody>
      </p:sp>
      <p:sp>
        <p:nvSpPr>
          <p:cNvPr id="120" name="object 116">
            <a:extLst>
              <a:ext uri="{FF2B5EF4-FFF2-40B4-BE49-F238E27FC236}">
                <a16:creationId xmlns:a16="http://schemas.microsoft.com/office/drawing/2014/main" id="{A49DE112-EB37-44AA-9367-4AC3BF5AD29B}"/>
              </a:ext>
            </a:extLst>
          </p:cNvPr>
          <p:cNvSpPr txBox="1"/>
          <p:nvPr/>
        </p:nvSpPr>
        <p:spPr>
          <a:xfrm>
            <a:off x="6870700" y="4668977"/>
            <a:ext cx="1707514" cy="448309"/>
          </a:xfrm>
          <a:prstGeom prst="rect">
            <a:avLst/>
          </a:prstGeom>
        </p:spPr>
        <p:txBody>
          <a:bodyPr vert="horz" wrap="square" lIns="0" tIns="28575" rIns="0" bIns="0" rtlCol="0">
            <a:spAutoFit/>
          </a:bodyPr>
          <a:lstStyle/>
          <a:p>
            <a:pPr marL="904875">
              <a:lnSpc>
                <a:spcPct val="100000"/>
              </a:lnSpc>
              <a:spcBef>
                <a:spcPts val="225"/>
              </a:spcBef>
            </a:pPr>
            <a:r>
              <a:rPr sz="1400" b="1" dirty="0">
                <a:latin typeface="Calibri"/>
                <a:cs typeface="Calibri"/>
              </a:rPr>
              <a:t>Avril</a:t>
            </a:r>
            <a:r>
              <a:rPr sz="1400" b="1" spc="40" dirty="0">
                <a:latin typeface="Calibri"/>
                <a:cs typeface="Calibri"/>
              </a:rPr>
              <a:t> </a:t>
            </a:r>
            <a:r>
              <a:rPr sz="1400" b="1" spc="-20" dirty="0">
                <a:latin typeface="Calibri"/>
                <a:cs typeface="Calibri"/>
              </a:rPr>
              <a:t>2014</a:t>
            </a:r>
            <a:endParaRPr sz="1400">
              <a:latin typeface="Calibri"/>
              <a:cs typeface="Calibri"/>
            </a:endParaRPr>
          </a:p>
          <a:p>
            <a:pPr marL="25400">
              <a:lnSpc>
                <a:spcPct val="100000"/>
              </a:lnSpc>
              <a:spcBef>
                <a:spcPts val="80"/>
              </a:spcBef>
            </a:pPr>
            <a:r>
              <a:rPr sz="1800" baseline="-32407" dirty="0">
                <a:latin typeface="Calibri"/>
                <a:cs typeface="Calibri"/>
              </a:rPr>
              <a:t>4,7%</a:t>
            </a:r>
            <a:r>
              <a:rPr sz="1800" spc="330" baseline="-32407" dirty="0">
                <a:latin typeface="Calibri"/>
                <a:cs typeface="Calibri"/>
              </a:rPr>
              <a:t> </a:t>
            </a:r>
            <a:r>
              <a:rPr sz="1200" dirty="0">
                <a:latin typeface="Calibri"/>
                <a:cs typeface="Calibri"/>
              </a:rPr>
              <a:t>1,0%</a:t>
            </a:r>
            <a:r>
              <a:rPr sz="1200" spc="455" dirty="0">
                <a:latin typeface="Calibri"/>
                <a:cs typeface="Calibri"/>
              </a:rPr>
              <a:t> </a:t>
            </a:r>
            <a:r>
              <a:rPr sz="1800" spc="-30" baseline="-18518" dirty="0">
                <a:latin typeface="Calibri"/>
                <a:cs typeface="Calibri"/>
              </a:rPr>
              <a:t>0,6%</a:t>
            </a:r>
            <a:endParaRPr sz="1800" baseline="-18518">
              <a:latin typeface="Calibri"/>
              <a:cs typeface="Calibri"/>
            </a:endParaRPr>
          </a:p>
        </p:txBody>
      </p:sp>
      <p:grpSp>
        <p:nvGrpSpPr>
          <p:cNvPr id="121" name="object 117">
            <a:extLst>
              <a:ext uri="{FF2B5EF4-FFF2-40B4-BE49-F238E27FC236}">
                <a16:creationId xmlns:a16="http://schemas.microsoft.com/office/drawing/2014/main" id="{B8B2123A-8801-447C-9BD6-DACCF47F8CBD}"/>
              </a:ext>
            </a:extLst>
          </p:cNvPr>
          <p:cNvGrpSpPr/>
          <p:nvPr/>
        </p:nvGrpSpPr>
        <p:grpSpPr>
          <a:xfrm>
            <a:off x="8749767" y="5153148"/>
            <a:ext cx="93345" cy="1236345"/>
            <a:chOff x="7169628" y="4889770"/>
            <a:chExt cx="93345" cy="1236345"/>
          </a:xfrm>
        </p:grpSpPr>
        <p:sp>
          <p:nvSpPr>
            <p:cNvPr id="122" name="object 118">
              <a:extLst>
                <a:ext uri="{FF2B5EF4-FFF2-40B4-BE49-F238E27FC236}">
                  <a16:creationId xmlns:a16="http://schemas.microsoft.com/office/drawing/2014/main" id="{C97ECACB-3901-45C6-83B4-C18EB83598C3}"/>
                </a:ext>
              </a:extLst>
            </p:cNvPr>
            <p:cNvSpPr/>
            <p:nvPr/>
          </p:nvSpPr>
          <p:spPr>
            <a:xfrm>
              <a:off x="7174390" y="4894533"/>
              <a:ext cx="83820" cy="83820"/>
            </a:xfrm>
            <a:custGeom>
              <a:avLst/>
              <a:gdLst/>
              <a:ahLst/>
              <a:cxnLst/>
              <a:rect l="l" t="t" r="r" b="b"/>
              <a:pathLst>
                <a:path w="83820" h="83820">
                  <a:moveTo>
                    <a:pt x="83695" y="0"/>
                  </a:moveTo>
                  <a:lnTo>
                    <a:pt x="0" y="0"/>
                  </a:lnTo>
                  <a:lnTo>
                    <a:pt x="0" y="83695"/>
                  </a:lnTo>
                  <a:lnTo>
                    <a:pt x="83695" y="83695"/>
                  </a:lnTo>
                  <a:lnTo>
                    <a:pt x="83695" y="0"/>
                  </a:lnTo>
                  <a:close/>
                </a:path>
              </a:pathLst>
            </a:custGeom>
            <a:solidFill>
              <a:srgbClr val="615660"/>
            </a:solidFill>
          </p:spPr>
          <p:txBody>
            <a:bodyPr wrap="square" lIns="0" tIns="0" rIns="0" bIns="0" rtlCol="0"/>
            <a:lstStyle/>
            <a:p>
              <a:endParaRPr/>
            </a:p>
          </p:txBody>
        </p:sp>
        <p:sp>
          <p:nvSpPr>
            <p:cNvPr id="123" name="object 119">
              <a:extLst>
                <a:ext uri="{FF2B5EF4-FFF2-40B4-BE49-F238E27FC236}">
                  <a16:creationId xmlns:a16="http://schemas.microsoft.com/office/drawing/2014/main" id="{BC4D02A5-5C68-4B09-BDF6-1CBBA6204965}"/>
                </a:ext>
              </a:extLst>
            </p:cNvPr>
            <p:cNvSpPr/>
            <p:nvPr/>
          </p:nvSpPr>
          <p:spPr>
            <a:xfrm>
              <a:off x="7174390" y="4894533"/>
              <a:ext cx="83820" cy="83820"/>
            </a:xfrm>
            <a:custGeom>
              <a:avLst/>
              <a:gdLst/>
              <a:ahLst/>
              <a:cxnLst/>
              <a:rect l="l" t="t" r="r" b="b"/>
              <a:pathLst>
                <a:path w="83820" h="83820">
                  <a:moveTo>
                    <a:pt x="0" y="0"/>
                  </a:moveTo>
                  <a:lnTo>
                    <a:pt x="83695" y="0"/>
                  </a:lnTo>
                  <a:lnTo>
                    <a:pt x="83695" y="83696"/>
                  </a:lnTo>
                  <a:lnTo>
                    <a:pt x="0" y="83696"/>
                  </a:lnTo>
                  <a:lnTo>
                    <a:pt x="0" y="0"/>
                  </a:lnTo>
                  <a:close/>
                </a:path>
              </a:pathLst>
            </a:custGeom>
            <a:ln w="9524">
              <a:solidFill>
                <a:srgbClr val="463D45"/>
              </a:solidFill>
            </a:ln>
          </p:spPr>
          <p:txBody>
            <a:bodyPr wrap="square" lIns="0" tIns="0" rIns="0" bIns="0" rtlCol="0"/>
            <a:lstStyle/>
            <a:p>
              <a:endParaRPr/>
            </a:p>
          </p:txBody>
        </p:sp>
        <p:sp>
          <p:nvSpPr>
            <p:cNvPr id="124" name="object 120">
              <a:extLst>
                <a:ext uri="{FF2B5EF4-FFF2-40B4-BE49-F238E27FC236}">
                  <a16:creationId xmlns:a16="http://schemas.microsoft.com/office/drawing/2014/main" id="{D6FA2C74-A716-437E-9D6E-6F882BB560E9}"/>
                </a:ext>
              </a:extLst>
            </p:cNvPr>
            <p:cNvSpPr/>
            <p:nvPr/>
          </p:nvSpPr>
          <p:spPr>
            <a:xfrm>
              <a:off x="7174390" y="5180263"/>
              <a:ext cx="83820" cy="83820"/>
            </a:xfrm>
            <a:custGeom>
              <a:avLst/>
              <a:gdLst/>
              <a:ahLst/>
              <a:cxnLst/>
              <a:rect l="l" t="t" r="r" b="b"/>
              <a:pathLst>
                <a:path w="83820" h="83820">
                  <a:moveTo>
                    <a:pt x="83695" y="0"/>
                  </a:moveTo>
                  <a:lnTo>
                    <a:pt x="0" y="0"/>
                  </a:lnTo>
                  <a:lnTo>
                    <a:pt x="0" y="83695"/>
                  </a:lnTo>
                  <a:lnTo>
                    <a:pt x="83695" y="83695"/>
                  </a:lnTo>
                  <a:lnTo>
                    <a:pt x="83695" y="0"/>
                  </a:lnTo>
                  <a:close/>
                </a:path>
              </a:pathLst>
            </a:custGeom>
            <a:solidFill>
              <a:srgbClr val="FFD441"/>
            </a:solidFill>
          </p:spPr>
          <p:txBody>
            <a:bodyPr wrap="square" lIns="0" tIns="0" rIns="0" bIns="0" rtlCol="0"/>
            <a:lstStyle/>
            <a:p>
              <a:endParaRPr/>
            </a:p>
          </p:txBody>
        </p:sp>
        <p:sp>
          <p:nvSpPr>
            <p:cNvPr id="125" name="object 121">
              <a:extLst>
                <a:ext uri="{FF2B5EF4-FFF2-40B4-BE49-F238E27FC236}">
                  <a16:creationId xmlns:a16="http://schemas.microsoft.com/office/drawing/2014/main" id="{62AE5A16-8F1E-4D42-8E6B-310222FB38F0}"/>
                </a:ext>
              </a:extLst>
            </p:cNvPr>
            <p:cNvSpPr/>
            <p:nvPr/>
          </p:nvSpPr>
          <p:spPr>
            <a:xfrm>
              <a:off x="7174390" y="5180263"/>
              <a:ext cx="83820" cy="83820"/>
            </a:xfrm>
            <a:custGeom>
              <a:avLst/>
              <a:gdLst/>
              <a:ahLst/>
              <a:cxnLst/>
              <a:rect l="l" t="t" r="r" b="b"/>
              <a:pathLst>
                <a:path w="83820" h="83820">
                  <a:moveTo>
                    <a:pt x="0" y="0"/>
                  </a:moveTo>
                  <a:lnTo>
                    <a:pt x="83695" y="0"/>
                  </a:lnTo>
                  <a:lnTo>
                    <a:pt x="83695" y="83695"/>
                  </a:lnTo>
                  <a:lnTo>
                    <a:pt x="0" y="83695"/>
                  </a:lnTo>
                  <a:lnTo>
                    <a:pt x="0" y="0"/>
                  </a:lnTo>
                  <a:close/>
                </a:path>
              </a:pathLst>
            </a:custGeom>
            <a:ln w="9524">
              <a:solidFill>
                <a:srgbClr val="C8A326"/>
              </a:solidFill>
            </a:ln>
          </p:spPr>
          <p:txBody>
            <a:bodyPr wrap="square" lIns="0" tIns="0" rIns="0" bIns="0" rtlCol="0"/>
            <a:lstStyle/>
            <a:p>
              <a:endParaRPr/>
            </a:p>
          </p:txBody>
        </p:sp>
        <p:sp>
          <p:nvSpPr>
            <p:cNvPr id="126" name="object 122">
              <a:extLst>
                <a:ext uri="{FF2B5EF4-FFF2-40B4-BE49-F238E27FC236}">
                  <a16:creationId xmlns:a16="http://schemas.microsoft.com/office/drawing/2014/main" id="{58126999-3C89-4A10-8A14-45040D03C92D}"/>
                </a:ext>
              </a:extLst>
            </p:cNvPr>
            <p:cNvSpPr/>
            <p:nvPr/>
          </p:nvSpPr>
          <p:spPr>
            <a:xfrm>
              <a:off x="7174390" y="5465994"/>
              <a:ext cx="83820" cy="83820"/>
            </a:xfrm>
            <a:custGeom>
              <a:avLst/>
              <a:gdLst/>
              <a:ahLst/>
              <a:cxnLst/>
              <a:rect l="l" t="t" r="r" b="b"/>
              <a:pathLst>
                <a:path w="83820" h="83820">
                  <a:moveTo>
                    <a:pt x="83695" y="0"/>
                  </a:moveTo>
                  <a:lnTo>
                    <a:pt x="0" y="0"/>
                  </a:lnTo>
                  <a:lnTo>
                    <a:pt x="0" y="83695"/>
                  </a:lnTo>
                  <a:lnTo>
                    <a:pt x="83695" y="83695"/>
                  </a:lnTo>
                  <a:lnTo>
                    <a:pt x="83695" y="0"/>
                  </a:lnTo>
                  <a:close/>
                </a:path>
              </a:pathLst>
            </a:custGeom>
            <a:solidFill>
              <a:srgbClr val="C0C0C0"/>
            </a:solidFill>
          </p:spPr>
          <p:txBody>
            <a:bodyPr wrap="square" lIns="0" tIns="0" rIns="0" bIns="0" rtlCol="0"/>
            <a:lstStyle/>
            <a:p>
              <a:endParaRPr/>
            </a:p>
          </p:txBody>
        </p:sp>
        <p:sp>
          <p:nvSpPr>
            <p:cNvPr id="127" name="object 123">
              <a:extLst>
                <a:ext uri="{FF2B5EF4-FFF2-40B4-BE49-F238E27FC236}">
                  <a16:creationId xmlns:a16="http://schemas.microsoft.com/office/drawing/2014/main" id="{E749ACFE-006D-4ECE-BC9D-61825A27C5EB}"/>
                </a:ext>
              </a:extLst>
            </p:cNvPr>
            <p:cNvSpPr/>
            <p:nvPr/>
          </p:nvSpPr>
          <p:spPr>
            <a:xfrm>
              <a:off x="7174390" y="5465994"/>
              <a:ext cx="83820" cy="83820"/>
            </a:xfrm>
            <a:custGeom>
              <a:avLst/>
              <a:gdLst/>
              <a:ahLst/>
              <a:cxnLst/>
              <a:rect l="l" t="t" r="r" b="b"/>
              <a:pathLst>
                <a:path w="83820" h="83820">
                  <a:moveTo>
                    <a:pt x="0" y="0"/>
                  </a:moveTo>
                  <a:lnTo>
                    <a:pt x="83695" y="0"/>
                  </a:lnTo>
                  <a:lnTo>
                    <a:pt x="83695" y="83695"/>
                  </a:lnTo>
                  <a:lnTo>
                    <a:pt x="0" y="83695"/>
                  </a:lnTo>
                  <a:lnTo>
                    <a:pt x="0" y="0"/>
                  </a:lnTo>
                  <a:close/>
                </a:path>
              </a:pathLst>
            </a:custGeom>
            <a:ln w="9524">
              <a:solidFill>
                <a:srgbClr val="929292"/>
              </a:solidFill>
            </a:ln>
          </p:spPr>
          <p:txBody>
            <a:bodyPr wrap="square" lIns="0" tIns="0" rIns="0" bIns="0" rtlCol="0"/>
            <a:lstStyle/>
            <a:p>
              <a:endParaRPr/>
            </a:p>
          </p:txBody>
        </p:sp>
        <p:sp>
          <p:nvSpPr>
            <p:cNvPr id="128" name="object 124">
              <a:extLst>
                <a:ext uri="{FF2B5EF4-FFF2-40B4-BE49-F238E27FC236}">
                  <a16:creationId xmlns:a16="http://schemas.microsoft.com/office/drawing/2014/main" id="{C0BA9C7D-4CB5-4F82-9610-ADF24EDD53C1}"/>
                </a:ext>
              </a:extLst>
            </p:cNvPr>
            <p:cNvSpPr/>
            <p:nvPr/>
          </p:nvSpPr>
          <p:spPr>
            <a:xfrm>
              <a:off x="7174390" y="5751725"/>
              <a:ext cx="83820" cy="83820"/>
            </a:xfrm>
            <a:custGeom>
              <a:avLst/>
              <a:gdLst/>
              <a:ahLst/>
              <a:cxnLst/>
              <a:rect l="l" t="t" r="r" b="b"/>
              <a:pathLst>
                <a:path w="83820" h="83820">
                  <a:moveTo>
                    <a:pt x="83695" y="0"/>
                  </a:moveTo>
                  <a:lnTo>
                    <a:pt x="0" y="0"/>
                  </a:lnTo>
                  <a:lnTo>
                    <a:pt x="0" y="83696"/>
                  </a:lnTo>
                  <a:lnTo>
                    <a:pt x="83695" y="83696"/>
                  </a:lnTo>
                  <a:lnTo>
                    <a:pt x="83695" y="0"/>
                  </a:lnTo>
                  <a:close/>
                </a:path>
              </a:pathLst>
            </a:custGeom>
            <a:solidFill>
              <a:srgbClr val="FF7D00"/>
            </a:solidFill>
          </p:spPr>
          <p:txBody>
            <a:bodyPr wrap="square" lIns="0" tIns="0" rIns="0" bIns="0" rtlCol="0"/>
            <a:lstStyle/>
            <a:p>
              <a:endParaRPr/>
            </a:p>
          </p:txBody>
        </p:sp>
        <p:sp>
          <p:nvSpPr>
            <p:cNvPr id="129" name="object 125">
              <a:extLst>
                <a:ext uri="{FF2B5EF4-FFF2-40B4-BE49-F238E27FC236}">
                  <a16:creationId xmlns:a16="http://schemas.microsoft.com/office/drawing/2014/main" id="{FB29F910-745E-439F-BC9A-2B8E1385FD1C}"/>
                </a:ext>
              </a:extLst>
            </p:cNvPr>
            <p:cNvSpPr/>
            <p:nvPr/>
          </p:nvSpPr>
          <p:spPr>
            <a:xfrm>
              <a:off x="7174390" y="5751725"/>
              <a:ext cx="83820" cy="83820"/>
            </a:xfrm>
            <a:custGeom>
              <a:avLst/>
              <a:gdLst/>
              <a:ahLst/>
              <a:cxnLst/>
              <a:rect l="l" t="t" r="r" b="b"/>
              <a:pathLst>
                <a:path w="83820" h="83820">
                  <a:moveTo>
                    <a:pt x="0" y="0"/>
                  </a:moveTo>
                  <a:lnTo>
                    <a:pt x="83695" y="0"/>
                  </a:lnTo>
                  <a:lnTo>
                    <a:pt x="83695" y="83695"/>
                  </a:lnTo>
                  <a:lnTo>
                    <a:pt x="0" y="83695"/>
                  </a:lnTo>
                  <a:lnTo>
                    <a:pt x="0" y="0"/>
                  </a:lnTo>
                  <a:close/>
                </a:path>
              </a:pathLst>
            </a:custGeom>
            <a:ln w="9524">
              <a:solidFill>
                <a:srgbClr val="CA5C00"/>
              </a:solidFill>
            </a:ln>
          </p:spPr>
          <p:txBody>
            <a:bodyPr wrap="square" lIns="0" tIns="0" rIns="0" bIns="0" rtlCol="0"/>
            <a:lstStyle/>
            <a:p>
              <a:endParaRPr/>
            </a:p>
          </p:txBody>
        </p:sp>
        <p:sp>
          <p:nvSpPr>
            <p:cNvPr id="130" name="object 126">
              <a:extLst>
                <a:ext uri="{FF2B5EF4-FFF2-40B4-BE49-F238E27FC236}">
                  <a16:creationId xmlns:a16="http://schemas.microsoft.com/office/drawing/2014/main" id="{822E3995-F464-4859-A9FA-D4A36F237ED7}"/>
                </a:ext>
              </a:extLst>
            </p:cNvPr>
            <p:cNvSpPr/>
            <p:nvPr/>
          </p:nvSpPr>
          <p:spPr>
            <a:xfrm>
              <a:off x="7174390" y="6037456"/>
              <a:ext cx="83820" cy="83820"/>
            </a:xfrm>
            <a:custGeom>
              <a:avLst/>
              <a:gdLst/>
              <a:ahLst/>
              <a:cxnLst/>
              <a:rect l="l" t="t" r="r" b="b"/>
              <a:pathLst>
                <a:path w="83820" h="83820">
                  <a:moveTo>
                    <a:pt x="83695" y="0"/>
                  </a:moveTo>
                  <a:lnTo>
                    <a:pt x="0" y="0"/>
                  </a:lnTo>
                  <a:lnTo>
                    <a:pt x="0" y="83696"/>
                  </a:lnTo>
                  <a:lnTo>
                    <a:pt x="83695" y="83696"/>
                  </a:lnTo>
                  <a:lnTo>
                    <a:pt x="83695" y="0"/>
                  </a:lnTo>
                  <a:close/>
                </a:path>
              </a:pathLst>
            </a:custGeom>
            <a:solidFill>
              <a:srgbClr val="FF2600"/>
            </a:solidFill>
          </p:spPr>
          <p:txBody>
            <a:bodyPr wrap="square" lIns="0" tIns="0" rIns="0" bIns="0" rtlCol="0"/>
            <a:lstStyle/>
            <a:p>
              <a:endParaRPr/>
            </a:p>
          </p:txBody>
        </p:sp>
        <p:sp>
          <p:nvSpPr>
            <p:cNvPr id="131" name="object 127">
              <a:extLst>
                <a:ext uri="{FF2B5EF4-FFF2-40B4-BE49-F238E27FC236}">
                  <a16:creationId xmlns:a16="http://schemas.microsoft.com/office/drawing/2014/main" id="{43CE255A-D46E-4F6D-A7A1-ACAF84B9DD6F}"/>
                </a:ext>
              </a:extLst>
            </p:cNvPr>
            <p:cNvSpPr/>
            <p:nvPr/>
          </p:nvSpPr>
          <p:spPr>
            <a:xfrm>
              <a:off x="7174390" y="6037456"/>
              <a:ext cx="83820" cy="83820"/>
            </a:xfrm>
            <a:custGeom>
              <a:avLst/>
              <a:gdLst/>
              <a:ahLst/>
              <a:cxnLst/>
              <a:rect l="l" t="t" r="r" b="b"/>
              <a:pathLst>
                <a:path w="83820" h="83820">
                  <a:moveTo>
                    <a:pt x="0" y="0"/>
                  </a:moveTo>
                  <a:lnTo>
                    <a:pt x="83695" y="0"/>
                  </a:lnTo>
                  <a:lnTo>
                    <a:pt x="83695" y="83696"/>
                  </a:lnTo>
                  <a:lnTo>
                    <a:pt x="0" y="83696"/>
                  </a:lnTo>
                  <a:lnTo>
                    <a:pt x="0" y="0"/>
                  </a:lnTo>
                  <a:close/>
                </a:path>
              </a:pathLst>
            </a:custGeom>
            <a:ln w="9524">
              <a:solidFill>
                <a:srgbClr val="CA1B00"/>
              </a:solidFill>
            </a:ln>
          </p:spPr>
          <p:txBody>
            <a:bodyPr wrap="square" lIns="0" tIns="0" rIns="0" bIns="0" rtlCol="0"/>
            <a:lstStyle/>
            <a:p>
              <a:endParaRPr/>
            </a:p>
          </p:txBody>
        </p:sp>
      </p:grpSp>
      <p:sp>
        <p:nvSpPr>
          <p:cNvPr id="132" name="object 128">
            <a:extLst>
              <a:ext uri="{FF2B5EF4-FFF2-40B4-BE49-F238E27FC236}">
                <a16:creationId xmlns:a16="http://schemas.microsoft.com/office/drawing/2014/main" id="{D7D3351E-BA82-4C2B-8730-33F39B1927A0}"/>
              </a:ext>
            </a:extLst>
          </p:cNvPr>
          <p:cNvSpPr txBox="1"/>
          <p:nvPr/>
        </p:nvSpPr>
        <p:spPr>
          <a:xfrm>
            <a:off x="8873723" y="4991211"/>
            <a:ext cx="1022350" cy="1454150"/>
          </a:xfrm>
          <a:prstGeom prst="rect">
            <a:avLst/>
          </a:prstGeom>
        </p:spPr>
        <p:txBody>
          <a:bodyPr vert="horz" wrap="square" lIns="0" tIns="12700" rIns="0" bIns="0" rtlCol="0">
            <a:spAutoFit/>
          </a:bodyPr>
          <a:lstStyle/>
          <a:p>
            <a:pPr marR="516890">
              <a:lnSpc>
                <a:spcPct val="156200"/>
              </a:lnSpc>
              <a:spcBef>
                <a:spcPts val="100"/>
              </a:spcBef>
            </a:pPr>
            <a:r>
              <a:rPr sz="1200" spc="-10" dirty="0">
                <a:latin typeface="Calibri"/>
                <a:cs typeface="Calibri"/>
              </a:rPr>
              <a:t>Android </a:t>
            </a:r>
            <a:r>
              <a:rPr sz="1200" spc="-25" dirty="0">
                <a:latin typeface="Calibri"/>
                <a:cs typeface="Calibri"/>
              </a:rPr>
              <a:t>iOS</a:t>
            </a:r>
            <a:endParaRPr sz="1200">
              <a:latin typeface="Calibri"/>
              <a:cs typeface="Calibri"/>
            </a:endParaRPr>
          </a:p>
          <a:p>
            <a:pPr marR="5080">
              <a:lnSpc>
                <a:spcPct val="156200"/>
              </a:lnSpc>
            </a:pPr>
            <a:r>
              <a:rPr sz="1200" dirty="0">
                <a:latin typeface="Calibri"/>
                <a:cs typeface="Calibri"/>
              </a:rPr>
              <a:t>Windows</a:t>
            </a:r>
            <a:r>
              <a:rPr sz="1200" spc="-30" dirty="0">
                <a:latin typeface="Calibri"/>
                <a:cs typeface="Calibri"/>
              </a:rPr>
              <a:t> </a:t>
            </a:r>
            <a:r>
              <a:rPr sz="1200" spc="-20" dirty="0">
                <a:latin typeface="Calibri"/>
                <a:cs typeface="Calibri"/>
              </a:rPr>
              <a:t>Phone </a:t>
            </a:r>
            <a:r>
              <a:rPr sz="1200" spc="-10" dirty="0">
                <a:latin typeface="Calibri"/>
                <a:cs typeface="Calibri"/>
              </a:rPr>
              <a:t>Blackberry</a:t>
            </a:r>
            <a:r>
              <a:rPr sz="1200" spc="500" dirty="0">
                <a:latin typeface="Calibri"/>
                <a:cs typeface="Calibri"/>
              </a:rPr>
              <a:t> </a:t>
            </a:r>
            <a:r>
              <a:rPr sz="1200" spc="-10" dirty="0">
                <a:latin typeface="Calibri"/>
                <a:cs typeface="Calibri"/>
              </a:rPr>
              <a:t>Other</a:t>
            </a:r>
            <a:endParaRPr sz="1200">
              <a:latin typeface="Calibri"/>
              <a:cs typeface="Calibri"/>
            </a:endParaRPr>
          </a:p>
        </p:txBody>
      </p:sp>
      <p:sp>
        <p:nvSpPr>
          <p:cNvPr id="133" name="object 129">
            <a:extLst>
              <a:ext uri="{FF2B5EF4-FFF2-40B4-BE49-F238E27FC236}">
                <a16:creationId xmlns:a16="http://schemas.microsoft.com/office/drawing/2014/main" id="{373513E7-3FE9-43BD-84C3-D8A9FCD4CF32}"/>
              </a:ext>
            </a:extLst>
          </p:cNvPr>
          <p:cNvSpPr/>
          <p:nvPr/>
        </p:nvSpPr>
        <p:spPr>
          <a:xfrm>
            <a:off x="6248400" y="4572000"/>
            <a:ext cx="3806190" cy="2039620"/>
          </a:xfrm>
          <a:custGeom>
            <a:avLst/>
            <a:gdLst/>
            <a:ahLst/>
            <a:cxnLst/>
            <a:rect l="l" t="t" r="r" b="b"/>
            <a:pathLst>
              <a:path w="3806190" h="2039620">
                <a:moveTo>
                  <a:pt x="0" y="0"/>
                </a:moveTo>
                <a:lnTo>
                  <a:pt x="3805900" y="0"/>
                </a:lnTo>
                <a:lnTo>
                  <a:pt x="3805900" y="2039287"/>
                </a:lnTo>
                <a:lnTo>
                  <a:pt x="0" y="2039287"/>
                </a:lnTo>
                <a:lnTo>
                  <a:pt x="0" y="0"/>
                </a:lnTo>
                <a:close/>
              </a:path>
            </a:pathLst>
          </a:custGeom>
          <a:ln w="9524">
            <a:solidFill>
              <a:srgbClr val="989898"/>
            </a:solidFill>
          </a:ln>
        </p:spPr>
        <p:txBody>
          <a:bodyPr wrap="square" lIns="0" tIns="0" rIns="0" bIns="0" rtlCol="0"/>
          <a:lstStyle/>
          <a:p>
            <a:endParaRPr/>
          </a:p>
        </p:txBody>
      </p:sp>
    </p:spTree>
    <p:extLst>
      <p:ext uri="{BB962C8B-B14F-4D97-AF65-F5344CB8AC3E}">
        <p14:creationId xmlns:p14="http://schemas.microsoft.com/office/powerpoint/2010/main" val="2955928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dirty="0"/>
              <a:t>Contraintes Matérielles</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609600" y="1536700"/>
            <a:ext cx="10972800" cy="4159313"/>
          </a:xfrm>
          <a:prstGeom prst="rect">
            <a:avLst/>
          </a:prstGeom>
        </p:spPr>
        <p:txBody>
          <a:bodyPr wrap="square">
            <a:spAutoFit/>
          </a:bodyPr>
          <a:lstStyle/>
          <a:p>
            <a:pPr marL="95250" marR="845819" indent="0">
              <a:lnSpc>
                <a:spcPts val="2800"/>
              </a:lnSpc>
              <a:spcBef>
                <a:spcPts val="1645"/>
              </a:spcBef>
              <a:buClr>
                <a:srgbClr val="408043"/>
              </a:buClr>
              <a:buSzPct val="79166"/>
              <a:buNone/>
              <a:tabLst>
                <a:tab pos="438150" algn="l"/>
              </a:tabLst>
            </a:pPr>
            <a:r>
              <a:rPr lang="fr-FR" sz="1800" dirty="0">
                <a:latin typeface="Calibri" panose="020F0502020204030204" pitchFamily="34" charset="0"/>
                <a:cs typeface="Calibri" panose="020F0502020204030204" pitchFamily="34" charset="0"/>
              </a:rPr>
              <a:t>En développant des applications pour mobiles, il faut prendre en considération certaines contraintes des appareils cibles:</a:t>
            </a:r>
          </a:p>
          <a:p>
            <a:pPr marL="438150" indent="-342900">
              <a:spcBef>
                <a:spcPts val="600"/>
              </a:spcBef>
              <a:buClr>
                <a:srgbClr val="408043"/>
              </a:buClr>
              <a:buSzPct val="79166"/>
              <a:buFont typeface="Arial"/>
              <a:buChar char="•"/>
              <a:tabLst>
                <a:tab pos="438150" algn="l"/>
              </a:tabLst>
            </a:pPr>
            <a:r>
              <a:rPr lang="fr-FR" sz="1800" b="1" dirty="0">
                <a:solidFill>
                  <a:srgbClr val="408043"/>
                </a:solidFill>
                <a:latin typeface="Calibri" panose="020F0502020204030204" pitchFamily="34" charset="0"/>
                <a:cs typeface="Calibri" panose="020F0502020204030204" pitchFamily="34" charset="0"/>
              </a:rPr>
              <a:t>Mémoire limitée / Processeur lent</a:t>
            </a:r>
          </a:p>
          <a:p>
            <a:pPr marL="895350" marR="640715" lvl="1" indent="-342900">
              <a:lnSpc>
                <a:spcPct val="98300"/>
              </a:lnSpc>
              <a:spcBef>
                <a:spcPts val="565"/>
              </a:spcBef>
              <a:buFont typeface="Arial"/>
              <a:buChar char="•"/>
              <a:tabLst>
                <a:tab pos="895350" algn="l"/>
              </a:tabLst>
            </a:pPr>
            <a:r>
              <a:rPr lang="fr-FR" sz="1800" dirty="0">
                <a:latin typeface="Calibri" panose="020F0502020204030204" pitchFamily="34" charset="0"/>
                <a:cs typeface="Calibri" panose="020F0502020204030204" pitchFamily="34" charset="0"/>
              </a:rPr>
              <a:t>Bien que les nouveaux modèles haut de gamme arrivent à 3Go de RAM (même 4 prévu pour 2015), la plupart des smartphones souffrent d’un temps de chargement long</a:t>
            </a:r>
          </a:p>
          <a:p>
            <a:pPr marL="895350" lvl="1" indent="-342900">
              <a:spcBef>
                <a:spcPts val="480"/>
              </a:spcBef>
              <a:buFont typeface="Arial"/>
              <a:buChar char="•"/>
              <a:tabLst>
                <a:tab pos="895350" algn="l"/>
              </a:tabLst>
            </a:pPr>
            <a:r>
              <a:rPr lang="fr-FR" sz="1800" dirty="0">
                <a:latin typeface="Calibri" panose="020F0502020204030204" pitchFamily="34" charset="0"/>
                <a:cs typeface="Calibri" panose="020F0502020204030204" pitchFamily="34" charset="0"/>
              </a:rPr>
              <a:t>Bien faire attention au type de public ciblé</a:t>
            </a:r>
          </a:p>
          <a:p>
            <a:pPr marL="895350" lvl="1" indent="-342900">
              <a:spcBef>
                <a:spcPts val="500"/>
              </a:spcBef>
              <a:buFont typeface="Arial"/>
              <a:buChar char="•"/>
              <a:tabLst>
                <a:tab pos="895350" algn="l"/>
              </a:tabLst>
            </a:pPr>
            <a:r>
              <a:rPr lang="fr-FR" sz="1800" dirty="0">
                <a:latin typeface="Calibri" panose="020F0502020204030204" pitchFamily="34" charset="0"/>
                <a:cs typeface="Calibri" panose="020F0502020204030204" pitchFamily="34" charset="0"/>
              </a:rPr>
              <a:t>Éviter les traitements complexes, gourmands en mémoire</a:t>
            </a:r>
          </a:p>
          <a:p>
            <a:pPr marL="438150" indent="-342900">
              <a:spcBef>
                <a:spcPts val="600"/>
              </a:spcBef>
              <a:buClrTx/>
              <a:buSzPct val="79166"/>
              <a:buFont typeface="Arial"/>
              <a:buChar char="•"/>
              <a:tabLst>
                <a:tab pos="438150" algn="l"/>
              </a:tabLst>
            </a:pPr>
            <a:r>
              <a:rPr lang="fr-FR" sz="1800" b="1" dirty="0">
                <a:solidFill>
                  <a:srgbClr val="408043"/>
                </a:solidFill>
                <a:latin typeface="Calibri" panose="020F0502020204030204" pitchFamily="34" charset="0"/>
                <a:cs typeface="Calibri" panose="020F0502020204030204" pitchFamily="34" charset="0"/>
              </a:rPr>
              <a:t>Capacité de stockage limitée</a:t>
            </a:r>
          </a:p>
          <a:p>
            <a:pPr marL="895350" marR="245110" lvl="1" indent="-342900">
              <a:lnSpc>
                <a:spcPts val="2320"/>
              </a:lnSpc>
              <a:spcBef>
                <a:spcPts val="665"/>
              </a:spcBef>
              <a:buFont typeface="Arial"/>
              <a:buChar char="•"/>
              <a:tabLst>
                <a:tab pos="895350" algn="l"/>
              </a:tabLst>
            </a:pPr>
            <a:r>
              <a:rPr lang="fr-FR" sz="1800" dirty="0">
                <a:latin typeface="Calibri" panose="020F0502020204030204" pitchFamily="34" charset="0"/>
                <a:cs typeface="Calibri" panose="020F0502020204030204" pitchFamily="34" charset="0"/>
              </a:rPr>
              <a:t>Quelques smartphones très haut de gamme (iPhone6) ont une mémoire de 128Go</a:t>
            </a:r>
          </a:p>
          <a:p>
            <a:pPr marL="895350" lvl="1" indent="-342900">
              <a:spcBef>
                <a:spcPts val="415"/>
              </a:spcBef>
              <a:buFont typeface="Arial"/>
              <a:buChar char="•"/>
              <a:tabLst>
                <a:tab pos="895350" algn="l"/>
              </a:tabLst>
            </a:pPr>
            <a:r>
              <a:rPr lang="fr-FR" sz="1800" dirty="0">
                <a:latin typeface="Calibri" panose="020F0502020204030204" pitchFamily="34" charset="0"/>
                <a:cs typeface="Calibri" panose="020F0502020204030204" pitchFamily="34" charset="0"/>
              </a:rPr>
              <a:t>Mais plusieurs modèles d’entrée de gamme n’ont que 4Go (majorité de 16G0)</a:t>
            </a:r>
          </a:p>
          <a:p>
            <a:pPr marL="895350" lvl="1" indent="-342900">
              <a:spcBef>
                <a:spcPts val="500"/>
              </a:spcBef>
              <a:buFont typeface="Arial"/>
              <a:buChar char="•"/>
              <a:tabLst>
                <a:tab pos="895350" algn="l"/>
              </a:tabLst>
            </a:pPr>
            <a:r>
              <a:rPr lang="fr-FR" sz="1800" dirty="0">
                <a:latin typeface="Calibri" panose="020F0502020204030204" pitchFamily="34" charset="0"/>
                <a:cs typeface="Calibri" panose="020F0502020204030204" pitchFamily="34" charset="0"/>
              </a:rPr>
              <a:t>Penser à s’orienter plus vers le stockage sur le cloud, par exemple.</a:t>
            </a:r>
          </a:p>
        </p:txBody>
      </p:sp>
    </p:spTree>
    <p:extLst>
      <p:ext uri="{BB962C8B-B14F-4D97-AF65-F5344CB8AC3E}">
        <p14:creationId xmlns:p14="http://schemas.microsoft.com/office/powerpoint/2010/main" val="559958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dirty="0"/>
              <a:t>Contraintes Matérielles</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609600" y="1536700"/>
            <a:ext cx="10972800" cy="3981124"/>
          </a:xfrm>
          <a:prstGeom prst="rect">
            <a:avLst/>
          </a:prstGeom>
        </p:spPr>
        <p:txBody>
          <a:bodyPr wrap="square">
            <a:spAutoFit/>
          </a:bodyPr>
          <a:lstStyle/>
          <a:p>
            <a:pPr marL="438150" indent="-342900">
              <a:spcBef>
                <a:spcPts val="600"/>
              </a:spcBef>
              <a:buClr>
                <a:srgbClr val="408043"/>
              </a:buClr>
              <a:buSzPct val="79166"/>
              <a:buFont typeface="Arial"/>
              <a:buChar char="•"/>
              <a:tabLst>
                <a:tab pos="438150" algn="l"/>
              </a:tabLst>
            </a:pPr>
            <a:r>
              <a:rPr lang="fr-FR" sz="1800" b="1" dirty="0">
                <a:solidFill>
                  <a:srgbClr val="408043"/>
                </a:solidFill>
                <a:latin typeface="Calibri" panose="020F0502020204030204" pitchFamily="34" charset="0"/>
                <a:cs typeface="Calibri" panose="020F0502020204030204" pitchFamily="34" charset="0"/>
              </a:rPr>
              <a:t>Autonomie</a:t>
            </a:r>
          </a:p>
          <a:p>
            <a:pPr marL="895350" marR="304800" lvl="1" indent="-342900">
              <a:lnSpc>
                <a:spcPct val="100800"/>
              </a:lnSpc>
              <a:spcBef>
                <a:spcPts val="38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Éviter les applications gourmandes en énergie (caméra vidéo par exemple, nécessaire pour la réalité augmentée)</a:t>
            </a:r>
          </a:p>
          <a:p>
            <a:pPr marL="895350" lvl="1" indent="-342900">
              <a:spcBef>
                <a:spcPts val="48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Application doit supporter</a:t>
            </a:r>
          </a:p>
          <a:p>
            <a:pPr marL="438150" indent="-342900">
              <a:spcBef>
                <a:spcPts val="600"/>
              </a:spcBef>
              <a:buClr>
                <a:srgbClr val="408043"/>
              </a:buClr>
              <a:buSzPct val="79166"/>
              <a:buFont typeface="Arial"/>
              <a:buChar char="•"/>
              <a:tabLst>
                <a:tab pos="438150" algn="l"/>
              </a:tabLst>
            </a:pPr>
            <a:r>
              <a:rPr lang="fr-FR" sz="1800" b="1" dirty="0">
                <a:solidFill>
                  <a:srgbClr val="408043"/>
                </a:solidFill>
                <a:latin typeface="Calibri" panose="020F0502020204030204" pitchFamily="34" charset="0"/>
                <a:cs typeface="Calibri" panose="020F0502020204030204" pitchFamily="34" charset="0"/>
              </a:rPr>
              <a:t>Taille d’écran réduite et variable</a:t>
            </a:r>
          </a:p>
          <a:p>
            <a:pPr marL="895350" lvl="1" indent="-342900">
              <a:spcBef>
                <a:spcPts val="42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Réduction du contexte de l’application par rapport à un écran</a:t>
            </a:r>
          </a:p>
          <a:p>
            <a:pPr marL="895350" lvl="1" indent="-342900">
              <a:spcBef>
                <a:spcPts val="50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Tailles varient d’un appareil à un autre (smartphone, tablette, phablette,…)</a:t>
            </a:r>
          </a:p>
          <a:p>
            <a:pPr marL="895350" lvl="1" indent="-342900">
              <a:spcBef>
                <a:spcPts val="50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Exploiter tout l’espace fourni de manière optimale</a:t>
            </a:r>
          </a:p>
          <a:p>
            <a:pPr marL="895350" marR="251460" lvl="1" indent="-342900">
              <a:lnSpc>
                <a:spcPct val="100800"/>
              </a:lnSpc>
              <a:spcBef>
                <a:spcPts val="484"/>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S’orienter dans le développement vers le responsive-design (adaptable à la taille de l’écran)</a:t>
            </a:r>
          </a:p>
          <a:p>
            <a:pPr marL="895350" marR="916940" lvl="1" indent="-342900">
              <a:lnSpc>
                <a:spcPts val="2320"/>
              </a:lnSpc>
              <a:spcBef>
                <a:spcPts val="62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Penser à des choix d’IHM qui facilitent la navigation (un header fixe, utilisation des icônes à la place des mots…)</a:t>
            </a:r>
          </a:p>
        </p:txBody>
      </p:sp>
    </p:spTree>
    <p:extLst>
      <p:ext uri="{BB962C8B-B14F-4D97-AF65-F5344CB8AC3E}">
        <p14:creationId xmlns:p14="http://schemas.microsoft.com/office/powerpoint/2010/main" val="2376466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dirty="0"/>
              <a:t>Contraintes Matérielles</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609600" y="1536700"/>
            <a:ext cx="10972800" cy="4832062"/>
          </a:xfrm>
          <a:prstGeom prst="rect">
            <a:avLst/>
          </a:prstGeom>
        </p:spPr>
        <p:txBody>
          <a:bodyPr wrap="square">
            <a:spAutoFit/>
          </a:bodyPr>
          <a:lstStyle/>
          <a:p>
            <a:pPr marL="438150" indent="-342900">
              <a:spcBef>
                <a:spcPts val="600"/>
              </a:spcBef>
              <a:buClrTx/>
              <a:buSzPct val="79166"/>
              <a:buFont typeface="Arial"/>
              <a:buChar char="•"/>
              <a:tabLst>
                <a:tab pos="438150" algn="l"/>
              </a:tabLst>
            </a:pPr>
            <a:r>
              <a:rPr lang="fr-FR" sz="1800" b="1" dirty="0">
                <a:solidFill>
                  <a:srgbClr val="408043"/>
                </a:solidFill>
                <a:latin typeface="Calibri" panose="020F0502020204030204" pitchFamily="34" charset="0"/>
                <a:cs typeface="Calibri" panose="020F0502020204030204" pitchFamily="34" charset="0"/>
              </a:rPr>
              <a:t>Problèmes de Connectivité</a:t>
            </a:r>
          </a:p>
          <a:p>
            <a:pPr marL="895350" lvl="1" indent="-342900">
              <a:spcBef>
                <a:spcPts val="145"/>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Problèmes de connectivité dus à la mobilité</a:t>
            </a:r>
          </a:p>
          <a:p>
            <a:pPr marL="895350" lvl="1" indent="-342900">
              <a:spcBef>
                <a:spcPts val="22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Utilisation des réseaux 3G/4G, donc payants</a:t>
            </a:r>
          </a:p>
          <a:p>
            <a:pPr marL="895350" lvl="1" indent="-342900">
              <a:spcBef>
                <a:spcPts val="22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Penser à un mode offline pour vos applications/sites</a:t>
            </a:r>
          </a:p>
          <a:p>
            <a:pPr marL="895350" lvl="1" indent="-342900">
              <a:spcBef>
                <a:spcPts val="32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Attention aux mises à jour automatiques</a:t>
            </a:r>
          </a:p>
          <a:p>
            <a:pPr marL="438150" indent="-342900">
              <a:spcBef>
                <a:spcPts val="600"/>
              </a:spcBef>
              <a:buClrTx/>
              <a:buSzPct val="79166"/>
              <a:buFont typeface="Arial"/>
              <a:buChar char="•"/>
              <a:tabLst>
                <a:tab pos="438150" algn="l"/>
              </a:tabLst>
            </a:pPr>
            <a:r>
              <a:rPr lang="fr-FR" sz="1800" b="1" dirty="0">
                <a:solidFill>
                  <a:srgbClr val="408043"/>
                </a:solidFill>
                <a:latin typeface="Calibri" panose="020F0502020204030204" pitchFamily="34" charset="0"/>
                <a:cs typeface="Calibri" panose="020F0502020204030204" pitchFamily="34" charset="0"/>
              </a:rPr>
              <a:t>Téléchargement plus lent</a:t>
            </a:r>
          </a:p>
          <a:p>
            <a:pPr marL="895350" marR="625475" lvl="1" indent="-342900">
              <a:lnSpc>
                <a:spcPts val="2039"/>
              </a:lnSpc>
              <a:spcBef>
                <a:spcPts val="489"/>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Connexions internet plus lentes, latence réseau et mémoire et processeur limités</a:t>
            </a:r>
          </a:p>
          <a:p>
            <a:pPr marL="1352550" lvl="2" indent="-342900">
              <a:spcBef>
                <a:spcPts val="120"/>
              </a:spcBef>
              <a:buClr>
                <a:srgbClr val="408043"/>
              </a:buClr>
              <a:buFont typeface="Arial"/>
              <a:buChar char="•"/>
              <a:tabLst>
                <a:tab pos="1352550" algn="l"/>
              </a:tabLst>
            </a:pPr>
            <a:r>
              <a:rPr lang="fr-FR" sz="1800" dirty="0">
                <a:latin typeface="Calibri" panose="020F0502020204030204" pitchFamily="34" charset="0"/>
                <a:cs typeface="Calibri" panose="020F0502020204030204" pitchFamily="34" charset="0"/>
              </a:rPr>
              <a:t>Vitesse de téléchargement assez faible par rapport aux ordinateurs</a:t>
            </a:r>
          </a:p>
          <a:p>
            <a:pPr marL="895350" marR="267335" lvl="1" indent="-342900">
              <a:lnSpc>
                <a:spcPts val="2039"/>
              </a:lnSpc>
              <a:spcBef>
                <a:spcPts val="56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80% des utilisateurs ne veulent pas utiliser leur téléphone pour surfer sur le web</a:t>
            </a:r>
          </a:p>
          <a:p>
            <a:pPr marL="895350" marR="342900" lvl="1" indent="-342900">
              <a:lnSpc>
                <a:spcPts val="2039"/>
              </a:lnSpc>
              <a:spcBef>
                <a:spcPts val="42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64% s’attendent à ce qu’une page soit disponible en 4s, alors qu’en moyenne, un smartphone la télécharge en 9s</a:t>
            </a:r>
          </a:p>
          <a:p>
            <a:pPr marL="895350" marR="800100" lvl="1" indent="-342900">
              <a:lnSpc>
                <a:spcPts val="2039"/>
              </a:lnSpc>
              <a:spcBef>
                <a:spcPts val="52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Utiliser des technologies qui facilitent le chargement des pages, comme l’exploitation de la cache, ou l’utilisation de CSS3</a:t>
            </a:r>
          </a:p>
          <a:p>
            <a:pPr marL="895350" lvl="1" indent="-342900">
              <a:spcBef>
                <a:spcPts val="15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Réduire la taille des images, le nombre de fichiers et les traitements côté client</a:t>
            </a:r>
          </a:p>
          <a:p>
            <a:pPr marL="438150" indent="-342900">
              <a:spcBef>
                <a:spcPts val="500"/>
              </a:spcBef>
              <a:buFont typeface="Arial"/>
              <a:buChar char="•"/>
              <a:tabLst>
                <a:tab pos="895350" algn="l"/>
              </a:tabLst>
            </a:pPr>
            <a:endParaRPr lang="fr-FR"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57245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dirty="0"/>
              <a:t>Contraintes Matérielles</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609600" y="1536700"/>
            <a:ext cx="10972800" cy="5068408"/>
          </a:xfrm>
          <a:prstGeom prst="rect">
            <a:avLst/>
          </a:prstGeom>
        </p:spPr>
        <p:txBody>
          <a:bodyPr wrap="square">
            <a:spAutoFit/>
          </a:bodyPr>
          <a:lstStyle/>
          <a:p>
            <a:pPr marL="438150" indent="-342900">
              <a:spcBef>
                <a:spcPts val="600"/>
              </a:spcBef>
              <a:buClrTx/>
              <a:buSzPct val="79166"/>
              <a:buFont typeface="Arial"/>
              <a:buChar char="•"/>
              <a:tabLst>
                <a:tab pos="438150" algn="l"/>
              </a:tabLst>
            </a:pPr>
            <a:r>
              <a:rPr lang="fr-FR" sz="1800" b="1" dirty="0">
                <a:solidFill>
                  <a:srgbClr val="408043"/>
                </a:solidFill>
                <a:latin typeface="Calibri" panose="020F0502020204030204" pitchFamily="34" charset="0"/>
                <a:cs typeface="Calibri" panose="020F0502020204030204" pitchFamily="34" charset="0"/>
              </a:rPr>
              <a:t>Manipulation plus délicate</a:t>
            </a:r>
          </a:p>
          <a:p>
            <a:pPr marL="895350" marR="225425" lvl="1" indent="-342900">
              <a:lnSpc>
                <a:spcPct val="100800"/>
              </a:lnSpc>
              <a:spcBef>
                <a:spcPts val="38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Utilisation délicate du clavier tactile, sujette à beaucoup d’erreur de frappe et désagréable pour l’utilisateur</a:t>
            </a:r>
          </a:p>
          <a:p>
            <a:pPr marL="1352550" lvl="2" indent="-342900">
              <a:spcBef>
                <a:spcPts val="434"/>
              </a:spcBef>
              <a:buClr>
                <a:srgbClr val="408043"/>
              </a:buClr>
              <a:buFont typeface="Arial"/>
              <a:buChar char="•"/>
              <a:tabLst>
                <a:tab pos="1352550" algn="l"/>
              </a:tabLst>
            </a:pPr>
            <a:r>
              <a:rPr lang="fr-FR" sz="1800" dirty="0">
                <a:latin typeface="Calibri" panose="020F0502020204030204" pitchFamily="34" charset="0"/>
                <a:cs typeface="Calibri" panose="020F0502020204030204" pitchFamily="34" charset="0"/>
              </a:rPr>
              <a:t>Minimiser le nombre de champs de texte</a:t>
            </a:r>
          </a:p>
          <a:p>
            <a:pPr marL="1352550" lvl="2" indent="-342900">
              <a:spcBef>
                <a:spcPts val="440"/>
              </a:spcBef>
              <a:buClr>
                <a:srgbClr val="408043"/>
              </a:buClr>
              <a:buFont typeface="Arial"/>
              <a:buChar char="•"/>
              <a:tabLst>
                <a:tab pos="1352550" algn="l"/>
              </a:tabLst>
            </a:pPr>
            <a:r>
              <a:rPr lang="fr-FR" sz="1800" dirty="0">
                <a:latin typeface="Calibri" panose="020F0502020204030204" pitchFamily="34" charset="0"/>
                <a:cs typeface="Calibri" panose="020F0502020204030204" pitchFamily="34" charset="0"/>
              </a:rPr>
              <a:t>Favoriser les champs préremplis</a:t>
            </a:r>
          </a:p>
          <a:p>
            <a:pPr marL="1352550" lvl="2" indent="-342900">
              <a:spcBef>
                <a:spcPts val="440"/>
              </a:spcBef>
              <a:buClr>
                <a:srgbClr val="408043"/>
              </a:buClr>
              <a:buFont typeface="Arial"/>
              <a:buChar char="•"/>
              <a:tabLst>
                <a:tab pos="1352550" algn="l"/>
              </a:tabLst>
            </a:pPr>
            <a:r>
              <a:rPr lang="fr-FR" sz="1800" dirty="0">
                <a:latin typeface="Calibri" panose="020F0502020204030204" pitchFamily="34" charset="0"/>
                <a:cs typeface="Calibri" panose="020F0502020204030204" pitchFamily="34" charset="0"/>
              </a:rPr>
              <a:t>Fonctionnalités d’</a:t>
            </a:r>
            <a:r>
              <a:rPr lang="fr-FR" sz="1800" dirty="0" err="1">
                <a:latin typeface="Calibri" panose="020F0502020204030204" pitchFamily="34" charset="0"/>
                <a:cs typeface="Calibri" panose="020F0502020204030204" pitchFamily="34" charset="0"/>
              </a:rPr>
              <a:t>auto-complete</a:t>
            </a:r>
            <a:r>
              <a:rPr lang="fr-FR" sz="1800" dirty="0">
                <a:latin typeface="Calibri" panose="020F0502020204030204" pitchFamily="34" charset="0"/>
                <a:cs typeface="Calibri" panose="020F0502020204030204" pitchFamily="34" charset="0"/>
              </a:rPr>
              <a:t>, correction d’orthographe…</a:t>
            </a:r>
          </a:p>
          <a:p>
            <a:pPr marL="895350" marR="373380" lvl="1" indent="-342900">
              <a:lnSpc>
                <a:spcPts val="2420"/>
              </a:lnSpc>
              <a:spcBef>
                <a:spcPts val="550"/>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Clics invalides, à cause de l’utilisation des doigts (problème appelé du </a:t>
            </a:r>
            <a:r>
              <a:rPr lang="fr-FR" sz="1800" i="1" dirty="0">
                <a:latin typeface="Calibri" panose="020F0502020204030204" pitchFamily="34" charset="0"/>
                <a:cs typeface="Calibri" panose="020F0502020204030204" pitchFamily="34" charset="0"/>
              </a:rPr>
              <a:t>FAT FINGER</a:t>
            </a:r>
            <a:r>
              <a:rPr lang="fr-FR" sz="1800" dirty="0">
                <a:latin typeface="Calibri" panose="020F0502020204030204" pitchFamily="34" charset="0"/>
                <a:cs typeface="Calibri" panose="020F0502020204030204" pitchFamily="34" charset="0"/>
              </a:rPr>
              <a:t>)</a:t>
            </a:r>
          </a:p>
          <a:p>
            <a:pPr marL="1352550" lvl="2" indent="-342900">
              <a:spcBef>
                <a:spcPts val="350"/>
              </a:spcBef>
              <a:buClr>
                <a:srgbClr val="408043"/>
              </a:buClr>
              <a:buFont typeface="Arial"/>
              <a:buChar char="•"/>
              <a:tabLst>
                <a:tab pos="1352550" algn="l"/>
              </a:tabLst>
            </a:pPr>
            <a:r>
              <a:rPr lang="fr-FR" sz="1800" dirty="0">
                <a:latin typeface="Calibri" panose="020F0502020204030204" pitchFamily="34" charset="0"/>
                <a:cs typeface="Calibri" panose="020F0502020204030204" pitchFamily="34" charset="0"/>
              </a:rPr>
              <a:t>Attention à la taille et proximité des éléments cliquables</a:t>
            </a:r>
          </a:p>
          <a:p>
            <a:pPr marL="1352550" lvl="2" indent="-342900">
              <a:spcBef>
                <a:spcPts val="440"/>
              </a:spcBef>
              <a:buClr>
                <a:srgbClr val="408043"/>
              </a:buClr>
              <a:buFont typeface="Arial"/>
              <a:buChar char="•"/>
              <a:tabLst>
                <a:tab pos="1352550" algn="l"/>
              </a:tabLst>
            </a:pPr>
            <a:r>
              <a:rPr lang="fr-FR" sz="1800" dirty="0">
                <a:latin typeface="Calibri" panose="020F0502020204030204" pitchFamily="34" charset="0"/>
                <a:cs typeface="Calibri" panose="020F0502020204030204" pitchFamily="34" charset="0"/>
              </a:rPr>
              <a:t>Penser à une fonctionnalité “Annuler” disponible un peu partout</a:t>
            </a:r>
          </a:p>
          <a:p>
            <a:pPr marL="895350" lvl="1" indent="-342900">
              <a:spcBef>
                <a:spcPts val="434"/>
              </a:spcBef>
              <a:buClr>
                <a:srgbClr val="408043"/>
              </a:buClr>
              <a:buFont typeface="Arial"/>
              <a:buChar char="•"/>
              <a:tabLst>
                <a:tab pos="895350" algn="l"/>
              </a:tabLst>
            </a:pPr>
            <a:r>
              <a:rPr lang="fr-FR" sz="1800" dirty="0">
                <a:latin typeface="Calibri" panose="020F0502020204030204" pitchFamily="34" charset="0"/>
                <a:cs typeface="Calibri" panose="020F0502020204030204" pitchFamily="34" charset="0"/>
              </a:rPr>
              <a:t>Absence de l’effet de survol (</a:t>
            </a:r>
            <a:r>
              <a:rPr lang="fr-FR" sz="1800" i="1" dirty="0" err="1">
                <a:latin typeface="Calibri" panose="020F0502020204030204" pitchFamily="34" charset="0"/>
                <a:cs typeface="Calibri" panose="020F0502020204030204" pitchFamily="34" charset="0"/>
              </a:rPr>
              <a:t>hover</a:t>
            </a:r>
            <a:r>
              <a:rPr lang="fr-FR" sz="1800" dirty="0">
                <a:latin typeface="Calibri" panose="020F0502020204030204" pitchFamily="34" charset="0"/>
                <a:cs typeface="Calibri" panose="020F0502020204030204" pitchFamily="34" charset="0"/>
              </a:rPr>
              <a:t>)</a:t>
            </a:r>
          </a:p>
          <a:p>
            <a:pPr marL="1352550" lvl="2" indent="-342900">
              <a:spcBef>
                <a:spcPts val="345"/>
              </a:spcBef>
              <a:buClr>
                <a:srgbClr val="408043"/>
              </a:buClr>
              <a:buFont typeface="Arial"/>
              <a:buChar char="•"/>
              <a:tabLst>
                <a:tab pos="1352550" algn="l"/>
              </a:tabLst>
            </a:pPr>
            <a:r>
              <a:rPr lang="fr-FR" sz="1800" dirty="0">
                <a:latin typeface="Calibri" panose="020F0502020204030204" pitchFamily="34" charset="0"/>
                <a:cs typeface="Calibri" panose="020F0502020204030204" pitchFamily="34" charset="0"/>
              </a:rPr>
              <a:t>Besoin de plus de liens et de boutons</a:t>
            </a:r>
          </a:p>
          <a:p>
            <a:pPr marL="1352550" marR="112395" lvl="2" indent="-342900">
              <a:spcBef>
                <a:spcPts val="440"/>
              </a:spcBef>
              <a:buClr>
                <a:srgbClr val="408043"/>
              </a:buClr>
              <a:buFont typeface="Arial"/>
              <a:buChar char="•"/>
              <a:tabLst>
                <a:tab pos="1352550" algn="l"/>
              </a:tabLst>
            </a:pPr>
            <a:r>
              <a:rPr lang="fr-FR" sz="1800" dirty="0">
                <a:latin typeface="Calibri" panose="020F0502020204030204" pitchFamily="34" charset="0"/>
                <a:cs typeface="Calibri" panose="020F0502020204030204" pitchFamily="34" charset="0"/>
              </a:rPr>
              <a:t>Utiliser des conventions de conception mobile, comme balayer l’écran (swipe) ou secouer le téléphone (</a:t>
            </a:r>
            <a:r>
              <a:rPr lang="fr-FR" sz="1800" dirty="0" err="1">
                <a:latin typeface="Calibri" panose="020F0502020204030204" pitchFamily="34" charset="0"/>
                <a:cs typeface="Calibri" panose="020F0502020204030204" pitchFamily="34" charset="0"/>
              </a:rPr>
              <a:t>shake</a:t>
            </a:r>
            <a:r>
              <a:rPr lang="fr-FR" sz="1800" dirty="0">
                <a:latin typeface="Calibri" panose="020F0502020204030204" pitchFamily="34" charset="0"/>
                <a:cs typeface="Calibri" panose="020F0502020204030204" pitchFamily="34" charset="0"/>
              </a:rPr>
              <a:t>)</a:t>
            </a:r>
          </a:p>
          <a:p>
            <a:pPr marL="438150" indent="-342900">
              <a:spcBef>
                <a:spcPts val="150"/>
              </a:spcBef>
              <a:buClr>
                <a:srgbClr val="408043"/>
              </a:buClr>
              <a:buFont typeface="Arial"/>
              <a:buChar char="•"/>
              <a:tabLst>
                <a:tab pos="895350" algn="l"/>
              </a:tabLst>
            </a:pPr>
            <a:endParaRPr lang="fr-FR" sz="1800" dirty="0">
              <a:latin typeface="Calibri" panose="020F0502020204030204" pitchFamily="34" charset="0"/>
              <a:cs typeface="Calibri" panose="020F0502020204030204" pitchFamily="34" charset="0"/>
            </a:endParaRPr>
          </a:p>
          <a:p>
            <a:pPr marL="438150" indent="-342900">
              <a:spcBef>
                <a:spcPts val="500"/>
              </a:spcBef>
              <a:buFont typeface="Arial"/>
              <a:buChar char="•"/>
              <a:tabLst>
                <a:tab pos="895350" algn="l"/>
              </a:tabLst>
            </a:pPr>
            <a:endParaRPr lang="fr-FR"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85315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dirty="0"/>
              <a:t>User </a:t>
            </a:r>
            <a:r>
              <a:rPr lang="fr-FR" dirty="0" err="1"/>
              <a:t>Experience</a:t>
            </a:r>
            <a:r>
              <a:rPr lang="fr-FR" dirty="0"/>
              <a:t> (UX)</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609600" y="1536700"/>
            <a:ext cx="10972800" cy="4042295"/>
          </a:xfrm>
          <a:prstGeom prst="rect">
            <a:avLst/>
          </a:prstGeom>
        </p:spPr>
        <p:txBody>
          <a:bodyPr wrap="square">
            <a:spAutoFit/>
          </a:bodyPr>
          <a:lstStyle/>
          <a:p>
            <a:pPr marL="12700">
              <a:spcBef>
                <a:spcPts val="1835"/>
              </a:spcBef>
              <a:tabLst>
                <a:tab pos="8235950" algn="l"/>
              </a:tabLst>
            </a:pPr>
            <a:r>
              <a:rPr lang="fr-FR" sz="1800" dirty="0">
                <a:latin typeface="Calibri" panose="020F0502020204030204" pitchFamily="34" charset="0"/>
                <a:cs typeface="Calibri" panose="020F0502020204030204" pitchFamily="34" charset="0"/>
              </a:rPr>
              <a:t>C’est le comportement, attitude et émotions d’un utilisateur quand il manipule un certain produit, système ou service</a:t>
            </a:r>
          </a:p>
          <a:p>
            <a:pPr marL="438150" marR="218440" indent="-342900">
              <a:lnSpc>
                <a:spcPct val="101499"/>
              </a:lnSpc>
              <a:spcBef>
                <a:spcPts val="475"/>
              </a:spcBef>
              <a:buSzPct val="79166"/>
              <a:buFont typeface="Arial"/>
              <a:buChar char="•"/>
              <a:tabLst>
                <a:tab pos="438150" algn="l"/>
              </a:tabLst>
            </a:pPr>
            <a:r>
              <a:rPr lang="fr-FR" sz="1800" dirty="0">
                <a:latin typeface="Calibri" panose="020F0502020204030204" pitchFamily="34" charset="0"/>
                <a:cs typeface="Calibri" panose="020F0502020204030204" pitchFamily="34" charset="0"/>
              </a:rPr>
              <a:t>Inclut les aspects pratiques, expérimentaux, affectifs de l‘interaction homme-machine</a:t>
            </a:r>
          </a:p>
          <a:p>
            <a:pPr marL="438150" indent="-342900">
              <a:spcBef>
                <a:spcPts val="495"/>
              </a:spcBef>
              <a:buSzPct val="79166"/>
              <a:buFont typeface="Arial"/>
              <a:buChar char="•"/>
              <a:tabLst>
                <a:tab pos="438150" algn="l"/>
              </a:tabLst>
            </a:pPr>
            <a:r>
              <a:rPr lang="fr-FR" sz="1800" dirty="0">
                <a:latin typeface="Calibri" panose="020F0502020204030204" pitchFamily="34" charset="0"/>
                <a:cs typeface="Calibri" panose="020F0502020204030204" pitchFamily="34" charset="0"/>
              </a:rPr>
              <a:t>Concerne</a:t>
            </a:r>
          </a:p>
          <a:p>
            <a:pPr marL="895350" lvl="1" indent="-342900">
              <a:spcBef>
                <a:spcPts val="525"/>
              </a:spcBef>
              <a:buFont typeface="Arial"/>
              <a:buChar char="•"/>
              <a:tabLst>
                <a:tab pos="895350" algn="l"/>
              </a:tabLst>
            </a:pPr>
            <a:r>
              <a:rPr lang="fr-FR" sz="1800" dirty="0">
                <a:latin typeface="Calibri" panose="020F0502020204030204" pitchFamily="34" charset="0"/>
                <a:cs typeface="Calibri" panose="020F0502020204030204" pitchFamily="34" charset="0"/>
              </a:rPr>
              <a:t>L’ utilité</a:t>
            </a:r>
          </a:p>
          <a:p>
            <a:pPr marL="895350" lvl="1" indent="-342900">
              <a:spcBef>
                <a:spcPts val="500"/>
              </a:spcBef>
              <a:buFont typeface="Arial"/>
              <a:buChar char="•"/>
              <a:tabLst>
                <a:tab pos="895350" algn="l"/>
                <a:tab pos="4012565" algn="l"/>
              </a:tabLst>
            </a:pPr>
            <a:r>
              <a:rPr lang="fr-FR" sz="1800" dirty="0">
                <a:latin typeface="Calibri" panose="020F0502020204030204" pitchFamily="34" charset="0"/>
                <a:cs typeface="Calibri" panose="020F0502020204030204" pitchFamily="34" charset="0"/>
              </a:rPr>
              <a:t>La facilité d’utilisation	du produit</a:t>
            </a:r>
          </a:p>
          <a:p>
            <a:pPr marL="895350" lvl="1" indent="-342900">
              <a:spcBef>
                <a:spcPts val="500"/>
              </a:spcBef>
              <a:buFont typeface="Arial"/>
              <a:buChar char="•"/>
              <a:tabLst>
                <a:tab pos="895350" algn="l"/>
                <a:tab pos="4012565" algn="l"/>
              </a:tabLst>
            </a:pPr>
            <a:r>
              <a:rPr lang="fr-FR" sz="1800" dirty="0">
                <a:latin typeface="Calibri" panose="020F0502020204030204" pitchFamily="34" charset="0"/>
                <a:cs typeface="Calibri" panose="020F0502020204030204" pitchFamily="34" charset="0"/>
              </a:rPr>
              <a:t>Efficacité</a:t>
            </a:r>
          </a:p>
          <a:p>
            <a:pPr marL="438150" indent="-342900">
              <a:spcBef>
                <a:spcPts val="495"/>
              </a:spcBef>
              <a:buSzPct val="79166"/>
              <a:buFont typeface="Arial"/>
              <a:buChar char="•"/>
              <a:tabLst>
                <a:tab pos="438150" algn="l"/>
              </a:tabLst>
            </a:pPr>
            <a:r>
              <a:rPr lang="fr-FR" sz="1800" dirty="0">
                <a:latin typeface="Calibri" panose="020F0502020204030204" pitchFamily="34" charset="0"/>
                <a:cs typeface="Calibri" panose="020F0502020204030204" pitchFamily="34" charset="0"/>
              </a:rPr>
              <a:t>Notion subjective car dépend de la personne considérée</a:t>
            </a:r>
          </a:p>
          <a:p>
            <a:pPr marL="438150" indent="-342900">
              <a:spcBef>
                <a:spcPts val="620"/>
              </a:spcBef>
              <a:buSzPct val="79166"/>
              <a:buFont typeface="Arial"/>
              <a:buChar char="•"/>
              <a:tabLst>
                <a:tab pos="438150" algn="l"/>
              </a:tabLst>
            </a:pPr>
            <a:r>
              <a:rPr lang="fr-FR" sz="1800" dirty="0">
                <a:latin typeface="Calibri" panose="020F0502020204030204" pitchFamily="34" charset="0"/>
                <a:cs typeface="Calibri" panose="020F0502020204030204" pitchFamily="34" charset="0"/>
              </a:rPr>
              <a:t>Notion dynamique car en constante évolution dans le temps</a:t>
            </a:r>
          </a:p>
          <a:p>
            <a:pPr marL="895350" lvl="1" indent="-342900">
              <a:spcBef>
                <a:spcPts val="525"/>
              </a:spcBef>
              <a:buFont typeface="Arial"/>
              <a:buChar char="•"/>
              <a:tabLst>
                <a:tab pos="895350" algn="l"/>
              </a:tabLst>
            </a:pPr>
            <a:r>
              <a:rPr lang="fr-FR" sz="1800" dirty="0">
                <a:latin typeface="Calibri" panose="020F0502020204030204" pitchFamily="34" charset="0"/>
                <a:cs typeface="Calibri" panose="020F0502020204030204" pitchFamily="34" charset="0"/>
              </a:rPr>
              <a:t>Changement des circonstances d’usage</a:t>
            </a:r>
          </a:p>
          <a:p>
            <a:pPr marL="895350" lvl="1" indent="-342900">
              <a:spcBef>
                <a:spcPts val="400"/>
              </a:spcBef>
              <a:buFont typeface="Arial"/>
              <a:buChar char="•"/>
              <a:tabLst>
                <a:tab pos="895350" algn="l"/>
              </a:tabLst>
            </a:pPr>
            <a:r>
              <a:rPr lang="fr-FR" sz="1800" dirty="0">
                <a:latin typeface="Calibri" panose="020F0502020204030204" pitchFamily="34" charset="0"/>
                <a:cs typeface="Calibri" panose="020F0502020204030204" pitchFamily="34" charset="0"/>
              </a:rPr>
              <a:t>Changement des habitudes et systèmes</a:t>
            </a:r>
          </a:p>
        </p:txBody>
      </p:sp>
      <p:sp>
        <p:nvSpPr>
          <p:cNvPr id="2" name="Accolade fermante 1">
            <a:extLst>
              <a:ext uri="{FF2B5EF4-FFF2-40B4-BE49-F238E27FC236}">
                <a16:creationId xmlns:a16="http://schemas.microsoft.com/office/drawing/2014/main" id="{B92DF398-4B86-42A5-A5F4-3365EC121C78}"/>
              </a:ext>
            </a:extLst>
          </p:cNvPr>
          <p:cNvSpPr/>
          <p:nvPr/>
        </p:nvSpPr>
        <p:spPr>
          <a:xfrm>
            <a:off x="4114800" y="2895600"/>
            <a:ext cx="228600" cy="1143000"/>
          </a:xfrm>
          <a:prstGeom prst="rightBrace">
            <a:avLst/>
          </a:prstGeom>
        </p:spPr>
        <p:style>
          <a:lnRef idx="2">
            <a:schemeClr val="accent2"/>
          </a:lnRef>
          <a:fillRef idx="0">
            <a:schemeClr val="accent2"/>
          </a:fillRef>
          <a:effectRef idx="1">
            <a:schemeClr val="accent2"/>
          </a:effectRef>
          <a:fontRef idx="minor">
            <a:schemeClr val="tx1"/>
          </a:fontRef>
        </p:style>
        <p:txBody>
          <a:bodyPr rtlCol="1" anchor="ctr"/>
          <a:lstStyle/>
          <a:p>
            <a:pPr algn="ctr"/>
            <a:endParaRPr lang="ar-MA"/>
          </a:p>
        </p:txBody>
      </p:sp>
    </p:spTree>
    <p:extLst>
      <p:ext uri="{BB962C8B-B14F-4D97-AF65-F5344CB8AC3E}">
        <p14:creationId xmlns:p14="http://schemas.microsoft.com/office/powerpoint/2010/main" val="35500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dirty="0"/>
              <a:t>Monétisation</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609600" y="1536700"/>
            <a:ext cx="10972800" cy="4383221"/>
          </a:xfrm>
          <a:prstGeom prst="rect">
            <a:avLst/>
          </a:prstGeom>
        </p:spPr>
        <p:txBody>
          <a:bodyPr wrap="square">
            <a:spAutoFit/>
          </a:bodyPr>
          <a:lstStyle/>
          <a:p>
            <a:pPr marL="438150" marR="265430" indent="-342900">
              <a:lnSpc>
                <a:spcPts val="2300"/>
              </a:lnSpc>
              <a:spcBef>
                <a:spcPts val="1630"/>
              </a:spcBef>
              <a:buSzPct val="79545"/>
              <a:buFont typeface="Arial"/>
              <a:buChar char="•"/>
              <a:tabLst>
                <a:tab pos="438150" algn="l"/>
              </a:tabLst>
            </a:pPr>
            <a:r>
              <a:rPr lang="fr-FR" sz="1800" dirty="0">
                <a:latin typeface="Calibri" panose="020F0502020204030204" pitchFamily="34" charset="0"/>
                <a:cs typeface="Calibri" panose="020F0502020204030204" pitchFamily="34" charset="0"/>
              </a:rPr>
              <a:t>Possibilité pour un éditeur de vendre son application via les plateformes de téléchargement (App Store, Google Play..)</a:t>
            </a:r>
          </a:p>
          <a:p>
            <a:pPr marL="438150" indent="-342900">
              <a:spcBef>
                <a:spcPts val="265"/>
              </a:spcBef>
              <a:buSzPct val="79545"/>
              <a:buFont typeface="Arial"/>
              <a:buChar char="•"/>
              <a:tabLst>
                <a:tab pos="438150" algn="l"/>
              </a:tabLst>
            </a:pPr>
            <a:r>
              <a:rPr lang="fr-FR" sz="1800" dirty="0">
                <a:latin typeface="Calibri" panose="020F0502020204030204" pitchFamily="34" charset="0"/>
                <a:cs typeface="Calibri" panose="020F0502020204030204" pitchFamily="34" charset="0"/>
              </a:rPr>
              <a:t>Mais ce n’est pas la seule manière de monétiser une application</a:t>
            </a:r>
          </a:p>
          <a:p>
            <a:pPr marL="438150" indent="-342900">
              <a:spcBef>
                <a:spcPts val="260"/>
              </a:spcBef>
              <a:buSzPct val="79545"/>
              <a:buFont typeface="Arial"/>
              <a:buChar char="•"/>
              <a:tabLst>
                <a:tab pos="438150" algn="l"/>
              </a:tabLst>
            </a:pPr>
            <a:r>
              <a:rPr lang="fr-FR" sz="1800" dirty="0">
                <a:solidFill>
                  <a:srgbClr val="408043"/>
                </a:solidFill>
                <a:latin typeface="Calibri" panose="020F0502020204030204" pitchFamily="34" charset="0"/>
                <a:cs typeface="Calibri" panose="020F0502020204030204" pitchFamily="34" charset="0"/>
              </a:rPr>
              <a:t>Application Payante</a:t>
            </a:r>
          </a:p>
          <a:p>
            <a:pPr marL="895350" lvl="1" indent="-342900">
              <a:spcBef>
                <a:spcPts val="220"/>
              </a:spcBef>
              <a:buFont typeface="Arial"/>
              <a:buChar char="•"/>
              <a:tabLst>
                <a:tab pos="895350" algn="l"/>
              </a:tabLst>
            </a:pPr>
            <a:r>
              <a:rPr lang="fr-FR" sz="1800" dirty="0">
                <a:latin typeface="Calibri" panose="020F0502020204030204" pitchFamily="34" charset="0"/>
                <a:cs typeface="Calibri" panose="020F0502020204030204" pitchFamily="34" charset="0"/>
              </a:rPr>
              <a:t>Moyen de monétisation classique</a:t>
            </a:r>
          </a:p>
          <a:p>
            <a:pPr marL="895350" lvl="1" indent="-342900">
              <a:spcBef>
                <a:spcPts val="220"/>
              </a:spcBef>
              <a:buFont typeface="Arial"/>
              <a:buChar char="•"/>
              <a:tabLst>
                <a:tab pos="895350" algn="l"/>
              </a:tabLst>
            </a:pPr>
            <a:r>
              <a:rPr lang="fr-FR" sz="1800" dirty="0">
                <a:latin typeface="Calibri" panose="020F0502020204030204" pitchFamily="34" charset="0"/>
                <a:cs typeface="Calibri" panose="020F0502020204030204" pitchFamily="34" charset="0"/>
              </a:rPr>
              <a:t>Applications peu chères (moins d’un euro) ont un grand succès</a:t>
            </a:r>
          </a:p>
          <a:p>
            <a:pPr marL="895350" lvl="1" indent="-342900">
              <a:spcBef>
                <a:spcPts val="220"/>
              </a:spcBef>
              <a:buFont typeface="Arial"/>
              <a:buChar char="•"/>
              <a:tabLst>
                <a:tab pos="895350" algn="l"/>
              </a:tabLst>
            </a:pPr>
            <a:r>
              <a:rPr lang="fr-FR" sz="1800" dirty="0">
                <a:latin typeface="Calibri" panose="020F0502020204030204" pitchFamily="34" charset="0"/>
                <a:cs typeface="Calibri" panose="020F0502020204030204" pitchFamily="34" charset="0"/>
              </a:rPr>
              <a:t>En général 70% pour le développeur, 30% pour la plateforme</a:t>
            </a:r>
          </a:p>
          <a:p>
            <a:pPr marL="895350" lvl="1" indent="-342900">
              <a:spcBef>
                <a:spcPts val="220"/>
              </a:spcBef>
              <a:buFont typeface="Arial"/>
              <a:buChar char="•"/>
              <a:tabLst>
                <a:tab pos="895350" algn="l"/>
              </a:tabLst>
            </a:pPr>
            <a:r>
              <a:rPr lang="fr-FR" sz="1800" dirty="0">
                <a:latin typeface="Calibri" panose="020F0502020204030204" pitchFamily="34" charset="0"/>
                <a:cs typeface="Calibri" panose="020F0502020204030204" pitchFamily="34" charset="0"/>
              </a:rPr>
              <a:t>Le prix varie selon l’OS (répercussion du portage)</a:t>
            </a:r>
          </a:p>
          <a:p>
            <a:pPr marL="895350" marR="355600" lvl="1" indent="-342900">
              <a:lnSpc>
                <a:spcPts val="2140"/>
              </a:lnSpc>
              <a:spcBef>
                <a:spcPts val="409"/>
              </a:spcBef>
              <a:buSzPct val="97435"/>
              <a:buFont typeface="Arial"/>
              <a:buChar char="•"/>
              <a:tabLst>
                <a:tab pos="895350" algn="l"/>
              </a:tabLst>
            </a:pPr>
            <a:r>
              <a:rPr lang="fr-FR" sz="1800" i="1" dirty="0">
                <a:latin typeface="Calibri" panose="020F0502020204030204" pitchFamily="34" charset="0"/>
                <a:cs typeface="Calibri" panose="020F0502020204030204" pitchFamily="34" charset="0"/>
              </a:rPr>
              <a:t>Mais, </a:t>
            </a:r>
            <a:r>
              <a:rPr lang="fr-FR" sz="1800" dirty="0">
                <a:latin typeface="Calibri" panose="020F0502020204030204" pitchFamily="34" charset="0"/>
                <a:cs typeface="Calibri" panose="020F0502020204030204" pitchFamily="34" charset="0"/>
              </a:rPr>
              <a:t>Certains utilisateurs sont réticents à acheter des applications (surtout sur Android)</a:t>
            </a:r>
          </a:p>
          <a:p>
            <a:pPr marL="438150" indent="-342900">
              <a:spcBef>
                <a:spcPts val="260"/>
              </a:spcBef>
              <a:buSzPct val="79545"/>
              <a:buFont typeface="Arial"/>
              <a:buChar char="•"/>
              <a:tabLst>
                <a:tab pos="438150" algn="l"/>
              </a:tabLst>
            </a:pPr>
            <a:r>
              <a:rPr lang="fr-FR" sz="1800" dirty="0">
                <a:solidFill>
                  <a:srgbClr val="408043"/>
                </a:solidFill>
                <a:latin typeface="Calibri" panose="020F0502020204030204" pitchFamily="34" charset="0"/>
                <a:cs typeface="Calibri" panose="020F0502020204030204" pitchFamily="34" charset="0"/>
              </a:rPr>
              <a:t>Version d’Essai</a:t>
            </a:r>
          </a:p>
          <a:p>
            <a:pPr marL="895350" marR="384810" lvl="1" indent="-342900">
              <a:lnSpc>
                <a:spcPts val="2039"/>
              </a:lnSpc>
              <a:spcBef>
                <a:spcPts val="489"/>
              </a:spcBef>
              <a:buFont typeface="Arial"/>
              <a:buChar char="•"/>
              <a:tabLst>
                <a:tab pos="895350" algn="l"/>
              </a:tabLst>
            </a:pPr>
            <a:r>
              <a:rPr lang="fr-FR" sz="1800" dirty="0">
                <a:latin typeface="Calibri" panose="020F0502020204030204" pitchFamily="34" charset="0"/>
                <a:cs typeface="Calibri" panose="020F0502020204030204" pitchFamily="34" charset="0"/>
              </a:rPr>
              <a:t>Fournir une version limitée, qui donne une idée à l’utilisateur de la qualité de l’application</a:t>
            </a:r>
          </a:p>
          <a:p>
            <a:pPr marL="895350" lvl="1" indent="-342900">
              <a:spcBef>
                <a:spcPts val="250"/>
              </a:spcBef>
              <a:buFont typeface="Arial"/>
              <a:buChar char="•"/>
              <a:tabLst>
                <a:tab pos="895350" algn="l"/>
              </a:tabLst>
            </a:pPr>
            <a:r>
              <a:rPr lang="fr-FR" sz="1800" dirty="0">
                <a:latin typeface="Calibri" panose="020F0502020204030204" pitchFamily="34" charset="0"/>
                <a:cs typeface="Calibri" panose="020F0502020204030204" pitchFamily="34" charset="0"/>
              </a:rPr>
              <a:t>Bien adapté pour les jeux</a:t>
            </a:r>
          </a:p>
          <a:p>
            <a:pPr marL="895350" lvl="1" indent="-342900">
              <a:spcBef>
                <a:spcPts val="170"/>
              </a:spcBef>
              <a:buSzPct val="97435"/>
              <a:buFont typeface="Arial"/>
              <a:buChar char="•"/>
              <a:tabLst>
                <a:tab pos="895350" algn="l"/>
              </a:tabLst>
            </a:pPr>
            <a:r>
              <a:rPr lang="fr-FR" sz="1800" i="1" dirty="0">
                <a:latin typeface="Calibri" panose="020F0502020204030204" pitchFamily="34" charset="0"/>
                <a:cs typeface="Calibri" panose="020F0502020204030204" pitchFamily="34" charset="0"/>
              </a:rPr>
              <a:t>Mais</a:t>
            </a:r>
            <a:r>
              <a:rPr lang="fr-FR" sz="1800" dirty="0">
                <a:latin typeface="Calibri" panose="020F0502020204030204" pitchFamily="34" charset="0"/>
                <a:cs typeface="Calibri" panose="020F0502020204030204" pitchFamily="34" charset="0"/>
              </a:rPr>
              <a:t>, problème de maintenabilité pour les développeurs</a:t>
            </a:r>
          </a:p>
        </p:txBody>
      </p:sp>
    </p:spTree>
    <p:extLst>
      <p:ext uri="{BB962C8B-B14F-4D97-AF65-F5344CB8AC3E}">
        <p14:creationId xmlns:p14="http://schemas.microsoft.com/office/powerpoint/2010/main" val="2341217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dirty="0"/>
              <a:t>Monétisation</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609600" y="1536700"/>
            <a:ext cx="10972800" cy="4157711"/>
          </a:xfrm>
          <a:prstGeom prst="rect">
            <a:avLst/>
          </a:prstGeom>
        </p:spPr>
        <p:txBody>
          <a:bodyPr wrap="square">
            <a:spAutoFit/>
          </a:bodyPr>
          <a:lstStyle/>
          <a:p>
            <a:pPr marL="438150" indent="-342900">
              <a:spcBef>
                <a:spcPts val="1485"/>
              </a:spcBef>
              <a:buClr>
                <a:schemeClr val="tx1"/>
              </a:buClr>
              <a:buSzPct val="79166"/>
              <a:buFont typeface="Arial"/>
              <a:buChar char="•"/>
              <a:tabLst>
                <a:tab pos="438150" algn="l"/>
              </a:tabLst>
            </a:pPr>
            <a:r>
              <a:rPr lang="fr-FR" sz="1800" dirty="0">
                <a:solidFill>
                  <a:srgbClr val="408043"/>
                </a:solidFill>
                <a:latin typeface="Calibri" panose="020F0502020204030204" pitchFamily="34" charset="0"/>
                <a:cs typeface="Calibri" panose="020F0502020204030204" pitchFamily="34" charset="0"/>
              </a:rPr>
              <a:t>Publicité</a:t>
            </a:r>
          </a:p>
          <a:p>
            <a:pPr marL="895350" lvl="1" indent="-342900">
              <a:spcBef>
                <a:spcPts val="400"/>
              </a:spcBef>
              <a:buFont typeface="Arial"/>
              <a:buChar char="•"/>
              <a:tabLst>
                <a:tab pos="895350" algn="l"/>
              </a:tabLst>
            </a:pPr>
            <a:r>
              <a:rPr lang="fr-FR" sz="1800" dirty="0">
                <a:latin typeface="Calibri" panose="020F0502020204030204" pitchFamily="34" charset="0"/>
                <a:cs typeface="Calibri" panose="020F0502020204030204" pitchFamily="34" charset="0"/>
              </a:rPr>
              <a:t>Sous forme de bandeau ou interstitiel</a:t>
            </a:r>
          </a:p>
          <a:p>
            <a:pPr marL="895350" marR="236220" lvl="1" indent="-342900">
              <a:lnSpc>
                <a:spcPct val="100800"/>
              </a:lnSpc>
              <a:spcBef>
                <a:spcPts val="480"/>
              </a:spcBef>
              <a:buFont typeface="Arial"/>
              <a:buChar char="•"/>
              <a:tabLst>
                <a:tab pos="895350" algn="l"/>
              </a:tabLst>
            </a:pPr>
            <a:r>
              <a:rPr lang="fr-FR" sz="1800" dirty="0">
                <a:latin typeface="Calibri" panose="020F0502020204030204" pitchFamily="34" charset="0"/>
                <a:cs typeface="Calibri" panose="020F0502020204030204" pitchFamily="34" charset="0"/>
              </a:rPr>
              <a:t>Profitable pour les développeurs qui veulent se faire connaître et avoir des revenus</a:t>
            </a:r>
          </a:p>
          <a:p>
            <a:pPr marL="895350" lvl="1" indent="-342900">
              <a:spcBef>
                <a:spcPts val="480"/>
              </a:spcBef>
              <a:buFont typeface="Arial"/>
              <a:buChar char="•"/>
              <a:tabLst>
                <a:tab pos="895350" algn="l"/>
              </a:tabLst>
            </a:pPr>
            <a:r>
              <a:rPr lang="fr-FR" sz="1800" dirty="0">
                <a:latin typeface="Calibri" panose="020F0502020204030204" pitchFamily="34" charset="0"/>
                <a:cs typeface="Calibri" panose="020F0502020204030204" pitchFamily="34" charset="0"/>
              </a:rPr>
              <a:t>Les publicités rémunèrent en général au clic  difficile d’estimer le revenu</a:t>
            </a:r>
          </a:p>
          <a:p>
            <a:pPr marL="895350" lvl="1" indent="-342900">
              <a:spcBef>
                <a:spcPts val="500"/>
              </a:spcBef>
              <a:buFont typeface="Arial"/>
              <a:buChar char="•"/>
              <a:tabLst>
                <a:tab pos="895350" algn="l"/>
              </a:tabLst>
            </a:pPr>
            <a:r>
              <a:rPr lang="fr-FR" sz="1800" dirty="0">
                <a:latin typeface="Calibri" panose="020F0502020204030204" pitchFamily="34" charset="0"/>
                <a:cs typeface="Calibri" panose="020F0502020204030204" pitchFamily="34" charset="0"/>
              </a:rPr>
              <a:t>La publicité peut altérer l’UX (lenteur, appui par erreur…)</a:t>
            </a:r>
          </a:p>
          <a:p>
            <a:pPr marL="895350" lvl="1" indent="-342900">
              <a:spcBef>
                <a:spcPts val="500"/>
              </a:spcBef>
              <a:buFont typeface="Arial"/>
              <a:buChar char="•"/>
              <a:tabLst>
                <a:tab pos="895350" algn="l"/>
              </a:tabLst>
            </a:pPr>
            <a:r>
              <a:rPr lang="fr-FR" sz="1800" dirty="0">
                <a:latin typeface="Calibri" panose="020F0502020204030204" pitchFamily="34" charset="0"/>
                <a:cs typeface="Calibri" panose="020F0502020204030204" pitchFamily="34" charset="0"/>
              </a:rPr>
              <a:t>La publicité doit être bien ciblée</a:t>
            </a:r>
          </a:p>
          <a:p>
            <a:pPr marL="438150" indent="-342900">
              <a:spcBef>
                <a:spcPts val="1485"/>
              </a:spcBef>
              <a:buClr>
                <a:schemeClr val="tx1"/>
              </a:buClr>
              <a:buSzPct val="79166"/>
              <a:buFont typeface="Arial"/>
              <a:buChar char="•"/>
              <a:tabLst>
                <a:tab pos="438150" algn="l"/>
              </a:tabLst>
            </a:pPr>
            <a:r>
              <a:rPr lang="fr-FR" sz="1800" dirty="0">
                <a:solidFill>
                  <a:srgbClr val="408043"/>
                </a:solidFill>
                <a:latin typeface="Calibri" panose="020F0502020204030204" pitchFamily="34" charset="0"/>
                <a:cs typeface="Calibri" panose="020F0502020204030204" pitchFamily="34" charset="0"/>
              </a:rPr>
              <a:t>Sponsoring</a:t>
            </a:r>
          </a:p>
          <a:p>
            <a:pPr marL="895350" lvl="1" indent="-342900">
              <a:spcBef>
                <a:spcPts val="520"/>
              </a:spcBef>
              <a:buFont typeface="Arial"/>
              <a:buChar char="•"/>
              <a:tabLst>
                <a:tab pos="895350" algn="l"/>
              </a:tabLst>
            </a:pPr>
            <a:r>
              <a:rPr lang="fr-FR" sz="1800" dirty="0">
                <a:latin typeface="Calibri" panose="020F0502020204030204" pitchFamily="34" charset="0"/>
                <a:cs typeface="Calibri" panose="020F0502020204030204" pitchFamily="34" charset="0"/>
              </a:rPr>
              <a:t>Incite les utilisateurs à effectuer une action en échange d’un bien virtuel</a:t>
            </a:r>
          </a:p>
          <a:p>
            <a:pPr marL="895350" lvl="1" indent="-342900">
              <a:spcBef>
                <a:spcPts val="500"/>
              </a:spcBef>
              <a:buFont typeface="Arial"/>
              <a:buChar char="•"/>
              <a:tabLst>
                <a:tab pos="895350" algn="l"/>
              </a:tabLst>
            </a:pPr>
            <a:r>
              <a:rPr lang="fr-FR" sz="1800" dirty="0">
                <a:latin typeface="Calibri" panose="020F0502020204030204" pitchFamily="34" charset="0"/>
                <a:cs typeface="Calibri" panose="020F0502020204030204" pitchFamily="34" charset="0"/>
              </a:rPr>
              <a:t>Bien adaptée aux jeux</a:t>
            </a:r>
          </a:p>
          <a:p>
            <a:pPr marL="895350" lvl="1" indent="-342900">
              <a:spcBef>
                <a:spcPts val="400"/>
              </a:spcBef>
              <a:buFont typeface="Arial"/>
              <a:buChar char="•"/>
              <a:tabLst>
                <a:tab pos="895350" algn="l"/>
              </a:tabLst>
            </a:pPr>
            <a:r>
              <a:rPr lang="fr-FR" sz="1800" dirty="0">
                <a:latin typeface="Calibri" panose="020F0502020204030204" pitchFamily="34" charset="0"/>
                <a:cs typeface="Calibri" panose="020F0502020204030204" pitchFamily="34" charset="0"/>
              </a:rPr>
              <a:t>Public bien ciblé, donc chances de gagner des revenus plus grandes		</a:t>
            </a:r>
          </a:p>
          <a:p>
            <a:pPr marL="552450" lvl="1" indent="0">
              <a:spcBef>
                <a:spcPts val="400"/>
              </a:spcBef>
              <a:buNone/>
              <a:tabLst>
                <a:tab pos="895350" algn="l"/>
              </a:tabLst>
            </a:pPr>
            <a:endParaRPr lang="fr-FR"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60760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dirty="0"/>
              <a:t>Monétisation</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609600" y="1536700"/>
            <a:ext cx="10972800" cy="4157711"/>
          </a:xfrm>
          <a:prstGeom prst="rect">
            <a:avLst/>
          </a:prstGeom>
        </p:spPr>
        <p:txBody>
          <a:bodyPr wrap="square">
            <a:spAutoFit/>
          </a:bodyPr>
          <a:lstStyle/>
          <a:p>
            <a:pPr marL="95250" indent="0">
              <a:spcBef>
                <a:spcPts val="1485"/>
              </a:spcBef>
              <a:buClr>
                <a:schemeClr val="tx1"/>
              </a:buClr>
              <a:buSzPct val="79166"/>
              <a:buNone/>
              <a:tabLst>
                <a:tab pos="438150" algn="l"/>
              </a:tabLst>
            </a:pPr>
            <a:r>
              <a:rPr lang="fr-FR" sz="1800" dirty="0">
                <a:latin typeface="Calibri" panose="020F0502020204030204" pitchFamily="34" charset="0"/>
                <a:cs typeface="Calibri" panose="020F0502020204030204" pitchFamily="34" charset="0"/>
              </a:rPr>
              <a:t>	</a:t>
            </a:r>
          </a:p>
          <a:p>
            <a:pPr marL="438150" indent="-342900">
              <a:spcBef>
                <a:spcPts val="1485"/>
              </a:spcBef>
              <a:buClr>
                <a:schemeClr val="tx1"/>
              </a:buClr>
              <a:buSzPct val="79166"/>
              <a:buFont typeface="Arial"/>
              <a:buChar char="•"/>
              <a:tabLst>
                <a:tab pos="438150" algn="l"/>
              </a:tabLst>
            </a:pPr>
            <a:r>
              <a:rPr lang="fr-FR" sz="1800" dirty="0">
                <a:solidFill>
                  <a:srgbClr val="408043"/>
                </a:solidFill>
                <a:latin typeface="Calibri" panose="020F0502020204030204" pitchFamily="34" charset="0"/>
                <a:cs typeface="Calibri" panose="020F0502020204030204" pitchFamily="34" charset="0"/>
              </a:rPr>
              <a:t>Freemium</a:t>
            </a:r>
          </a:p>
          <a:p>
            <a:pPr marL="812165" lvl="1" indent="-342265">
              <a:spcBef>
                <a:spcPts val="525"/>
              </a:spcBef>
              <a:buFont typeface="Arial"/>
              <a:buChar char="•"/>
              <a:tabLst>
                <a:tab pos="812165" algn="l"/>
              </a:tabLst>
            </a:pPr>
            <a:r>
              <a:rPr lang="fr-FR" sz="1800" dirty="0">
                <a:latin typeface="Calibri" panose="020F0502020204030204" pitchFamily="34" charset="0"/>
                <a:cs typeface="Calibri" panose="020F0502020204030204" pitchFamily="34" charset="0"/>
              </a:rPr>
              <a:t>Proposer du contenu virtuel contre de l’argent</a:t>
            </a:r>
          </a:p>
          <a:p>
            <a:pPr marL="1269365" lvl="2" indent="-342265">
              <a:spcBef>
                <a:spcPts val="455"/>
              </a:spcBef>
              <a:buFont typeface="Arial"/>
              <a:buChar char="•"/>
              <a:tabLst>
                <a:tab pos="1269365" algn="l"/>
              </a:tabLst>
            </a:pPr>
            <a:r>
              <a:rPr lang="fr-FR" sz="1800" dirty="0">
                <a:latin typeface="Calibri" panose="020F0502020204030204" pitchFamily="34" charset="0"/>
                <a:cs typeface="Calibri" panose="020F0502020204030204" pitchFamily="34" charset="0"/>
              </a:rPr>
              <a:t>Chez Apple: in-app </a:t>
            </a:r>
            <a:r>
              <a:rPr lang="fr-FR" sz="1800" dirty="0" err="1">
                <a:latin typeface="Calibri" panose="020F0502020204030204" pitchFamily="34" charset="0"/>
                <a:cs typeface="Calibri" panose="020F0502020204030204" pitchFamily="34" charset="0"/>
              </a:rPr>
              <a:t>purchase</a:t>
            </a:r>
            <a:endParaRPr lang="fr-FR" sz="1800" dirty="0">
              <a:latin typeface="Calibri" panose="020F0502020204030204" pitchFamily="34" charset="0"/>
              <a:cs typeface="Calibri" panose="020F0502020204030204" pitchFamily="34" charset="0"/>
            </a:endParaRPr>
          </a:p>
          <a:p>
            <a:pPr marL="1269365" lvl="2" indent="-342265">
              <a:spcBef>
                <a:spcPts val="439"/>
              </a:spcBef>
              <a:buFont typeface="Arial"/>
              <a:buChar char="•"/>
              <a:tabLst>
                <a:tab pos="1269365" algn="l"/>
              </a:tabLst>
            </a:pPr>
            <a:r>
              <a:rPr lang="fr-FR" sz="1800" dirty="0">
                <a:latin typeface="Calibri" panose="020F0502020204030204" pitchFamily="34" charset="0"/>
                <a:cs typeface="Calibri" panose="020F0502020204030204" pitchFamily="34" charset="0"/>
              </a:rPr>
              <a:t>Chez Google: in-app </a:t>
            </a:r>
            <a:r>
              <a:rPr lang="fr-FR" sz="1800" dirty="0" err="1">
                <a:latin typeface="Calibri" panose="020F0502020204030204" pitchFamily="34" charset="0"/>
                <a:cs typeface="Calibri" panose="020F0502020204030204" pitchFamily="34" charset="0"/>
              </a:rPr>
              <a:t>billing</a:t>
            </a:r>
            <a:endParaRPr lang="fr-FR" sz="1800" dirty="0">
              <a:latin typeface="Calibri" panose="020F0502020204030204" pitchFamily="34" charset="0"/>
              <a:cs typeface="Calibri" panose="020F0502020204030204" pitchFamily="34" charset="0"/>
            </a:endParaRPr>
          </a:p>
          <a:p>
            <a:pPr marL="812165" lvl="1" indent="-342265">
              <a:spcBef>
                <a:spcPts val="484"/>
              </a:spcBef>
              <a:buFont typeface="Arial"/>
              <a:buChar char="•"/>
              <a:tabLst>
                <a:tab pos="812165" algn="l"/>
              </a:tabLst>
            </a:pPr>
            <a:r>
              <a:rPr lang="fr-FR" sz="1800" dirty="0">
                <a:latin typeface="Calibri" panose="020F0502020204030204" pitchFamily="34" charset="0"/>
                <a:cs typeface="Calibri" panose="020F0502020204030204" pitchFamily="34" charset="0"/>
              </a:rPr>
              <a:t>Peuvent être implémentés sur une applications payante ou gratuite</a:t>
            </a:r>
          </a:p>
          <a:p>
            <a:pPr marL="812800" marR="5080" lvl="1" indent="-342900">
              <a:lnSpc>
                <a:spcPct val="100800"/>
              </a:lnSpc>
              <a:spcBef>
                <a:spcPts val="380"/>
              </a:spcBef>
              <a:buFont typeface="Arial"/>
              <a:buChar char="•"/>
              <a:tabLst>
                <a:tab pos="812800" algn="l"/>
              </a:tabLst>
            </a:pPr>
            <a:r>
              <a:rPr lang="fr-FR" sz="1800" dirty="0">
                <a:latin typeface="Calibri" panose="020F0502020204030204" pitchFamily="34" charset="0"/>
                <a:cs typeface="Calibri" panose="020F0502020204030204" pitchFamily="34" charset="0"/>
              </a:rPr>
              <a:t>Une application de qualité donne envie aux utilisateurs d’y revenir et d’acheter du contenu</a:t>
            </a:r>
          </a:p>
          <a:p>
            <a:pPr marL="812165" lvl="1" indent="-342265">
              <a:spcBef>
                <a:spcPts val="480"/>
              </a:spcBef>
              <a:buFont typeface="Arial"/>
              <a:buChar char="•"/>
              <a:tabLst>
                <a:tab pos="812165" algn="l"/>
              </a:tabLst>
            </a:pPr>
            <a:r>
              <a:rPr lang="fr-FR" sz="1800" dirty="0">
                <a:latin typeface="Calibri" panose="020F0502020204030204" pitchFamily="34" charset="0"/>
                <a:cs typeface="Calibri" panose="020F0502020204030204" pitchFamily="34" charset="0"/>
              </a:rPr>
              <a:t>Le contenu virtuel doit valoir son prix</a:t>
            </a:r>
          </a:p>
          <a:p>
            <a:pPr marL="812165" lvl="1" indent="-342265">
              <a:spcBef>
                <a:spcPts val="500"/>
              </a:spcBef>
              <a:buFont typeface="Arial"/>
              <a:buChar char="•"/>
              <a:tabLst>
                <a:tab pos="812165" algn="l"/>
              </a:tabLst>
            </a:pPr>
            <a:r>
              <a:rPr lang="fr-FR" sz="1800" dirty="0">
                <a:latin typeface="Calibri" panose="020F0502020204030204" pitchFamily="34" charset="0"/>
                <a:cs typeface="Calibri" panose="020F0502020204030204" pitchFamily="34" charset="0"/>
              </a:rPr>
              <a:t>L’achat doit être simple et rapide (le moins de clics possibles)</a:t>
            </a:r>
          </a:p>
          <a:p>
            <a:pPr marL="812165" lvl="1" indent="-342265">
              <a:spcBef>
                <a:spcPts val="500"/>
              </a:spcBef>
              <a:buFont typeface="Arial"/>
              <a:buChar char="•"/>
              <a:tabLst>
                <a:tab pos="812165" algn="l"/>
              </a:tabLst>
            </a:pPr>
            <a:r>
              <a:rPr lang="fr-FR" sz="1800" dirty="0">
                <a:latin typeface="Calibri" panose="020F0502020204030204" pitchFamily="34" charset="0"/>
                <a:cs typeface="Calibri" panose="020F0502020204030204" pitchFamily="34" charset="0"/>
              </a:rPr>
              <a:t>L’ expérience doit être limitée, sinon risque de frustrer l’utilisateur</a:t>
            </a:r>
          </a:p>
          <a:p>
            <a:pPr marL="552450" lvl="1" indent="0">
              <a:spcBef>
                <a:spcPts val="400"/>
              </a:spcBef>
              <a:buNone/>
              <a:tabLst>
                <a:tab pos="895350" algn="l"/>
              </a:tabLst>
            </a:pPr>
            <a:endParaRPr lang="fr-FR"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09803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dirty="0"/>
              <a:t>Contraintes Matérielles</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609600" y="1536700"/>
            <a:ext cx="10972800" cy="4383221"/>
          </a:xfrm>
          <a:prstGeom prst="rect">
            <a:avLst/>
          </a:prstGeom>
        </p:spPr>
        <p:txBody>
          <a:bodyPr wrap="square">
            <a:spAutoFit/>
          </a:bodyPr>
          <a:lstStyle/>
          <a:p>
            <a:pPr marL="438150" marR="265430" indent="-342900">
              <a:lnSpc>
                <a:spcPts val="2300"/>
              </a:lnSpc>
              <a:spcBef>
                <a:spcPts val="1630"/>
              </a:spcBef>
              <a:buSzPct val="79545"/>
              <a:buFont typeface="Arial"/>
              <a:buChar char="•"/>
              <a:tabLst>
                <a:tab pos="438150" algn="l"/>
              </a:tabLst>
            </a:pPr>
            <a:r>
              <a:rPr lang="fr-FR" sz="1800" dirty="0">
                <a:latin typeface="Calibri" panose="020F0502020204030204" pitchFamily="34" charset="0"/>
                <a:cs typeface="Calibri" panose="020F0502020204030204" pitchFamily="34" charset="0"/>
              </a:rPr>
              <a:t>Possibilité pour un éditeur de vendre son application via les plateformes de téléchargement (App Store, Google Play..)</a:t>
            </a:r>
          </a:p>
          <a:p>
            <a:pPr marL="438150" indent="-342900">
              <a:spcBef>
                <a:spcPts val="265"/>
              </a:spcBef>
              <a:buSzPct val="79545"/>
              <a:buFont typeface="Arial"/>
              <a:buChar char="•"/>
              <a:tabLst>
                <a:tab pos="438150" algn="l"/>
              </a:tabLst>
            </a:pPr>
            <a:r>
              <a:rPr lang="fr-FR" sz="1800" dirty="0">
                <a:latin typeface="Calibri" panose="020F0502020204030204" pitchFamily="34" charset="0"/>
                <a:cs typeface="Calibri" panose="020F0502020204030204" pitchFamily="34" charset="0"/>
              </a:rPr>
              <a:t>Mais ce n’est pas la seule manière de monétiser une application</a:t>
            </a:r>
          </a:p>
          <a:p>
            <a:pPr marL="438150" indent="-342900">
              <a:spcBef>
                <a:spcPts val="260"/>
              </a:spcBef>
              <a:buSzPct val="79545"/>
              <a:buFont typeface="Arial"/>
              <a:buChar char="•"/>
              <a:tabLst>
                <a:tab pos="438150" algn="l"/>
              </a:tabLst>
            </a:pPr>
            <a:r>
              <a:rPr lang="fr-FR" sz="1800" dirty="0">
                <a:solidFill>
                  <a:srgbClr val="408043"/>
                </a:solidFill>
                <a:latin typeface="Calibri" panose="020F0502020204030204" pitchFamily="34" charset="0"/>
                <a:cs typeface="Calibri" panose="020F0502020204030204" pitchFamily="34" charset="0"/>
              </a:rPr>
              <a:t>Application Payante</a:t>
            </a:r>
          </a:p>
          <a:p>
            <a:pPr marL="895350" lvl="1" indent="-342900">
              <a:spcBef>
                <a:spcPts val="220"/>
              </a:spcBef>
              <a:buFont typeface="Arial"/>
              <a:buChar char="•"/>
              <a:tabLst>
                <a:tab pos="895350" algn="l"/>
              </a:tabLst>
            </a:pPr>
            <a:r>
              <a:rPr lang="fr-FR" sz="1800" dirty="0">
                <a:latin typeface="Calibri" panose="020F0502020204030204" pitchFamily="34" charset="0"/>
                <a:cs typeface="Calibri" panose="020F0502020204030204" pitchFamily="34" charset="0"/>
              </a:rPr>
              <a:t>Moyen de monétisation classique</a:t>
            </a:r>
          </a:p>
          <a:p>
            <a:pPr marL="895350" lvl="1" indent="-342900">
              <a:spcBef>
                <a:spcPts val="220"/>
              </a:spcBef>
              <a:buFont typeface="Arial"/>
              <a:buChar char="•"/>
              <a:tabLst>
                <a:tab pos="895350" algn="l"/>
              </a:tabLst>
            </a:pPr>
            <a:r>
              <a:rPr lang="fr-FR" sz="1800" dirty="0">
                <a:latin typeface="Calibri" panose="020F0502020204030204" pitchFamily="34" charset="0"/>
                <a:cs typeface="Calibri" panose="020F0502020204030204" pitchFamily="34" charset="0"/>
              </a:rPr>
              <a:t>Applications peu chères (moins d’un euro) ont un grand succès</a:t>
            </a:r>
          </a:p>
          <a:p>
            <a:pPr marL="895350" lvl="1" indent="-342900">
              <a:spcBef>
                <a:spcPts val="220"/>
              </a:spcBef>
              <a:buFont typeface="Arial"/>
              <a:buChar char="•"/>
              <a:tabLst>
                <a:tab pos="895350" algn="l"/>
              </a:tabLst>
            </a:pPr>
            <a:r>
              <a:rPr lang="fr-FR" sz="1800" dirty="0">
                <a:latin typeface="Calibri" panose="020F0502020204030204" pitchFamily="34" charset="0"/>
                <a:cs typeface="Calibri" panose="020F0502020204030204" pitchFamily="34" charset="0"/>
              </a:rPr>
              <a:t>En général 70% pour le développeur, 30% pour la plateforme</a:t>
            </a:r>
          </a:p>
          <a:p>
            <a:pPr marL="895350" lvl="1" indent="-342900">
              <a:spcBef>
                <a:spcPts val="220"/>
              </a:spcBef>
              <a:buFont typeface="Arial"/>
              <a:buChar char="•"/>
              <a:tabLst>
                <a:tab pos="895350" algn="l"/>
              </a:tabLst>
            </a:pPr>
            <a:r>
              <a:rPr lang="fr-FR" sz="1800" dirty="0">
                <a:latin typeface="Calibri" panose="020F0502020204030204" pitchFamily="34" charset="0"/>
                <a:cs typeface="Calibri" panose="020F0502020204030204" pitchFamily="34" charset="0"/>
              </a:rPr>
              <a:t>Le prix varie selon l’OS (répercussion du portage)</a:t>
            </a:r>
          </a:p>
          <a:p>
            <a:pPr marL="895350" marR="355600" lvl="1" indent="-342900">
              <a:lnSpc>
                <a:spcPts val="2140"/>
              </a:lnSpc>
              <a:spcBef>
                <a:spcPts val="409"/>
              </a:spcBef>
              <a:buSzPct val="97435"/>
              <a:buFont typeface="Arial"/>
              <a:buChar char="•"/>
              <a:tabLst>
                <a:tab pos="895350" algn="l"/>
              </a:tabLst>
            </a:pPr>
            <a:r>
              <a:rPr lang="fr-FR" sz="1800" i="1" dirty="0">
                <a:latin typeface="Calibri" panose="020F0502020204030204" pitchFamily="34" charset="0"/>
                <a:cs typeface="Calibri" panose="020F0502020204030204" pitchFamily="34" charset="0"/>
              </a:rPr>
              <a:t>Mais, </a:t>
            </a:r>
            <a:r>
              <a:rPr lang="fr-FR" sz="1800" dirty="0">
                <a:latin typeface="Calibri" panose="020F0502020204030204" pitchFamily="34" charset="0"/>
                <a:cs typeface="Calibri" panose="020F0502020204030204" pitchFamily="34" charset="0"/>
              </a:rPr>
              <a:t>Certains utilisateurs sont réticents à acheter des applications (surtout sur Android)</a:t>
            </a:r>
          </a:p>
          <a:p>
            <a:pPr marL="438150" indent="-342900">
              <a:spcBef>
                <a:spcPts val="260"/>
              </a:spcBef>
              <a:buSzPct val="79545"/>
              <a:buFont typeface="Arial"/>
              <a:buChar char="•"/>
              <a:tabLst>
                <a:tab pos="438150" algn="l"/>
              </a:tabLst>
            </a:pPr>
            <a:r>
              <a:rPr lang="fr-FR" sz="1800" dirty="0">
                <a:solidFill>
                  <a:srgbClr val="408043"/>
                </a:solidFill>
                <a:latin typeface="Calibri" panose="020F0502020204030204" pitchFamily="34" charset="0"/>
                <a:cs typeface="Calibri" panose="020F0502020204030204" pitchFamily="34" charset="0"/>
              </a:rPr>
              <a:t>Version d’Essai</a:t>
            </a:r>
          </a:p>
          <a:p>
            <a:pPr marL="895350" marR="384810" lvl="1" indent="-342900">
              <a:lnSpc>
                <a:spcPts val="2039"/>
              </a:lnSpc>
              <a:spcBef>
                <a:spcPts val="489"/>
              </a:spcBef>
              <a:buFont typeface="Arial"/>
              <a:buChar char="•"/>
              <a:tabLst>
                <a:tab pos="895350" algn="l"/>
              </a:tabLst>
            </a:pPr>
            <a:r>
              <a:rPr lang="fr-FR" sz="1800" dirty="0">
                <a:latin typeface="Calibri" panose="020F0502020204030204" pitchFamily="34" charset="0"/>
                <a:cs typeface="Calibri" panose="020F0502020204030204" pitchFamily="34" charset="0"/>
              </a:rPr>
              <a:t>Fournir une version limitée, qui donne une idée à l’utilisateur de la qualité de l’application</a:t>
            </a:r>
          </a:p>
          <a:p>
            <a:pPr marL="895350" lvl="1" indent="-342900">
              <a:spcBef>
                <a:spcPts val="250"/>
              </a:spcBef>
              <a:buFont typeface="Arial"/>
              <a:buChar char="•"/>
              <a:tabLst>
                <a:tab pos="895350" algn="l"/>
              </a:tabLst>
            </a:pPr>
            <a:r>
              <a:rPr lang="fr-FR" sz="1800" dirty="0">
                <a:latin typeface="Calibri" panose="020F0502020204030204" pitchFamily="34" charset="0"/>
                <a:cs typeface="Calibri" panose="020F0502020204030204" pitchFamily="34" charset="0"/>
              </a:rPr>
              <a:t>Bien adapté pour les jeux</a:t>
            </a:r>
          </a:p>
          <a:p>
            <a:pPr marL="895350" lvl="1" indent="-342900">
              <a:spcBef>
                <a:spcPts val="170"/>
              </a:spcBef>
              <a:buSzPct val="97435"/>
              <a:buFont typeface="Arial"/>
              <a:buChar char="•"/>
              <a:tabLst>
                <a:tab pos="895350" algn="l"/>
              </a:tabLst>
            </a:pPr>
            <a:r>
              <a:rPr lang="fr-FR" sz="1800" i="1" dirty="0">
                <a:latin typeface="Calibri" panose="020F0502020204030204" pitchFamily="34" charset="0"/>
                <a:cs typeface="Calibri" panose="020F0502020204030204" pitchFamily="34" charset="0"/>
              </a:rPr>
              <a:t>Mais</a:t>
            </a:r>
            <a:r>
              <a:rPr lang="fr-FR" sz="1800" dirty="0">
                <a:latin typeface="Calibri" panose="020F0502020204030204" pitchFamily="34" charset="0"/>
                <a:cs typeface="Calibri" panose="020F0502020204030204" pitchFamily="34" charset="0"/>
              </a:rPr>
              <a:t>, problème de maintenabilité pour les développeurs</a:t>
            </a:r>
          </a:p>
        </p:txBody>
      </p:sp>
    </p:spTree>
    <p:extLst>
      <p:ext uri="{BB962C8B-B14F-4D97-AF65-F5344CB8AC3E}">
        <p14:creationId xmlns:p14="http://schemas.microsoft.com/office/powerpoint/2010/main" val="74782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CADEF61-1125-42E8-94E9-EDDC993081CA}"/>
              </a:ext>
            </a:extLst>
          </p:cNvPr>
          <p:cNvSpPr>
            <a:spLocks noGrp="1"/>
          </p:cNvSpPr>
          <p:nvPr>
            <p:ph type="body" idx="1"/>
          </p:nvPr>
        </p:nvSpPr>
        <p:spPr>
          <a:xfrm>
            <a:off x="5123" y="4648200"/>
            <a:ext cx="8755939" cy="806800"/>
          </a:xfrm>
        </p:spPr>
        <p:txBody>
          <a:bodyPr/>
          <a:lstStyle/>
          <a:p>
            <a:r>
              <a:rPr lang="en-US" sz="3200" dirty="0">
                <a:latin typeface="Arial Narrow"/>
                <a:cs typeface="Arial Narrow"/>
              </a:rPr>
              <a:t>2. TECHNOLOGIES MOBILES ACTUELLES</a:t>
            </a:r>
          </a:p>
        </p:txBody>
      </p:sp>
    </p:spTree>
    <p:extLst>
      <p:ext uri="{BB962C8B-B14F-4D97-AF65-F5344CB8AC3E}">
        <p14:creationId xmlns:p14="http://schemas.microsoft.com/office/powerpoint/2010/main" val="2493891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66EEEE4-5C4C-4052-AAFB-6454A4B36EC0}"/>
              </a:ext>
            </a:extLst>
          </p:cNvPr>
          <p:cNvSpPr>
            <a:spLocks noGrp="1"/>
          </p:cNvSpPr>
          <p:nvPr>
            <p:ph type="title"/>
          </p:nvPr>
        </p:nvSpPr>
        <p:spPr/>
        <p:txBody>
          <a:bodyPr/>
          <a:lstStyle/>
          <a:p>
            <a:r>
              <a:rPr lang="fr-FR" dirty="0"/>
              <a:t>Catégories d’Applications Mobiles</a:t>
            </a:r>
            <a:endParaRPr lang="ar-MA" dirty="0"/>
          </a:p>
        </p:txBody>
      </p:sp>
      <p:sp>
        <p:nvSpPr>
          <p:cNvPr id="4" name="Espace réservé du contenu 3">
            <a:extLst>
              <a:ext uri="{FF2B5EF4-FFF2-40B4-BE49-F238E27FC236}">
                <a16:creationId xmlns:a16="http://schemas.microsoft.com/office/drawing/2014/main" id="{9CCF3438-0E7B-43F9-BB9B-2EA1F532CCC5}"/>
              </a:ext>
            </a:extLst>
          </p:cNvPr>
          <p:cNvSpPr>
            <a:spLocks noGrp="1"/>
          </p:cNvSpPr>
          <p:nvPr>
            <p:ph idx="1"/>
          </p:nvPr>
        </p:nvSpPr>
        <p:spPr>
          <a:xfrm>
            <a:off x="609600" y="1536700"/>
            <a:ext cx="10972800" cy="4383221"/>
          </a:xfrm>
          <a:prstGeom prst="rect">
            <a:avLst/>
          </a:prstGeom>
        </p:spPr>
        <p:txBody>
          <a:bodyPr wrap="square">
            <a:spAutoFit/>
          </a:bodyPr>
          <a:lstStyle/>
          <a:p>
            <a:pPr marL="438150" marR="265430" indent="-342900">
              <a:lnSpc>
                <a:spcPts val="2300"/>
              </a:lnSpc>
              <a:spcBef>
                <a:spcPts val="1630"/>
              </a:spcBef>
              <a:buSzPct val="79545"/>
              <a:buFont typeface="Arial"/>
              <a:buChar char="•"/>
              <a:tabLst>
                <a:tab pos="438150" algn="l"/>
              </a:tabLst>
            </a:pPr>
            <a:r>
              <a:rPr lang="fr-FR" sz="1800" dirty="0">
                <a:latin typeface="Calibri" panose="020F0502020204030204" pitchFamily="34" charset="0"/>
                <a:cs typeface="Calibri" panose="020F0502020204030204" pitchFamily="34" charset="0"/>
              </a:rPr>
              <a:t>Possibilité pour un éditeur de vendre son application via les plateformes de téléchargement (App Store, Google Play..)</a:t>
            </a:r>
          </a:p>
          <a:p>
            <a:pPr marL="438150" indent="-342900">
              <a:spcBef>
                <a:spcPts val="265"/>
              </a:spcBef>
              <a:buSzPct val="79545"/>
              <a:buFont typeface="Arial"/>
              <a:buChar char="•"/>
              <a:tabLst>
                <a:tab pos="438150" algn="l"/>
              </a:tabLst>
            </a:pPr>
            <a:r>
              <a:rPr lang="fr-FR" sz="1800" dirty="0">
                <a:latin typeface="Calibri" panose="020F0502020204030204" pitchFamily="34" charset="0"/>
                <a:cs typeface="Calibri" panose="020F0502020204030204" pitchFamily="34" charset="0"/>
              </a:rPr>
              <a:t>Mais ce n’est pas la seule manière de monétiser une application</a:t>
            </a:r>
          </a:p>
          <a:p>
            <a:pPr marL="438150" indent="-342900">
              <a:spcBef>
                <a:spcPts val="260"/>
              </a:spcBef>
              <a:buSzPct val="79545"/>
              <a:buFont typeface="Arial"/>
              <a:buChar char="•"/>
              <a:tabLst>
                <a:tab pos="438150" algn="l"/>
              </a:tabLst>
            </a:pPr>
            <a:r>
              <a:rPr lang="fr-FR" sz="1800" dirty="0">
                <a:solidFill>
                  <a:srgbClr val="408043"/>
                </a:solidFill>
                <a:latin typeface="Calibri" panose="020F0502020204030204" pitchFamily="34" charset="0"/>
                <a:cs typeface="Calibri" panose="020F0502020204030204" pitchFamily="34" charset="0"/>
              </a:rPr>
              <a:t>Application Payante</a:t>
            </a:r>
          </a:p>
          <a:p>
            <a:pPr marL="895350" lvl="1" indent="-342900">
              <a:spcBef>
                <a:spcPts val="220"/>
              </a:spcBef>
              <a:buFont typeface="Arial"/>
              <a:buChar char="•"/>
              <a:tabLst>
                <a:tab pos="895350" algn="l"/>
              </a:tabLst>
            </a:pPr>
            <a:r>
              <a:rPr lang="fr-FR" sz="1800" dirty="0">
                <a:latin typeface="Calibri" panose="020F0502020204030204" pitchFamily="34" charset="0"/>
                <a:cs typeface="Calibri" panose="020F0502020204030204" pitchFamily="34" charset="0"/>
              </a:rPr>
              <a:t>Moyen de monétisation classique</a:t>
            </a:r>
          </a:p>
          <a:p>
            <a:pPr marL="895350" lvl="1" indent="-342900">
              <a:spcBef>
                <a:spcPts val="220"/>
              </a:spcBef>
              <a:buFont typeface="Arial"/>
              <a:buChar char="•"/>
              <a:tabLst>
                <a:tab pos="895350" algn="l"/>
              </a:tabLst>
            </a:pPr>
            <a:r>
              <a:rPr lang="fr-FR" sz="1800" dirty="0">
                <a:latin typeface="Calibri" panose="020F0502020204030204" pitchFamily="34" charset="0"/>
                <a:cs typeface="Calibri" panose="020F0502020204030204" pitchFamily="34" charset="0"/>
              </a:rPr>
              <a:t>Applications peu chères (moins d’un euro) ont un grand succès</a:t>
            </a:r>
          </a:p>
          <a:p>
            <a:pPr marL="895350" lvl="1" indent="-342900">
              <a:spcBef>
                <a:spcPts val="220"/>
              </a:spcBef>
              <a:buFont typeface="Arial"/>
              <a:buChar char="•"/>
              <a:tabLst>
                <a:tab pos="895350" algn="l"/>
              </a:tabLst>
            </a:pPr>
            <a:r>
              <a:rPr lang="fr-FR" sz="1800" dirty="0">
                <a:latin typeface="Calibri" panose="020F0502020204030204" pitchFamily="34" charset="0"/>
                <a:cs typeface="Calibri" panose="020F0502020204030204" pitchFamily="34" charset="0"/>
              </a:rPr>
              <a:t>En général 70% pour le développeur, 30% pour la plateforme</a:t>
            </a:r>
          </a:p>
          <a:p>
            <a:pPr marL="895350" lvl="1" indent="-342900">
              <a:spcBef>
                <a:spcPts val="220"/>
              </a:spcBef>
              <a:buFont typeface="Arial"/>
              <a:buChar char="•"/>
              <a:tabLst>
                <a:tab pos="895350" algn="l"/>
              </a:tabLst>
            </a:pPr>
            <a:r>
              <a:rPr lang="fr-FR" sz="1800" dirty="0">
                <a:latin typeface="Calibri" panose="020F0502020204030204" pitchFamily="34" charset="0"/>
                <a:cs typeface="Calibri" panose="020F0502020204030204" pitchFamily="34" charset="0"/>
              </a:rPr>
              <a:t>Le prix varie selon l’OS (répercussion du portage)</a:t>
            </a:r>
          </a:p>
          <a:p>
            <a:pPr marL="895350" marR="355600" lvl="1" indent="-342900">
              <a:lnSpc>
                <a:spcPts val="2140"/>
              </a:lnSpc>
              <a:spcBef>
                <a:spcPts val="409"/>
              </a:spcBef>
              <a:buSzPct val="97435"/>
              <a:buFont typeface="Arial"/>
              <a:buChar char="•"/>
              <a:tabLst>
                <a:tab pos="895350" algn="l"/>
              </a:tabLst>
            </a:pPr>
            <a:r>
              <a:rPr lang="fr-FR" sz="1800" i="1" dirty="0">
                <a:latin typeface="Calibri" panose="020F0502020204030204" pitchFamily="34" charset="0"/>
                <a:cs typeface="Calibri" panose="020F0502020204030204" pitchFamily="34" charset="0"/>
              </a:rPr>
              <a:t>Mais, </a:t>
            </a:r>
            <a:r>
              <a:rPr lang="fr-FR" sz="1800" dirty="0">
                <a:latin typeface="Calibri" panose="020F0502020204030204" pitchFamily="34" charset="0"/>
                <a:cs typeface="Calibri" panose="020F0502020204030204" pitchFamily="34" charset="0"/>
              </a:rPr>
              <a:t>Certains utilisateurs sont réticents à acheter des applications (surtout sur Android)</a:t>
            </a:r>
          </a:p>
          <a:p>
            <a:pPr marL="438150" indent="-342900">
              <a:spcBef>
                <a:spcPts val="260"/>
              </a:spcBef>
              <a:buSzPct val="79545"/>
              <a:buFont typeface="Arial"/>
              <a:buChar char="•"/>
              <a:tabLst>
                <a:tab pos="438150" algn="l"/>
              </a:tabLst>
            </a:pPr>
            <a:r>
              <a:rPr lang="fr-FR" sz="1800" dirty="0">
                <a:solidFill>
                  <a:srgbClr val="408043"/>
                </a:solidFill>
                <a:latin typeface="Calibri" panose="020F0502020204030204" pitchFamily="34" charset="0"/>
                <a:cs typeface="Calibri" panose="020F0502020204030204" pitchFamily="34" charset="0"/>
              </a:rPr>
              <a:t>Version d’Essai</a:t>
            </a:r>
          </a:p>
          <a:p>
            <a:pPr marL="895350" marR="384810" lvl="1" indent="-342900">
              <a:lnSpc>
                <a:spcPts val="2039"/>
              </a:lnSpc>
              <a:spcBef>
                <a:spcPts val="489"/>
              </a:spcBef>
              <a:buFont typeface="Arial"/>
              <a:buChar char="•"/>
              <a:tabLst>
                <a:tab pos="895350" algn="l"/>
              </a:tabLst>
            </a:pPr>
            <a:r>
              <a:rPr lang="fr-FR" sz="1800" dirty="0">
                <a:latin typeface="Calibri" panose="020F0502020204030204" pitchFamily="34" charset="0"/>
                <a:cs typeface="Calibri" panose="020F0502020204030204" pitchFamily="34" charset="0"/>
              </a:rPr>
              <a:t>Fournir une version limitée, qui donne une idée à l’utilisateur de la qualité de l’application</a:t>
            </a:r>
          </a:p>
          <a:p>
            <a:pPr marL="895350" lvl="1" indent="-342900">
              <a:spcBef>
                <a:spcPts val="250"/>
              </a:spcBef>
              <a:buFont typeface="Arial"/>
              <a:buChar char="•"/>
              <a:tabLst>
                <a:tab pos="895350" algn="l"/>
              </a:tabLst>
            </a:pPr>
            <a:r>
              <a:rPr lang="fr-FR" sz="1800" dirty="0">
                <a:latin typeface="Calibri" panose="020F0502020204030204" pitchFamily="34" charset="0"/>
                <a:cs typeface="Calibri" panose="020F0502020204030204" pitchFamily="34" charset="0"/>
              </a:rPr>
              <a:t>Bien adapté pour les jeux</a:t>
            </a:r>
          </a:p>
          <a:p>
            <a:pPr marL="895350" lvl="1" indent="-342900">
              <a:spcBef>
                <a:spcPts val="170"/>
              </a:spcBef>
              <a:buSzPct val="97435"/>
              <a:buFont typeface="Arial"/>
              <a:buChar char="•"/>
              <a:tabLst>
                <a:tab pos="895350" algn="l"/>
              </a:tabLst>
            </a:pPr>
            <a:r>
              <a:rPr lang="fr-FR" sz="1800" i="1" dirty="0">
                <a:latin typeface="Calibri" panose="020F0502020204030204" pitchFamily="34" charset="0"/>
                <a:cs typeface="Calibri" panose="020F0502020204030204" pitchFamily="34" charset="0"/>
              </a:rPr>
              <a:t>Mais</a:t>
            </a:r>
            <a:r>
              <a:rPr lang="fr-FR" sz="1800" dirty="0">
                <a:latin typeface="Calibri" panose="020F0502020204030204" pitchFamily="34" charset="0"/>
                <a:cs typeface="Calibri" panose="020F0502020204030204" pitchFamily="34" charset="0"/>
              </a:rPr>
              <a:t>, problème de maintenabilité pour les développeurs</a:t>
            </a:r>
          </a:p>
        </p:txBody>
      </p:sp>
    </p:spTree>
    <p:extLst>
      <p:ext uri="{BB962C8B-B14F-4D97-AF65-F5344CB8AC3E}">
        <p14:creationId xmlns:p14="http://schemas.microsoft.com/office/powerpoint/2010/main" val="3916520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F0E4C9E3-8C37-4900-9BC4-034601DD7533}"/>
              </a:ext>
            </a:extLst>
          </p:cNvPr>
          <p:cNvSpPr>
            <a:spLocks noGrp="1"/>
          </p:cNvSpPr>
          <p:nvPr>
            <p:ph type="title"/>
          </p:nvPr>
        </p:nvSpPr>
        <p:spPr/>
        <p:txBody>
          <a:bodyPr/>
          <a:lstStyle/>
          <a:p>
            <a:r>
              <a:rPr lang="en-US" dirty="0"/>
              <a:t>Politique</a:t>
            </a:r>
            <a:r>
              <a:rPr lang="en-US" spc="-105" dirty="0"/>
              <a:t> </a:t>
            </a:r>
            <a:r>
              <a:rPr lang="en-US" spc="-10" dirty="0" err="1"/>
              <a:t>d'évaluation</a:t>
            </a:r>
            <a:endParaRPr lang="ar-MA" dirty="0"/>
          </a:p>
        </p:txBody>
      </p:sp>
      <p:sp>
        <p:nvSpPr>
          <p:cNvPr id="4" name="object 2">
            <a:extLst>
              <a:ext uri="{FF2B5EF4-FFF2-40B4-BE49-F238E27FC236}">
                <a16:creationId xmlns:a16="http://schemas.microsoft.com/office/drawing/2014/main" id="{685B1B46-BD9D-4709-BFA3-8327EC627EB0}"/>
              </a:ext>
            </a:extLst>
          </p:cNvPr>
          <p:cNvSpPr txBox="1"/>
          <p:nvPr/>
        </p:nvSpPr>
        <p:spPr>
          <a:xfrm>
            <a:off x="563067" y="1828622"/>
            <a:ext cx="10508082" cy="598241"/>
          </a:xfrm>
          <a:prstGeom prst="rect">
            <a:avLst/>
          </a:prstGeom>
        </p:spPr>
        <p:txBody>
          <a:bodyPr vert="horz" wrap="square" lIns="0" tIns="43815" rIns="0" bIns="0" rtlCol="0">
            <a:spAutoFit/>
          </a:bodyPr>
          <a:lstStyle/>
          <a:p>
            <a:pPr marL="12700" marR="5080">
              <a:lnSpc>
                <a:spcPct val="90000"/>
              </a:lnSpc>
              <a:spcBef>
                <a:spcPts val="345"/>
              </a:spcBef>
            </a:pPr>
            <a:r>
              <a:rPr sz="2000" dirty="0">
                <a:latin typeface="Calibri"/>
                <a:cs typeface="Calibri"/>
              </a:rPr>
              <a:t>Les</a:t>
            </a:r>
            <a:r>
              <a:rPr sz="2000" spc="-55" dirty="0">
                <a:latin typeface="Calibri"/>
                <a:cs typeface="Calibri"/>
              </a:rPr>
              <a:t> </a:t>
            </a:r>
            <a:r>
              <a:rPr sz="2000" spc="-10" dirty="0">
                <a:latin typeface="Calibri"/>
                <a:cs typeface="Calibri"/>
              </a:rPr>
              <a:t>performances</a:t>
            </a:r>
            <a:r>
              <a:rPr sz="2000" spc="-40" dirty="0">
                <a:latin typeface="Calibri"/>
                <a:cs typeface="Calibri"/>
              </a:rPr>
              <a:t> </a:t>
            </a:r>
            <a:r>
              <a:rPr sz="2000" dirty="0">
                <a:latin typeface="Calibri"/>
                <a:cs typeface="Calibri"/>
              </a:rPr>
              <a:t>de</a:t>
            </a:r>
            <a:r>
              <a:rPr sz="2000" spc="-55" dirty="0">
                <a:latin typeface="Calibri"/>
                <a:cs typeface="Calibri"/>
              </a:rPr>
              <a:t> </a:t>
            </a:r>
            <a:r>
              <a:rPr sz="2000" dirty="0">
                <a:latin typeface="Calibri"/>
                <a:cs typeface="Calibri"/>
              </a:rPr>
              <a:t>l'étudiant</a:t>
            </a:r>
            <a:r>
              <a:rPr sz="2000" spc="-30" dirty="0">
                <a:latin typeface="Calibri"/>
                <a:cs typeface="Calibri"/>
              </a:rPr>
              <a:t> </a:t>
            </a:r>
            <a:r>
              <a:rPr sz="2000" dirty="0">
                <a:latin typeface="Calibri"/>
                <a:cs typeface="Calibri"/>
              </a:rPr>
              <a:t>durant</a:t>
            </a:r>
            <a:r>
              <a:rPr sz="2000" spc="-65" dirty="0">
                <a:latin typeface="Calibri"/>
                <a:cs typeface="Calibri"/>
              </a:rPr>
              <a:t> </a:t>
            </a:r>
            <a:r>
              <a:rPr sz="2000" dirty="0">
                <a:latin typeface="Calibri"/>
                <a:cs typeface="Calibri"/>
              </a:rPr>
              <a:t>le</a:t>
            </a:r>
            <a:r>
              <a:rPr sz="2000" spc="-40" dirty="0">
                <a:latin typeface="Calibri"/>
                <a:cs typeface="Calibri"/>
              </a:rPr>
              <a:t> </a:t>
            </a:r>
            <a:r>
              <a:rPr sz="2000" spc="-10" dirty="0">
                <a:latin typeface="Calibri"/>
                <a:cs typeface="Calibri"/>
              </a:rPr>
              <a:t>semestre</a:t>
            </a:r>
            <a:r>
              <a:rPr sz="2000" spc="-25" dirty="0">
                <a:latin typeface="Calibri"/>
                <a:cs typeface="Calibri"/>
              </a:rPr>
              <a:t> </a:t>
            </a:r>
            <a:r>
              <a:rPr sz="2000" dirty="0">
                <a:latin typeface="Calibri"/>
                <a:cs typeface="Calibri"/>
              </a:rPr>
              <a:t>seront</a:t>
            </a:r>
            <a:r>
              <a:rPr sz="2000" spc="-30" dirty="0">
                <a:latin typeface="Calibri"/>
                <a:cs typeface="Calibri"/>
              </a:rPr>
              <a:t> </a:t>
            </a:r>
            <a:r>
              <a:rPr sz="2000" spc="-10" dirty="0">
                <a:latin typeface="Calibri"/>
                <a:cs typeface="Calibri"/>
              </a:rPr>
              <a:t>évaluées</a:t>
            </a:r>
            <a:r>
              <a:rPr sz="2000" spc="-40" dirty="0">
                <a:latin typeface="Calibri"/>
                <a:cs typeface="Calibri"/>
              </a:rPr>
              <a:t> </a:t>
            </a:r>
            <a:r>
              <a:rPr sz="2000" dirty="0">
                <a:latin typeface="Calibri"/>
                <a:cs typeface="Calibri"/>
              </a:rPr>
              <a:t>sur</a:t>
            </a:r>
            <a:r>
              <a:rPr sz="2000" spc="-45" dirty="0">
                <a:latin typeface="Calibri"/>
                <a:cs typeface="Calibri"/>
              </a:rPr>
              <a:t> </a:t>
            </a:r>
            <a:r>
              <a:rPr sz="2000" spc="-25" dirty="0">
                <a:latin typeface="Calibri"/>
                <a:cs typeface="Calibri"/>
              </a:rPr>
              <a:t>la </a:t>
            </a:r>
            <a:r>
              <a:rPr sz="2000" dirty="0">
                <a:latin typeface="Calibri"/>
                <a:cs typeface="Calibri"/>
              </a:rPr>
              <a:t>base</a:t>
            </a:r>
            <a:r>
              <a:rPr sz="2000" spc="-40" dirty="0">
                <a:latin typeface="Calibri"/>
                <a:cs typeface="Calibri"/>
              </a:rPr>
              <a:t> </a:t>
            </a:r>
            <a:r>
              <a:rPr sz="2000" dirty="0">
                <a:latin typeface="Calibri"/>
                <a:cs typeface="Calibri"/>
              </a:rPr>
              <a:t>de</a:t>
            </a:r>
            <a:r>
              <a:rPr sz="2000" spc="-35" dirty="0">
                <a:latin typeface="Calibri"/>
                <a:cs typeface="Calibri"/>
              </a:rPr>
              <a:t> </a:t>
            </a:r>
            <a:r>
              <a:rPr sz="2000" dirty="0">
                <a:latin typeface="Calibri"/>
                <a:cs typeface="Calibri"/>
              </a:rPr>
              <a:t>ses</a:t>
            </a:r>
            <a:r>
              <a:rPr sz="2000" spc="-20" dirty="0">
                <a:latin typeface="Calibri"/>
                <a:cs typeface="Calibri"/>
              </a:rPr>
              <a:t> </a:t>
            </a:r>
            <a:r>
              <a:rPr sz="2000" spc="-10" dirty="0">
                <a:latin typeface="Calibri"/>
                <a:cs typeface="Calibri"/>
              </a:rPr>
              <a:t>résultats</a:t>
            </a:r>
            <a:r>
              <a:rPr sz="2000" spc="-15" dirty="0">
                <a:latin typeface="Calibri"/>
                <a:cs typeface="Calibri"/>
              </a:rPr>
              <a:t> </a:t>
            </a:r>
            <a:r>
              <a:rPr sz="2000" dirty="0">
                <a:latin typeface="Calibri"/>
                <a:cs typeface="Calibri"/>
              </a:rPr>
              <a:t>dans</a:t>
            </a:r>
            <a:r>
              <a:rPr sz="2000" spc="-50" dirty="0">
                <a:latin typeface="Calibri"/>
                <a:cs typeface="Calibri"/>
              </a:rPr>
              <a:t> </a:t>
            </a:r>
            <a:r>
              <a:rPr sz="2000" dirty="0">
                <a:latin typeface="Calibri"/>
                <a:cs typeface="Calibri"/>
              </a:rPr>
              <a:t>le</a:t>
            </a:r>
            <a:r>
              <a:rPr lang="fr-FR" sz="2000" dirty="0">
                <a:latin typeface="Calibri"/>
                <a:cs typeface="Calibri"/>
              </a:rPr>
              <a:t>s quatre</a:t>
            </a:r>
            <a:r>
              <a:rPr sz="2000" spc="-30" dirty="0">
                <a:latin typeface="Calibri"/>
                <a:cs typeface="Calibri"/>
              </a:rPr>
              <a:t> </a:t>
            </a:r>
            <a:r>
              <a:rPr sz="2000" spc="-10" dirty="0" err="1">
                <a:latin typeface="Calibri"/>
                <a:cs typeface="Calibri"/>
              </a:rPr>
              <a:t>contrôle</a:t>
            </a:r>
            <a:r>
              <a:rPr lang="fr-FR" sz="2000" spc="-10" dirty="0">
                <a:latin typeface="Calibri"/>
                <a:cs typeface="Calibri"/>
              </a:rPr>
              <a:t>s</a:t>
            </a:r>
            <a:r>
              <a:rPr sz="2000" spc="-50" dirty="0">
                <a:latin typeface="Calibri"/>
                <a:cs typeface="Calibri"/>
              </a:rPr>
              <a:t> </a:t>
            </a:r>
            <a:r>
              <a:rPr sz="2000" dirty="0">
                <a:latin typeface="Calibri"/>
                <a:cs typeface="Calibri"/>
              </a:rPr>
              <a:t>et</a:t>
            </a:r>
            <a:r>
              <a:rPr sz="2000" spc="-30" dirty="0">
                <a:latin typeface="Calibri"/>
                <a:cs typeface="Calibri"/>
              </a:rPr>
              <a:t> </a:t>
            </a:r>
            <a:r>
              <a:rPr sz="2000" dirty="0">
                <a:latin typeface="Calibri"/>
                <a:cs typeface="Calibri"/>
              </a:rPr>
              <a:t>les</a:t>
            </a:r>
            <a:r>
              <a:rPr sz="2000" spc="-20" dirty="0">
                <a:latin typeface="Calibri"/>
                <a:cs typeface="Calibri"/>
              </a:rPr>
              <a:t> </a:t>
            </a:r>
            <a:r>
              <a:rPr sz="2000" dirty="0">
                <a:latin typeface="Calibri"/>
                <a:cs typeface="Calibri"/>
              </a:rPr>
              <a:t>TPs.</a:t>
            </a:r>
            <a:r>
              <a:rPr sz="2000" spc="-40" dirty="0">
                <a:latin typeface="Calibri"/>
                <a:cs typeface="Calibri"/>
              </a:rPr>
              <a:t> </a:t>
            </a:r>
            <a:r>
              <a:rPr sz="2000" dirty="0">
                <a:latin typeface="Calibri"/>
                <a:cs typeface="Calibri"/>
              </a:rPr>
              <a:t>Son</a:t>
            </a:r>
            <a:r>
              <a:rPr sz="2000" spc="-40" dirty="0">
                <a:latin typeface="Calibri"/>
                <a:cs typeface="Calibri"/>
              </a:rPr>
              <a:t> </a:t>
            </a:r>
            <a:r>
              <a:rPr sz="2000" dirty="0">
                <a:latin typeface="Calibri"/>
                <a:cs typeface="Calibri"/>
              </a:rPr>
              <a:t>assiduité</a:t>
            </a:r>
            <a:r>
              <a:rPr sz="2000" spc="-10" dirty="0">
                <a:latin typeface="Calibri"/>
                <a:cs typeface="Calibri"/>
              </a:rPr>
              <a:t> </a:t>
            </a:r>
            <a:r>
              <a:rPr sz="2000" dirty="0">
                <a:latin typeface="Calibri"/>
                <a:cs typeface="Calibri"/>
              </a:rPr>
              <a:t>et</a:t>
            </a:r>
            <a:r>
              <a:rPr sz="2000" spc="-40" dirty="0">
                <a:latin typeface="Calibri"/>
                <a:cs typeface="Calibri"/>
              </a:rPr>
              <a:t> </a:t>
            </a:r>
            <a:r>
              <a:rPr sz="2000" dirty="0">
                <a:latin typeface="Calibri"/>
                <a:cs typeface="Calibri"/>
              </a:rPr>
              <a:t>sa</a:t>
            </a:r>
            <a:r>
              <a:rPr sz="2000" spc="-35" dirty="0">
                <a:latin typeface="Calibri"/>
                <a:cs typeface="Calibri"/>
              </a:rPr>
              <a:t> </a:t>
            </a:r>
            <a:r>
              <a:rPr sz="2000" spc="-10" dirty="0">
                <a:latin typeface="Calibri"/>
                <a:cs typeface="Calibri"/>
              </a:rPr>
              <a:t>discipline </a:t>
            </a:r>
            <a:r>
              <a:rPr sz="2000" dirty="0">
                <a:latin typeface="Calibri"/>
                <a:cs typeface="Calibri"/>
              </a:rPr>
              <a:t>seront</a:t>
            </a:r>
            <a:r>
              <a:rPr sz="2000" spc="-50" dirty="0">
                <a:latin typeface="Calibri"/>
                <a:cs typeface="Calibri"/>
              </a:rPr>
              <a:t> </a:t>
            </a:r>
            <a:r>
              <a:rPr sz="2000" spc="-10" dirty="0">
                <a:latin typeface="Calibri"/>
                <a:cs typeface="Calibri"/>
              </a:rPr>
              <a:t>également</a:t>
            </a:r>
            <a:r>
              <a:rPr sz="2000" spc="-50" dirty="0">
                <a:latin typeface="Calibri"/>
                <a:cs typeface="Calibri"/>
              </a:rPr>
              <a:t> </a:t>
            </a:r>
            <a:r>
              <a:rPr sz="2000" dirty="0">
                <a:latin typeface="Calibri"/>
                <a:cs typeface="Calibri"/>
              </a:rPr>
              <a:t>prises</a:t>
            </a:r>
            <a:r>
              <a:rPr sz="2000" spc="-55" dirty="0">
                <a:latin typeface="Calibri"/>
                <a:cs typeface="Calibri"/>
              </a:rPr>
              <a:t> </a:t>
            </a:r>
            <a:r>
              <a:rPr sz="2000" dirty="0">
                <a:latin typeface="Calibri"/>
                <a:cs typeface="Calibri"/>
              </a:rPr>
              <a:t>en</a:t>
            </a:r>
            <a:r>
              <a:rPr sz="2000" spc="-70" dirty="0">
                <a:latin typeface="Calibri"/>
                <a:cs typeface="Calibri"/>
              </a:rPr>
              <a:t> </a:t>
            </a:r>
            <a:r>
              <a:rPr sz="2000" spc="-10" dirty="0">
                <a:latin typeface="Calibri"/>
                <a:cs typeface="Calibri"/>
              </a:rPr>
              <a:t>compte.</a:t>
            </a:r>
            <a:endParaRPr sz="2000" dirty="0">
              <a:latin typeface="Calibri"/>
              <a:cs typeface="Calibri"/>
            </a:endParaRPr>
          </a:p>
        </p:txBody>
      </p:sp>
      <p:sp>
        <p:nvSpPr>
          <p:cNvPr id="5" name="object 3">
            <a:extLst>
              <a:ext uri="{FF2B5EF4-FFF2-40B4-BE49-F238E27FC236}">
                <a16:creationId xmlns:a16="http://schemas.microsoft.com/office/drawing/2014/main" id="{3C38B1D1-43EA-4D60-B876-AE8B3F691ABF}"/>
              </a:ext>
            </a:extLst>
          </p:cNvPr>
          <p:cNvSpPr txBox="1"/>
          <p:nvPr/>
        </p:nvSpPr>
        <p:spPr>
          <a:xfrm>
            <a:off x="1120851" y="2683230"/>
            <a:ext cx="2115185" cy="702310"/>
          </a:xfrm>
          <a:prstGeom prst="rect">
            <a:avLst/>
          </a:prstGeom>
        </p:spPr>
        <p:txBody>
          <a:bodyPr vert="horz" wrap="square" lIns="0" tIns="45720" rIns="0" bIns="0" rtlCol="0">
            <a:spAutoFit/>
          </a:bodyPr>
          <a:lstStyle/>
          <a:p>
            <a:pPr marL="12700">
              <a:lnSpc>
                <a:spcPct val="100000"/>
              </a:lnSpc>
              <a:spcBef>
                <a:spcPts val="360"/>
              </a:spcBef>
            </a:pPr>
            <a:r>
              <a:rPr sz="2000" b="1" spc="-10" dirty="0">
                <a:solidFill>
                  <a:srgbClr val="3A8B39"/>
                </a:solidFill>
                <a:latin typeface="Calibri"/>
                <a:cs typeface="Calibri"/>
              </a:rPr>
              <a:t>Contrôle</a:t>
            </a:r>
            <a:endParaRPr sz="2000">
              <a:latin typeface="Calibri"/>
              <a:cs typeface="Calibri"/>
            </a:endParaRPr>
          </a:p>
          <a:p>
            <a:pPr marL="12700">
              <a:lnSpc>
                <a:spcPct val="100000"/>
              </a:lnSpc>
              <a:spcBef>
                <a:spcPts val="265"/>
              </a:spcBef>
            </a:pPr>
            <a:r>
              <a:rPr sz="2000" b="1" spc="-10" dirty="0">
                <a:solidFill>
                  <a:srgbClr val="3A8B39"/>
                </a:solidFill>
                <a:latin typeface="Calibri"/>
                <a:cs typeface="Calibri"/>
              </a:rPr>
              <a:t>Evaluation</a:t>
            </a:r>
            <a:r>
              <a:rPr sz="2000" b="1" spc="-60" dirty="0">
                <a:solidFill>
                  <a:srgbClr val="3A8B39"/>
                </a:solidFill>
                <a:latin typeface="Calibri"/>
                <a:cs typeface="Calibri"/>
              </a:rPr>
              <a:t> </a:t>
            </a:r>
            <a:r>
              <a:rPr sz="2000" b="1" spc="-10" dirty="0">
                <a:solidFill>
                  <a:srgbClr val="3A8B39"/>
                </a:solidFill>
                <a:latin typeface="Calibri"/>
                <a:cs typeface="Calibri"/>
              </a:rPr>
              <a:t>continue</a:t>
            </a:r>
            <a:endParaRPr sz="2000">
              <a:latin typeface="Calibri"/>
              <a:cs typeface="Calibri"/>
            </a:endParaRPr>
          </a:p>
        </p:txBody>
      </p:sp>
      <p:pic>
        <p:nvPicPr>
          <p:cNvPr id="6" name="object 4">
            <a:extLst>
              <a:ext uri="{FF2B5EF4-FFF2-40B4-BE49-F238E27FC236}">
                <a16:creationId xmlns:a16="http://schemas.microsoft.com/office/drawing/2014/main" id="{4379D067-1AC6-4F1C-BC96-D394D318CCDF}"/>
              </a:ext>
            </a:extLst>
          </p:cNvPr>
          <p:cNvPicPr/>
          <p:nvPr/>
        </p:nvPicPr>
        <p:blipFill>
          <a:blip r:embed="rId2" cstate="print"/>
          <a:stretch>
            <a:fillRect/>
          </a:stretch>
        </p:blipFill>
        <p:spPr>
          <a:xfrm>
            <a:off x="845375" y="2859404"/>
            <a:ext cx="114300" cy="124967"/>
          </a:xfrm>
          <a:prstGeom prst="rect">
            <a:avLst/>
          </a:prstGeom>
        </p:spPr>
      </p:pic>
      <p:sp>
        <p:nvSpPr>
          <p:cNvPr id="7" name="object 5">
            <a:extLst>
              <a:ext uri="{FF2B5EF4-FFF2-40B4-BE49-F238E27FC236}">
                <a16:creationId xmlns:a16="http://schemas.microsoft.com/office/drawing/2014/main" id="{8A5FC8C3-1452-470D-9F64-A24E0CBC1ABE}"/>
              </a:ext>
            </a:extLst>
          </p:cNvPr>
          <p:cNvSpPr txBox="1"/>
          <p:nvPr/>
        </p:nvSpPr>
        <p:spPr>
          <a:xfrm>
            <a:off x="4221226" y="2683230"/>
            <a:ext cx="521334" cy="702310"/>
          </a:xfrm>
          <a:prstGeom prst="rect">
            <a:avLst/>
          </a:prstGeom>
        </p:spPr>
        <p:txBody>
          <a:bodyPr vert="horz" wrap="square" lIns="0" tIns="45720" rIns="0" bIns="0" rtlCol="0">
            <a:spAutoFit/>
          </a:bodyPr>
          <a:lstStyle/>
          <a:p>
            <a:pPr marL="12700">
              <a:lnSpc>
                <a:spcPct val="100000"/>
              </a:lnSpc>
              <a:spcBef>
                <a:spcPts val="360"/>
              </a:spcBef>
            </a:pPr>
            <a:r>
              <a:rPr lang="fr-FR" sz="2000" dirty="0">
                <a:latin typeface="Calibri"/>
                <a:cs typeface="Calibri"/>
              </a:rPr>
              <a:t>80</a:t>
            </a:r>
            <a:r>
              <a:rPr sz="2000" spc="-15" dirty="0">
                <a:latin typeface="Calibri"/>
                <a:cs typeface="Calibri"/>
              </a:rPr>
              <a:t> </a:t>
            </a:r>
            <a:r>
              <a:rPr sz="2000" spc="-50" dirty="0">
                <a:latin typeface="Calibri"/>
                <a:cs typeface="Calibri"/>
              </a:rPr>
              <a:t>%</a:t>
            </a:r>
            <a:endParaRPr sz="2000" dirty="0">
              <a:latin typeface="Calibri"/>
              <a:cs typeface="Calibri"/>
            </a:endParaRPr>
          </a:p>
          <a:p>
            <a:pPr marL="12700">
              <a:lnSpc>
                <a:spcPct val="100000"/>
              </a:lnSpc>
              <a:spcBef>
                <a:spcPts val="265"/>
              </a:spcBef>
            </a:pPr>
            <a:r>
              <a:rPr lang="fr-FR" sz="2000" spc="-15" dirty="0">
                <a:latin typeface="Calibri"/>
                <a:cs typeface="Calibri"/>
              </a:rPr>
              <a:t>40</a:t>
            </a:r>
            <a:r>
              <a:rPr sz="2000" spc="-15" dirty="0">
                <a:latin typeface="Calibri"/>
                <a:cs typeface="Calibri"/>
              </a:rPr>
              <a:t> </a:t>
            </a:r>
            <a:r>
              <a:rPr sz="2000" spc="-50" dirty="0">
                <a:latin typeface="Calibri"/>
                <a:cs typeface="Calibri"/>
              </a:rPr>
              <a:t>%</a:t>
            </a:r>
            <a:endParaRPr sz="2000" dirty="0">
              <a:latin typeface="Calibri"/>
              <a:cs typeface="Calibri"/>
            </a:endParaRPr>
          </a:p>
        </p:txBody>
      </p:sp>
      <p:pic>
        <p:nvPicPr>
          <p:cNvPr id="8" name="object 6">
            <a:extLst>
              <a:ext uri="{FF2B5EF4-FFF2-40B4-BE49-F238E27FC236}">
                <a16:creationId xmlns:a16="http://schemas.microsoft.com/office/drawing/2014/main" id="{AE535E05-0121-48D2-8D7B-5E13D7B5D1FF}"/>
              </a:ext>
            </a:extLst>
          </p:cNvPr>
          <p:cNvPicPr/>
          <p:nvPr/>
        </p:nvPicPr>
        <p:blipFill>
          <a:blip r:embed="rId2" cstate="print"/>
          <a:stretch>
            <a:fillRect/>
          </a:stretch>
        </p:blipFill>
        <p:spPr>
          <a:xfrm>
            <a:off x="845375" y="3197605"/>
            <a:ext cx="114300" cy="124967"/>
          </a:xfrm>
          <a:prstGeom prst="rect">
            <a:avLst/>
          </a:prstGeom>
        </p:spPr>
      </p:pic>
      <p:sp>
        <p:nvSpPr>
          <p:cNvPr id="9" name="object 7">
            <a:extLst>
              <a:ext uri="{FF2B5EF4-FFF2-40B4-BE49-F238E27FC236}">
                <a16:creationId xmlns:a16="http://schemas.microsoft.com/office/drawing/2014/main" id="{92C1148F-4A13-4A8A-9231-9CC61BD0D96F}"/>
              </a:ext>
            </a:extLst>
          </p:cNvPr>
          <p:cNvSpPr txBox="1"/>
          <p:nvPr/>
        </p:nvSpPr>
        <p:spPr>
          <a:xfrm>
            <a:off x="832815" y="3848861"/>
            <a:ext cx="9377985" cy="330219"/>
          </a:xfrm>
          <a:prstGeom prst="rect">
            <a:avLst/>
          </a:prstGeom>
        </p:spPr>
        <p:txBody>
          <a:bodyPr vert="horz" wrap="square" lIns="0" tIns="47625" rIns="0" bIns="0" rtlCol="0">
            <a:spAutoFit/>
          </a:bodyPr>
          <a:lstStyle/>
          <a:p>
            <a:pPr marL="12700" marR="5080">
              <a:lnSpc>
                <a:spcPts val="2160"/>
              </a:lnSpc>
              <a:spcBef>
                <a:spcPts val="375"/>
              </a:spcBef>
            </a:pPr>
            <a:r>
              <a:rPr sz="2000" dirty="0">
                <a:latin typeface="Calibri"/>
                <a:cs typeface="Calibri"/>
              </a:rPr>
              <a:t>Un</a:t>
            </a:r>
            <a:r>
              <a:rPr sz="2000" spc="-55" dirty="0">
                <a:latin typeface="Calibri"/>
                <a:cs typeface="Calibri"/>
              </a:rPr>
              <a:t> </a:t>
            </a:r>
            <a:r>
              <a:rPr sz="2000" dirty="0">
                <a:latin typeface="Calibri"/>
                <a:cs typeface="Calibri"/>
              </a:rPr>
              <a:t>bonus</a:t>
            </a:r>
            <a:r>
              <a:rPr sz="2000" spc="-65" dirty="0">
                <a:latin typeface="Calibri"/>
                <a:cs typeface="Calibri"/>
              </a:rPr>
              <a:t> </a:t>
            </a:r>
            <a:r>
              <a:rPr sz="2000" dirty="0">
                <a:latin typeface="Calibri"/>
                <a:cs typeface="Calibri"/>
              </a:rPr>
              <a:t>éventuel</a:t>
            </a:r>
            <a:r>
              <a:rPr sz="2000" spc="-25" dirty="0">
                <a:latin typeface="Calibri"/>
                <a:cs typeface="Calibri"/>
              </a:rPr>
              <a:t> </a:t>
            </a:r>
            <a:r>
              <a:rPr sz="2000" dirty="0">
                <a:latin typeface="Calibri"/>
                <a:cs typeface="Calibri"/>
              </a:rPr>
              <a:t>de</a:t>
            </a:r>
            <a:r>
              <a:rPr sz="2000" spc="-50" dirty="0">
                <a:latin typeface="Calibri"/>
                <a:cs typeface="Calibri"/>
              </a:rPr>
              <a:t> </a:t>
            </a:r>
            <a:r>
              <a:rPr sz="2000" dirty="0">
                <a:latin typeface="Calibri"/>
                <a:cs typeface="Calibri"/>
              </a:rPr>
              <a:t>2</a:t>
            </a:r>
            <a:r>
              <a:rPr sz="2000" spc="-40" dirty="0">
                <a:latin typeface="Calibri"/>
                <a:cs typeface="Calibri"/>
              </a:rPr>
              <a:t> </a:t>
            </a:r>
            <a:r>
              <a:rPr sz="2000" dirty="0">
                <a:latin typeface="Calibri"/>
                <a:cs typeface="Calibri"/>
              </a:rPr>
              <a:t>points</a:t>
            </a:r>
            <a:r>
              <a:rPr sz="2000" spc="-45" dirty="0">
                <a:latin typeface="Calibri"/>
                <a:cs typeface="Calibri"/>
              </a:rPr>
              <a:t> </a:t>
            </a:r>
            <a:r>
              <a:rPr sz="2000" dirty="0">
                <a:latin typeface="Calibri"/>
                <a:cs typeface="Calibri"/>
              </a:rPr>
              <a:t>maximum</a:t>
            </a:r>
            <a:r>
              <a:rPr sz="2000" spc="-40" dirty="0">
                <a:latin typeface="Calibri"/>
                <a:cs typeface="Calibri"/>
              </a:rPr>
              <a:t> </a:t>
            </a:r>
            <a:r>
              <a:rPr sz="2000" dirty="0">
                <a:latin typeface="Calibri"/>
                <a:cs typeface="Calibri"/>
              </a:rPr>
              <a:t>pour</a:t>
            </a:r>
            <a:r>
              <a:rPr sz="2000" spc="-70" dirty="0">
                <a:latin typeface="Calibri"/>
                <a:cs typeface="Calibri"/>
              </a:rPr>
              <a:t> </a:t>
            </a:r>
            <a:r>
              <a:rPr sz="2000" dirty="0">
                <a:latin typeface="Calibri"/>
                <a:cs typeface="Calibri"/>
              </a:rPr>
              <a:t>l'assiduité</a:t>
            </a:r>
            <a:r>
              <a:rPr sz="2000" spc="-20" dirty="0">
                <a:latin typeface="Calibri"/>
                <a:cs typeface="Calibri"/>
              </a:rPr>
              <a:t> </a:t>
            </a:r>
            <a:r>
              <a:rPr sz="2000" dirty="0">
                <a:latin typeface="Calibri"/>
                <a:cs typeface="Calibri"/>
              </a:rPr>
              <a:t>et</a:t>
            </a:r>
            <a:r>
              <a:rPr sz="2000" spc="-45" dirty="0">
                <a:latin typeface="Calibri"/>
                <a:cs typeface="Calibri"/>
              </a:rPr>
              <a:t> </a:t>
            </a:r>
            <a:r>
              <a:rPr sz="2000" dirty="0">
                <a:latin typeface="Calibri"/>
                <a:cs typeface="Calibri"/>
              </a:rPr>
              <a:t>la</a:t>
            </a:r>
            <a:r>
              <a:rPr sz="2000" spc="-35" dirty="0">
                <a:latin typeface="Calibri"/>
                <a:cs typeface="Calibri"/>
              </a:rPr>
              <a:t> </a:t>
            </a:r>
            <a:r>
              <a:rPr sz="2000" dirty="0">
                <a:latin typeface="Calibri"/>
                <a:cs typeface="Calibri"/>
              </a:rPr>
              <a:t>discipline</a:t>
            </a:r>
            <a:r>
              <a:rPr sz="2000" spc="-45" dirty="0">
                <a:latin typeface="Calibri"/>
                <a:cs typeface="Calibri"/>
              </a:rPr>
              <a:t> </a:t>
            </a:r>
            <a:r>
              <a:rPr sz="2000" spc="-25" dirty="0">
                <a:latin typeface="Calibri"/>
                <a:cs typeface="Calibri"/>
              </a:rPr>
              <a:t>en </a:t>
            </a:r>
            <a:r>
              <a:rPr sz="2000" dirty="0">
                <a:latin typeface="Calibri"/>
                <a:cs typeface="Calibri"/>
              </a:rPr>
              <a:t>cours</a:t>
            </a:r>
            <a:r>
              <a:rPr sz="2000" spc="-65" dirty="0">
                <a:latin typeface="Calibri"/>
                <a:cs typeface="Calibri"/>
              </a:rPr>
              <a:t> </a:t>
            </a:r>
            <a:r>
              <a:rPr sz="2000" dirty="0">
                <a:latin typeface="Calibri"/>
                <a:cs typeface="Calibri"/>
              </a:rPr>
              <a:t>et</a:t>
            </a:r>
            <a:r>
              <a:rPr sz="2000" spc="-50" dirty="0">
                <a:latin typeface="Calibri"/>
                <a:cs typeface="Calibri"/>
              </a:rPr>
              <a:t> </a:t>
            </a:r>
            <a:r>
              <a:rPr sz="2000" spc="-25" dirty="0">
                <a:latin typeface="Calibri"/>
                <a:cs typeface="Calibri"/>
              </a:rPr>
              <a:t>TP.</a:t>
            </a:r>
            <a:endParaRPr sz="2000" dirty="0">
              <a:latin typeface="Calibri"/>
              <a:cs typeface="Calibri"/>
            </a:endParaRPr>
          </a:p>
        </p:txBody>
      </p:sp>
    </p:spTree>
    <p:extLst>
      <p:ext uri="{BB962C8B-B14F-4D97-AF65-F5344CB8AC3E}">
        <p14:creationId xmlns:p14="http://schemas.microsoft.com/office/powerpoint/2010/main" val="2138277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4">
            <a:extLst>
              <a:ext uri="{FF2B5EF4-FFF2-40B4-BE49-F238E27FC236}">
                <a16:creationId xmlns:a16="http://schemas.microsoft.com/office/drawing/2014/main" id="{B0074B88-FD75-4937-B03F-E6057595F239}"/>
              </a:ext>
            </a:extLst>
          </p:cNvPr>
          <p:cNvGraphicFramePr>
            <a:graphicFrameLocks noGrp="1"/>
          </p:cNvGraphicFramePr>
          <p:nvPr>
            <p:ph idx="1"/>
            <p:extLst>
              <p:ext uri="{D42A27DB-BD31-4B8C-83A1-F6EECF244321}">
                <p14:modId xmlns:p14="http://schemas.microsoft.com/office/powerpoint/2010/main" val="1828426980"/>
              </p:ext>
            </p:extLst>
          </p:nvPr>
        </p:nvGraphicFramePr>
        <p:xfrm>
          <a:off x="685800" y="1752600"/>
          <a:ext cx="10972800" cy="3870960"/>
        </p:xfrm>
        <a:graphic>
          <a:graphicData uri="http://schemas.openxmlformats.org/drawingml/2006/table">
            <a:tbl>
              <a:tblPr rtl="1" bandRow="1">
                <a:tableStyleId>{5C22544A-7EE6-4342-B048-85BDC9FD1C3A}</a:tableStyleId>
              </a:tblPr>
              <a:tblGrid>
                <a:gridCol w="5486400">
                  <a:extLst>
                    <a:ext uri="{9D8B030D-6E8A-4147-A177-3AD203B41FA5}">
                      <a16:colId xmlns:a16="http://schemas.microsoft.com/office/drawing/2014/main" val="1549872900"/>
                    </a:ext>
                  </a:extLst>
                </a:gridCol>
                <a:gridCol w="5486400">
                  <a:extLst>
                    <a:ext uri="{9D8B030D-6E8A-4147-A177-3AD203B41FA5}">
                      <a16:colId xmlns:a16="http://schemas.microsoft.com/office/drawing/2014/main" val="3105280673"/>
                    </a:ext>
                  </a:extLst>
                </a:gridCol>
              </a:tblGrid>
              <a:tr h="266700">
                <a:tc>
                  <a:txBody>
                    <a:bodyPr/>
                    <a:lstStyle/>
                    <a:p>
                      <a:pPr marL="0" marR="0" lvl="0" indent="0" algn="l" defTabSz="914400" rtl="1" eaLnBrk="1" fontAlgn="auto" latinLnBrk="0" hangingPunct="1">
                        <a:lnSpc>
                          <a:spcPct val="100000"/>
                        </a:lnSpc>
                        <a:spcBef>
                          <a:spcPts val="0"/>
                        </a:spcBef>
                        <a:spcAft>
                          <a:spcPts val="0"/>
                        </a:spcAft>
                        <a:buClr>
                          <a:srgbClr val="000000"/>
                        </a:buClr>
                        <a:buSzTx/>
                        <a:buFont typeface="Arial"/>
                        <a:buNone/>
                        <a:tabLst/>
                        <a:defRPr/>
                      </a:pPr>
                      <a:r>
                        <a:rPr lang="fr-FR" sz="2000" b="1" dirty="0">
                          <a:solidFill>
                            <a:srgbClr val="3A8B39"/>
                          </a:solidFill>
                          <a:latin typeface="Calibri"/>
                          <a:cs typeface="Calibri"/>
                        </a:rPr>
                        <a:t>(1</a:t>
                      </a:r>
                      <a:r>
                        <a:rPr lang="fr-FR" sz="2000" b="1" spc="-45" dirty="0">
                          <a:solidFill>
                            <a:srgbClr val="3A8B39"/>
                          </a:solidFill>
                          <a:latin typeface="Calibri"/>
                          <a:cs typeface="Calibri"/>
                        </a:rPr>
                        <a:t> </a:t>
                      </a:r>
                      <a:r>
                        <a:rPr lang="fr-FR" sz="2000" b="1" spc="-10" dirty="0">
                          <a:solidFill>
                            <a:srgbClr val="3A8B39"/>
                          </a:solidFill>
                          <a:latin typeface="Calibri"/>
                          <a:cs typeface="Calibri"/>
                        </a:rPr>
                        <a:t>semaine)</a:t>
                      </a:r>
                      <a:endParaRPr lang="fr-FR" sz="2000" dirty="0">
                        <a:latin typeface="Calibri"/>
                        <a:cs typeface="Calibri"/>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marL="469900" marR="0" lvl="0" indent="-457200" algn="l" defTabSz="914400" rtl="0" eaLnBrk="1" fontAlgn="auto" latinLnBrk="0" hangingPunct="1">
                        <a:lnSpc>
                          <a:spcPct val="100000"/>
                        </a:lnSpc>
                        <a:spcBef>
                          <a:spcPts val="855"/>
                        </a:spcBef>
                        <a:spcAft>
                          <a:spcPts val="0"/>
                        </a:spcAft>
                        <a:buClr>
                          <a:srgbClr val="337817"/>
                        </a:buClr>
                        <a:buSzPct val="70000"/>
                        <a:buFont typeface="+mj-lt"/>
                        <a:buAutoNum type="arabicPeriod"/>
                        <a:tabLst>
                          <a:tab pos="469265" algn="l"/>
                        </a:tabLst>
                        <a:defRPr/>
                      </a:pPr>
                      <a:r>
                        <a:rPr lang="fr-FR" sz="2000" b="1" dirty="0">
                          <a:latin typeface="Calibri"/>
                          <a:cs typeface="Calibri"/>
                        </a:rPr>
                        <a:t>Introduction</a:t>
                      </a:r>
                      <a:r>
                        <a:rPr lang="fr-FR" sz="2000" b="1" spc="-70" dirty="0">
                          <a:latin typeface="Calibri"/>
                          <a:cs typeface="Calibri"/>
                        </a:rPr>
                        <a:t> </a:t>
                      </a:r>
                      <a:r>
                        <a:rPr lang="fr-FR" sz="2000" b="1" dirty="0">
                          <a:latin typeface="Calibri"/>
                          <a:cs typeface="Calibri"/>
                        </a:rPr>
                        <a:t>:</a:t>
                      </a:r>
                      <a:r>
                        <a:rPr lang="fr-FR" sz="2000" b="1" spc="-50" dirty="0">
                          <a:latin typeface="Calibri"/>
                          <a:cs typeface="Calibri"/>
                        </a:rPr>
                        <a:t> </a:t>
                      </a:r>
                      <a:r>
                        <a:rPr lang="fr-FR" sz="2000" b="1" spc="-20" dirty="0">
                          <a:latin typeface="Calibri"/>
                          <a:cs typeface="Calibri"/>
                        </a:rPr>
                        <a:t>Vers</a:t>
                      </a:r>
                      <a:r>
                        <a:rPr lang="fr-FR" sz="2000" b="1" spc="-40" dirty="0">
                          <a:latin typeface="Calibri"/>
                          <a:cs typeface="Calibri"/>
                        </a:rPr>
                        <a:t> </a:t>
                      </a:r>
                      <a:r>
                        <a:rPr lang="fr-FR" sz="2000" b="1" dirty="0">
                          <a:latin typeface="Calibri"/>
                          <a:cs typeface="Calibri"/>
                        </a:rPr>
                        <a:t>une</a:t>
                      </a:r>
                      <a:r>
                        <a:rPr lang="fr-FR" sz="2000" b="1" spc="-50" dirty="0">
                          <a:latin typeface="Calibri"/>
                          <a:cs typeface="Calibri"/>
                        </a:rPr>
                        <a:t> </a:t>
                      </a:r>
                      <a:r>
                        <a:rPr lang="fr-FR" sz="2000" b="1" dirty="0">
                          <a:latin typeface="Calibri"/>
                          <a:cs typeface="Calibri"/>
                        </a:rPr>
                        <a:t>informatique</a:t>
                      </a:r>
                      <a:r>
                        <a:rPr lang="fr-FR" sz="2000" b="1" spc="-60" dirty="0">
                          <a:latin typeface="Calibri"/>
                          <a:cs typeface="Calibri"/>
                        </a:rPr>
                        <a:t> </a:t>
                      </a:r>
                      <a:r>
                        <a:rPr lang="fr-FR" sz="2000" b="1" dirty="0">
                          <a:latin typeface="Calibri"/>
                          <a:cs typeface="Calibri"/>
                        </a:rPr>
                        <a:t>ambiante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578907548"/>
                  </a:ext>
                </a:extLst>
              </a:tr>
              <a:tr h="370840">
                <a:tc>
                  <a:txBody>
                    <a:bodyPr/>
                    <a:lstStyle/>
                    <a:p>
                      <a:pPr marL="0" marR="0" lvl="0" indent="0" algn="l" defTabSz="914400" rtl="1" eaLnBrk="1" fontAlgn="auto" latinLnBrk="0" hangingPunct="1">
                        <a:lnSpc>
                          <a:spcPct val="100000"/>
                        </a:lnSpc>
                        <a:spcBef>
                          <a:spcPts val="0"/>
                        </a:spcBef>
                        <a:spcAft>
                          <a:spcPts val="0"/>
                        </a:spcAft>
                        <a:buClr>
                          <a:srgbClr val="000000"/>
                        </a:buClr>
                        <a:buSzTx/>
                        <a:buFont typeface="Arial"/>
                        <a:buNone/>
                        <a:tabLst/>
                        <a:defRPr/>
                      </a:pPr>
                      <a:r>
                        <a:rPr lang="fr-FR" sz="2000" b="1" dirty="0">
                          <a:solidFill>
                            <a:srgbClr val="3A8B39"/>
                          </a:solidFill>
                          <a:latin typeface="Calibri"/>
                          <a:cs typeface="Calibri"/>
                        </a:rPr>
                        <a:t>(1</a:t>
                      </a:r>
                      <a:r>
                        <a:rPr lang="fr-FR" sz="2000" b="1" spc="-45" dirty="0">
                          <a:solidFill>
                            <a:srgbClr val="3A8B39"/>
                          </a:solidFill>
                          <a:latin typeface="Calibri"/>
                          <a:cs typeface="Calibri"/>
                        </a:rPr>
                        <a:t> </a:t>
                      </a:r>
                      <a:r>
                        <a:rPr lang="fr-FR" sz="2000" b="1" spc="-10" dirty="0">
                          <a:solidFill>
                            <a:srgbClr val="3A8B39"/>
                          </a:solidFill>
                          <a:latin typeface="Calibri"/>
                          <a:cs typeface="Calibri"/>
                        </a:rPr>
                        <a:t>semaine)</a:t>
                      </a:r>
                      <a:endParaRPr lang="fr-FR" sz="2000" dirty="0">
                        <a:latin typeface="Calibri"/>
                        <a:cs typeface="Calibri"/>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469265" marR="0" lvl="0" indent="-456565" defTabSz="914400" eaLnBrk="1" fontAlgn="auto" latinLnBrk="0" hangingPunct="1">
                        <a:lnSpc>
                          <a:spcPct val="100000"/>
                        </a:lnSpc>
                        <a:spcBef>
                          <a:spcPts val="855"/>
                        </a:spcBef>
                        <a:spcAft>
                          <a:spcPts val="0"/>
                        </a:spcAft>
                        <a:buClr>
                          <a:srgbClr val="337817"/>
                        </a:buClr>
                        <a:buSzPct val="70000"/>
                        <a:buFontTx/>
                        <a:buAutoNum type="arabicPeriod" startAt="2"/>
                        <a:tabLst>
                          <a:tab pos="469265" algn="l"/>
                        </a:tabLst>
                        <a:defRPr/>
                      </a:pPr>
                      <a:r>
                        <a:rPr kumimoji="0" lang="fr-FR" sz="2000" b="1" i="0" u="none" strike="noStrike" kern="0" cap="none" spc="-10" normalizeH="0" baseline="0" noProof="0" dirty="0">
                          <a:ln>
                            <a:noFill/>
                          </a:ln>
                          <a:solidFill>
                            <a:sysClr val="windowText" lastClr="000000"/>
                          </a:solidFill>
                          <a:effectLst/>
                          <a:uLnTx/>
                          <a:uFillTx/>
                          <a:latin typeface="Calibri"/>
                          <a:cs typeface="Calibri"/>
                        </a:rPr>
                        <a:t>Programmation</a:t>
                      </a:r>
                      <a:r>
                        <a:rPr kumimoji="0" lang="fr-FR" sz="2000" b="1" i="0" u="none" strike="noStrike" kern="0" cap="none" spc="-25"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mobile</a:t>
                      </a:r>
                      <a:r>
                        <a:rPr kumimoji="0" lang="fr-FR" sz="2000" b="1" i="0" u="none" strike="noStrike" kern="0" cap="none" spc="-35"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sous</a:t>
                      </a:r>
                      <a:r>
                        <a:rPr kumimoji="0" lang="fr-FR" sz="2000" b="1" i="0" u="none" strike="noStrike" kern="0" cap="none" spc="-25" normalizeH="0" baseline="0" noProof="0" dirty="0">
                          <a:ln>
                            <a:noFill/>
                          </a:ln>
                          <a:solidFill>
                            <a:sysClr val="windowText" lastClr="000000"/>
                          </a:solidFill>
                          <a:effectLst/>
                          <a:uLnTx/>
                          <a:uFillTx/>
                          <a:latin typeface="Calibri"/>
                          <a:cs typeface="Calibri"/>
                        </a:rPr>
                        <a:t> </a:t>
                      </a:r>
                      <a:r>
                        <a:rPr kumimoji="0" lang="fr-FR" sz="2000" b="1" i="0" u="none" strike="noStrike" kern="0" cap="none" spc="-10" normalizeH="0" baseline="0" noProof="0" dirty="0">
                          <a:ln>
                            <a:noFill/>
                          </a:ln>
                          <a:solidFill>
                            <a:sysClr val="windowText" lastClr="000000"/>
                          </a:solidFill>
                          <a:effectLst/>
                          <a:uLnTx/>
                          <a:uFillTx/>
                          <a:latin typeface="Calibri"/>
                          <a:cs typeface="Calibri"/>
                        </a:rPr>
                        <a:t>Android</a:t>
                      </a:r>
                      <a:endParaRPr kumimoji="0" lang="fr-FR" sz="2000" b="0" i="0" u="none" strike="noStrike" kern="0" cap="none" spc="0" normalizeH="0" baseline="0" noProof="0" dirty="0">
                        <a:ln>
                          <a:noFill/>
                        </a:ln>
                        <a:solidFill>
                          <a:sysClr val="windowText" lastClr="000000"/>
                        </a:solidFill>
                        <a:effectLst/>
                        <a:uLnTx/>
                        <a:uFillTx/>
                        <a:latin typeface="Calibri"/>
                        <a:cs typeface="Calibri"/>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79282506"/>
                  </a:ext>
                </a:extLst>
              </a:tr>
              <a:tr h="370840">
                <a:tc>
                  <a:txBody>
                    <a:bodyPr/>
                    <a:lstStyle/>
                    <a:p>
                      <a:pPr marL="0" marR="0" lvl="0" indent="0" algn="l" defTabSz="914400" rtl="1" eaLnBrk="1" fontAlgn="auto" latinLnBrk="0" hangingPunct="1">
                        <a:lnSpc>
                          <a:spcPct val="100000"/>
                        </a:lnSpc>
                        <a:spcBef>
                          <a:spcPts val="0"/>
                        </a:spcBef>
                        <a:spcAft>
                          <a:spcPts val="0"/>
                        </a:spcAft>
                        <a:buClr>
                          <a:srgbClr val="000000"/>
                        </a:buClr>
                        <a:buSzTx/>
                        <a:buFont typeface="Arial"/>
                        <a:buNone/>
                        <a:tabLst/>
                        <a:defRPr/>
                      </a:pPr>
                      <a:r>
                        <a:rPr lang="fr-FR" sz="2000" b="1" dirty="0">
                          <a:solidFill>
                            <a:srgbClr val="3A8B39"/>
                          </a:solidFill>
                          <a:latin typeface="Calibri"/>
                          <a:cs typeface="Calibri"/>
                        </a:rPr>
                        <a:t>(1</a:t>
                      </a:r>
                      <a:r>
                        <a:rPr lang="fr-FR" sz="2000" b="1" spc="-45" dirty="0">
                          <a:solidFill>
                            <a:srgbClr val="3A8B39"/>
                          </a:solidFill>
                          <a:latin typeface="Calibri"/>
                          <a:cs typeface="Calibri"/>
                        </a:rPr>
                        <a:t> </a:t>
                      </a:r>
                      <a:r>
                        <a:rPr lang="fr-FR" sz="2000" b="1" spc="-10" dirty="0">
                          <a:solidFill>
                            <a:srgbClr val="3A8B39"/>
                          </a:solidFill>
                          <a:latin typeface="Calibri"/>
                          <a:cs typeface="Calibri"/>
                        </a:rPr>
                        <a:t>semaine)</a:t>
                      </a:r>
                      <a:endParaRPr lang="fr-FR" sz="2000" dirty="0">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469900" marR="0" lvl="0" indent="-457200" defTabSz="914400" eaLnBrk="1" fontAlgn="auto" latinLnBrk="0" hangingPunct="1">
                        <a:lnSpc>
                          <a:spcPct val="100000"/>
                        </a:lnSpc>
                        <a:spcBef>
                          <a:spcPts val="755"/>
                        </a:spcBef>
                        <a:spcAft>
                          <a:spcPts val="0"/>
                        </a:spcAft>
                        <a:buClr>
                          <a:srgbClr val="337817"/>
                        </a:buClr>
                        <a:buSzPct val="70000"/>
                        <a:buFont typeface="+mj-lt"/>
                        <a:buAutoNum type="arabicPeriod" startAt="3"/>
                        <a:tabLst>
                          <a:tab pos="469265" algn="l"/>
                        </a:tabLst>
                        <a:defRPr/>
                      </a:pPr>
                      <a:r>
                        <a:rPr kumimoji="0" lang="fr-FR" sz="2000" b="1" i="0" u="none" strike="noStrike" kern="0" cap="none" spc="-10" normalizeH="0" baseline="0" noProof="0" dirty="0">
                          <a:ln>
                            <a:noFill/>
                          </a:ln>
                          <a:solidFill>
                            <a:sysClr val="windowText" lastClr="000000"/>
                          </a:solidFill>
                          <a:effectLst/>
                          <a:uLnTx/>
                          <a:uFillTx/>
                          <a:latin typeface="Calibri"/>
                          <a:cs typeface="Calibri"/>
                        </a:rPr>
                        <a:t>Configuration</a:t>
                      </a:r>
                      <a:r>
                        <a:rPr kumimoji="0" lang="fr-FR" sz="2000" b="1" i="0" u="none" strike="noStrike" kern="0" cap="none" spc="-30"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de</a:t>
                      </a:r>
                      <a:r>
                        <a:rPr kumimoji="0" lang="fr-FR" sz="2000" b="1" i="0" u="none" strike="noStrike" kern="0" cap="none" spc="-10" normalizeH="0" baseline="0" noProof="0" dirty="0">
                          <a:ln>
                            <a:noFill/>
                          </a:ln>
                          <a:solidFill>
                            <a:sysClr val="windowText" lastClr="000000"/>
                          </a:solidFill>
                          <a:effectLst/>
                          <a:uLnTx/>
                          <a:uFillTx/>
                          <a:latin typeface="Calibri"/>
                          <a:cs typeface="Calibri"/>
                        </a:rPr>
                        <a:t> </a:t>
                      </a:r>
                      <a:r>
                        <a:rPr kumimoji="0" lang="fr-FR" sz="2000" b="1" i="0" u="none" strike="noStrike" kern="0" cap="none" spc="-20" normalizeH="0" baseline="0" noProof="0" dirty="0">
                          <a:ln>
                            <a:noFill/>
                          </a:ln>
                          <a:solidFill>
                            <a:sysClr val="windowText" lastClr="000000"/>
                          </a:solidFill>
                          <a:effectLst/>
                          <a:uLnTx/>
                          <a:uFillTx/>
                          <a:latin typeface="Calibri"/>
                          <a:cs typeface="Calibri"/>
                        </a:rPr>
                        <a:t>l’outil</a:t>
                      </a:r>
                      <a:r>
                        <a:rPr kumimoji="0" lang="fr-FR" sz="2000" b="1" i="0" u="none" strike="noStrike" kern="0" cap="none" spc="-45"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de</a:t>
                      </a:r>
                      <a:r>
                        <a:rPr kumimoji="0" lang="fr-FR" sz="2000" b="1" i="0" u="none" strike="noStrike" kern="0" cap="none" spc="-15" normalizeH="0" baseline="0" noProof="0" dirty="0">
                          <a:ln>
                            <a:noFill/>
                          </a:ln>
                          <a:solidFill>
                            <a:sysClr val="windowText" lastClr="000000"/>
                          </a:solidFill>
                          <a:effectLst/>
                          <a:uLnTx/>
                          <a:uFillTx/>
                          <a:latin typeface="Calibri"/>
                          <a:cs typeface="Calibri"/>
                        </a:rPr>
                        <a:t> </a:t>
                      </a:r>
                      <a:r>
                        <a:rPr kumimoji="0" lang="fr-FR" sz="2000" b="1" i="0" u="none" strike="noStrike" kern="0" cap="none" spc="-10" normalizeH="0" baseline="0" noProof="0" dirty="0">
                          <a:ln>
                            <a:noFill/>
                          </a:ln>
                          <a:solidFill>
                            <a:sysClr val="windowText" lastClr="000000"/>
                          </a:solidFill>
                          <a:effectLst/>
                          <a:uLnTx/>
                          <a:uFillTx/>
                          <a:latin typeface="Calibri"/>
                          <a:cs typeface="Calibri"/>
                        </a:rPr>
                        <a:t>développement</a:t>
                      </a:r>
                      <a:endParaRPr kumimoji="0" lang="fr-FR" sz="2000" b="0" i="0" u="none" strike="noStrike" kern="0" cap="none" spc="0" normalizeH="0" baseline="0" noProof="0" dirty="0">
                        <a:ln>
                          <a:noFill/>
                        </a:ln>
                        <a:solidFill>
                          <a:sysClr val="windowText" lastClr="000000"/>
                        </a:solidFill>
                        <a:effectLst/>
                        <a:uLnTx/>
                        <a:uFillTx/>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970542"/>
                  </a:ext>
                </a:extLst>
              </a:tr>
              <a:tr h="370840">
                <a:tc>
                  <a:txBody>
                    <a:bodyPr/>
                    <a:lstStyle/>
                    <a:p>
                      <a:pPr marL="0" marR="0" lvl="0" indent="0" algn="l" defTabSz="914400" rtl="1" eaLnBrk="1" fontAlgn="auto" latinLnBrk="0" hangingPunct="1">
                        <a:lnSpc>
                          <a:spcPct val="100000"/>
                        </a:lnSpc>
                        <a:spcBef>
                          <a:spcPts val="0"/>
                        </a:spcBef>
                        <a:spcAft>
                          <a:spcPts val="0"/>
                        </a:spcAft>
                        <a:buClr>
                          <a:srgbClr val="000000"/>
                        </a:buClr>
                        <a:buSzTx/>
                        <a:buFont typeface="Arial"/>
                        <a:buNone/>
                        <a:tabLst/>
                        <a:defRPr/>
                      </a:pPr>
                      <a:r>
                        <a:rPr lang="fr-FR" sz="2000" b="1" dirty="0">
                          <a:solidFill>
                            <a:srgbClr val="3A8B39"/>
                          </a:solidFill>
                          <a:latin typeface="Calibri"/>
                          <a:cs typeface="Calibri"/>
                        </a:rPr>
                        <a:t>(1</a:t>
                      </a:r>
                      <a:r>
                        <a:rPr lang="fr-FR" sz="2000" b="1" spc="-45" dirty="0">
                          <a:solidFill>
                            <a:srgbClr val="3A8B39"/>
                          </a:solidFill>
                          <a:latin typeface="Calibri"/>
                          <a:cs typeface="Calibri"/>
                        </a:rPr>
                        <a:t> </a:t>
                      </a:r>
                      <a:r>
                        <a:rPr lang="fr-FR" sz="2000" b="1" spc="-10" dirty="0">
                          <a:solidFill>
                            <a:srgbClr val="3A8B39"/>
                          </a:solidFill>
                          <a:latin typeface="Calibri"/>
                          <a:cs typeface="Calibri"/>
                        </a:rPr>
                        <a:t>semaine)</a:t>
                      </a:r>
                      <a:endParaRPr lang="fr-FR" sz="2000" dirty="0">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469900" marR="0" lvl="0" indent="-457200" defTabSz="914400" eaLnBrk="1" fontAlgn="auto" latinLnBrk="0" hangingPunct="1">
                        <a:lnSpc>
                          <a:spcPct val="100000"/>
                        </a:lnSpc>
                        <a:spcBef>
                          <a:spcPts val="770"/>
                        </a:spcBef>
                        <a:spcAft>
                          <a:spcPts val="0"/>
                        </a:spcAft>
                        <a:buClr>
                          <a:srgbClr val="337817"/>
                        </a:buClr>
                        <a:buSzPct val="70000"/>
                        <a:buFont typeface="+mj-lt"/>
                        <a:buAutoNum type="arabicPeriod" startAt="4"/>
                        <a:tabLst>
                          <a:tab pos="469265" algn="l"/>
                        </a:tabLst>
                        <a:defRPr/>
                      </a:pPr>
                      <a:r>
                        <a:rPr kumimoji="0" lang="fr-FR" sz="2000" b="1" i="0" u="none" strike="noStrike" kern="0" cap="none" spc="0" normalizeH="0" baseline="0" noProof="0" dirty="0">
                          <a:ln>
                            <a:noFill/>
                          </a:ln>
                          <a:solidFill>
                            <a:sysClr val="windowText" lastClr="000000"/>
                          </a:solidFill>
                          <a:effectLst/>
                          <a:uLnTx/>
                          <a:uFillTx/>
                          <a:latin typeface="Calibri"/>
                          <a:cs typeface="Calibri"/>
                        </a:rPr>
                        <a:t>Langage</a:t>
                      </a:r>
                      <a:r>
                        <a:rPr kumimoji="0" lang="fr-FR" sz="2000" b="1" i="0" u="none" strike="noStrike" kern="0" cap="none" spc="-45"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Java</a:t>
                      </a:r>
                      <a:r>
                        <a:rPr kumimoji="0" lang="fr-FR" sz="2000" b="1" i="0" u="none" strike="noStrike" kern="0" cap="none" spc="-60"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et</a:t>
                      </a:r>
                      <a:r>
                        <a:rPr kumimoji="0" lang="fr-FR" sz="2000" b="1" i="0" u="none" strike="noStrike" kern="0" cap="none" spc="-60" normalizeH="0" baseline="0" noProof="0" dirty="0">
                          <a:ln>
                            <a:noFill/>
                          </a:ln>
                          <a:solidFill>
                            <a:sysClr val="windowText" lastClr="000000"/>
                          </a:solidFill>
                          <a:effectLst/>
                          <a:uLnTx/>
                          <a:uFillTx/>
                          <a:latin typeface="Calibri"/>
                          <a:cs typeface="Calibri"/>
                        </a:rPr>
                        <a:t> </a:t>
                      </a:r>
                      <a:r>
                        <a:rPr kumimoji="0" lang="fr-FR" sz="2000" b="1" i="0" u="none" strike="noStrike" kern="0" cap="none" spc="-10" normalizeH="0" baseline="0" noProof="0" dirty="0">
                          <a:ln>
                            <a:noFill/>
                          </a:ln>
                          <a:solidFill>
                            <a:sysClr val="windowText" lastClr="000000"/>
                          </a:solidFill>
                          <a:effectLst/>
                          <a:uLnTx/>
                          <a:uFillTx/>
                          <a:latin typeface="Calibri"/>
                          <a:cs typeface="Calibri"/>
                        </a:rPr>
                        <a:t>programmation</a:t>
                      </a:r>
                      <a:r>
                        <a:rPr kumimoji="0" lang="fr-FR" sz="2000" b="1" i="0" u="none" strike="noStrike" kern="0" cap="none" spc="-60"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orienté</a:t>
                      </a:r>
                      <a:r>
                        <a:rPr kumimoji="0" lang="fr-FR" sz="2000" b="1" i="0" u="none" strike="noStrike" kern="0" cap="none" spc="-60" normalizeH="0" baseline="0" noProof="0" dirty="0">
                          <a:ln>
                            <a:noFill/>
                          </a:ln>
                          <a:solidFill>
                            <a:sysClr val="windowText" lastClr="000000"/>
                          </a:solidFill>
                          <a:effectLst/>
                          <a:uLnTx/>
                          <a:uFillTx/>
                          <a:latin typeface="Calibri"/>
                          <a:cs typeface="Calibri"/>
                        </a:rPr>
                        <a:t> </a:t>
                      </a:r>
                      <a:r>
                        <a:rPr kumimoji="0" lang="fr-FR" sz="2000" b="1" i="0" u="none" strike="noStrike" kern="0" cap="none" spc="-10" normalizeH="0" baseline="0" noProof="0" dirty="0">
                          <a:ln>
                            <a:noFill/>
                          </a:ln>
                          <a:solidFill>
                            <a:sysClr val="windowText" lastClr="000000"/>
                          </a:solidFill>
                          <a:effectLst/>
                          <a:uLnTx/>
                          <a:uFillTx/>
                          <a:latin typeface="Calibri"/>
                          <a:cs typeface="Calibri"/>
                        </a:rPr>
                        <a:t>objet</a:t>
                      </a:r>
                      <a:endParaRPr kumimoji="0" lang="fr-FR" sz="2000" b="0" i="0" u="none" strike="noStrike" kern="0" cap="none" spc="0" normalizeH="0" baseline="0" noProof="0" dirty="0">
                        <a:ln>
                          <a:noFill/>
                        </a:ln>
                        <a:solidFill>
                          <a:sysClr val="windowText" lastClr="000000"/>
                        </a:solidFill>
                        <a:effectLst/>
                        <a:uLnTx/>
                        <a:uFillTx/>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67772569"/>
                  </a:ext>
                </a:extLst>
              </a:tr>
              <a:tr h="370840">
                <a:tc>
                  <a:txBody>
                    <a:bodyPr/>
                    <a:lstStyle/>
                    <a:p>
                      <a:pPr marL="0" marR="0" lvl="0" indent="0" algn="l" defTabSz="914400" rtl="1" eaLnBrk="1" fontAlgn="auto" latinLnBrk="0" hangingPunct="1">
                        <a:lnSpc>
                          <a:spcPct val="100000"/>
                        </a:lnSpc>
                        <a:spcBef>
                          <a:spcPts val="0"/>
                        </a:spcBef>
                        <a:spcAft>
                          <a:spcPts val="0"/>
                        </a:spcAft>
                        <a:buClr>
                          <a:srgbClr val="000000"/>
                        </a:buClr>
                        <a:buSzTx/>
                        <a:buFont typeface="Arial"/>
                        <a:buNone/>
                        <a:tabLst/>
                        <a:defRPr/>
                      </a:pPr>
                      <a:r>
                        <a:rPr lang="fr-FR" sz="2000" b="1" dirty="0">
                          <a:solidFill>
                            <a:srgbClr val="3A8B39"/>
                          </a:solidFill>
                          <a:latin typeface="Calibri"/>
                          <a:cs typeface="Calibri"/>
                        </a:rPr>
                        <a:t>(1</a:t>
                      </a:r>
                      <a:r>
                        <a:rPr lang="fr-FR" sz="2000" b="1" spc="-45" dirty="0">
                          <a:solidFill>
                            <a:srgbClr val="3A8B39"/>
                          </a:solidFill>
                          <a:latin typeface="Calibri"/>
                          <a:cs typeface="Calibri"/>
                        </a:rPr>
                        <a:t> </a:t>
                      </a:r>
                      <a:r>
                        <a:rPr lang="fr-FR" sz="2000" b="1" spc="-10" dirty="0">
                          <a:solidFill>
                            <a:srgbClr val="3A8B39"/>
                          </a:solidFill>
                          <a:latin typeface="Calibri"/>
                          <a:cs typeface="Calibri"/>
                        </a:rPr>
                        <a:t>semaine)</a:t>
                      </a:r>
                      <a:endParaRPr lang="fr-FR" sz="2000" dirty="0">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469900" marR="0" lvl="0" indent="-457200" defTabSz="914400" eaLnBrk="1" fontAlgn="auto" latinLnBrk="0" hangingPunct="1">
                        <a:lnSpc>
                          <a:spcPct val="100000"/>
                        </a:lnSpc>
                        <a:spcBef>
                          <a:spcPts val="755"/>
                        </a:spcBef>
                        <a:spcAft>
                          <a:spcPts val="0"/>
                        </a:spcAft>
                        <a:buClr>
                          <a:srgbClr val="337817"/>
                        </a:buClr>
                        <a:buSzPct val="70000"/>
                        <a:buFont typeface="+mj-lt"/>
                        <a:buAutoNum type="arabicPeriod" startAt="5"/>
                        <a:tabLst>
                          <a:tab pos="469265" algn="l"/>
                        </a:tabLst>
                        <a:defRPr/>
                      </a:pPr>
                      <a:r>
                        <a:rPr kumimoji="0" lang="fr-FR" sz="2000" b="1" i="0" u="none" strike="noStrike" kern="0" cap="none" spc="0" normalizeH="0" baseline="0" noProof="0" dirty="0">
                          <a:ln>
                            <a:noFill/>
                          </a:ln>
                          <a:solidFill>
                            <a:sysClr val="windowText" lastClr="000000"/>
                          </a:solidFill>
                          <a:effectLst/>
                          <a:uLnTx/>
                          <a:uFillTx/>
                          <a:latin typeface="Calibri"/>
                          <a:cs typeface="Calibri"/>
                        </a:rPr>
                        <a:t>Structure</a:t>
                      </a:r>
                      <a:r>
                        <a:rPr kumimoji="0" lang="fr-FR" sz="2000" b="1" i="0" u="none" strike="noStrike" kern="0" cap="none" spc="-70"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d’un</a:t>
                      </a:r>
                      <a:r>
                        <a:rPr kumimoji="0" lang="fr-FR" sz="2000" b="1" i="0" u="none" strike="noStrike" kern="0" cap="none" spc="-50"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projet</a:t>
                      </a:r>
                      <a:r>
                        <a:rPr kumimoji="0" lang="fr-FR" sz="2000" b="1" i="0" u="none" strike="noStrike" kern="0" cap="none" spc="-65" normalizeH="0" baseline="0" noProof="0" dirty="0">
                          <a:ln>
                            <a:noFill/>
                          </a:ln>
                          <a:solidFill>
                            <a:sysClr val="windowText" lastClr="000000"/>
                          </a:solidFill>
                          <a:effectLst/>
                          <a:uLnTx/>
                          <a:uFillTx/>
                          <a:latin typeface="Calibri"/>
                          <a:cs typeface="Calibri"/>
                        </a:rPr>
                        <a:t> </a:t>
                      </a:r>
                      <a:r>
                        <a:rPr kumimoji="0" lang="fr-FR" sz="2000" b="1" i="0" u="none" strike="noStrike" kern="0" cap="none" spc="-10" normalizeH="0" baseline="0" noProof="0" dirty="0">
                          <a:ln>
                            <a:noFill/>
                          </a:ln>
                          <a:solidFill>
                            <a:sysClr val="windowText" lastClr="000000"/>
                          </a:solidFill>
                          <a:effectLst/>
                          <a:uLnTx/>
                          <a:uFillTx/>
                          <a:latin typeface="Calibri"/>
                          <a:cs typeface="Calibri"/>
                        </a:rPr>
                        <a:t>Android</a:t>
                      </a:r>
                      <a:endParaRPr kumimoji="0" lang="fr-FR" sz="2000" b="0" i="0" u="none" strike="noStrike" kern="0" cap="none" spc="0" normalizeH="0" baseline="0" noProof="0" dirty="0">
                        <a:ln>
                          <a:noFill/>
                        </a:ln>
                        <a:solidFill>
                          <a:sysClr val="windowText" lastClr="000000"/>
                        </a:solidFill>
                        <a:effectLst/>
                        <a:uLnTx/>
                        <a:uFillTx/>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37090875"/>
                  </a:ext>
                </a:extLst>
              </a:tr>
              <a:tr h="370840">
                <a:tc>
                  <a:txBody>
                    <a:bodyPr/>
                    <a:lstStyle/>
                    <a:p>
                      <a:pPr marL="0" marR="0" lvl="0" indent="0" algn="l" defTabSz="914400" rtl="1" eaLnBrk="1" fontAlgn="auto" latinLnBrk="0" hangingPunct="1">
                        <a:lnSpc>
                          <a:spcPct val="100000"/>
                        </a:lnSpc>
                        <a:spcBef>
                          <a:spcPts val="0"/>
                        </a:spcBef>
                        <a:spcAft>
                          <a:spcPts val="0"/>
                        </a:spcAft>
                        <a:buClr>
                          <a:srgbClr val="000000"/>
                        </a:buClr>
                        <a:buSzTx/>
                        <a:buFont typeface="Arial"/>
                        <a:buNone/>
                        <a:tabLst/>
                        <a:defRPr/>
                      </a:pPr>
                      <a:r>
                        <a:rPr lang="fr-FR" sz="2000" b="1" dirty="0">
                          <a:solidFill>
                            <a:srgbClr val="3A8B39"/>
                          </a:solidFill>
                          <a:latin typeface="Calibri"/>
                          <a:cs typeface="Calibri"/>
                        </a:rPr>
                        <a:t>(1</a:t>
                      </a:r>
                      <a:r>
                        <a:rPr lang="fr-FR" sz="2000" b="1" spc="-45" dirty="0">
                          <a:solidFill>
                            <a:srgbClr val="3A8B39"/>
                          </a:solidFill>
                          <a:latin typeface="Calibri"/>
                          <a:cs typeface="Calibri"/>
                        </a:rPr>
                        <a:t> </a:t>
                      </a:r>
                      <a:r>
                        <a:rPr lang="fr-FR" sz="2000" b="1" spc="-10" dirty="0">
                          <a:solidFill>
                            <a:srgbClr val="3A8B39"/>
                          </a:solidFill>
                          <a:latin typeface="Calibri"/>
                          <a:cs typeface="Calibri"/>
                        </a:rPr>
                        <a:t>semaine)</a:t>
                      </a:r>
                      <a:endParaRPr lang="fr-FR" sz="2000" dirty="0">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469900" marR="0" lvl="0" indent="-457200" defTabSz="914400" eaLnBrk="1" fontAlgn="auto" latinLnBrk="0" hangingPunct="1">
                        <a:lnSpc>
                          <a:spcPct val="100000"/>
                        </a:lnSpc>
                        <a:spcBef>
                          <a:spcPts val="760"/>
                        </a:spcBef>
                        <a:spcAft>
                          <a:spcPts val="0"/>
                        </a:spcAft>
                        <a:buClr>
                          <a:srgbClr val="337817"/>
                        </a:buClr>
                        <a:buSzPct val="70000"/>
                        <a:buFont typeface="+mj-lt"/>
                        <a:buAutoNum type="arabicPeriod" startAt="6"/>
                        <a:tabLst>
                          <a:tab pos="469265" algn="l"/>
                        </a:tabLst>
                        <a:defRPr/>
                      </a:pPr>
                      <a:r>
                        <a:rPr kumimoji="0" lang="fr-FR" sz="2000" b="1" i="0" u="none" strike="noStrike" kern="0" cap="none" spc="0" normalizeH="0" baseline="0" noProof="0" dirty="0">
                          <a:ln>
                            <a:noFill/>
                          </a:ln>
                          <a:solidFill>
                            <a:sysClr val="windowText" lastClr="000000"/>
                          </a:solidFill>
                          <a:effectLst/>
                          <a:uLnTx/>
                          <a:uFillTx/>
                          <a:latin typeface="Calibri"/>
                          <a:cs typeface="Calibri"/>
                        </a:rPr>
                        <a:t>Gestion</a:t>
                      </a:r>
                      <a:r>
                        <a:rPr kumimoji="0" lang="fr-FR" sz="2000" b="1" i="0" u="none" strike="noStrike" kern="0" cap="none" spc="-60"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des</a:t>
                      </a:r>
                      <a:r>
                        <a:rPr kumimoji="0" lang="fr-FR" sz="2000" b="1" i="0" u="none" strike="noStrike" kern="0" cap="none" spc="-45" normalizeH="0" baseline="0" noProof="0" dirty="0">
                          <a:ln>
                            <a:noFill/>
                          </a:ln>
                          <a:solidFill>
                            <a:sysClr val="windowText" lastClr="000000"/>
                          </a:solidFill>
                          <a:effectLst/>
                          <a:uLnTx/>
                          <a:uFillTx/>
                          <a:latin typeface="Calibri"/>
                          <a:cs typeface="Calibri"/>
                        </a:rPr>
                        <a:t> </a:t>
                      </a:r>
                      <a:r>
                        <a:rPr kumimoji="0" lang="fr-FR" sz="2000" b="1" i="0" u="none" strike="noStrike" kern="0" cap="none" spc="-10" normalizeH="0" baseline="0" noProof="0" dirty="0">
                          <a:ln>
                            <a:noFill/>
                          </a:ln>
                          <a:solidFill>
                            <a:sysClr val="windowText" lastClr="000000"/>
                          </a:solidFill>
                          <a:effectLst/>
                          <a:uLnTx/>
                          <a:uFillTx/>
                          <a:latin typeface="Calibri"/>
                          <a:cs typeface="Calibri"/>
                        </a:rPr>
                        <a:t>évènements</a:t>
                      </a:r>
                      <a:r>
                        <a:rPr kumimoji="0" lang="fr-FR" sz="2000" b="1" i="0" u="none" strike="noStrike" kern="0" cap="none" spc="-35"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et</a:t>
                      </a:r>
                      <a:r>
                        <a:rPr kumimoji="0" lang="fr-FR" sz="2000" b="1" i="0" u="none" strike="noStrike" kern="0" cap="none" spc="-55" normalizeH="0" baseline="0" noProof="0" dirty="0">
                          <a:ln>
                            <a:noFill/>
                          </a:ln>
                          <a:solidFill>
                            <a:sysClr val="windowText" lastClr="000000"/>
                          </a:solidFill>
                          <a:effectLst/>
                          <a:uLnTx/>
                          <a:uFillTx/>
                          <a:latin typeface="Calibri"/>
                          <a:cs typeface="Calibri"/>
                        </a:rPr>
                        <a:t> </a:t>
                      </a:r>
                      <a:r>
                        <a:rPr kumimoji="0" lang="fr-FR" sz="2000" b="1" i="0" u="none" strike="noStrike" kern="0" cap="none" spc="-10" normalizeH="0" baseline="0" noProof="0" dirty="0">
                          <a:ln>
                            <a:noFill/>
                          </a:ln>
                          <a:solidFill>
                            <a:sysClr val="windowText" lastClr="000000"/>
                          </a:solidFill>
                          <a:effectLst/>
                          <a:uLnTx/>
                          <a:uFillTx/>
                          <a:latin typeface="Calibri"/>
                          <a:cs typeface="Calibri"/>
                        </a:rPr>
                        <a:t>intentions</a:t>
                      </a:r>
                      <a:endParaRPr kumimoji="0" lang="fr-FR" sz="2000" b="0" i="0" u="none" strike="noStrike" kern="0" cap="none" spc="0" normalizeH="0" baseline="0" noProof="0" dirty="0">
                        <a:ln>
                          <a:noFill/>
                        </a:ln>
                        <a:solidFill>
                          <a:sysClr val="windowText" lastClr="000000"/>
                        </a:solidFill>
                        <a:effectLst/>
                        <a:uLnTx/>
                        <a:uFillTx/>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14831747"/>
                  </a:ext>
                </a:extLst>
              </a:tr>
              <a:tr h="370840">
                <a:tc>
                  <a:txBody>
                    <a:bodyPr/>
                    <a:lstStyle/>
                    <a:p>
                      <a:pPr marL="0" marR="0" lvl="0" indent="0" algn="l" defTabSz="914400" rtl="1" eaLnBrk="1" fontAlgn="auto" latinLnBrk="0" hangingPunct="1">
                        <a:lnSpc>
                          <a:spcPct val="100000"/>
                        </a:lnSpc>
                        <a:spcBef>
                          <a:spcPts val="0"/>
                        </a:spcBef>
                        <a:spcAft>
                          <a:spcPts val="0"/>
                        </a:spcAft>
                        <a:buClr>
                          <a:srgbClr val="000000"/>
                        </a:buClr>
                        <a:buSzTx/>
                        <a:buFont typeface="Arial"/>
                        <a:buNone/>
                        <a:tabLst/>
                        <a:defRPr/>
                      </a:pPr>
                      <a:r>
                        <a:rPr lang="fr-FR" sz="2000" b="1" dirty="0">
                          <a:solidFill>
                            <a:srgbClr val="3A8B39"/>
                          </a:solidFill>
                          <a:latin typeface="Calibri"/>
                          <a:cs typeface="Calibri"/>
                        </a:rPr>
                        <a:t>(1</a:t>
                      </a:r>
                      <a:r>
                        <a:rPr lang="fr-FR" sz="2000" b="1" spc="-45" dirty="0">
                          <a:solidFill>
                            <a:srgbClr val="3A8B39"/>
                          </a:solidFill>
                          <a:latin typeface="Calibri"/>
                          <a:cs typeface="Calibri"/>
                        </a:rPr>
                        <a:t> </a:t>
                      </a:r>
                      <a:r>
                        <a:rPr lang="fr-FR" sz="2000" b="1" spc="-10" dirty="0">
                          <a:solidFill>
                            <a:srgbClr val="3A8B39"/>
                          </a:solidFill>
                          <a:latin typeface="Calibri"/>
                          <a:cs typeface="Calibri"/>
                        </a:rPr>
                        <a:t>semaine)</a:t>
                      </a:r>
                      <a:endParaRPr lang="fr-FR" sz="2000" dirty="0">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469900" marR="0" lvl="0" indent="-457200" defTabSz="914400" eaLnBrk="1" fontAlgn="auto" latinLnBrk="0" hangingPunct="1">
                        <a:lnSpc>
                          <a:spcPct val="100000"/>
                        </a:lnSpc>
                        <a:spcBef>
                          <a:spcPts val="765"/>
                        </a:spcBef>
                        <a:spcAft>
                          <a:spcPts val="0"/>
                        </a:spcAft>
                        <a:buClr>
                          <a:srgbClr val="337817"/>
                        </a:buClr>
                        <a:buSzPct val="70000"/>
                        <a:buFont typeface="+mj-lt"/>
                        <a:buAutoNum type="arabicPeriod" startAt="7"/>
                        <a:tabLst>
                          <a:tab pos="469265" algn="l"/>
                        </a:tabLst>
                        <a:defRPr/>
                      </a:pPr>
                      <a:r>
                        <a:rPr kumimoji="0" lang="fr-FR" sz="2000" b="1" i="0" u="none" strike="noStrike" kern="0" cap="none" spc="0" normalizeH="0" baseline="0" noProof="0" dirty="0">
                          <a:ln>
                            <a:noFill/>
                          </a:ln>
                          <a:solidFill>
                            <a:sysClr val="windowText" lastClr="000000"/>
                          </a:solidFill>
                          <a:effectLst/>
                          <a:uLnTx/>
                          <a:uFillTx/>
                          <a:latin typeface="Calibri"/>
                          <a:cs typeface="Calibri"/>
                        </a:rPr>
                        <a:t>Vues</a:t>
                      </a:r>
                      <a:r>
                        <a:rPr kumimoji="0" lang="fr-FR" sz="2000" b="1" i="0" u="none" strike="noStrike" kern="0" cap="none" spc="-40"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à</a:t>
                      </a:r>
                      <a:r>
                        <a:rPr kumimoji="0" lang="fr-FR" sz="2000" b="1" i="0" u="none" strike="noStrike" kern="0" cap="none" spc="-35" normalizeH="0" baseline="0" noProof="0" dirty="0">
                          <a:ln>
                            <a:noFill/>
                          </a:ln>
                          <a:solidFill>
                            <a:sysClr val="windowText" lastClr="000000"/>
                          </a:solidFill>
                          <a:effectLst/>
                          <a:uLnTx/>
                          <a:uFillTx/>
                          <a:latin typeface="Calibri"/>
                          <a:cs typeface="Calibri"/>
                        </a:rPr>
                        <a:t> </a:t>
                      </a:r>
                      <a:r>
                        <a:rPr kumimoji="0" lang="fr-FR" sz="2000" b="1" i="0" u="none" strike="noStrike" kern="0" cap="none" spc="-10" normalizeH="0" baseline="0" noProof="0" dirty="0">
                          <a:ln>
                            <a:noFill/>
                          </a:ln>
                          <a:solidFill>
                            <a:sysClr val="windowText" lastClr="000000"/>
                          </a:solidFill>
                          <a:effectLst/>
                          <a:uLnTx/>
                          <a:uFillTx/>
                          <a:latin typeface="Calibri"/>
                          <a:cs typeface="Calibri"/>
                        </a:rPr>
                        <a:t>adaptateur</a:t>
                      </a:r>
                      <a:r>
                        <a:rPr kumimoji="0" lang="fr-FR" sz="2000" b="1" i="0" u="none" strike="noStrike" kern="0" cap="none" spc="-40"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et</a:t>
                      </a:r>
                      <a:r>
                        <a:rPr kumimoji="0" lang="fr-FR" sz="2000" b="1" i="0" u="none" strike="noStrike" kern="0" cap="none" spc="-45"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boites</a:t>
                      </a:r>
                      <a:r>
                        <a:rPr kumimoji="0" lang="fr-FR" sz="2000" b="1" i="0" u="none" strike="noStrike" kern="0" cap="none" spc="-60"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de</a:t>
                      </a:r>
                      <a:r>
                        <a:rPr kumimoji="0" lang="fr-FR" sz="2000" b="1" i="0" u="none" strike="noStrike" kern="0" cap="none" spc="-35" normalizeH="0" baseline="0" noProof="0" dirty="0">
                          <a:ln>
                            <a:noFill/>
                          </a:ln>
                          <a:solidFill>
                            <a:sysClr val="windowText" lastClr="000000"/>
                          </a:solidFill>
                          <a:effectLst/>
                          <a:uLnTx/>
                          <a:uFillTx/>
                          <a:latin typeface="Calibri"/>
                          <a:cs typeface="Calibri"/>
                        </a:rPr>
                        <a:t> </a:t>
                      </a:r>
                      <a:r>
                        <a:rPr kumimoji="0" lang="fr-FR" sz="2000" b="1" i="0" u="none" strike="noStrike" kern="0" cap="none" spc="-10" normalizeH="0" baseline="0" noProof="0" dirty="0">
                          <a:ln>
                            <a:noFill/>
                          </a:ln>
                          <a:solidFill>
                            <a:sysClr val="windowText" lastClr="000000"/>
                          </a:solidFill>
                          <a:effectLst/>
                          <a:uLnTx/>
                          <a:uFillTx/>
                          <a:latin typeface="Calibri"/>
                          <a:cs typeface="Calibri"/>
                        </a:rPr>
                        <a:t>dialogue</a:t>
                      </a:r>
                      <a:endParaRPr kumimoji="0" lang="fr-FR" sz="2000" b="0" i="0" u="none" strike="noStrike" kern="0" cap="none" spc="0" normalizeH="0" baseline="0" noProof="0" dirty="0">
                        <a:ln>
                          <a:noFill/>
                        </a:ln>
                        <a:solidFill>
                          <a:sysClr val="windowText" lastClr="000000"/>
                        </a:solidFill>
                        <a:effectLst/>
                        <a:uLnTx/>
                        <a:uFillTx/>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81130310"/>
                  </a:ext>
                </a:extLst>
              </a:tr>
              <a:tr h="370840">
                <a:tc>
                  <a:txBody>
                    <a:bodyPr/>
                    <a:lstStyle/>
                    <a:p>
                      <a:pPr marL="0" marR="0" lvl="0" indent="0" algn="l" defTabSz="914400" rtl="1" eaLnBrk="1" fontAlgn="auto" latinLnBrk="0" hangingPunct="1">
                        <a:lnSpc>
                          <a:spcPct val="100000"/>
                        </a:lnSpc>
                        <a:spcBef>
                          <a:spcPts val="0"/>
                        </a:spcBef>
                        <a:spcAft>
                          <a:spcPts val="0"/>
                        </a:spcAft>
                        <a:buClr>
                          <a:srgbClr val="000000"/>
                        </a:buClr>
                        <a:buSzTx/>
                        <a:buFont typeface="Arial"/>
                        <a:buNone/>
                        <a:tabLst/>
                        <a:defRPr/>
                      </a:pPr>
                      <a:r>
                        <a:rPr lang="fr-FR" sz="2000" b="1" dirty="0">
                          <a:solidFill>
                            <a:srgbClr val="3A8B39"/>
                          </a:solidFill>
                          <a:latin typeface="Calibri"/>
                          <a:cs typeface="Calibri"/>
                        </a:rPr>
                        <a:t>(1</a:t>
                      </a:r>
                      <a:r>
                        <a:rPr lang="fr-FR" sz="2000" b="1" spc="-45" dirty="0">
                          <a:solidFill>
                            <a:srgbClr val="3A8B39"/>
                          </a:solidFill>
                          <a:latin typeface="Calibri"/>
                          <a:cs typeface="Calibri"/>
                        </a:rPr>
                        <a:t> </a:t>
                      </a:r>
                      <a:r>
                        <a:rPr lang="fr-FR" sz="2000" b="1" spc="-10" dirty="0">
                          <a:solidFill>
                            <a:srgbClr val="3A8B39"/>
                          </a:solidFill>
                          <a:latin typeface="Calibri"/>
                          <a:cs typeface="Calibri"/>
                        </a:rPr>
                        <a:t>semaine)</a:t>
                      </a:r>
                      <a:endParaRPr lang="fr-FR" sz="2000" dirty="0">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469900" marR="0" lvl="0" indent="-457200" defTabSz="914400" eaLnBrk="1" fontAlgn="auto" latinLnBrk="0" hangingPunct="1">
                        <a:lnSpc>
                          <a:spcPct val="100000"/>
                        </a:lnSpc>
                        <a:spcBef>
                          <a:spcPts val="755"/>
                        </a:spcBef>
                        <a:spcAft>
                          <a:spcPts val="0"/>
                        </a:spcAft>
                        <a:buClr>
                          <a:srgbClr val="337817"/>
                        </a:buClr>
                        <a:buSzPct val="70000"/>
                        <a:buFont typeface="+mj-lt"/>
                        <a:buAutoNum type="arabicPeriod" startAt="8"/>
                        <a:tabLst>
                          <a:tab pos="469265" algn="l"/>
                        </a:tabLst>
                        <a:defRPr/>
                      </a:pPr>
                      <a:r>
                        <a:rPr kumimoji="0" lang="fr-FR" sz="2000" b="1" i="0" u="none" strike="noStrike" kern="0" cap="none" spc="-10" normalizeH="0" baseline="0" noProof="0" dirty="0">
                          <a:ln>
                            <a:noFill/>
                          </a:ln>
                          <a:solidFill>
                            <a:sysClr val="windowText" lastClr="000000"/>
                          </a:solidFill>
                          <a:effectLst/>
                          <a:uLnTx/>
                          <a:uFillTx/>
                          <a:latin typeface="Calibri"/>
                          <a:cs typeface="Calibri"/>
                        </a:rPr>
                        <a:t>Persistance</a:t>
                      </a:r>
                      <a:r>
                        <a:rPr kumimoji="0" lang="fr-FR" sz="2000" b="1" i="0" u="none" strike="noStrike" kern="0" cap="none" spc="-45"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de</a:t>
                      </a:r>
                      <a:r>
                        <a:rPr kumimoji="0" lang="fr-FR" sz="2000" b="1" i="0" u="none" strike="noStrike" kern="0" cap="none" spc="-40"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données</a:t>
                      </a:r>
                      <a:r>
                        <a:rPr kumimoji="0" lang="fr-FR" sz="2000" b="1" i="0" u="none" strike="noStrike" kern="0" cap="none" spc="-40" normalizeH="0" baseline="0" noProof="0" dirty="0">
                          <a:ln>
                            <a:noFill/>
                          </a:ln>
                          <a:solidFill>
                            <a:sysClr val="windowText" lastClr="000000"/>
                          </a:solidFill>
                          <a:effectLst/>
                          <a:uLnTx/>
                          <a:uFillTx/>
                          <a:latin typeface="Calibri"/>
                          <a:cs typeface="Calibri"/>
                        </a:rPr>
                        <a:t> </a:t>
                      </a:r>
                      <a:r>
                        <a:rPr kumimoji="0" lang="fr-FR" sz="2000" b="1" i="0" u="none" strike="noStrike" kern="0" cap="none" spc="-10" normalizeH="0" baseline="0" noProof="0" dirty="0">
                          <a:ln>
                            <a:noFill/>
                          </a:ln>
                          <a:solidFill>
                            <a:sysClr val="windowText" lastClr="000000"/>
                          </a:solidFill>
                          <a:effectLst/>
                          <a:uLnTx/>
                          <a:uFillTx/>
                          <a:latin typeface="Calibri"/>
                          <a:cs typeface="Calibri"/>
                        </a:rPr>
                        <a:t>(SQLite)</a:t>
                      </a:r>
                      <a:endParaRPr kumimoji="0" lang="fr-FR" sz="2000" b="0" i="0" u="none" strike="noStrike" kern="0" cap="none" spc="0" normalizeH="0" baseline="0" noProof="0" dirty="0">
                        <a:ln>
                          <a:noFill/>
                        </a:ln>
                        <a:solidFill>
                          <a:sysClr val="windowText" lastClr="000000"/>
                        </a:solidFill>
                        <a:effectLst/>
                        <a:uLnTx/>
                        <a:uFillTx/>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28423841"/>
                  </a:ext>
                </a:extLst>
              </a:tr>
              <a:tr h="370840">
                <a:tc>
                  <a:txBody>
                    <a:bodyPr/>
                    <a:lstStyle/>
                    <a:p>
                      <a:pPr marL="0" marR="0" lvl="0" indent="0" algn="l" defTabSz="914400" rtl="1" eaLnBrk="1" fontAlgn="auto" latinLnBrk="0" hangingPunct="1">
                        <a:lnSpc>
                          <a:spcPct val="100000"/>
                        </a:lnSpc>
                        <a:spcBef>
                          <a:spcPts val="0"/>
                        </a:spcBef>
                        <a:spcAft>
                          <a:spcPts val="0"/>
                        </a:spcAft>
                        <a:buClr>
                          <a:srgbClr val="000000"/>
                        </a:buClr>
                        <a:buSzTx/>
                        <a:buFont typeface="Arial"/>
                        <a:buNone/>
                        <a:tabLst/>
                        <a:defRPr/>
                      </a:pPr>
                      <a:r>
                        <a:rPr lang="fr-FR" sz="2000" b="1" dirty="0">
                          <a:solidFill>
                            <a:srgbClr val="3A8B39"/>
                          </a:solidFill>
                          <a:latin typeface="Calibri"/>
                          <a:cs typeface="Calibri"/>
                        </a:rPr>
                        <a:t>(1</a:t>
                      </a:r>
                      <a:r>
                        <a:rPr lang="fr-FR" sz="2000" b="1" spc="-45" dirty="0">
                          <a:solidFill>
                            <a:srgbClr val="3A8B39"/>
                          </a:solidFill>
                          <a:latin typeface="Calibri"/>
                          <a:cs typeface="Calibri"/>
                        </a:rPr>
                        <a:t> </a:t>
                      </a:r>
                      <a:r>
                        <a:rPr lang="fr-FR" sz="2000" b="1" spc="-10" dirty="0">
                          <a:solidFill>
                            <a:srgbClr val="3A8B39"/>
                          </a:solidFill>
                          <a:latin typeface="Calibri"/>
                          <a:cs typeface="Calibri"/>
                        </a:rPr>
                        <a:t>semaine)</a:t>
                      </a:r>
                      <a:endParaRPr lang="fr-FR" sz="2000" dirty="0">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469900" marR="0" lvl="0" indent="-457200" defTabSz="914400" eaLnBrk="1" fontAlgn="auto" latinLnBrk="0" hangingPunct="1">
                        <a:lnSpc>
                          <a:spcPct val="100000"/>
                        </a:lnSpc>
                        <a:spcBef>
                          <a:spcPts val="760"/>
                        </a:spcBef>
                        <a:spcAft>
                          <a:spcPts val="0"/>
                        </a:spcAft>
                        <a:buClr>
                          <a:srgbClr val="337817"/>
                        </a:buClr>
                        <a:buSzPct val="70000"/>
                        <a:buFont typeface="+mj-lt"/>
                        <a:buAutoNum type="arabicPeriod" startAt="9"/>
                        <a:tabLst>
                          <a:tab pos="469265" algn="l"/>
                        </a:tabLst>
                        <a:defRPr/>
                      </a:pPr>
                      <a:r>
                        <a:rPr kumimoji="0" lang="fr-FR" sz="2000" b="1" i="0" u="none" strike="noStrike" kern="0" cap="none" spc="0" normalizeH="0" baseline="0" noProof="0" dirty="0">
                          <a:ln>
                            <a:noFill/>
                          </a:ln>
                          <a:solidFill>
                            <a:sysClr val="windowText" lastClr="000000"/>
                          </a:solidFill>
                          <a:effectLst/>
                          <a:uLnTx/>
                          <a:uFillTx/>
                          <a:latin typeface="Calibri"/>
                          <a:cs typeface="Calibri"/>
                        </a:rPr>
                        <a:t>Services</a:t>
                      </a:r>
                      <a:r>
                        <a:rPr kumimoji="0" lang="fr-FR" sz="2000" b="1" i="0" u="none" strike="noStrike" kern="0" cap="none" spc="-50"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Web</a:t>
                      </a:r>
                      <a:r>
                        <a:rPr kumimoji="0" lang="fr-FR" sz="2000" b="1" i="0" u="none" strike="noStrike" kern="0" cap="none" spc="-45"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et</a:t>
                      </a:r>
                      <a:r>
                        <a:rPr kumimoji="0" lang="fr-FR" sz="2000" b="1" i="0" u="none" strike="noStrike" kern="0" cap="none" spc="-55" normalizeH="0" baseline="0" noProof="0" dirty="0">
                          <a:ln>
                            <a:noFill/>
                          </a:ln>
                          <a:solidFill>
                            <a:sysClr val="windowText" lastClr="000000"/>
                          </a:solidFill>
                          <a:effectLst/>
                          <a:uLnTx/>
                          <a:uFillTx/>
                          <a:latin typeface="Calibri"/>
                          <a:cs typeface="Calibri"/>
                        </a:rPr>
                        <a:t> </a:t>
                      </a:r>
                      <a:r>
                        <a:rPr kumimoji="0" lang="fr-FR" sz="2000" b="1" i="0" u="none" strike="noStrike" kern="0" cap="none" spc="0" normalizeH="0" baseline="0" noProof="0" dirty="0">
                          <a:ln>
                            <a:noFill/>
                          </a:ln>
                          <a:solidFill>
                            <a:sysClr val="windowText" lastClr="000000"/>
                          </a:solidFill>
                          <a:effectLst/>
                          <a:uLnTx/>
                          <a:uFillTx/>
                          <a:latin typeface="Calibri"/>
                          <a:cs typeface="Calibri"/>
                        </a:rPr>
                        <a:t>accès</a:t>
                      </a:r>
                      <a:r>
                        <a:rPr kumimoji="0" lang="fr-FR" sz="2000" b="1" i="0" u="none" strike="noStrike" kern="0" cap="none" spc="-50" normalizeH="0" baseline="0" noProof="0" dirty="0">
                          <a:ln>
                            <a:noFill/>
                          </a:ln>
                          <a:solidFill>
                            <a:sysClr val="windowText" lastClr="000000"/>
                          </a:solidFill>
                          <a:effectLst/>
                          <a:uLnTx/>
                          <a:uFillTx/>
                          <a:latin typeface="Calibri"/>
                          <a:cs typeface="Calibri"/>
                        </a:rPr>
                        <a:t> </a:t>
                      </a:r>
                      <a:r>
                        <a:rPr kumimoji="0" lang="fr-FR" sz="2000" b="1" i="0" u="none" strike="noStrike" kern="0" cap="none" spc="-10" normalizeH="0" baseline="0" noProof="0" dirty="0">
                          <a:ln>
                            <a:noFill/>
                          </a:ln>
                          <a:solidFill>
                            <a:sysClr val="windowText" lastClr="000000"/>
                          </a:solidFill>
                          <a:effectLst/>
                          <a:uLnTx/>
                          <a:uFillTx/>
                          <a:latin typeface="Calibri"/>
                          <a:cs typeface="Calibri"/>
                        </a:rPr>
                        <a:t>distant</a:t>
                      </a:r>
                      <a:endParaRPr kumimoji="0" lang="fr-FR" sz="2000" b="0" i="0" u="none" strike="noStrike" kern="0" cap="none" spc="0" normalizeH="0" baseline="0" noProof="0" dirty="0">
                        <a:ln>
                          <a:noFill/>
                        </a:ln>
                        <a:solidFill>
                          <a:sysClr val="windowText" lastClr="000000"/>
                        </a:solidFill>
                        <a:effectLst/>
                        <a:uLnTx/>
                        <a:uFillTx/>
                        <a:latin typeface="Calibri"/>
                        <a:cs typeface="Calibri"/>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94000912"/>
                  </a:ext>
                </a:extLst>
              </a:tr>
            </a:tbl>
          </a:graphicData>
        </a:graphic>
      </p:graphicFrame>
      <p:sp>
        <p:nvSpPr>
          <p:cNvPr id="3" name="Titre 2">
            <a:extLst>
              <a:ext uri="{FF2B5EF4-FFF2-40B4-BE49-F238E27FC236}">
                <a16:creationId xmlns:a16="http://schemas.microsoft.com/office/drawing/2014/main" id="{562E7F00-FA96-4005-8699-0F8E992C6106}"/>
              </a:ext>
            </a:extLst>
          </p:cNvPr>
          <p:cNvSpPr>
            <a:spLocks noGrp="1"/>
          </p:cNvSpPr>
          <p:nvPr>
            <p:ph type="title"/>
          </p:nvPr>
        </p:nvSpPr>
        <p:spPr/>
        <p:txBody>
          <a:bodyPr/>
          <a:lstStyle/>
          <a:p>
            <a:r>
              <a:rPr lang="en-US" dirty="0"/>
              <a:t>Planning</a:t>
            </a:r>
            <a:r>
              <a:rPr lang="en-US" spc="-25" dirty="0"/>
              <a:t> </a:t>
            </a:r>
            <a:r>
              <a:rPr lang="en-US" dirty="0"/>
              <a:t>du</a:t>
            </a:r>
            <a:r>
              <a:rPr lang="en-US" spc="-50" dirty="0"/>
              <a:t> </a:t>
            </a:r>
            <a:r>
              <a:rPr lang="en-US" spc="-10" dirty="0"/>
              <a:t>module</a:t>
            </a:r>
            <a:endParaRPr lang="ar-MA" dirty="0"/>
          </a:p>
        </p:txBody>
      </p:sp>
    </p:spTree>
    <p:extLst>
      <p:ext uri="{BB962C8B-B14F-4D97-AF65-F5344CB8AC3E}">
        <p14:creationId xmlns:p14="http://schemas.microsoft.com/office/powerpoint/2010/main" val="1990732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62E7F00-FA96-4005-8699-0F8E992C6106}"/>
              </a:ext>
            </a:extLst>
          </p:cNvPr>
          <p:cNvSpPr>
            <a:spLocks noGrp="1"/>
          </p:cNvSpPr>
          <p:nvPr>
            <p:ph type="title"/>
          </p:nvPr>
        </p:nvSpPr>
        <p:spPr/>
        <p:txBody>
          <a:bodyPr/>
          <a:lstStyle/>
          <a:p>
            <a:r>
              <a:rPr lang="en-US" dirty="0"/>
              <a:t>Planning</a:t>
            </a:r>
            <a:r>
              <a:rPr lang="en-US" spc="-25" dirty="0"/>
              <a:t> </a:t>
            </a:r>
            <a:r>
              <a:rPr lang="en-US" dirty="0"/>
              <a:t>du</a:t>
            </a:r>
            <a:r>
              <a:rPr lang="en-US" spc="-50" dirty="0"/>
              <a:t> </a:t>
            </a:r>
            <a:r>
              <a:rPr lang="en-US" spc="-10" dirty="0"/>
              <a:t>module</a:t>
            </a:r>
            <a:endParaRPr lang="ar-MA" dirty="0"/>
          </a:p>
        </p:txBody>
      </p:sp>
      <p:sp>
        <p:nvSpPr>
          <p:cNvPr id="6" name="Rectangle 5">
            <a:extLst>
              <a:ext uri="{FF2B5EF4-FFF2-40B4-BE49-F238E27FC236}">
                <a16:creationId xmlns:a16="http://schemas.microsoft.com/office/drawing/2014/main" id="{628A7D1B-ABD6-4E7A-A0FE-AC6A71A09F8C}"/>
              </a:ext>
            </a:extLst>
          </p:cNvPr>
          <p:cNvSpPr/>
          <p:nvPr/>
        </p:nvSpPr>
        <p:spPr>
          <a:xfrm>
            <a:off x="990600" y="1371600"/>
            <a:ext cx="10363200" cy="5078313"/>
          </a:xfrm>
          <a:prstGeom prst="rect">
            <a:avLst/>
          </a:prstGeom>
        </p:spPr>
        <p:txBody>
          <a:bodyPr wrap="square">
            <a:spAutoFit/>
          </a:bodyPr>
          <a:lstStyle/>
          <a:p>
            <a:pPr marL="342900" indent="-342900">
              <a:buFont typeface="+mj-lt"/>
              <a:buAutoNum type="arabicPeriod"/>
            </a:pPr>
            <a:r>
              <a:rPr lang="fr-FR" b="1" dirty="0">
                <a:solidFill>
                  <a:srgbClr val="00B050"/>
                </a:solidFill>
                <a:latin typeface="Calibri" panose="020F0502020204030204" pitchFamily="34" charset="0"/>
                <a:cs typeface="Calibri" panose="020F0502020204030204" pitchFamily="34" charset="0"/>
              </a:rPr>
              <a:t>Introduction, historique et importance du Développement Mobile</a:t>
            </a:r>
            <a:endParaRPr lang="fr-FR" dirty="0">
              <a:solidFill>
                <a:srgbClr val="00B050"/>
              </a:solidFill>
              <a:latin typeface="Calibri" panose="020F0502020204030204" pitchFamily="34" charset="0"/>
              <a:cs typeface="Calibri" panose="020F0502020204030204" pitchFamily="34" charset="0"/>
            </a:endParaRPr>
          </a:p>
          <a:p>
            <a:pPr marL="342900" indent="-342900">
              <a:buFont typeface="+mj-lt"/>
              <a:buAutoNum type="arabicPeriod"/>
            </a:pPr>
            <a:r>
              <a:rPr lang="fr-FR" b="1" dirty="0">
                <a:solidFill>
                  <a:srgbClr val="00B050"/>
                </a:solidFill>
                <a:latin typeface="Calibri" panose="020F0502020204030204" pitchFamily="34" charset="0"/>
                <a:cs typeface="Calibri" panose="020F0502020204030204" pitchFamily="34" charset="0"/>
              </a:rPr>
              <a:t>Systèmes d’Exploitation pour Mobile</a:t>
            </a:r>
          </a:p>
          <a:p>
            <a:pPr lvl="1">
              <a:buFont typeface="Arial" panose="020B0604020202020204" pitchFamily="34" charset="0"/>
              <a:buChar char="•"/>
            </a:pPr>
            <a:r>
              <a:rPr lang="fr-FR" dirty="0">
                <a:latin typeface="Calibri" panose="020F0502020204030204" pitchFamily="34" charset="0"/>
                <a:cs typeface="Calibri" panose="020F0502020204030204" pitchFamily="34" charset="0"/>
              </a:rPr>
              <a:t>Vue d’ensemble des systèmes d’exploitation mobiles principaux : Android, iOS, etc.</a:t>
            </a:r>
          </a:p>
          <a:p>
            <a:pPr lvl="1">
              <a:buFont typeface="Arial" panose="020B0604020202020204" pitchFamily="34" charset="0"/>
              <a:buChar char="•"/>
            </a:pPr>
            <a:r>
              <a:rPr lang="fr-FR" dirty="0">
                <a:latin typeface="Calibri" panose="020F0502020204030204" pitchFamily="34" charset="0"/>
                <a:cs typeface="Calibri" panose="020F0502020204030204" pitchFamily="34" charset="0"/>
              </a:rPr>
              <a:t>Comparaison des caractéristiques et des exigences pour le développement</a:t>
            </a:r>
          </a:p>
          <a:p>
            <a:pPr marL="342900" indent="-342900">
              <a:buFont typeface="+mj-lt"/>
              <a:buAutoNum type="arabicPeriod"/>
            </a:pPr>
            <a:r>
              <a:rPr lang="fr-FR" b="1" dirty="0">
                <a:solidFill>
                  <a:srgbClr val="00B050"/>
                </a:solidFill>
                <a:latin typeface="Calibri" panose="020F0502020204030204" pitchFamily="34" charset="0"/>
                <a:cs typeface="Calibri" panose="020F0502020204030204" pitchFamily="34" charset="0"/>
              </a:rPr>
              <a:t>Approches du Développement Mobile</a:t>
            </a:r>
          </a:p>
          <a:p>
            <a:pPr lvl="1">
              <a:buFont typeface="Arial" panose="020B0604020202020204" pitchFamily="34" charset="0"/>
              <a:buChar char="•"/>
            </a:pPr>
            <a:r>
              <a:rPr lang="fr-FR" dirty="0">
                <a:latin typeface="Calibri" panose="020F0502020204030204" pitchFamily="34" charset="0"/>
                <a:cs typeface="Calibri" panose="020F0502020204030204" pitchFamily="34" charset="0"/>
              </a:rPr>
              <a:t>Applications Natives</a:t>
            </a:r>
          </a:p>
          <a:p>
            <a:pPr lvl="1">
              <a:buFont typeface="Arial" panose="020B0604020202020204" pitchFamily="34" charset="0"/>
              <a:buChar char="•"/>
            </a:pPr>
            <a:r>
              <a:rPr lang="fr-FR" dirty="0">
                <a:latin typeface="Calibri" panose="020F0502020204030204" pitchFamily="34" charset="0"/>
                <a:cs typeface="Calibri" panose="020F0502020204030204" pitchFamily="34" charset="0"/>
              </a:rPr>
              <a:t>Applications Web</a:t>
            </a:r>
          </a:p>
          <a:p>
            <a:pPr lvl="1">
              <a:buFont typeface="Arial" panose="020B0604020202020204" pitchFamily="34" charset="0"/>
              <a:buChar char="•"/>
            </a:pPr>
            <a:r>
              <a:rPr lang="fr-FR" dirty="0">
                <a:latin typeface="Calibri" panose="020F0502020204030204" pitchFamily="34" charset="0"/>
                <a:cs typeface="Calibri" panose="020F0502020204030204" pitchFamily="34" charset="0"/>
              </a:rPr>
              <a:t>Applications Hybrides</a:t>
            </a:r>
          </a:p>
          <a:p>
            <a:pPr marL="342900" indent="-342900">
              <a:buFont typeface="+mj-lt"/>
              <a:buAutoNum type="arabicPeriod"/>
            </a:pPr>
            <a:r>
              <a:rPr lang="fr-FR" b="1" dirty="0">
                <a:solidFill>
                  <a:srgbClr val="00B050"/>
                </a:solidFill>
                <a:latin typeface="Calibri" panose="020F0502020204030204" pitchFamily="34" charset="0"/>
                <a:cs typeface="Calibri" panose="020F0502020204030204" pitchFamily="34" charset="0"/>
              </a:rPr>
              <a:t>Fondamentaux de la Programmation des Applications Mobiles</a:t>
            </a:r>
          </a:p>
          <a:p>
            <a:pPr lvl="1">
              <a:buFont typeface="Arial" panose="020B0604020202020204" pitchFamily="34" charset="0"/>
              <a:buChar char="•"/>
            </a:pPr>
            <a:r>
              <a:rPr lang="fr-FR" dirty="0">
                <a:latin typeface="Calibri" panose="020F0502020204030204" pitchFamily="34" charset="0"/>
                <a:cs typeface="Calibri" panose="020F0502020204030204" pitchFamily="34" charset="0"/>
              </a:rPr>
              <a:t>Présentation des Environnements de Développement Intégré (EDI)</a:t>
            </a:r>
          </a:p>
          <a:p>
            <a:pPr marL="1200150" lvl="2" indent="-285750">
              <a:buFont typeface="Arial" panose="020B0604020202020204" pitchFamily="34" charset="0"/>
              <a:buChar char="•"/>
            </a:pPr>
            <a:r>
              <a:rPr lang="fr-FR" dirty="0">
                <a:latin typeface="Calibri" panose="020F0502020204030204" pitchFamily="34" charset="0"/>
                <a:cs typeface="Calibri" panose="020F0502020204030204" pitchFamily="34" charset="0"/>
              </a:rPr>
              <a:t>Android Studio pour Android</a:t>
            </a:r>
          </a:p>
          <a:p>
            <a:pPr marL="1200150" lvl="2" indent="-285750">
              <a:buFont typeface="Arial" panose="020B0604020202020204" pitchFamily="34" charset="0"/>
              <a:buChar char="•"/>
            </a:pPr>
            <a:r>
              <a:rPr lang="fr-FR" dirty="0" err="1">
                <a:latin typeface="Calibri" panose="020F0502020204030204" pitchFamily="34" charset="0"/>
                <a:cs typeface="Calibri" panose="020F0502020204030204" pitchFamily="34" charset="0"/>
              </a:rPr>
              <a:t>Xcode</a:t>
            </a:r>
            <a:r>
              <a:rPr lang="fr-FR" dirty="0">
                <a:latin typeface="Calibri" panose="020F0502020204030204" pitchFamily="34" charset="0"/>
                <a:cs typeface="Calibri" panose="020F0502020204030204" pitchFamily="34" charset="0"/>
              </a:rPr>
              <a:t> pour iOS</a:t>
            </a:r>
          </a:p>
          <a:p>
            <a:pPr lvl="1">
              <a:buFont typeface="Arial" panose="020B0604020202020204" pitchFamily="34" charset="0"/>
              <a:buChar char="•"/>
            </a:pPr>
            <a:r>
              <a:rPr lang="fr-FR" dirty="0">
                <a:latin typeface="Calibri" panose="020F0502020204030204" pitchFamily="34" charset="0"/>
                <a:cs typeface="Calibri" panose="020F0502020204030204" pitchFamily="34" charset="0"/>
              </a:rPr>
              <a:t>Configuration d’EDI</a:t>
            </a:r>
          </a:p>
          <a:p>
            <a:pPr marL="1200150" lvl="2" indent="-285750">
              <a:buFont typeface="Arial" panose="020B0604020202020204" pitchFamily="34" charset="0"/>
              <a:buChar char="•"/>
            </a:pPr>
            <a:r>
              <a:rPr lang="fr-FR" dirty="0">
                <a:latin typeface="Calibri" panose="020F0502020204030204" pitchFamily="34" charset="0"/>
                <a:cs typeface="Calibri" panose="020F0502020204030204" pitchFamily="34" charset="0"/>
              </a:rPr>
              <a:t>Installation et configuration de l’environnement de développement</a:t>
            </a:r>
          </a:p>
          <a:p>
            <a:pPr marL="1200150" lvl="2" indent="-285750">
              <a:buFont typeface="Arial" panose="020B0604020202020204" pitchFamily="34" charset="0"/>
              <a:buChar char="•"/>
            </a:pPr>
            <a:r>
              <a:rPr lang="fr-FR" dirty="0">
                <a:latin typeface="Calibri" panose="020F0502020204030204" pitchFamily="34" charset="0"/>
                <a:cs typeface="Calibri" panose="020F0502020204030204" pitchFamily="34" charset="0"/>
              </a:rPr>
              <a:t>Paramétrage initial et outils disponibles</a:t>
            </a:r>
          </a:p>
          <a:p>
            <a:pPr lvl="1">
              <a:buFont typeface="Arial" panose="020B0604020202020204" pitchFamily="34" charset="0"/>
              <a:buChar char="•"/>
            </a:pPr>
            <a:r>
              <a:rPr lang="fr-FR" dirty="0">
                <a:latin typeface="Calibri" panose="020F0502020204030204" pitchFamily="34" charset="0"/>
                <a:cs typeface="Calibri" panose="020F0502020204030204" pitchFamily="34" charset="0"/>
              </a:rPr>
              <a:t>Structures d’une Application Mobile</a:t>
            </a:r>
          </a:p>
          <a:p>
            <a:pPr marL="1200150" lvl="2" indent="-285750">
              <a:buFont typeface="Arial" panose="020B0604020202020204" pitchFamily="34" charset="0"/>
              <a:buChar char="•"/>
            </a:pPr>
            <a:r>
              <a:rPr lang="fr-FR" dirty="0">
                <a:latin typeface="Calibri" panose="020F0502020204030204" pitchFamily="34" charset="0"/>
                <a:cs typeface="Calibri" panose="020F0502020204030204" pitchFamily="34" charset="0"/>
              </a:rPr>
              <a:t>Composants principaux : activités, fragments, services, gestion du cycle de vie, </a:t>
            </a:r>
            <a:r>
              <a:rPr lang="fr-FR" dirty="0" err="1">
                <a:latin typeface="Calibri" panose="020F0502020204030204" pitchFamily="34" charset="0"/>
                <a:cs typeface="Calibri" panose="020F0502020204030204" pitchFamily="34" charset="0"/>
              </a:rPr>
              <a:t>intents</a:t>
            </a:r>
            <a:r>
              <a:rPr lang="fr-FR" dirty="0">
                <a:latin typeface="Calibri" panose="020F0502020204030204" pitchFamily="34" charset="0"/>
                <a:cs typeface="Calibri" panose="020F0502020204030204" pitchFamily="34" charset="0"/>
              </a:rPr>
              <a:t>…</a:t>
            </a:r>
          </a:p>
          <a:p>
            <a:pPr marL="1200150" lvl="2" indent="-285750">
              <a:buFont typeface="Arial" panose="020B0604020202020204" pitchFamily="34" charset="0"/>
              <a:buChar char="•"/>
            </a:pPr>
            <a:r>
              <a:rPr lang="fr-FR" dirty="0">
                <a:latin typeface="Calibri" panose="020F0502020204030204" pitchFamily="34" charset="0"/>
                <a:cs typeface="Calibri" panose="020F0502020204030204" pitchFamily="34" charset="0"/>
              </a:rPr>
              <a:t>Organisation générale d’une application mobile</a:t>
            </a:r>
          </a:p>
        </p:txBody>
      </p:sp>
    </p:spTree>
    <p:extLst>
      <p:ext uri="{BB962C8B-B14F-4D97-AF65-F5344CB8AC3E}">
        <p14:creationId xmlns:p14="http://schemas.microsoft.com/office/powerpoint/2010/main" val="804628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62E7F00-FA96-4005-8699-0F8E992C6106}"/>
              </a:ext>
            </a:extLst>
          </p:cNvPr>
          <p:cNvSpPr>
            <a:spLocks noGrp="1"/>
          </p:cNvSpPr>
          <p:nvPr>
            <p:ph type="title"/>
          </p:nvPr>
        </p:nvSpPr>
        <p:spPr/>
        <p:txBody>
          <a:bodyPr/>
          <a:lstStyle/>
          <a:p>
            <a:r>
              <a:rPr lang="en-US" dirty="0"/>
              <a:t>Planning</a:t>
            </a:r>
            <a:r>
              <a:rPr lang="en-US" spc="-25" dirty="0"/>
              <a:t> </a:t>
            </a:r>
            <a:r>
              <a:rPr lang="en-US" dirty="0"/>
              <a:t>du</a:t>
            </a:r>
            <a:r>
              <a:rPr lang="en-US" spc="-50" dirty="0"/>
              <a:t> </a:t>
            </a:r>
            <a:r>
              <a:rPr lang="en-US" spc="-10" dirty="0"/>
              <a:t>module</a:t>
            </a:r>
            <a:endParaRPr lang="ar-MA" dirty="0"/>
          </a:p>
        </p:txBody>
      </p:sp>
      <p:sp>
        <p:nvSpPr>
          <p:cNvPr id="6" name="Rectangle 5">
            <a:extLst>
              <a:ext uri="{FF2B5EF4-FFF2-40B4-BE49-F238E27FC236}">
                <a16:creationId xmlns:a16="http://schemas.microsoft.com/office/drawing/2014/main" id="{628A7D1B-ABD6-4E7A-A0FE-AC6A71A09F8C}"/>
              </a:ext>
            </a:extLst>
          </p:cNvPr>
          <p:cNvSpPr/>
          <p:nvPr/>
        </p:nvSpPr>
        <p:spPr>
          <a:xfrm>
            <a:off x="914400" y="1083942"/>
            <a:ext cx="10363200" cy="5632311"/>
          </a:xfrm>
          <a:prstGeom prst="rect">
            <a:avLst/>
          </a:prstGeom>
        </p:spPr>
        <p:txBody>
          <a:bodyPr wrap="square">
            <a:spAutoFit/>
          </a:bodyPr>
          <a:lstStyle/>
          <a:p>
            <a:pPr marL="342900" lvl="0" indent="-342900" fontAlgn="base">
              <a:spcBef>
                <a:spcPct val="0"/>
              </a:spcBef>
              <a:spcAft>
                <a:spcPct val="0"/>
              </a:spcAft>
              <a:buFont typeface="+mj-lt"/>
              <a:buAutoNum type="arabicPeriod" startAt="5"/>
            </a:pPr>
            <a:r>
              <a:rPr lang="ar-MA" altLang="ar-MA" b="1" dirty="0" err="1">
                <a:solidFill>
                  <a:srgbClr val="00B050"/>
                </a:solidFill>
                <a:latin typeface="Calibri" panose="020F0502020204030204" pitchFamily="34" charset="0"/>
                <a:cs typeface="Calibri" panose="020F0502020204030204" pitchFamily="34" charset="0"/>
              </a:rPr>
              <a:t>Interface</a:t>
            </a:r>
            <a:r>
              <a:rPr lang="ar-MA" altLang="ar-MA" b="1" dirty="0">
                <a:solidFill>
                  <a:srgbClr val="00B050"/>
                </a:solidFill>
                <a:latin typeface="Calibri" panose="020F0502020204030204" pitchFamily="34" charset="0"/>
                <a:cs typeface="Calibri" panose="020F0502020204030204" pitchFamily="34" charset="0"/>
              </a:rPr>
              <a:t> </a:t>
            </a:r>
            <a:r>
              <a:rPr lang="ar-MA" altLang="ar-MA" b="1" dirty="0" err="1">
                <a:solidFill>
                  <a:srgbClr val="00B050"/>
                </a:solidFill>
                <a:latin typeface="Calibri" panose="020F0502020204030204" pitchFamily="34" charset="0"/>
                <a:cs typeface="Calibri" panose="020F0502020204030204" pitchFamily="34" charset="0"/>
              </a:rPr>
              <a:t>Utilisateur</a:t>
            </a:r>
            <a:r>
              <a:rPr lang="ar-MA" altLang="ar-MA" b="1" dirty="0">
                <a:solidFill>
                  <a:srgbClr val="00B050"/>
                </a:solidFill>
                <a:latin typeface="Calibri" panose="020F0502020204030204" pitchFamily="34" charset="0"/>
                <a:cs typeface="Calibri" panose="020F0502020204030204" pitchFamily="34" charset="0"/>
              </a:rPr>
              <a:t> </a:t>
            </a:r>
            <a:r>
              <a:rPr lang="ar-MA" altLang="ar-MA" b="1" dirty="0" err="1">
                <a:solidFill>
                  <a:srgbClr val="00B050"/>
                </a:solidFill>
                <a:latin typeface="Calibri" panose="020F0502020204030204" pitchFamily="34" charset="0"/>
                <a:cs typeface="Calibri" panose="020F0502020204030204" pitchFamily="34" charset="0"/>
              </a:rPr>
              <a:t>et</a:t>
            </a:r>
            <a:r>
              <a:rPr lang="ar-MA" altLang="ar-MA" b="1" dirty="0">
                <a:solidFill>
                  <a:srgbClr val="00B050"/>
                </a:solidFill>
                <a:latin typeface="Calibri" panose="020F0502020204030204" pitchFamily="34" charset="0"/>
                <a:cs typeface="Calibri" panose="020F0502020204030204" pitchFamily="34" charset="0"/>
              </a:rPr>
              <a:t> </a:t>
            </a:r>
            <a:r>
              <a:rPr lang="ar-MA" altLang="ar-MA" b="1" dirty="0" err="1">
                <a:solidFill>
                  <a:srgbClr val="00B050"/>
                </a:solidFill>
                <a:latin typeface="Calibri" panose="020F0502020204030204" pitchFamily="34" charset="0"/>
                <a:cs typeface="Calibri" panose="020F0502020204030204" pitchFamily="34" charset="0"/>
              </a:rPr>
              <a:t>Gestion</a:t>
            </a:r>
            <a:r>
              <a:rPr lang="ar-MA" altLang="ar-MA" b="1" dirty="0">
                <a:solidFill>
                  <a:srgbClr val="00B050"/>
                </a:solidFill>
                <a:latin typeface="Calibri" panose="020F0502020204030204" pitchFamily="34" charset="0"/>
                <a:cs typeface="Calibri" panose="020F0502020204030204" pitchFamily="34" charset="0"/>
              </a:rPr>
              <a:t> </a:t>
            </a:r>
            <a:r>
              <a:rPr lang="ar-MA" altLang="ar-MA" b="1" dirty="0" err="1">
                <a:solidFill>
                  <a:srgbClr val="00B050"/>
                </a:solidFill>
                <a:latin typeface="Calibri" panose="020F0502020204030204" pitchFamily="34" charset="0"/>
                <a:cs typeface="Calibri" panose="020F0502020204030204" pitchFamily="34" charset="0"/>
              </a:rPr>
              <a:t>des</a:t>
            </a:r>
            <a:r>
              <a:rPr lang="ar-MA" altLang="ar-MA" b="1" dirty="0">
                <a:solidFill>
                  <a:srgbClr val="00B050"/>
                </a:solidFill>
                <a:latin typeface="Calibri" panose="020F0502020204030204" pitchFamily="34" charset="0"/>
                <a:cs typeface="Calibri" panose="020F0502020204030204" pitchFamily="34" charset="0"/>
              </a:rPr>
              <a:t> </a:t>
            </a:r>
            <a:r>
              <a:rPr lang="ar-MA" altLang="ar-MA" b="1" dirty="0" err="1">
                <a:solidFill>
                  <a:srgbClr val="00B050"/>
                </a:solidFill>
                <a:latin typeface="Calibri" panose="020F0502020204030204" pitchFamily="34" charset="0"/>
                <a:cs typeface="Calibri" panose="020F0502020204030204" pitchFamily="34" charset="0"/>
              </a:rPr>
              <a:t>Événements</a:t>
            </a:r>
            <a:endParaRPr lang="ar-MA" altLang="ar-MA" b="1" dirty="0">
              <a:solidFill>
                <a:srgbClr val="00B050"/>
              </a:solidFill>
              <a:latin typeface="Calibri" panose="020F0502020204030204" pitchFamily="34" charset="0"/>
              <a:cs typeface="Calibri" panose="020F0502020204030204" pitchFamily="34" charset="0"/>
            </a:endParaRPr>
          </a:p>
          <a:p>
            <a:pPr lvl="1" defTabSz="914400" eaLnBrk="0" fontAlgn="base" hangingPunct="0">
              <a:spcBef>
                <a:spcPct val="0"/>
              </a:spcBef>
              <a:spcAft>
                <a:spcPct val="0"/>
              </a:spcAft>
              <a:buFontTx/>
              <a:buChar char="•"/>
            </a:pPr>
            <a:r>
              <a:rPr lang="ar-MA" altLang="ar-MA" dirty="0">
                <a:latin typeface="Calibri" panose="020F0502020204030204" pitchFamily="34" charset="0"/>
                <a:cs typeface="Calibri" panose="020F0502020204030204" pitchFamily="34" charset="0"/>
              </a:rPr>
              <a:t>XML </a:t>
            </a:r>
            <a:r>
              <a:rPr lang="ar-MA" altLang="ar-MA" dirty="0" err="1">
                <a:latin typeface="Calibri" panose="020F0502020204030204" pitchFamily="34" charset="0"/>
                <a:cs typeface="Calibri" panose="020F0502020204030204" pitchFamily="34" charset="0"/>
              </a:rPr>
              <a:t>et</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Views</a:t>
            </a:r>
            <a:endParaRPr lang="ar-MA" altLang="ar-MA" dirty="0">
              <a:latin typeface="Calibri" panose="020F0502020204030204" pitchFamily="34" charset="0"/>
              <a:cs typeface="Calibri" panose="020F0502020204030204" pitchFamily="34" charset="0"/>
            </a:endParaRPr>
          </a:p>
          <a:p>
            <a:pPr lvl="2"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Utilisation</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de</a:t>
            </a:r>
            <a:r>
              <a:rPr lang="ar-MA" altLang="ar-MA" dirty="0">
                <a:latin typeface="Calibri" panose="020F0502020204030204" pitchFamily="34" charset="0"/>
                <a:cs typeface="Calibri" panose="020F0502020204030204" pitchFamily="34" charset="0"/>
              </a:rPr>
              <a:t> XML </a:t>
            </a:r>
            <a:r>
              <a:rPr lang="ar-MA" altLang="ar-MA" dirty="0" err="1">
                <a:latin typeface="Calibri" panose="020F0502020204030204" pitchFamily="34" charset="0"/>
                <a:cs typeface="Calibri" panose="020F0502020204030204" pitchFamily="34" charset="0"/>
              </a:rPr>
              <a:t>pour</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définir</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l’interface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utilisateur</a:t>
            </a:r>
            <a:endParaRPr lang="ar-MA" altLang="ar-MA" dirty="0">
              <a:latin typeface="Calibri" panose="020F0502020204030204" pitchFamily="34" charset="0"/>
              <a:cs typeface="Calibri" panose="020F0502020204030204" pitchFamily="34" charset="0"/>
            </a:endParaRPr>
          </a:p>
          <a:p>
            <a:pPr lvl="2"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Présentation</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des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différents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types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vues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Views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et</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ViewGroups</a:t>
            </a:r>
            <a:endParaRPr lang="ar-MA" altLang="ar-MA" dirty="0">
              <a:latin typeface="Calibri" panose="020F0502020204030204" pitchFamily="34" charset="0"/>
              <a:cs typeface="Calibri" panose="020F0502020204030204" pitchFamily="34" charset="0"/>
            </a:endParaRPr>
          </a:p>
          <a:p>
            <a:pPr lvl="1"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Layouts</a:t>
            </a:r>
            <a:endParaRPr lang="ar-MA" altLang="ar-MA" dirty="0">
              <a:latin typeface="Calibri" panose="020F0502020204030204" pitchFamily="34" charset="0"/>
              <a:cs typeface="Calibri" panose="020F0502020204030204" pitchFamily="34" charset="0"/>
            </a:endParaRPr>
          </a:p>
          <a:p>
            <a:pPr lvl="2"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Utilisation</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ConstraintLayout</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LinearLayout</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etc</a:t>
            </a:r>
            <a:r>
              <a:rPr lang="ar-MA" altLang="ar-MA" dirty="0">
                <a:latin typeface="Calibri" panose="020F0502020204030204" pitchFamily="34" charset="0"/>
                <a:cs typeface="Calibri" panose="020F0502020204030204" pitchFamily="34" charset="0"/>
              </a:rPr>
              <a:t>.</a:t>
            </a:r>
          </a:p>
          <a:p>
            <a:pPr lvl="2"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Gestion</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la</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disposition</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des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éléments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dans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l’interface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utilisateur</a:t>
            </a:r>
            <a:endParaRPr lang="ar-MA" altLang="ar-MA" dirty="0">
              <a:latin typeface="Calibri" panose="020F0502020204030204" pitchFamily="34" charset="0"/>
              <a:cs typeface="Calibri" panose="020F0502020204030204" pitchFamily="34" charset="0"/>
            </a:endParaRPr>
          </a:p>
          <a:p>
            <a:pPr lvl="1"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Listeners</a:t>
            </a:r>
            <a:endParaRPr lang="ar-MA" altLang="ar-MA" dirty="0">
              <a:latin typeface="Calibri" panose="020F0502020204030204" pitchFamily="34" charset="0"/>
              <a:cs typeface="Calibri" panose="020F0502020204030204" pitchFamily="34" charset="0"/>
            </a:endParaRPr>
          </a:p>
          <a:p>
            <a:pPr lvl="2"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Gestion</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des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événements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utilisateur</a:t>
            </a:r>
            <a:r>
              <a:rPr lang="ar-MA" altLang="ar-MA" dirty="0">
                <a:latin typeface="Calibri" panose="020F0502020204030204" pitchFamily="34" charset="0"/>
                <a:cs typeface="Calibri" panose="020F0502020204030204" pitchFamily="34" charset="0"/>
              </a:rPr>
              <a:t> à </a:t>
            </a:r>
            <a:r>
              <a:rPr lang="ar-MA" altLang="ar-MA" dirty="0" err="1">
                <a:latin typeface="Calibri" panose="020F0502020204030204" pitchFamily="34" charset="0"/>
                <a:cs typeface="Calibri" panose="020F0502020204030204" pitchFamily="34" charset="0"/>
              </a:rPr>
              <a:t>travers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les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listeners</a:t>
            </a:r>
            <a:endParaRPr lang="fr-FR" altLang="ar-MA" dirty="0">
              <a:latin typeface="Calibri" panose="020F0502020204030204" pitchFamily="34" charset="0"/>
              <a:cs typeface="Calibri" panose="020F0502020204030204" pitchFamily="34" charset="0"/>
            </a:endParaRPr>
          </a:p>
          <a:p>
            <a:pPr marL="342900" indent="-342900" fontAlgn="base">
              <a:spcBef>
                <a:spcPct val="0"/>
              </a:spcBef>
              <a:spcAft>
                <a:spcPct val="0"/>
              </a:spcAft>
              <a:buFont typeface="+mj-lt"/>
              <a:buAutoNum type="arabicPeriod" startAt="6"/>
            </a:pPr>
            <a:r>
              <a:rPr lang="ar-MA" altLang="ar-MA" b="1" dirty="0" err="1">
                <a:solidFill>
                  <a:srgbClr val="00B050"/>
                </a:solidFill>
                <a:latin typeface="Calibri" panose="020F0502020204030204" pitchFamily="34" charset="0"/>
                <a:cs typeface="Calibri" panose="020F0502020204030204" pitchFamily="34" charset="0"/>
              </a:rPr>
              <a:t>Persistance</a:t>
            </a:r>
            <a:r>
              <a:rPr lang="ar-MA" altLang="ar-MA" b="1" dirty="0">
                <a:solidFill>
                  <a:srgbClr val="00B050"/>
                </a:solidFill>
                <a:latin typeface="Calibri" panose="020F0502020204030204" pitchFamily="34" charset="0"/>
                <a:cs typeface="Calibri" panose="020F0502020204030204" pitchFamily="34" charset="0"/>
              </a:rPr>
              <a:t> </a:t>
            </a:r>
            <a:r>
              <a:rPr lang="ar-MA" altLang="ar-MA" b="1" dirty="0" err="1">
                <a:solidFill>
                  <a:srgbClr val="00B050"/>
                </a:solidFill>
                <a:latin typeface="Calibri" panose="020F0502020204030204" pitchFamily="34" charset="0"/>
                <a:cs typeface="Calibri" panose="020F0502020204030204" pitchFamily="34" charset="0"/>
              </a:rPr>
              <a:t>de</a:t>
            </a:r>
            <a:r>
              <a:rPr lang="ar-MA" altLang="ar-MA" b="1" dirty="0">
                <a:solidFill>
                  <a:srgbClr val="00B050"/>
                </a:solidFill>
                <a:latin typeface="Calibri" panose="020F0502020204030204" pitchFamily="34" charset="0"/>
                <a:cs typeface="Calibri" panose="020F0502020204030204" pitchFamily="34" charset="0"/>
              </a:rPr>
              <a:t> </a:t>
            </a:r>
            <a:r>
              <a:rPr lang="ar-MA" altLang="ar-MA" b="1" dirty="0" err="1">
                <a:solidFill>
                  <a:srgbClr val="00B050"/>
                </a:solidFill>
                <a:latin typeface="Calibri" panose="020F0502020204030204" pitchFamily="34" charset="0"/>
                <a:cs typeface="Calibri" panose="020F0502020204030204" pitchFamily="34" charset="0"/>
              </a:rPr>
              <a:t>données</a:t>
            </a:r>
            <a:endParaRPr lang="ar-MA" altLang="ar-MA" b="1" dirty="0">
              <a:solidFill>
                <a:srgbClr val="00B050"/>
              </a:solidFill>
              <a:latin typeface="Calibri" panose="020F0502020204030204" pitchFamily="34" charset="0"/>
              <a:cs typeface="Calibri" panose="020F0502020204030204" pitchFamily="34" charset="0"/>
            </a:endParaRPr>
          </a:p>
          <a:p>
            <a:pPr lvl="1"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Base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données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locale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SQLite</a:t>
            </a:r>
            <a:r>
              <a:rPr lang="ar-MA" altLang="ar-MA" dirty="0">
                <a:latin typeface="Calibri" panose="020F0502020204030204" pitchFamily="34" charset="0"/>
                <a:cs typeface="Calibri" panose="020F0502020204030204" pitchFamily="34" charset="0"/>
              </a:rPr>
              <a:t>)</a:t>
            </a:r>
          </a:p>
          <a:p>
            <a:pPr lvl="1"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Fichiers</a:t>
            </a:r>
            <a:endParaRPr lang="ar-MA" altLang="ar-MA" dirty="0">
              <a:latin typeface="Calibri" panose="020F0502020204030204" pitchFamily="34" charset="0"/>
              <a:cs typeface="Calibri" panose="020F0502020204030204" pitchFamily="34" charset="0"/>
            </a:endParaRPr>
          </a:p>
          <a:p>
            <a:pPr lvl="1"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Stockage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partagé</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SharedPreferences</a:t>
            </a:r>
            <a:r>
              <a:rPr lang="ar-MA" altLang="ar-MA" dirty="0">
                <a:latin typeface="Calibri" panose="020F0502020204030204" pitchFamily="34" charset="0"/>
                <a:cs typeface="Calibri" panose="020F0502020204030204" pitchFamily="34" charset="0"/>
              </a:rPr>
              <a:t>)</a:t>
            </a:r>
          </a:p>
          <a:p>
            <a:pPr lvl="1"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Stockage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temporaire</a:t>
            </a:r>
            <a:r>
              <a:rPr lang="ar-MA" altLang="ar-MA" dirty="0">
                <a:latin typeface="Calibri" panose="020F0502020204030204" pitchFamily="34" charset="0"/>
                <a:cs typeface="Calibri" panose="020F0502020204030204" pitchFamily="34" charset="0"/>
              </a:rPr>
              <a:t> : </a:t>
            </a:r>
            <a:r>
              <a:rPr lang="ar-MA" altLang="ar-MA" dirty="0" err="1">
                <a:latin typeface="Calibri" panose="020F0502020204030204" pitchFamily="34" charset="0"/>
                <a:cs typeface="Calibri" panose="020F0502020204030204" pitchFamily="34" charset="0"/>
              </a:rPr>
              <a:t>des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listes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ou</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des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cartes</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HashMap</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ArrayList</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etc</a:t>
            </a:r>
            <a:r>
              <a:rPr lang="ar-MA" altLang="ar-MA" dirty="0">
                <a:latin typeface="Calibri" panose="020F0502020204030204" pitchFamily="34" charset="0"/>
                <a:cs typeface="Calibri" panose="020F0502020204030204" pitchFamily="34" charset="0"/>
              </a:rPr>
              <a:t>.)</a:t>
            </a:r>
          </a:p>
          <a:p>
            <a:pPr lvl="1"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Stockage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cloud</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Firebase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Realtime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Database</a:t>
            </a:r>
            <a:r>
              <a:rPr lang="ar-MA" altLang="ar-MA" dirty="0">
                <a:latin typeface="Calibri" panose="020F0502020204030204" pitchFamily="34" charset="0"/>
                <a:cs typeface="Calibri" panose="020F0502020204030204" pitchFamily="34" charset="0"/>
              </a:rPr>
              <a:t>)</a:t>
            </a:r>
            <a:endParaRPr lang="fr-FR" altLang="ar-MA" dirty="0">
              <a:latin typeface="Calibri" panose="020F0502020204030204" pitchFamily="34" charset="0"/>
              <a:cs typeface="Calibri" panose="020F0502020204030204" pitchFamily="34" charset="0"/>
            </a:endParaRPr>
          </a:p>
          <a:p>
            <a:pPr lvl="0" defTabSz="914400" eaLnBrk="0" fontAlgn="base" hangingPunct="0">
              <a:spcBef>
                <a:spcPct val="0"/>
              </a:spcBef>
              <a:spcAft>
                <a:spcPct val="0"/>
              </a:spcAft>
              <a:buFontTx/>
              <a:buChar char="•"/>
            </a:pPr>
            <a:endParaRPr lang="fr-FR" altLang="ar-MA" dirty="0">
              <a:latin typeface="Calibri" panose="020F0502020204030204" pitchFamily="34" charset="0"/>
              <a:cs typeface="Calibri" panose="020F0502020204030204" pitchFamily="34" charset="0"/>
            </a:endParaRPr>
          </a:p>
          <a:p>
            <a:pPr marL="342900" lvl="0" indent="-342900" defTabSz="914400" eaLnBrk="0" fontAlgn="base" hangingPunct="0">
              <a:spcBef>
                <a:spcPct val="0"/>
              </a:spcBef>
              <a:spcAft>
                <a:spcPct val="0"/>
              </a:spcAft>
              <a:buFont typeface="+mj-lt"/>
              <a:buAutoNum type="arabicPeriod" startAt="7"/>
            </a:pPr>
            <a:r>
              <a:rPr lang="ar-MA" altLang="ar-MA" b="1" dirty="0" err="1">
                <a:solidFill>
                  <a:srgbClr val="00B050"/>
                </a:solidFill>
                <a:latin typeface="Calibri" panose="020F0502020204030204" pitchFamily="34" charset="0"/>
                <a:cs typeface="Calibri" panose="020F0502020204030204" pitchFamily="34" charset="0"/>
              </a:rPr>
              <a:t>Déploiement</a:t>
            </a:r>
            <a:r>
              <a:rPr lang="ar-MA" altLang="ar-MA" b="1" dirty="0">
                <a:solidFill>
                  <a:srgbClr val="00B050"/>
                </a:solidFill>
                <a:latin typeface="Calibri" panose="020F0502020204030204" pitchFamily="34" charset="0"/>
                <a:cs typeface="Calibri" panose="020F0502020204030204" pitchFamily="34" charset="0"/>
              </a:rPr>
              <a:t> </a:t>
            </a:r>
            <a:r>
              <a:rPr lang="ar-MA" altLang="ar-MA" b="1" dirty="0" err="1">
                <a:solidFill>
                  <a:srgbClr val="00B050"/>
                </a:solidFill>
                <a:latin typeface="Calibri" panose="020F0502020204030204" pitchFamily="34" charset="0"/>
                <a:cs typeface="Calibri" panose="020F0502020204030204" pitchFamily="34" charset="0"/>
              </a:rPr>
              <a:t>et</a:t>
            </a:r>
            <a:r>
              <a:rPr lang="ar-MA" altLang="ar-MA" b="1" dirty="0">
                <a:solidFill>
                  <a:srgbClr val="00B050"/>
                </a:solidFill>
                <a:latin typeface="Calibri" panose="020F0502020204030204" pitchFamily="34" charset="0"/>
                <a:cs typeface="Calibri" panose="020F0502020204030204" pitchFamily="34" charset="0"/>
              </a:rPr>
              <a:t> </a:t>
            </a:r>
            <a:r>
              <a:rPr lang="ar-MA" altLang="ar-MA" b="1" dirty="0" err="1">
                <a:solidFill>
                  <a:srgbClr val="00B050"/>
                </a:solidFill>
                <a:latin typeface="Calibri" panose="020F0502020204030204" pitchFamily="34" charset="0"/>
                <a:cs typeface="Calibri" panose="020F0502020204030204" pitchFamily="34" charset="0"/>
              </a:rPr>
              <a:t>Distribution</a:t>
            </a:r>
            <a:endParaRPr lang="ar-MA" altLang="ar-MA" b="1" dirty="0">
              <a:solidFill>
                <a:srgbClr val="00B050"/>
              </a:solidFill>
              <a:latin typeface="Calibri" panose="020F0502020204030204" pitchFamily="34" charset="0"/>
              <a:cs typeface="Calibri" panose="020F0502020204030204" pitchFamily="34" charset="0"/>
            </a:endParaRPr>
          </a:p>
          <a:p>
            <a:pPr lvl="1"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Préparation</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l’application</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pour</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le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déploiement</a:t>
            </a:r>
            <a:endParaRPr lang="ar-MA" altLang="ar-MA" dirty="0">
              <a:latin typeface="Calibri" panose="020F0502020204030204" pitchFamily="34" charset="0"/>
              <a:cs typeface="Calibri" panose="020F0502020204030204" pitchFamily="34" charset="0"/>
            </a:endParaRPr>
          </a:p>
          <a:p>
            <a:pPr lvl="1"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Signature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de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l’application</a:t>
            </a:r>
            <a:endParaRPr lang="ar-MA" altLang="ar-MA" dirty="0">
              <a:latin typeface="Calibri" panose="020F0502020204030204" pitchFamily="34" charset="0"/>
              <a:cs typeface="Calibri" panose="020F0502020204030204" pitchFamily="34" charset="0"/>
            </a:endParaRPr>
          </a:p>
          <a:p>
            <a:pPr lvl="1" defTabSz="914400" eaLnBrk="0" fontAlgn="base" hangingPunct="0">
              <a:spcBef>
                <a:spcPct val="0"/>
              </a:spcBef>
              <a:spcAft>
                <a:spcPct val="0"/>
              </a:spcAft>
              <a:buFontTx/>
              <a:buChar char="•"/>
            </a:pPr>
            <a:r>
              <a:rPr lang="ar-MA" altLang="ar-MA" dirty="0" err="1">
                <a:latin typeface="Calibri" panose="020F0502020204030204" pitchFamily="34" charset="0"/>
                <a:cs typeface="Calibri" panose="020F0502020204030204" pitchFamily="34" charset="0"/>
              </a:rPr>
              <a:t>Publication</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sur</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Google</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Play</a:t>
            </a:r>
            <a:r>
              <a:rPr lang="ar-MA" altLang="ar-MA" dirty="0">
                <a:latin typeface="Calibri" panose="020F0502020204030204" pitchFamily="34" charset="0"/>
                <a:cs typeface="Calibri" panose="020F0502020204030204" pitchFamily="34" charset="0"/>
              </a:rPr>
              <a:t> </a:t>
            </a:r>
            <a:r>
              <a:rPr lang="ar-MA" altLang="ar-MA" dirty="0" err="1">
                <a:latin typeface="Calibri" panose="020F0502020204030204" pitchFamily="34" charset="0"/>
                <a:cs typeface="Calibri" panose="020F0502020204030204" pitchFamily="34" charset="0"/>
              </a:rPr>
              <a:t>Store</a:t>
            </a:r>
            <a:endParaRPr lang="ar-MA" altLang="ar-M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33563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0" y="2895600"/>
            <a:ext cx="5382374" cy="1797075"/>
          </a:xfrm>
          <a:prstGeom prst="rect">
            <a:avLst/>
          </a:prstGeom>
        </p:spPr>
        <p:txBody>
          <a:bodyPr spcFirstLastPara="1" vert="horz" wrap="square" lIns="0" tIns="14395" rIns="0" bIns="0" rtlCol="0" anchor="ctr" anchorCtr="0">
            <a:spAutoFit/>
          </a:bodyPr>
          <a:lstStyle/>
          <a:p>
            <a:pPr marL="11516">
              <a:spcBef>
                <a:spcPts val="113"/>
              </a:spcBef>
            </a:pPr>
            <a:r>
              <a:rPr lang="fr-FR" sz="11500" spc="9" dirty="0">
                <a:solidFill>
                  <a:srgbClr val="C00000"/>
                </a:solidFill>
              </a:rPr>
              <a:t>Merci</a:t>
            </a:r>
            <a:endParaRPr sz="11500" spc="5" dirty="0">
              <a:solidFill>
                <a:srgbClr val="C00000"/>
              </a:solidFill>
            </a:endParaRPr>
          </a:p>
        </p:txBody>
      </p:sp>
      <p:sp>
        <p:nvSpPr>
          <p:cNvPr id="5" name="object 5"/>
          <p:cNvSpPr txBox="1"/>
          <p:nvPr/>
        </p:nvSpPr>
        <p:spPr>
          <a:xfrm>
            <a:off x="10137304" y="5958218"/>
            <a:ext cx="247602" cy="153888"/>
          </a:xfrm>
          <a:prstGeom prst="rect">
            <a:avLst/>
          </a:prstGeom>
        </p:spPr>
        <p:txBody>
          <a:bodyPr vert="horz" wrap="square" lIns="0" tIns="0" rIns="0" bIns="0" rtlCol="0">
            <a:spAutoFit/>
          </a:bodyPr>
          <a:lstStyle/>
          <a:p>
            <a:pPr marL="11516">
              <a:lnSpc>
                <a:spcPts val="1192"/>
              </a:lnSpc>
            </a:pPr>
            <a:r>
              <a:rPr sz="1134" spc="5" dirty="0">
                <a:solidFill>
                  <a:srgbClr val="898989"/>
                </a:solidFill>
                <a:latin typeface="Calibri"/>
                <a:cs typeface="Calibri"/>
              </a:rPr>
              <a:t>1</a:t>
            </a:r>
            <a:r>
              <a:rPr sz="1134" spc="14" dirty="0">
                <a:solidFill>
                  <a:srgbClr val="898989"/>
                </a:solidFill>
                <a:latin typeface="Calibri"/>
                <a:cs typeface="Calibri"/>
              </a:rPr>
              <a:t>50</a:t>
            </a:r>
            <a:endParaRPr sz="1134">
              <a:latin typeface="Calibri"/>
              <a:cs typeface="Calibri"/>
            </a:endParaRPr>
          </a:p>
        </p:txBody>
      </p:sp>
    </p:spTree>
    <p:extLst>
      <p:ext uri="{BB962C8B-B14F-4D97-AF65-F5344CB8AC3E}">
        <p14:creationId xmlns:p14="http://schemas.microsoft.com/office/powerpoint/2010/main" val="545387308"/>
      </p:ext>
    </p:extLst>
  </p:cSld>
  <p:clrMapOvr>
    <a:masterClrMapping/>
  </p:clrMapOvr>
</p:sld>
</file>

<file path=ppt/theme/theme1.xml><?xml version="1.0" encoding="utf-8"?>
<a:theme xmlns:a="http://schemas.openxmlformats.org/drawingml/2006/main" name="Water Transport Infographics by Slidesgo">
  <a:themeElements>
    <a:clrScheme name="Personnalisé 3">
      <a:dk1>
        <a:srgbClr val="000000"/>
      </a:dk1>
      <a:lt1>
        <a:sysClr val="window" lastClr="FFFFFF"/>
      </a:lt1>
      <a:dk2>
        <a:srgbClr val="5E5E5E"/>
      </a:dk2>
      <a:lt2>
        <a:srgbClr val="DDDDDD"/>
      </a:lt2>
      <a:accent1>
        <a:srgbClr val="B0D0E2"/>
      </a:accent1>
      <a:accent2>
        <a:srgbClr val="C00000"/>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Galerie</Template>
  <TotalTime>1797</TotalTime>
  <Words>1728</Words>
  <Application>Microsoft Office PowerPoint</Application>
  <PresentationFormat>Grand écran</PresentationFormat>
  <Paragraphs>250</Paragraphs>
  <Slides>22</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22</vt:i4>
      </vt:variant>
    </vt:vector>
  </HeadingPairs>
  <TitlesOfParts>
    <vt:vector size="28" baseType="lpstr">
      <vt:lpstr>Arial</vt:lpstr>
      <vt:lpstr>Arial Narrow</vt:lpstr>
      <vt:lpstr>Calibri</vt:lpstr>
      <vt:lpstr>Fira Sans Extra Condensed</vt:lpstr>
      <vt:lpstr>Roboto</vt:lpstr>
      <vt:lpstr>Water Transport Infographics by Slidesgo</vt:lpstr>
      <vt:lpstr>Cours de Développement Mobile</vt:lpstr>
      <vt:lpstr>Objectifs</vt:lpstr>
      <vt:lpstr>Objectifs</vt:lpstr>
      <vt:lpstr>Présentation PowerPoint</vt:lpstr>
      <vt:lpstr>Etat de l’ Art des Applications Mobiles</vt:lpstr>
      <vt:lpstr>Systèmes d’Exploitation Mobiles : Parts de Marché</vt:lpstr>
      <vt:lpstr>Contraintes Matérielles</vt:lpstr>
      <vt:lpstr>Contraintes Matérielles</vt:lpstr>
      <vt:lpstr>Contraintes Matérielles</vt:lpstr>
      <vt:lpstr>Contraintes Matérielles</vt:lpstr>
      <vt:lpstr>User Experience (UX)</vt:lpstr>
      <vt:lpstr>Monétisation</vt:lpstr>
      <vt:lpstr>Monétisation</vt:lpstr>
      <vt:lpstr>Monétisation</vt:lpstr>
      <vt:lpstr>Contraintes Matérielles</vt:lpstr>
      <vt:lpstr>Présentation PowerPoint</vt:lpstr>
      <vt:lpstr>Catégories d’Applications Mobiles</vt:lpstr>
      <vt:lpstr>Politique d'évaluation</vt:lpstr>
      <vt:lpstr>Planning du module</vt:lpstr>
      <vt:lpstr>Planning du module</vt:lpstr>
      <vt:lpstr>Planning du module</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Ailike</dc:creator>
  <cp:lastModifiedBy>AMINA.ABOULMIRA</cp:lastModifiedBy>
  <cp:revision>109</cp:revision>
  <dcterms:created xsi:type="dcterms:W3CDTF">2023-10-02T19:55:50Z</dcterms:created>
  <dcterms:modified xsi:type="dcterms:W3CDTF">2025-10-31T06:01:23Z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2017-04-25T00:00:00Z</vt:filetime>
  </property>
  <property fmtid="{D5CDD505-2E9C-101B-9397-08002B2CF9AE}" pid="3" name="Creator">
    <vt:lpwstr>Microsoft® PowerPoint® 2013</vt:lpwstr>
  </property>
  <property fmtid="{D5CDD505-2E9C-101B-9397-08002B2CF9AE}" pid="4" name="LastSaved">
    <vt:filetime>2023-10-02T00:00:00Z</vt:filetime>
  </property>
</Properties>
</file>