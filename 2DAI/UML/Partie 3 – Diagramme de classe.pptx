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2" r:id="rId1"/>
  </p:sldMasterIdLst>
  <p:notesMasterIdLst>
    <p:notesMasterId r:id="rId35"/>
  </p:notesMasterIdLst>
  <p:sldIdLst>
    <p:sldId id="403" r:id="rId2"/>
    <p:sldId id="259" r:id="rId3"/>
    <p:sldId id="260" r:id="rId4"/>
    <p:sldId id="261" r:id="rId5"/>
    <p:sldId id="263" r:id="rId6"/>
    <p:sldId id="264" r:id="rId7"/>
    <p:sldId id="290" r:id="rId8"/>
    <p:sldId id="266" r:id="rId9"/>
    <p:sldId id="268" r:id="rId10"/>
    <p:sldId id="292" r:id="rId11"/>
    <p:sldId id="293" r:id="rId12"/>
    <p:sldId id="284" r:id="rId13"/>
    <p:sldId id="270" r:id="rId14"/>
    <p:sldId id="271" r:id="rId15"/>
    <p:sldId id="272" r:id="rId16"/>
    <p:sldId id="273" r:id="rId17"/>
    <p:sldId id="274" r:id="rId18"/>
    <p:sldId id="283" r:id="rId19"/>
    <p:sldId id="275" r:id="rId20"/>
    <p:sldId id="291" r:id="rId21"/>
    <p:sldId id="277" r:id="rId22"/>
    <p:sldId id="294" r:id="rId23"/>
    <p:sldId id="295" r:id="rId24"/>
    <p:sldId id="278" r:id="rId25"/>
    <p:sldId id="279" r:id="rId26"/>
    <p:sldId id="280" r:id="rId27"/>
    <p:sldId id="281" r:id="rId28"/>
    <p:sldId id="296" r:id="rId29"/>
    <p:sldId id="297" r:id="rId30"/>
    <p:sldId id="298" r:id="rId31"/>
    <p:sldId id="300" r:id="rId32"/>
    <p:sldId id="301" r:id="rId33"/>
    <p:sldId id="299" r:id="rId34"/>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231" autoAdjust="0"/>
  </p:normalViewPr>
  <p:slideViewPr>
    <p:cSldViewPr>
      <p:cViewPr varScale="1">
        <p:scale>
          <a:sx n="59" d="100"/>
          <a:sy n="59" d="100"/>
        </p:scale>
        <p:origin x="456" y="3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C62344D-004B-4D49-96CE-655422E934C6}" type="datetimeFigureOut">
              <a:rPr lang="fr-FR" smtClean="0"/>
              <a:t>16/11/2025</a:t>
            </a:fld>
            <a:endParaRPr lang="fr-FR"/>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5117972-BC18-49F6-A4E1-85EADB77BDA7}" type="slidenum">
              <a:rPr lang="fr-FR" smtClean="0"/>
              <a:t>‹N°›</a:t>
            </a:fld>
            <a:endParaRPr lang="fr-FR"/>
          </a:p>
        </p:txBody>
      </p:sp>
    </p:spTree>
    <p:extLst>
      <p:ext uri="{BB962C8B-B14F-4D97-AF65-F5344CB8AC3E}">
        <p14:creationId xmlns:p14="http://schemas.microsoft.com/office/powerpoint/2010/main" val="1179577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894799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valeur de multiplicité à côté de la classe Plane de 0..1 signifie que lorsqu'une instance d'un vol existe, elle peut soit être associée à une instance d'un avion, soit aucun avion lui est associé (c'est-à-dire qu'un avion n'a peut-être pas encore été associé). été attribué).</a:t>
            </a:r>
          </a:p>
          <a:p>
            <a:r>
              <a:rPr lang="fr-FR" dirty="0"/>
              <a:t>le Vol assume le rôle de « </a:t>
            </a:r>
            <a:r>
              <a:rPr lang="fr-FR" dirty="0" err="1"/>
              <a:t>assignedFlights</a:t>
            </a:r>
            <a:r>
              <a:rPr lang="fr-FR" dirty="0"/>
              <a:t> » ; le diagramme indique que l'instance Plane peut être associée soit à aucun vol (par exemple, il s'agit d'un tout nouvel avion), soit à un nombre infini de vols (par exemple, l'avion est en service depuis cinq ans). ).</a:t>
            </a:r>
          </a:p>
        </p:txBody>
      </p:sp>
      <p:sp>
        <p:nvSpPr>
          <p:cNvPr id="4" name="Espace réservé du numéro de diapositive 3"/>
          <p:cNvSpPr>
            <a:spLocks noGrp="1"/>
          </p:cNvSpPr>
          <p:nvPr>
            <p:ph type="sldNum" sz="quarter" idx="10"/>
          </p:nvPr>
        </p:nvSpPr>
        <p:spPr/>
        <p:txBody>
          <a:bodyPr/>
          <a:lstStyle/>
          <a:p>
            <a:fld id="{05117972-BC18-49F6-A4E1-85EADB77BDA7}" type="slidenum">
              <a:rPr lang="fr-FR" smtClean="0"/>
              <a:t>19</a:t>
            </a:fld>
            <a:endParaRPr lang="fr-FR"/>
          </a:p>
        </p:txBody>
      </p:sp>
    </p:spTree>
    <p:extLst>
      <p:ext uri="{BB962C8B-B14F-4D97-AF65-F5344CB8AC3E}">
        <p14:creationId xmlns:p14="http://schemas.microsoft.com/office/powerpoint/2010/main" val="1068600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peut sembler étrange que la classe </a:t>
            </a:r>
            <a:r>
              <a:rPr lang="fr-FR" dirty="0" err="1"/>
              <a:t>BankAccount</a:t>
            </a:r>
            <a:r>
              <a:rPr lang="fr-FR" dirty="0"/>
              <a:t> ne connaisse pas la classe </a:t>
            </a:r>
            <a:r>
              <a:rPr lang="fr-FR" dirty="0" err="1"/>
              <a:t>OverdrawnAccountsReport</a:t>
            </a:r>
            <a:r>
              <a:rPr lang="fr-FR" dirty="0"/>
              <a:t>. Cette modélisation permet aux classes de rapports de connaître la classe d'affaires qu'elles déclarent, mais les classes d'affaires ne savent pas qu'elles font l'objet d'un rapport.</a:t>
            </a:r>
          </a:p>
        </p:txBody>
      </p:sp>
      <p:sp>
        <p:nvSpPr>
          <p:cNvPr id="4" name="Espace réservé du numéro de diapositive 3"/>
          <p:cNvSpPr>
            <a:spLocks noGrp="1"/>
          </p:cNvSpPr>
          <p:nvPr>
            <p:ph type="sldNum" sz="quarter" idx="10"/>
          </p:nvPr>
        </p:nvSpPr>
        <p:spPr/>
        <p:txBody>
          <a:bodyPr/>
          <a:lstStyle/>
          <a:p>
            <a:fld id="{05117972-BC18-49F6-A4E1-85EADB77BDA7}" type="slidenum">
              <a:rPr lang="fr-FR" smtClean="0"/>
              <a:t>21</a:t>
            </a:fld>
            <a:endParaRPr lang="fr-FR"/>
          </a:p>
        </p:txBody>
      </p:sp>
    </p:spTree>
    <p:extLst>
      <p:ext uri="{BB962C8B-B14F-4D97-AF65-F5344CB8AC3E}">
        <p14:creationId xmlns:p14="http://schemas.microsoft.com/office/powerpoint/2010/main" val="2110590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05117972-BC18-49F6-A4E1-85EADB77BDA7}" type="slidenum">
              <a:rPr lang="fr-FR" smtClean="0"/>
              <a:t>23</a:t>
            </a:fld>
            <a:endParaRPr lang="fr-FR"/>
          </a:p>
        </p:txBody>
      </p:sp>
    </p:spTree>
    <p:extLst>
      <p:ext uri="{BB962C8B-B14F-4D97-AF65-F5344CB8AC3E}">
        <p14:creationId xmlns:p14="http://schemas.microsoft.com/office/powerpoint/2010/main" val="323317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ar-MA"/>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589834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ar-MA"/>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2791371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0EBB0C4-6273-4C6E-B9BD-2EDC30F1CD52}"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82633370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ar-MA"/>
          </a:p>
        </p:txBody>
      </p:sp>
      <p:sp>
        <p:nvSpPr>
          <p:cNvPr id="7" name="Slide Number Placeholder 6"/>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622715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ar-MA"/>
          </a:p>
        </p:txBody>
      </p:sp>
      <p:sp>
        <p:nvSpPr>
          <p:cNvPr id="9" name="Slide Number Placeholder 8"/>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225041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ar-MA"/>
          </a:p>
        </p:txBody>
      </p:sp>
      <p:sp>
        <p:nvSpPr>
          <p:cNvPr id="5" name="Slide Number Placeholder 4"/>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777114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ar-MA"/>
          </a:p>
        </p:txBody>
      </p:sp>
      <p:sp>
        <p:nvSpPr>
          <p:cNvPr id="4" name="Slide Number Placeholder 3"/>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222815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D8BD707-D9CF-40AE-B4C6-C98DA3205C09}"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ar-MA"/>
          </a:p>
        </p:txBody>
      </p:sp>
      <p:sp>
        <p:nvSpPr>
          <p:cNvPr id="7" name="Slide Number Placeholder 6"/>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1670833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D8BD707-D9CF-40AE-B4C6-C98DA3205C09}"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ar-MA"/>
          </a:p>
        </p:txBody>
      </p:sp>
      <p:sp>
        <p:nvSpPr>
          <p:cNvPr id="7" name="Slide Number Placeholder 6"/>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319262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ar-MA"/>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206323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ar-MA"/>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extLst>
      <p:ext uri="{BB962C8B-B14F-4D97-AF65-F5344CB8AC3E}">
        <p14:creationId xmlns:p14="http://schemas.microsoft.com/office/powerpoint/2010/main" val="1297314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176019" y="1952752"/>
            <a:ext cx="9839960" cy="2286000"/>
          </a:xfrm>
          <a:prstGeom prst="rect">
            <a:avLst/>
          </a:prstGeom>
        </p:spPr>
        <p:txBody>
          <a:bodyPr wrap="square" lIns="0" tIns="0" rIns="0" bIns="0">
            <a:spAutoFit/>
          </a:bodyPr>
          <a:lstStyle>
            <a:lvl1pPr>
              <a:defRPr sz="8000" b="0" i="0">
                <a:solidFill>
                  <a:srgbClr val="262626"/>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280206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2245541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M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‹N°›</a:t>
            </a:fld>
            <a:endParaRPr lang="en-US"/>
          </a:p>
        </p:txBody>
      </p:sp>
    </p:spTree>
    <p:extLst>
      <p:ext uri="{BB962C8B-B14F-4D97-AF65-F5344CB8AC3E}">
        <p14:creationId xmlns:p14="http://schemas.microsoft.com/office/powerpoint/2010/main" val="45500980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92EA3E-A478-45AF-8BCF-AA318BB56406}"/>
              </a:ext>
            </a:extLst>
          </p:cNvPr>
          <p:cNvSpPr>
            <a:spLocks noGrp="1"/>
          </p:cNvSpPr>
          <p:nvPr>
            <p:ph type="title"/>
          </p:nvPr>
        </p:nvSpPr>
        <p:spPr>
          <a:xfrm>
            <a:off x="1" y="4908095"/>
            <a:ext cx="7769412" cy="1396152"/>
          </a:xfrm>
        </p:spPr>
        <p:txBody>
          <a:bodyPr>
            <a:noAutofit/>
          </a:bodyPr>
          <a:lstStyle/>
          <a:p>
            <a:r>
              <a:rPr lang="fr-FR" sz="5333" dirty="0">
                <a:solidFill>
                  <a:schemeClr val="bg2">
                    <a:lumMod val="10000"/>
                  </a:schemeClr>
                </a:solidFill>
              </a:rPr>
              <a:t>Méthodes de conception orientée objet </a:t>
            </a:r>
            <a:endParaRPr lang="en-IN" sz="3600" dirty="0">
              <a:solidFill>
                <a:schemeClr val="bg2">
                  <a:lumMod val="10000"/>
                </a:schemeClr>
              </a:solidFill>
            </a:endParaRPr>
          </a:p>
        </p:txBody>
      </p:sp>
      <p:sp>
        <p:nvSpPr>
          <p:cNvPr id="3" name="Sous-titre 2">
            <a:extLst>
              <a:ext uri="{FF2B5EF4-FFF2-40B4-BE49-F238E27FC236}">
                <a16:creationId xmlns:a16="http://schemas.microsoft.com/office/drawing/2014/main" id="{F421A536-FAB3-A183-8059-3F83B2F9B295}"/>
              </a:ext>
            </a:extLst>
          </p:cNvPr>
          <p:cNvSpPr txBox="1">
            <a:spLocks/>
          </p:cNvSpPr>
          <p:nvPr/>
        </p:nvSpPr>
        <p:spPr>
          <a:xfrm>
            <a:off x="312840" y="6201005"/>
            <a:ext cx="5486400" cy="528400"/>
          </a:xfrm>
          <a:prstGeom prst="rect">
            <a:avLst/>
          </a:prstGeom>
          <a:noFill/>
          <a:ln>
            <a:noFill/>
          </a:ln>
        </p:spPr>
        <p:txBody>
          <a:bodyPr spcFirstLastPara="1" wrap="square" lIns="121920" tIns="60960" rIns="121920" bIns="60960" anchor="ctr" anchorCtr="0">
            <a:norm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SzPts val="1400"/>
              <a:buFont typeface="Roboto"/>
              <a:buNone/>
              <a:defRPr sz="1350" b="0" i="0" u="none" strike="noStrike" cap="none">
                <a:solidFill>
                  <a:schemeClr val="tx1">
                    <a:lumMod val="95000"/>
                    <a:lumOff val="5000"/>
                  </a:schemeClr>
                </a:solidFill>
                <a:latin typeface="Roboto"/>
                <a:ea typeface="Roboto"/>
                <a:cs typeface="Roboto"/>
                <a:sym typeface="Roboto"/>
              </a:defRPr>
            </a:lvl1pPr>
            <a:lvl2pPr marL="342900" marR="0" lvl="1" indent="0" algn="l" rtl="0">
              <a:lnSpc>
                <a:spcPct val="100000"/>
              </a:lnSpc>
              <a:spcBef>
                <a:spcPts val="0"/>
              </a:spcBef>
              <a:spcAft>
                <a:spcPts val="0"/>
              </a:spcAft>
              <a:buClr>
                <a:schemeClr val="dk1"/>
              </a:buClr>
              <a:buSzPts val="1400"/>
              <a:buFont typeface="Roboto"/>
              <a:buNone/>
              <a:defRPr sz="1350" b="0" i="0" u="none" strike="noStrike" cap="none">
                <a:solidFill>
                  <a:schemeClr val="tx1">
                    <a:tint val="75000"/>
                  </a:schemeClr>
                </a:solidFill>
                <a:latin typeface="Roboto"/>
                <a:ea typeface="Roboto"/>
                <a:cs typeface="Roboto"/>
                <a:sym typeface="Roboto"/>
              </a:defRPr>
            </a:lvl2pPr>
            <a:lvl3pPr marL="685800" marR="0" lvl="2" indent="0" algn="l" rtl="0">
              <a:lnSpc>
                <a:spcPct val="100000"/>
              </a:lnSpc>
              <a:spcBef>
                <a:spcPts val="0"/>
              </a:spcBef>
              <a:spcAft>
                <a:spcPts val="0"/>
              </a:spcAft>
              <a:buClr>
                <a:schemeClr val="dk1"/>
              </a:buClr>
              <a:buSzPts val="1400"/>
              <a:buFont typeface="Roboto"/>
              <a:buNone/>
              <a:defRPr sz="1200" b="0" i="0" u="none" strike="noStrike" cap="none">
                <a:solidFill>
                  <a:schemeClr val="tx1">
                    <a:tint val="75000"/>
                  </a:schemeClr>
                </a:solidFill>
                <a:latin typeface="Roboto"/>
                <a:ea typeface="Roboto"/>
                <a:cs typeface="Roboto"/>
                <a:sym typeface="Roboto"/>
              </a:defRPr>
            </a:lvl3pPr>
            <a:lvl4pPr marL="1028700" marR="0" lvl="3"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4pPr>
            <a:lvl5pPr marL="1371600" marR="0" lvl="4"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5pPr>
            <a:lvl6pPr marL="1714500" marR="0" lvl="5"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6pPr>
            <a:lvl7pPr marL="2057400" marR="0" lvl="6"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7pPr>
            <a:lvl8pPr marL="2400300" marR="0" lvl="7"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8pPr>
            <a:lvl9pPr marL="2743200" marR="0" lvl="8"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9pPr>
          </a:lstStyle>
          <a:p>
            <a:pPr defTabSz="609585">
              <a:buClr>
                <a:srgbClr val="000000"/>
              </a:buClr>
            </a:pPr>
            <a:r>
              <a:rPr lang="en" sz="2400" dirty="0">
                <a:solidFill>
                  <a:srgbClr val="C00000"/>
                </a:solidFill>
              </a:rPr>
              <a:t>Diagramme de classes</a:t>
            </a:r>
            <a:endParaRPr lang="fr-FR" sz="2400" dirty="0">
              <a:solidFill>
                <a:srgbClr val="C00000"/>
              </a:solidFill>
            </a:endParaRPr>
          </a:p>
        </p:txBody>
      </p:sp>
      <p:pic>
        <p:nvPicPr>
          <p:cNvPr id="8" name="Imag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94613" y="0"/>
            <a:ext cx="8669867" cy="4331715"/>
          </a:xfrm>
          <a:prstGeom prst="rect">
            <a:avLst/>
          </a:prstGeom>
        </p:spPr>
      </p:pic>
      <p:sp>
        <p:nvSpPr>
          <p:cNvPr id="10" name="Footer Placeholder 1">
            <a:extLst>
              <a:ext uri="{FF2B5EF4-FFF2-40B4-BE49-F238E27FC236}">
                <a16:creationId xmlns:a16="http://schemas.microsoft.com/office/drawing/2014/main" id="{F70F3D5B-21AD-40E2-B2FA-5C660E700671}"/>
              </a:ext>
            </a:extLst>
          </p:cNvPr>
          <p:cNvSpPr txBox="1">
            <a:spLocks/>
          </p:cNvSpPr>
          <p:nvPr/>
        </p:nvSpPr>
        <p:spPr>
          <a:xfrm>
            <a:off x="10291482" y="6694932"/>
            <a:ext cx="1784972" cy="337453"/>
          </a:xfrm>
          <a:prstGeom prst="rect">
            <a:avLst/>
          </a:prstGeom>
        </p:spPr>
        <p:txBody>
          <a:bodyPr vert="horz" lIns="121920" tIns="60960" rIns="121920" bIns="60960" rtlCol="0" anchor="ctr"/>
          <a:lstStyle>
            <a:defPPr>
              <a:defRPr lang="en-US"/>
            </a:defPPr>
            <a:lvl1pPr marL="0" algn="ctr" defTabSz="457200" rtl="0" eaLnBrk="1" latinLnBrk="0" hangingPunct="1">
              <a:defRPr sz="67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a:t>2024 - 2025</a:t>
            </a:r>
          </a:p>
        </p:txBody>
      </p:sp>
      <p:cxnSp>
        <p:nvCxnSpPr>
          <p:cNvPr id="7" name="Connecteur droit 6">
            <a:extLst>
              <a:ext uri="{FF2B5EF4-FFF2-40B4-BE49-F238E27FC236}">
                <a16:creationId xmlns:a16="http://schemas.microsoft.com/office/drawing/2014/main" id="{8382A70C-0F2D-4FCD-8491-590A312BEBDD}"/>
              </a:ext>
            </a:extLst>
          </p:cNvPr>
          <p:cNvCxnSpPr>
            <a:cxnSpLocks/>
          </p:cNvCxnSpPr>
          <p:nvPr/>
        </p:nvCxnSpPr>
        <p:spPr>
          <a:xfrm>
            <a:off x="-11832" y="4588861"/>
            <a:ext cx="12192000" cy="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Espace réservé du texte 5">
            <a:extLst>
              <a:ext uri="{FF2B5EF4-FFF2-40B4-BE49-F238E27FC236}">
                <a16:creationId xmlns:a16="http://schemas.microsoft.com/office/drawing/2014/main" id="{0C91D7E7-B729-C661-1870-5B86A7804732}"/>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27876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1508125" cy="756920"/>
          </a:xfrm>
          <a:prstGeom prst="rect">
            <a:avLst/>
          </a:prstGeom>
        </p:spPr>
        <p:txBody>
          <a:bodyPr vert="horz" wrap="square" lIns="0" tIns="12700" rIns="0" bIns="0" rtlCol="0">
            <a:spAutoFit/>
          </a:bodyPr>
          <a:lstStyle/>
          <a:p>
            <a:pPr marL="12700">
              <a:lnSpc>
                <a:spcPct val="100000"/>
              </a:lnSpc>
              <a:spcBef>
                <a:spcPts val="100"/>
              </a:spcBef>
            </a:pPr>
            <a:r>
              <a:rPr spc="-70" dirty="0"/>
              <a:t>C</a:t>
            </a:r>
            <a:r>
              <a:rPr spc="-60" dirty="0"/>
              <a:t>lass</a:t>
            </a:r>
            <a:r>
              <a:rPr dirty="0"/>
              <a:t>e</a:t>
            </a:r>
          </a:p>
        </p:txBody>
      </p:sp>
      <p:sp>
        <p:nvSpPr>
          <p:cNvPr id="3" name="object 3"/>
          <p:cNvSpPr txBox="1"/>
          <p:nvPr/>
        </p:nvSpPr>
        <p:spPr>
          <a:xfrm>
            <a:off x="1084580" y="1128979"/>
            <a:ext cx="8128634" cy="1869743"/>
          </a:xfrm>
          <a:prstGeom prst="rect">
            <a:avLst/>
          </a:prstGeom>
        </p:spPr>
        <p:txBody>
          <a:bodyPr vert="horz" wrap="square" lIns="0" tIns="165100" rIns="0" bIns="0" rtlCol="0">
            <a:spAutoFit/>
          </a:bodyPr>
          <a:lstStyle/>
          <a:p>
            <a:pPr marL="241300" indent="-228600">
              <a:lnSpc>
                <a:spcPct val="100000"/>
              </a:lnSpc>
              <a:spcBef>
                <a:spcPts val="1200"/>
              </a:spcBef>
              <a:buClr>
                <a:srgbClr val="E48312"/>
              </a:buClr>
              <a:buSzPct val="95000"/>
              <a:buFont typeface="Wingdings"/>
              <a:buChar char=""/>
              <a:tabLst>
                <a:tab pos="241300" algn="l"/>
              </a:tabLst>
            </a:pPr>
            <a:r>
              <a:rPr sz="2000" spc="-35" dirty="0">
                <a:solidFill>
                  <a:srgbClr val="404040"/>
                </a:solidFill>
                <a:latin typeface="Calibri"/>
                <a:cs typeface="Calibri"/>
              </a:rPr>
              <a:t>V</a:t>
            </a:r>
            <a:r>
              <a:rPr sz="2000" spc="45" dirty="0">
                <a:solidFill>
                  <a:srgbClr val="404040"/>
                </a:solidFill>
                <a:latin typeface="Calibri"/>
                <a:cs typeface="Calibri"/>
              </a:rPr>
              <a:t>u</a:t>
            </a:r>
            <a:r>
              <a:rPr sz="2000" dirty="0">
                <a:solidFill>
                  <a:srgbClr val="404040"/>
                </a:solidFill>
                <a:latin typeface="Calibri"/>
                <a:cs typeface="Calibri"/>
              </a:rPr>
              <a:t>e</a:t>
            </a:r>
            <a:r>
              <a:rPr sz="2000" spc="-50" dirty="0">
                <a:solidFill>
                  <a:srgbClr val="404040"/>
                </a:solidFill>
                <a:latin typeface="Calibri"/>
                <a:cs typeface="Calibri"/>
              </a:rPr>
              <a:t> c</a:t>
            </a:r>
            <a:r>
              <a:rPr sz="2000" spc="45" dirty="0">
                <a:solidFill>
                  <a:srgbClr val="404040"/>
                </a:solidFill>
                <a:latin typeface="Calibri"/>
                <a:cs typeface="Calibri"/>
              </a:rPr>
              <a:t>o</a:t>
            </a:r>
            <a:r>
              <a:rPr sz="2000" dirty="0">
                <a:solidFill>
                  <a:srgbClr val="404040"/>
                </a:solidFill>
                <a:latin typeface="Calibri"/>
                <a:cs typeface="Calibri"/>
              </a:rPr>
              <a:t>mme</a:t>
            </a:r>
            <a:r>
              <a:rPr sz="2000" spc="-50"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a</a:t>
            </a:r>
            <a:r>
              <a:rPr sz="2000" spc="-10" dirty="0">
                <a:solidFill>
                  <a:srgbClr val="404040"/>
                </a:solidFill>
                <a:latin typeface="Calibri"/>
                <a:cs typeface="Calibri"/>
              </a:rPr>
              <a:t> </a:t>
            </a:r>
            <a:r>
              <a:rPr sz="2000" spc="-15" dirty="0">
                <a:solidFill>
                  <a:srgbClr val="404040"/>
                </a:solidFill>
                <a:latin typeface="Calibri"/>
                <a:cs typeface="Calibri"/>
              </a:rPr>
              <a:t>f</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spc="45" dirty="0">
                <a:solidFill>
                  <a:srgbClr val="404040"/>
                </a:solidFill>
                <a:latin typeface="Calibri"/>
                <a:cs typeface="Calibri"/>
              </a:rPr>
              <a:t>o</a:t>
            </a:r>
            <a:r>
              <a:rPr sz="2000" dirty="0">
                <a:solidFill>
                  <a:srgbClr val="404040"/>
                </a:solidFill>
                <a:latin typeface="Calibri"/>
                <a:cs typeface="Calibri"/>
              </a:rPr>
              <a:t>r</a:t>
            </a:r>
            <a:r>
              <a:rPr sz="2000" spc="40" dirty="0">
                <a:solidFill>
                  <a:srgbClr val="404040"/>
                </a:solidFill>
                <a:latin typeface="Calibri"/>
                <a:cs typeface="Calibri"/>
              </a:rPr>
              <a:t>i</a:t>
            </a:r>
            <a:r>
              <a:rPr sz="2000" spc="15" dirty="0">
                <a:solidFill>
                  <a:srgbClr val="404040"/>
                </a:solidFill>
                <a:latin typeface="Calibri"/>
                <a:cs typeface="Calibri"/>
              </a:rPr>
              <a:t>s</a:t>
            </a:r>
            <a:r>
              <a:rPr sz="2000" spc="40" dirty="0">
                <a:solidFill>
                  <a:srgbClr val="404040"/>
                </a:solidFill>
                <a:latin typeface="Calibri"/>
                <a:cs typeface="Calibri"/>
              </a:rPr>
              <a:t>a</a:t>
            </a:r>
            <a:r>
              <a:rPr sz="2000" spc="30" dirty="0">
                <a:solidFill>
                  <a:srgbClr val="404040"/>
                </a:solidFill>
                <a:latin typeface="Calibri"/>
                <a:cs typeface="Calibri"/>
              </a:rPr>
              <a:t>t</a:t>
            </a:r>
            <a:r>
              <a:rPr sz="2000" spc="40" dirty="0">
                <a:solidFill>
                  <a:srgbClr val="404040"/>
                </a:solidFill>
                <a:latin typeface="Calibri"/>
                <a:cs typeface="Calibri"/>
              </a:rPr>
              <a:t>i</a:t>
            </a:r>
            <a:r>
              <a:rPr sz="2000" spc="45" dirty="0">
                <a:solidFill>
                  <a:srgbClr val="404040"/>
                </a:solidFill>
                <a:latin typeface="Calibri"/>
                <a:cs typeface="Calibri"/>
              </a:rPr>
              <a:t>o</a:t>
            </a:r>
            <a:r>
              <a:rPr sz="2000" dirty="0">
                <a:solidFill>
                  <a:srgbClr val="404040"/>
                </a:solidFill>
                <a:latin typeface="Calibri"/>
                <a:cs typeface="Calibri"/>
              </a:rPr>
              <a:t>n</a:t>
            </a:r>
            <a:r>
              <a:rPr sz="2000" spc="-204"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es</a:t>
            </a:r>
            <a:r>
              <a:rPr sz="2000" spc="-135" dirty="0">
                <a:solidFill>
                  <a:srgbClr val="404040"/>
                </a:solidFill>
                <a:latin typeface="Calibri"/>
                <a:cs typeface="Calibri"/>
              </a:rPr>
              <a:t> </a:t>
            </a:r>
            <a:r>
              <a:rPr sz="2000" dirty="0">
                <a:solidFill>
                  <a:srgbClr val="404040"/>
                </a:solidFill>
                <a:latin typeface="Calibri"/>
                <a:cs typeface="Calibri"/>
              </a:rPr>
              <a:t>é</a:t>
            </a:r>
            <a:r>
              <a:rPr sz="2000" spc="40" dirty="0">
                <a:solidFill>
                  <a:srgbClr val="404040"/>
                </a:solidFill>
                <a:latin typeface="Calibri"/>
                <a:cs typeface="Calibri"/>
              </a:rPr>
              <a:t>l</a:t>
            </a:r>
            <a:r>
              <a:rPr sz="2000" dirty="0">
                <a:solidFill>
                  <a:srgbClr val="404040"/>
                </a:solidFill>
                <a:latin typeface="Calibri"/>
                <a:cs typeface="Calibri"/>
              </a:rPr>
              <a:t>éme</a:t>
            </a:r>
            <a:r>
              <a:rPr sz="2000" spc="50" dirty="0">
                <a:solidFill>
                  <a:srgbClr val="404040"/>
                </a:solidFill>
                <a:latin typeface="Calibri"/>
                <a:cs typeface="Calibri"/>
              </a:rPr>
              <a:t>n</a:t>
            </a:r>
            <a:r>
              <a:rPr sz="2000" spc="30" dirty="0">
                <a:solidFill>
                  <a:srgbClr val="404040"/>
                </a:solidFill>
                <a:latin typeface="Calibri"/>
                <a:cs typeface="Calibri"/>
              </a:rPr>
              <a:t>t</a:t>
            </a:r>
            <a:r>
              <a:rPr sz="2000" dirty="0">
                <a:solidFill>
                  <a:srgbClr val="404040"/>
                </a:solidFill>
                <a:latin typeface="Calibri"/>
                <a:cs typeface="Calibri"/>
              </a:rPr>
              <a:t>s</a:t>
            </a:r>
            <a:r>
              <a:rPr sz="2000" spc="-140" dirty="0">
                <a:solidFill>
                  <a:srgbClr val="404040"/>
                </a:solidFill>
                <a:latin typeface="Calibri"/>
                <a:cs typeface="Calibri"/>
              </a:rPr>
              <a:t> </a:t>
            </a:r>
            <a:r>
              <a:rPr sz="2000" spc="-50" dirty="0">
                <a:solidFill>
                  <a:srgbClr val="404040"/>
                </a:solidFill>
                <a:latin typeface="Calibri"/>
                <a:cs typeface="Calibri"/>
              </a:rPr>
              <a:t>c</a:t>
            </a:r>
            <a:r>
              <a:rPr sz="2000" spc="45" dirty="0">
                <a:solidFill>
                  <a:srgbClr val="404040"/>
                </a:solidFill>
                <a:latin typeface="Calibri"/>
                <a:cs typeface="Calibri"/>
              </a:rPr>
              <a:t>o</a:t>
            </a:r>
            <a:r>
              <a:rPr sz="2000" dirty="0">
                <a:solidFill>
                  <a:srgbClr val="404040"/>
                </a:solidFill>
                <a:latin typeface="Calibri"/>
                <a:cs typeface="Calibri"/>
              </a:rPr>
              <a:t>mm</a:t>
            </a:r>
            <a:r>
              <a:rPr sz="2000" spc="45" dirty="0">
                <a:solidFill>
                  <a:srgbClr val="404040"/>
                </a:solidFill>
                <a:latin typeface="Calibri"/>
                <a:cs typeface="Calibri"/>
              </a:rPr>
              <a:t>un</a:t>
            </a:r>
            <a:r>
              <a:rPr sz="2000" dirty="0">
                <a:solidFill>
                  <a:srgbClr val="404040"/>
                </a:solidFill>
                <a:latin typeface="Calibri"/>
                <a:cs typeface="Calibri"/>
              </a:rPr>
              <a:t>s</a:t>
            </a:r>
            <a:r>
              <a:rPr sz="2000" spc="-140" dirty="0">
                <a:solidFill>
                  <a:srgbClr val="404040"/>
                </a:solidFill>
                <a:latin typeface="Calibri"/>
                <a:cs typeface="Calibri"/>
              </a:rPr>
              <a:t> </a:t>
            </a:r>
            <a:r>
              <a:rPr sz="2000" dirty="0">
                <a:solidFill>
                  <a:srgbClr val="404040"/>
                </a:solidFill>
                <a:latin typeface="Calibri"/>
                <a:cs typeface="Calibri"/>
              </a:rPr>
              <a:t>à</a:t>
            </a:r>
            <a:r>
              <a:rPr sz="2000" spc="-15" dirty="0">
                <a:solidFill>
                  <a:srgbClr val="404040"/>
                </a:solidFill>
                <a:latin typeface="Calibri"/>
                <a:cs typeface="Calibri"/>
              </a:rPr>
              <a:t> </a:t>
            </a:r>
            <a:r>
              <a:rPr sz="2000" spc="45" dirty="0">
                <a:solidFill>
                  <a:srgbClr val="404040"/>
                </a:solidFill>
                <a:latin typeface="Calibri"/>
                <a:cs typeface="Calibri"/>
              </a:rPr>
              <a:t>u</a:t>
            </a:r>
            <a:r>
              <a:rPr sz="2000" dirty="0">
                <a:solidFill>
                  <a:srgbClr val="404040"/>
                </a:solidFill>
                <a:latin typeface="Calibri"/>
                <a:cs typeface="Calibri"/>
              </a:rPr>
              <a:t>n</a:t>
            </a:r>
            <a:r>
              <a:rPr sz="2000" spc="-5" dirty="0">
                <a:solidFill>
                  <a:srgbClr val="404040"/>
                </a:solidFill>
                <a:latin typeface="Calibri"/>
                <a:cs typeface="Calibri"/>
              </a:rPr>
              <a:t> </a:t>
            </a:r>
            <a:r>
              <a:rPr sz="2000" dirty="0">
                <a:solidFill>
                  <a:srgbClr val="404040"/>
                </a:solidFill>
                <a:latin typeface="Calibri"/>
                <a:cs typeface="Calibri"/>
              </a:rPr>
              <a:t>e</a:t>
            </a:r>
            <a:r>
              <a:rPr sz="2000" spc="45" dirty="0">
                <a:solidFill>
                  <a:srgbClr val="404040"/>
                </a:solidFill>
                <a:latin typeface="Calibri"/>
                <a:cs typeface="Calibri"/>
              </a:rPr>
              <a:t>n</a:t>
            </a:r>
            <a:r>
              <a:rPr sz="2000" spc="15" dirty="0">
                <a:solidFill>
                  <a:srgbClr val="404040"/>
                </a:solidFill>
                <a:latin typeface="Calibri"/>
                <a:cs typeface="Calibri"/>
              </a:rPr>
              <a:t>s</a:t>
            </a:r>
            <a:r>
              <a:rPr sz="2000" dirty="0">
                <a:solidFill>
                  <a:srgbClr val="404040"/>
                </a:solidFill>
                <a:latin typeface="Calibri"/>
                <a:cs typeface="Calibri"/>
              </a:rPr>
              <a:t>em</a:t>
            </a:r>
            <a:r>
              <a:rPr sz="2000" spc="45" dirty="0">
                <a:solidFill>
                  <a:srgbClr val="404040"/>
                </a:solidFill>
                <a:latin typeface="Calibri"/>
                <a:cs typeface="Calibri"/>
              </a:rPr>
              <a:t>b</a:t>
            </a:r>
            <a:r>
              <a:rPr sz="2000" spc="40" dirty="0">
                <a:solidFill>
                  <a:srgbClr val="404040"/>
                </a:solidFill>
                <a:latin typeface="Calibri"/>
                <a:cs typeface="Calibri"/>
              </a:rPr>
              <a:t>l</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d</a:t>
            </a:r>
            <a:r>
              <a:rPr sz="2000" spc="-45" dirty="0">
                <a:solidFill>
                  <a:srgbClr val="404040"/>
                </a:solidFill>
                <a:latin typeface="Calibri"/>
                <a:cs typeface="Calibri"/>
              </a:rPr>
              <a:t>'</a:t>
            </a:r>
            <a:r>
              <a:rPr sz="2000" spc="45" dirty="0">
                <a:solidFill>
                  <a:srgbClr val="404040"/>
                </a:solidFill>
                <a:latin typeface="Calibri"/>
                <a:cs typeface="Calibri"/>
              </a:rPr>
              <a:t>ob</a:t>
            </a:r>
            <a:r>
              <a:rPr sz="2000" spc="20" dirty="0">
                <a:solidFill>
                  <a:srgbClr val="404040"/>
                </a:solidFill>
                <a:latin typeface="Calibri"/>
                <a:cs typeface="Calibri"/>
              </a:rPr>
              <a:t>j</a:t>
            </a:r>
            <a:r>
              <a:rPr sz="2000" dirty="0">
                <a:solidFill>
                  <a:srgbClr val="404040"/>
                </a:solidFill>
                <a:latin typeface="Calibri"/>
                <a:cs typeface="Calibri"/>
              </a:rPr>
              <a:t>e</a:t>
            </a:r>
            <a:r>
              <a:rPr sz="2000" spc="30" dirty="0">
                <a:solidFill>
                  <a:srgbClr val="404040"/>
                </a:solidFill>
                <a:latin typeface="Calibri"/>
                <a:cs typeface="Calibri"/>
              </a:rPr>
              <a:t>t</a:t>
            </a:r>
            <a:r>
              <a:rPr sz="2000" spc="15" dirty="0">
                <a:solidFill>
                  <a:srgbClr val="404040"/>
                </a:solidFill>
                <a:latin typeface="Calibri"/>
                <a:cs typeface="Calibri"/>
              </a:rPr>
              <a:t>s</a:t>
            </a:r>
            <a:r>
              <a:rPr sz="2000" dirty="0">
                <a:solidFill>
                  <a:srgbClr val="404040"/>
                </a:solidFill>
                <a:latin typeface="Calibri"/>
                <a:cs typeface="Calibri"/>
              </a:rPr>
              <a:t>.</a:t>
            </a:r>
            <a:endParaRPr sz="2000" dirty="0">
              <a:latin typeface="Calibri"/>
              <a:cs typeface="Calibri"/>
            </a:endParaRPr>
          </a:p>
          <a:p>
            <a:pPr marL="241300" indent="-228600">
              <a:lnSpc>
                <a:spcPct val="100000"/>
              </a:lnSpc>
              <a:spcBef>
                <a:spcPts val="1100"/>
              </a:spcBef>
              <a:buClr>
                <a:srgbClr val="E48312"/>
              </a:buClr>
              <a:buSzPct val="95000"/>
              <a:buFont typeface="Wingdings"/>
              <a:buChar char=""/>
              <a:tabLst>
                <a:tab pos="241300" algn="l"/>
              </a:tabLst>
            </a:pPr>
            <a:r>
              <a:rPr sz="2000" spc="-10" dirty="0">
                <a:solidFill>
                  <a:srgbClr val="404040"/>
                </a:solidFill>
                <a:latin typeface="Calibri"/>
                <a:cs typeface="Calibri"/>
              </a:rPr>
              <a:t>M</a:t>
            </a:r>
            <a:r>
              <a:rPr sz="2000" spc="45" dirty="0">
                <a:solidFill>
                  <a:srgbClr val="404040"/>
                </a:solidFill>
                <a:latin typeface="Calibri"/>
                <a:cs typeface="Calibri"/>
              </a:rPr>
              <a:t>od</a:t>
            </a:r>
            <a:r>
              <a:rPr sz="2000" dirty="0">
                <a:solidFill>
                  <a:srgbClr val="404040"/>
                </a:solidFill>
                <a:latin typeface="Calibri"/>
                <a:cs typeface="Calibri"/>
              </a:rPr>
              <a:t>é</a:t>
            </a:r>
            <a:r>
              <a:rPr sz="2000" spc="40" dirty="0">
                <a:solidFill>
                  <a:srgbClr val="404040"/>
                </a:solidFill>
                <a:latin typeface="Calibri"/>
                <a:cs typeface="Calibri"/>
              </a:rPr>
              <a:t>li</a:t>
            </a:r>
            <a:r>
              <a:rPr sz="2000" spc="15" dirty="0">
                <a:solidFill>
                  <a:srgbClr val="404040"/>
                </a:solidFill>
                <a:latin typeface="Calibri"/>
                <a:cs typeface="Calibri"/>
              </a:rPr>
              <a:t>s</a:t>
            </a:r>
            <a:r>
              <a:rPr sz="2000" dirty="0">
                <a:solidFill>
                  <a:srgbClr val="404040"/>
                </a:solidFill>
                <a:latin typeface="Calibri"/>
                <a:cs typeface="Calibri"/>
              </a:rPr>
              <a:t>ée</a:t>
            </a:r>
            <a:r>
              <a:rPr sz="2000" spc="-150" dirty="0">
                <a:solidFill>
                  <a:srgbClr val="404040"/>
                </a:solidFill>
                <a:latin typeface="Calibri"/>
                <a:cs typeface="Calibri"/>
              </a:rPr>
              <a:t> </a:t>
            </a:r>
            <a:r>
              <a:rPr sz="2000" dirty="0">
                <a:solidFill>
                  <a:srgbClr val="404040"/>
                </a:solidFill>
                <a:latin typeface="Calibri"/>
                <a:cs typeface="Calibri"/>
              </a:rPr>
              <a:t>à</a:t>
            </a:r>
            <a:r>
              <a:rPr sz="2000" spc="-15" dirty="0">
                <a:solidFill>
                  <a:srgbClr val="404040"/>
                </a:solidFill>
                <a:latin typeface="Calibri"/>
                <a:cs typeface="Calibri"/>
              </a:rPr>
              <a:t> </a:t>
            </a:r>
            <a:r>
              <a:rPr sz="2000" spc="40" dirty="0">
                <a:solidFill>
                  <a:srgbClr val="404040"/>
                </a:solidFill>
                <a:latin typeface="Calibri"/>
                <a:cs typeface="Calibri"/>
              </a:rPr>
              <a:t>l</a:t>
            </a:r>
            <a:r>
              <a:rPr sz="2000" spc="-105" dirty="0">
                <a:solidFill>
                  <a:srgbClr val="404040"/>
                </a:solidFill>
                <a:latin typeface="Calibri"/>
                <a:cs typeface="Calibri"/>
              </a:rPr>
              <a:t>’</a:t>
            </a:r>
            <a:r>
              <a:rPr sz="2000" spc="40" dirty="0">
                <a:solidFill>
                  <a:srgbClr val="404040"/>
                </a:solidFill>
                <a:latin typeface="Calibri"/>
                <a:cs typeface="Calibri"/>
              </a:rPr>
              <a:t>ai</a:t>
            </a:r>
            <a:r>
              <a:rPr sz="2000" spc="50" dirty="0">
                <a:solidFill>
                  <a:srgbClr val="404040"/>
                </a:solidFill>
                <a:latin typeface="Calibri"/>
                <a:cs typeface="Calibri"/>
              </a:rPr>
              <a:t>d</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a:t>
            </a:r>
            <a:r>
              <a:rPr sz="2000" spc="50" dirty="0">
                <a:solidFill>
                  <a:srgbClr val="404040"/>
                </a:solidFill>
                <a:latin typeface="Calibri"/>
                <a:cs typeface="Calibri"/>
              </a:rPr>
              <a:t>u</a:t>
            </a:r>
            <a:r>
              <a:rPr sz="2000" dirty="0">
                <a:solidFill>
                  <a:srgbClr val="404040"/>
                </a:solidFill>
                <a:latin typeface="Calibri"/>
                <a:cs typeface="Calibri"/>
              </a:rPr>
              <a:t>n</a:t>
            </a:r>
            <a:r>
              <a:rPr sz="2000" spc="-105" dirty="0">
                <a:solidFill>
                  <a:srgbClr val="404040"/>
                </a:solidFill>
                <a:latin typeface="Calibri"/>
                <a:cs typeface="Calibri"/>
              </a:rPr>
              <a:t> </a:t>
            </a:r>
            <a:r>
              <a:rPr sz="2000" dirty="0">
                <a:solidFill>
                  <a:srgbClr val="404040"/>
                </a:solidFill>
                <a:latin typeface="Calibri"/>
                <a:cs typeface="Calibri"/>
              </a:rPr>
              <a:t>re</a:t>
            </a:r>
            <a:r>
              <a:rPr sz="2000" spc="-50" dirty="0">
                <a:solidFill>
                  <a:srgbClr val="404040"/>
                </a:solidFill>
                <a:latin typeface="Calibri"/>
                <a:cs typeface="Calibri"/>
              </a:rPr>
              <a:t>c</a:t>
            </a:r>
            <a:r>
              <a:rPr sz="2000" spc="30" dirty="0">
                <a:solidFill>
                  <a:srgbClr val="404040"/>
                </a:solidFill>
                <a:latin typeface="Calibri"/>
                <a:cs typeface="Calibri"/>
              </a:rPr>
              <a:t>t</a:t>
            </a:r>
            <a:r>
              <a:rPr sz="2000" spc="40" dirty="0">
                <a:solidFill>
                  <a:srgbClr val="404040"/>
                </a:solidFill>
                <a:latin typeface="Calibri"/>
                <a:cs typeface="Calibri"/>
              </a:rPr>
              <a:t>a</a:t>
            </a:r>
            <a:r>
              <a:rPr sz="2000" spc="45" dirty="0">
                <a:solidFill>
                  <a:srgbClr val="404040"/>
                </a:solidFill>
                <a:latin typeface="Calibri"/>
                <a:cs typeface="Calibri"/>
              </a:rPr>
              <a:t>n</a:t>
            </a:r>
            <a:r>
              <a:rPr sz="2000" spc="-45" dirty="0">
                <a:solidFill>
                  <a:srgbClr val="404040"/>
                </a:solidFill>
                <a:latin typeface="Calibri"/>
                <a:cs typeface="Calibri"/>
              </a:rPr>
              <a:t>g</a:t>
            </a:r>
            <a:r>
              <a:rPr sz="2000" spc="40" dirty="0">
                <a:solidFill>
                  <a:srgbClr val="404040"/>
                </a:solidFill>
                <a:latin typeface="Calibri"/>
                <a:cs typeface="Calibri"/>
              </a:rPr>
              <a:t>l</a:t>
            </a:r>
            <a:r>
              <a:rPr sz="2000" dirty="0">
                <a:solidFill>
                  <a:srgbClr val="404040"/>
                </a:solidFill>
                <a:latin typeface="Calibri"/>
                <a:cs typeface="Calibri"/>
              </a:rPr>
              <a:t>e,</a:t>
            </a:r>
            <a:r>
              <a:rPr sz="2000" spc="-155" dirty="0">
                <a:solidFill>
                  <a:srgbClr val="404040"/>
                </a:solidFill>
                <a:latin typeface="Calibri"/>
                <a:cs typeface="Calibri"/>
              </a:rPr>
              <a:t> </a:t>
            </a:r>
            <a:r>
              <a:rPr sz="2000" spc="-50" dirty="0">
                <a:solidFill>
                  <a:srgbClr val="404040"/>
                </a:solidFill>
                <a:latin typeface="Calibri"/>
                <a:cs typeface="Calibri"/>
              </a:rPr>
              <a:t>c</a:t>
            </a:r>
            <a:r>
              <a:rPr sz="2000" spc="45" dirty="0">
                <a:solidFill>
                  <a:srgbClr val="404040"/>
                </a:solidFill>
                <a:latin typeface="Calibri"/>
                <a:cs typeface="Calibri"/>
              </a:rPr>
              <a:t>o</a:t>
            </a:r>
            <a:r>
              <a:rPr sz="2000" dirty="0">
                <a:solidFill>
                  <a:srgbClr val="404040"/>
                </a:solidFill>
                <a:latin typeface="Calibri"/>
                <a:cs typeface="Calibri"/>
              </a:rPr>
              <a:t>m</a:t>
            </a:r>
            <a:r>
              <a:rPr sz="2000" spc="45" dirty="0">
                <a:solidFill>
                  <a:srgbClr val="404040"/>
                </a:solidFill>
                <a:latin typeface="Calibri"/>
                <a:cs typeface="Calibri"/>
              </a:rPr>
              <a:t>po</a:t>
            </a:r>
            <a:r>
              <a:rPr sz="2000" dirty="0">
                <a:solidFill>
                  <a:srgbClr val="404040"/>
                </a:solidFill>
                <a:latin typeface="Calibri"/>
                <a:cs typeface="Calibri"/>
              </a:rPr>
              <a:t>r</a:t>
            </a:r>
            <a:r>
              <a:rPr sz="2000" spc="30" dirty="0">
                <a:solidFill>
                  <a:srgbClr val="404040"/>
                </a:solidFill>
                <a:latin typeface="Calibri"/>
                <a:cs typeface="Calibri"/>
              </a:rPr>
              <a:t>t</a:t>
            </a:r>
            <a:r>
              <a:rPr sz="2000" spc="40" dirty="0">
                <a:solidFill>
                  <a:srgbClr val="404040"/>
                </a:solidFill>
                <a:latin typeface="Calibri"/>
                <a:cs typeface="Calibri"/>
              </a:rPr>
              <a:t>a</a:t>
            </a:r>
            <a:r>
              <a:rPr sz="2000" spc="45" dirty="0">
                <a:solidFill>
                  <a:srgbClr val="404040"/>
                </a:solidFill>
                <a:latin typeface="Calibri"/>
                <a:cs typeface="Calibri"/>
              </a:rPr>
              <a:t>n</a:t>
            </a:r>
            <a:r>
              <a:rPr sz="2000" dirty="0">
                <a:solidFill>
                  <a:srgbClr val="404040"/>
                </a:solidFill>
                <a:latin typeface="Calibri"/>
                <a:cs typeface="Calibri"/>
              </a:rPr>
              <a:t>t</a:t>
            </a:r>
            <a:r>
              <a:rPr sz="2000" spc="-225" dirty="0">
                <a:solidFill>
                  <a:srgbClr val="404040"/>
                </a:solidFill>
                <a:latin typeface="Calibri"/>
                <a:cs typeface="Calibri"/>
              </a:rPr>
              <a:t> </a:t>
            </a:r>
            <a:r>
              <a:rPr sz="2000" dirty="0">
                <a:solidFill>
                  <a:srgbClr val="404040"/>
                </a:solidFill>
                <a:latin typeface="Calibri"/>
                <a:cs typeface="Calibri"/>
              </a:rPr>
              <a:t>3</a:t>
            </a:r>
            <a:r>
              <a:rPr sz="2000" spc="-170" dirty="0">
                <a:solidFill>
                  <a:srgbClr val="404040"/>
                </a:solidFill>
                <a:latin typeface="Calibri"/>
                <a:cs typeface="Calibri"/>
              </a:rPr>
              <a:t> </a:t>
            </a:r>
            <a:r>
              <a:rPr sz="2000" spc="10" dirty="0">
                <a:solidFill>
                  <a:srgbClr val="404040"/>
                </a:solidFill>
                <a:latin typeface="Calibri"/>
                <a:cs typeface="Calibri"/>
              </a:rPr>
              <a:t>z</a:t>
            </a:r>
            <a:r>
              <a:rPr sz="2000" spc="45" dirty="0">
                <a:solidFill>
                  <a:srgbClr val="404040"/>
                </a:solidFill>
                <a:latin typeface="Calibri"/>
                <a:cs typeface="Calibri"/>
              </a:rPr>
              <a:t>on</a:t>
            </a:r>
            <a:r>
              <a:rPr sz="2000" dirty="0">
                <a:solidFill>
                  <a:srgbClr val="404040"/>
                </a:solidFill>
                <a:latin typeface="Calibri"/>
                <a:cs typeface="Calibri"/>
              </a:rPr>
              <a:t>es</a:t>
            </a:r>
            <a:r>
              <a:rPr sz="2000" spc="-135" dirty="0">
                <a:solidFill>
                  <a:srgbClr val="404040"/>
                </a:solidFill>
                <a:latin typeface="Calibri"/>
                <a:cs typeface="Calibri"/>
              </a:rPr>
              <a:t> </a:t>
            </a:r>
            <a:r>
              <a:rPr sz="2000" dirty="0">
                <a:solidFill>
                  <a:srgbClr val="404040"/>
                </a:solidFill>
                <a:latin typeface="Calibri"/>
                <a:cs typeface="Calibri"/>
              </a:rPr>
              <a:t>:</a:t>
            </a:r>
            <a:endParaRPr sz="2000" dirty="0">
              <a:latin typeface="Calibri"/>
              <a:cs typeface="Calibri"/>
            </a:endParaRPr>
          </a:p>
          <a:p>
            <a:pPr marL="419734" lvl="1" indent="-204470">
              <a:lnSpc>
                <a:spcPct val="100000"/>
              </a:lnSpc>
              <a:spcBef>
                <a:spcPts val="200"/>
              </a:spcBef>
              <a:buClr>
                <a:srgbClr val="E48312"/>
              </a:buClr>
              <a:buSzPct val="94444"/>
              <a:buFont typeface="Wingdings"/>
              <a:buChar char=""/>
              <a:tabLst>
                <a:tab pos="420370" algn="l"/>
              </a:tabLst>
            </a:pPr>
            <a:r>
              <a:rPr sz="1800" spc="20" dirty="0">
                <a:solidFill>
                  <a:srgbClr val="404040"/>
                </a:solidFill>
                <a:latin typeface="Calibri"/>
                <a:cs typeface="Calibri"/>
              </a:rPr>
              <a:t>La</a:t>
            </a:r>
            <a:r>
              <a:rPr sz="1800" spc="-85" dirty="0">
                <a:solidFill>
                  <a:srgbClr val="404040"/>
                </a:solidFill>
                <a:latin typeface="Calibri"/>
                <a:cs typeface="Calibri"/>
              </a:rPr>
              <a:t> </a:t>
            </a:r>
            <a:r>
              <a:rPr sz="1800" spc="-20" dirty="0">
                <a:solidFill>
                  <a:srgbClr val="404040"/>
                </a:solidFill>
                <a:latin typeface="Calibri"/>
                <a:cs typeface="Calibri"/>
              </a:rPr>
              <a:t>désignation</a:t>
            </a:r>
            <a:r>
              <a:rPr sz="1800" spc="225" dirty="0">
                <a:solidFill>
                  <a:srgbClr val="404040"/>
                </a:solidFill>
                <a:latin typeface="Calibri"/>
                <a:cs typeface="Calibri"/>
              </a:rPr>
              <a:t> </a:t>
            </a:r>
            <a:r>
              <a:rPr sz="1800" spc="-25" dirty="0">
                <a:solidFill>
                  <a:srgbClr val="404040"/>
                </a:solidFill>
                <a:latin typeface="Calibri"/>
                <a:cs typeface="Calibri"/>
              </a:rPr>
              <a:t>de</a:t>
            </a:r>
            <a:r>
              <a:rPr sz="1800" spc="-15" dirty="0">
                <a:solidFill>
                  <a:srgbClr val="404040"/>
                </a:solidFill>
                <a:latin typeface="Calibri"/>
                <a:cs typeface="Calibri"/>
              </a:rPr>
              <a:t> </a:t>
            </a:r>
            <a:r>
              <a:rPr sz="1800" spc="-10" dirty="0">
                <a:solidFill>
                  <a:srgbClr val="404040"/>
                </a:solidFill>
                <a:latin typeface="Calibri"/>
                <a:cs typeface="Calibri"/>
              </a:rPr>
              <a:t>la</a:t>
            </a:r>
            <a:r>
              <a:rPr sz="1800" spc="15" dirty="0">
                <a:solidFill>
                  <a:srgbClr val="404040"/>
                </a:solidFill>
                <a:latin typeface="Calibri"/>
                <a:cs typeface="Calibri"/>
              </a:rPr>
              <a:t> </a:t>
            </a:r>
            <a:r>
              <a:rPr sz="1800" b="1" spc="-5" dirty="0">
                <a:solidFill>
                  <a:srgbClr val="404040"/>
                </a:solidFill>
                <a:latin typeface="Calibri"/>
                <a:cs typeface="Calibri"/>
              </a:rPr>
              <a:t>classe</a:t>
            </a:r>
            <a:endParaRPr sz="1800" dirty="0">
              <a:latin typeface="Calibri"/>
              <a:cs typeface="Calibri"/>
            </a:endParaRPr>
          </a:p>
          <a:p>
            <a:pPr marL="419734" lvl="1" indent="-204470">
              <a:lnSpc>
                <a:spcPct val="100000"/>
              </a:lnSpc>
              <a:spcBef>
                <a:spcPts val="439"/>
              </a:spcBef>
              <a:buClr>
                <a:srgbClr val="E48312"/>
              </a:buClr>
              <a:buSzPct val="94444"/>
              <a:buFont typeface="Wingdings"/>
              <a:buChar char=""/>
              <a:tabLst>
                <a:tab pos="420370" algn="l"/>
              </a:tabLst>
            </a:pPr>
            <a:r>
              <a:rPr sz="1800" spc="20" dirty="0">
                <a:solidFill>
                  <a:srgbClr val="404040"/>
                </a:solidFill>
                <a:latin typeface="Calibri"/>
                <a:cs typeface="Calibri"/>
              </a:rPr>
              <a:t>La</a:t>
            </a:r>
            <a:r>
              <a:rPr sz="1800" spc="-75" dirty="0">
                <a:solidFill>
                  <a:srgbClr val="404040"/>
                </a:solidFill>
                <a:latin typeface="Calibri"/>
                <a:cs typeface="Calibri"/>
              </a:rPr>
              <a:t> </a:t>
            </a:r>
            <a:r>
              <a:rPr sz="1800" spc="-20" dirty="0">
                <a:solidFill>
                  <a:srgbClr val="404040"/>
                </a:solidFill>
                <a:latin typeface="Calibri"/>
                <a:cs typeface="Calibri"/>
              </a:rPr>
              <a:t>description</a:t>
            </a:r>
            <a:r>
              <a:rPr sz="1800" spc="235" dirty="0">
                <a:solidFill>
                  <a:srgbClr val="404040"/>
                </a:solidFill>
                <a:latin typeface="Calibri"/>
                <a:cs typeface="Calibri"/>
              </a:rPr>
              <a:t> </a:t>
            </a:r>
            <a:r>
              <a:rPr sz="1800" spc="-20" dirty="0">
                <a:solidFill>
                  <a:srgbClr val="404040"/>
                </a:solidFill>
                <a:latin typeface="Calibri"/>
                <a:cs typeface="Calibri"/>
              </a:rPr>
              <a:t>des</a:t>
            </a:r>
            <a:r>
              <a:rPr sz="1800" spc="-5" dirty="0">
                <a:solidFill>
                  <a:srgbClr val="404040"/>
                </a:solidFill>
                <a:latin typeface="Calibri"/>
                <a:cs typeface="Calibri"/>
              </a:rPr>
              <a:t> </a:t>
            </a:r>
            <a:r>
              <a:rPr sz="1800" b="1" spc="-15" dirty="0">
                <a:solidFill>
                  <a:srgbClr val="404040"/>
                </a:solidFill>
                <a:latin typeface="Calibri"/>
                <a:cs typeface="Calibri"/>
              </a:rPr>
              <a:t>attributs</a:t>
            </a:r>
            <a:endParaRPr sz="1800" dirty="0">
              <a:latin typeface="Calibri"/>
              <a:cs typeface="Calibri"/>
            </a:endParaRPr>
          </a:p>
          <a:p>
            <a:pPr marL="469900" lvl="1" indent="-254000">
              <a:lnSpc>
                <a:spcPct val="100000"/>
              </a:lnSpc>
              <a:spcBef>
                <a:spcPts val="340"/>
              </a:spcBef>
              <a:buClr>
                <a:srgbClr val="E48312"/>
              </a:buClr>
              <a:buSzPct val="94444"/>
              <a:buFont typeface="Wingdings"/>
              <a:buChar char=""/>
              <a:tabLst>
                <a:tab pos="469900" algn="l"/>
              </a:tabLst>
            </a:pPr>
            <a:r>
              <a:rPr sz="1800" spc="20" dirty="0">
                <a:solidFill>
                  <a:srgbClr val="404040"/>
                </a:solidFill>
                <a:latin typeface="Calibri"/>
                <a:cs typeface="Calibri"/>
              </a:rPr>
              <a:t>La </a:t>
            </a:r>
            <a:r>
              <a:rPr sz="1800" spc="-20" dirty="0">
                <a:solidFill>
                  <a:srgbClr val="404040"/>
                </a:solidFill>
                <a:latin typeface="Calibri"/>
                <a:cs typeface="Calibri"/>
              </a:rPr>
              <a:t>description</a:t>
            </a:r>
            <a:r>
              <a:rPr sz="1800" spc="135" dirty="0">
                <a:solidFill>
                  <a:srgbClr val="404040"/>
                </a:solidFill>
                <a:latin typeface="Calibri"/>
                <a:cs typeface="Calibri"/>
              </a:rPr>
              <a:t> </a:t>
            </a:r>
            <a:r>
              <a:rPr sz="1800" spc="-15" dirty="0">
                <a:solidFill>
                  <a:srgbClr val="404040"/>
                </a:solidFill>
                <a:latin typeface="Calibri"/>
                <a:cs typeface="Calibri"/>
              </a:rPr>
              <a:t>des</a:t>
            </a:r>
            <a:r>
              <a:rPr sz="1800" spc="-25" dirty="0">
                <a:solidFill>
                  <a:srgbClr val="404040"/>
                </a:solidFill>
                <a:latin typeface="Calibri"/>
                <a:cs typeface="Calibri"/>
              </a:rPr>
              <a:t> </a:t>
            </a:r>
            <a:r>
              <a:rPr sz="1800" b="1" dirty="0">
                <a:solidFill>
                  <a:srgbClr val="404040"/>
                </a:solidFill>
                <a:latin typeface="Calibri"/>
                <a:cs typeface="Calibri"/>
              </a:rPr>
              <a:t>opérations</a:t>
            </a:r>
            <a:endParaRPr sz="1800" dirty="0">
              <a:latin typeface="Calibri"/>
              <a:cs typeface="Calibri"/>
            </a:endParaRPr>
          </a:p>
        </p:txBody>
      </p:sp>
      <p:sp>
        <p:nvSpPr>
          <p:cNvPr id="4" name="object 4"/>
          <p:cNvSpPr txBox="1"/>
          <p:nvPr/>
        </p:nvSpPr>
        <p:spPr>
          <a:xfrm>
            <a:off x="1084580" y="4837379"/>
            <a:ext cx="7376795" cy="330200"/>
          </a:xfrm>
          <a:prstGeom prst="rect">
            <a:avLst/>
          </a:prstGeom>
        </p:spPr>
        <p:txBody>
          <a:bodyPr vert="horz" wrap="square" lIns="0" tIns="12700" rIns="0" bIns="0" rtlCol="0">
            <a:spAutoFit/>
          </a:bodyPr>
          <a:lstStyle/>
          <a:p>
            <a:pPr marL="241300" indent="-228600">
              <a:lnSpc>
                <a:spcPct val="100000"/>
              </a:lnSpc>
              <a:spcBef>
                <a:spcPts val="100"/>
              </a:spcBef>
              <a:buClr>
                <a:srgbClr val="E48312"/>
              </a:buClr>
              <a:buSzPct val="95000"/>
              <a:buFont typeface="Wingdings"/>
              <a:buChar char=""/>
              <a:tabLst>
                <a:tab pos="241300" algn="l"/>
              </a:tabLst>
            </a:pPr>
            <a:r>
              <a:rPr sz="2000" spc="-25" dirty="0">
                <a:solidFill>
                  <a:srgbClr val="404040"/>
                </a:solidFill>
                <a:latin typeface="Calibri"/>
                <a:cs typeface="Calibri"/>
              </a:rPr>
              <a:t>La</a:t>
            </a:r>
            <a:r>
              <a:rPr sz="2000" spc="85" dirty="0">
                <a:solidFill>
                  <a:srgbClr val="404040"/>
                </a:solidFill>
                <a:latin typeface="Calibri"/>
                <a:cs typeface="Calibri"/>
              </a:rPr>
              <a:t> </a:t>
            </a:r>
            <a:r>
              <a:rPr sz="2000" spc="10" dirty="0">
                <a:solidFill>
                  <a:srgbClr val="404040"/>
                </a:solidFill>
                <a:latin typeface="Calibri"/>
                <a:cs typeface="Calibri"/>
              </a:rPr>
              <a:t>première</a:t>
            </a:r>
            <a:r>
              <a:rPr sz="2000" spc="-150" dirty="0">
                <a:solidFill>
                  <a:srgbClr val="404040"/>
                </a:solidFill>
                <a:latin typeface="Calibri"/>
                <a:cs typeface="Calibri"/>
              </a:rPr>
              <a:t> </a:t>
            </a:r>
            <a:r>
              <a:rPr sz="2000" spc="25" dirty="0">
                <a:solidFill>
                  <a:srgbClr val="404040"/>
                </a:solidFill>
                <a:latin typeface="Calibri"/>
                <a:cs typeface="Calibri"/>
              </a:rPr>
              <a:t>zone</a:t>
            </a:r>
            <a:r>
              <a:rPr sz="2000" spc="-150" dirty="0">
                <a:solidFill>
                  <a:srgbClr val="404040"/>
                </a:solidFill>
                <a:latin typeface="Calibri"/>
                <a:cs typeface="Calibri"/>
              </a:rPr>
              <a:t> </a:t>
            </a:r>
            <a:r>
              <a:rPr sz="2000" spc="5" dirty="0">
                <a:solidFill>
                  <a:srgbClr val="404040"/>
                </a:solidFill>
                <a:latin typeface="Calibri"/>
                <a:cs typeface="Calibri"/>
              </a:rPr>
              <a:t>est</a:t>
            </a:r>
            <a:r>
              <a:rPr sz="2000" spc="-125" dirty="0">
                <a:solidFill>
                  <a:srgbClr val="404040"/>
                </a:solidFill>
                <a:latin typeface="Calibri"/>
                <a:cs typeface="Calibri"/>
              </a:rPr>
              <a:t> </a:t>
            </a:r>
            <a:r>
              <a:rPr sz="2000" spc="20" dirty="0">
                <a:solidFill>
                  <a:srgbClr val="404040"/>
                </a:solidFill>
                <a:latin typeface="Calibri"/>
                <a:cs typeface="Calibri"/>
              </a:rPr>
              <a:t>obligtoire</a:t>
            </a:r>
            <a:r>
              <a:rPr sz="2000" spc="-150" dirty="0">
                <a:solidFill>
                  <a:srgbClr val="404040"/>
                </a:solidFill>
                <a:latin typeface="Calibri"/>
                <a:cs typeface="Calibri"/>
              </a:rPr>
              <a:t> </a:t>
            </a:r>
            <a:r>
              <a:rPr sz="2000" spc="10" dirty="0">
                <a:solidFill>
                  <a:srgbClr val="404040"/>
                </a:solidFill>
                <a:latin typeface="Calibri"/>
                <a:cs typeface="Calibri"/>
              </a:rPr>
              <a:t>(le</a:t>
            </a:r>
            <a:r>
              <a:rPr sz="2000" spc="-150" dirty="0">
                <a:solidFill>
                  <a:srgbClr val="404040"/>
                </a:solidFill>
                <a:latin typeface="Calibri"/>
                <a:cs typeface="Calibri"/>
              </a:rPr>
              <a:t> </a:t>
            </a:r>
            <a:r>
              <a:rPr sz="2000" spc="15" dirty="0">
                <a:solidFill>
                  <a:srgbClr val="404040"/>
                </a:solidFill>
                <a:latin typeface="Calibri"/>
                <a:cs typeface="Calibri"/>
              </a:rPr>
              <a:t>nom),</a:t>
            </a:r>
            <a:r>
              <a:rPr sz="2000" spc="-55" dirty="0">
                <a:solidFill>
                  <a:srgbClr val="404040"/>
                </a:solidFill>
                <a:latin typeface="Calibri"/>
                <a:cs typeface="Calibri"/>
              </a:rPr>
              <a:t> </a:t>
            </a:r>
            <a:r>
              <a:rPr sz="2000" spc="10" dirty="0">
                <a:solidFill>
                  <a:srgbClr val="404040"/>
                </a:solidFill>
                <a:latin typeface="Calibri"/>
                <a:cs typeface="Calibri"/>
              </a:rPr>
              <a:t>les</a:t>
            </a:r>
            <a:r>
              <a:rPr sz="2000" spc="-40" dirty="0">
                <a:solidFill>
                  <a:srgbClr val="404040"/>
                </a:solidFill>
                <a:latin typeface="Calibri"/>
                <a:cs typeface="Calibri"/>
              </a:rPr>
              <a:t> </a:t>
            </a:r>
            <a:r>
              <a:rPr sz="2000" spc="20" dirty="0">
                <a:solidFill>
                  <a:srgbClr val="404040"/>
                </a:solidFill>
                <a:latin typeface="Calibri"/>
                <a:cs typeface="Calibri"/>
              </a:rPr>
              <a:t>autres</a:t>
            </a:r>
            <a:r>
              <a:rPr sz="2000" spc="-140" dirty="0">
                <a:solidFill>
                  <a:srgbClr val="404040"/>
                </a:solidFill>
                <a:latin typeface="Calibri"/>
                <a:cs typeface="Calibri"/>
              </a:rPr>
              <a:t> </a:t>
            </a:r>
            <a:r>
              <a:rPr sz="2000" spc="25" dirty="0">
                <a:solidFill>
                  <a:srgbClr val="404040"/>
                </a:solidFill>
                <a:latin typeface="Calibri"/>
                <a:cs typeface="Calibri"/>
              </a:rPr>
              <a:t>sont</a:t>
            </a:r>
            <a:r>
              <a:rPr sz="2000" spc="-125" dirty="0">
                <a:solidFill>
                  <a:srgbClr val="404040"/>
                </a:solidFill>
                <a:latin typeface="Calibri"/>
                <a:cs typeface="Calibri"/>
              </a:rPr>
              <a:t> </a:t>
            </a:r>
            <a:r>
              <a:rPr sz="2000" spc="20" dirty="0">
                <a:solidFill>
                  <a:srgbClr val="404040"/>
                </a:solidFill>
                <a:latin typeface="Calibri"/>
                <a:cs typeface="Calibri"/>
              </a:rPr>
              <a:t>optionnelles</a:t>
            </a:r>
            <a:endParaRPr sz="2000">
              <a:latin typeface="Calibri"/>
              <a:cs typeface="Calibri"/>
            </a:endParaRPr>
          </a:p>
        </p:txBody>
      </p:sp>
      <p:pic>
        <p:nvPicPr>
          <p:cNvPr id="5" name="object 5"/>
          <p:cNvPicPr/>
          <p:nvPr/>
        </p:nvPicPr>
        <p:blipFill>
          <a:blip r:embed="rId2" cstate="print"/>
          <a:stretch>
            <a:fillRect/>
          </a:stretch>
        </p:blipFill>
        <p:spPr>
          <a:xfrm>
            <a:off x="7302659" y="3261178"/>
            <a:ext cx="1663380" cy="9960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4225290" cy="756920"/>
          </a:xfrm>
          <a:prstGeom prst="rect">
            <a:avLst/>
          </a:prstGeom>
        </p:spPr>
        <p:txBody>
          <a:bodyPr vert="horz" wrap="square" lIns="0" tIns="12700" rIns="0" bIns="0" rtlCol="0">
            <a:spAutoFit/>
          </a:bodyPr>
          <a:lstStyle/>
          <a:p>
            <a:pPr marL="12700">
              <a:lnSpc>
                <a:spcPct val="100000"/>
              </a:lnSpc>
              <a:spcBef>
                <a:spcPts val="100"/>
              </a:spcBef>
            </a:pPr>
            <a:r>
              <a:rPr spc="-60" dirty="0"/>
              <a:t>Nom</a:t>
            </a:r>
            <a:r>
              <a:rPr spc="-15" dirty="0"/>
              <a:t> </a:t>
            </a:r>
            <a:r>
              <a:rPr spc="-95" dirty="0"/>
              <a:t>d’une</a:t>
            </a:r>
            <a:r>
              <a:rPr spc="15" dirty="0"/>
              <a:t> </a:t>
            </a:r>
            <a:r>
              <a:rPr spc="-70" dirty="0"/>
              <a:t>classe</a:t>
            </a:r>
          </a:p>
        </p:txBody>
      </p:sp>
      <p:sp>
        <p:nvSpPr>
          <p:cNvPr id="3" name="object 3"/>
          <p:cNvSpPr txBox="1"/>
          <p:nvPr/>
        </p:nvSpPr>
        <p:spPr>
          <a:xfrm>
            <a:off x="1097280" y="1281379"/>
            <a:ext cx="10045700" cy="1428083"/>
          </a:xfrm>
          <a:prstGeom prst="rect">
            <a:avLst/>
          </a:prstGeom>
        </p:spPr>
        <p:txBody>
          <a:bodyPr vert="horz" wrap="square" lIns="0" tIns="12700" rIns="0" bIns="0" rtlCol="0">
            <a:spAutoFit/>
          </a:bodyPr>
          <a:lstStyle/>
          <a:p>
            <a:pPr marL="355600" marR="5080" indent="-342900">
              <a:lnSpc>
                <a:spcPct val="137500"/>
              </a:lnSpc>
              <a:spcBef>
                <a:spcPts val="100"/>
              </a:spcBef>
              <a:buClr>
                <a:srgbClr val="DD7F46"/>
              </a:buClr>
              <a:buSzPct val="60000"/>
              <a:buFont typeface="Wingdings"/>
              <a:buChar char=""/>
              <a:tabLst>
                <a:tab pos="354965" algn="l"/>
                <a:tab pos="355600" algn="l"/>
              </a:tabLst>
            </a:pPr>
            <a:r>
              <a:rPr sz="2000" spc="-25" dirty="0">
                <a:solidFill>
                  <a:srgbClr val="404040"/>
                </a:solidFill>
                <a:latin typeface="Calibri"/>
                <a:cs typeface="Calibri"/>
              </a:rPr>
              <a:t>Le</a:t>
            </a:r>
            <a:r>
              <a:rPr sz="2000" spc="50" dirty="0">
                <a:solidFill>
                  <a:srgbClr val="404040"/>
                </a:solidFill>
                <a:latin typeface="Calibri"/>
                <a:cs typeface="Calibri"/>
              </a:rPr>
              <a:t> </a:t>
            </a:r>
            <a:r>
              <a:rPr sz="2000" spc="30" dirty="0">
                <a:solidFill>
                  <a:srgbClr val="404040"/>
                </a:solidFill>
                <a:latin typeface="Calibri"/>
                <a:cs typeface="Calibri"/>
              </a:rPr>
              <a:t>nom</a:t>
            </a:r>
            <a:r>
              <a:rPr sz="2000" spc="-145" dirty="0">
                <a:solidFill>
                  <a:srgbClr val="404040"/>
                </a:solidFill>
                <a:latin typeface="Calibri"/>
                <a:cs typeface="Calibri"/>
              </a:rPr>
              <a:t> </a:t>
            </a:r>
            <a:r>
              <a:rPr sz="2000" spc="20" dirty="0">
                <a:solidFill>
                  <a:srgbClr val="404040"/>
                </a:solidFill>
                <a:latin typeface="Calibri"/>
                <a:cs typeface="Calibri"/>
              </a:rPr>
              <a:t>de</a:t>
            </a:r>
            <a:r>
              <a:rPr sz="2000" spc="-45" dirty="0">
                <a:solidFill>
                  <a:srgbClr val="404040"/>
                </a:solidFill>
                <a:latin typeface="Calibri"/>
                <a:cs typeface="Calibri"/>
              </a:rPr>
              <a:t> </a:t>
            </a:r>
            <a:r>
              <a:rPr sz="2000" spc="20" dirty="0">
                <a:solidFill>
                  <a:srgbClr val="404040"/>
                </a:solidFill>
                <a:latin typeface="Calibri"/>
                <a:cs typeface="Calibri"/>
              </a:rPr>
              <a:t>la</a:t>
            </a:r>
            <a:r>
              <a:rPr sz="2000" spc="-10" dirty="0">
                <a:solidFill>
                  <a:srgbClr val="404040"/>
                </a:solidFill>
                <a:latin typeface="Calibri"/>
                <a:cs typeface="Calibri"/>
              </a:rPr>
              <a:t> </a:t>
            </a:r>
            <a:r>
              <a:rPr sz="2000" spc="10" dirty="0">
                <a:solidFill>
                  <a:srgbClr val="404040"/>
                </a:solidFill>
                <a:latin typeface="Calibri"/>
                <a:cs typeface="Calibri"/>
              </a:rPr>
              <a:t>classe</a:t>
            </a:r>
            <a:r>
              <a:rPr sz="2000" spc="-45" dirty="0">
                <a:solidFill>
                  <a:srgbClr val="404040"/>
                </a:solidFill>
                <a:latin typeface="Calibri"/>
                <a:cs typeface="Calibri"/>
              </a:rPr>
              <a:t> </a:t>
            </a:r>
            <a:r>
              <a:rPr sz="2000" spc="20" dirty="0">
                <a:solidFill>
                  <a:srgbClr val="404040"/>
                </a:solidFill>
                <a:latin typeface="Calibri"/>
                <a:cs typeface="Calibri"/>
              </a:rPr>
              <a:t>peut</a:t>
            </a:r>
            <a:r>
              <a:rPr sz="2000" spc="-120" dirty="0">
                <a:solidFill>
                  <a:srgbClr val="404040"/>
                </a:solidFill>
                <a:latin typeface="Calibri"/>
                <a:cs typeface="Calibri"/>
              </a:rPr>
              <a:t> </a:t>
            </a:r>
            <a:r>
              <a:rPr sz="2000" spc="5" dirty="0">
                <a:solidFill>
                  <a:srgbClr val="404040"/>
                </a:solidFill>
                <a:latin typeface="Calibri"/>
                <a:cs typeface="Calibri"/>
              </a:rPr>
              <a:t>être</a:t>
            </a:r>
            <a:r>
              <a:rPr sz="2000" spc="-50" dirty="0">
                <a:solidFill>
                  <a:srgbClr val="404040"/>
                </a:solidFill>
                <a:latin typeface="Calibri"/>
                <a:cs typeface="Calibri"/>
              </a:rPr>
              <a:t> </a:t>
            </a:r>
            <a:r>
              <a:rPr sz="2000" spc="25" dirty="0">
                <a:solidFill>
                  <a:srgbClr val="404040"/>
                </a:solidFill>
                <a:latin typeface="Calibri"/>
                <a:cs typeface="Calibri"/>
              </a:rPr>
              <a:t>qualifié</a:t>
            </a:r>
            <a:r>
              <a:rPr sz="2000" spc="-145" dirty="0">
                <a:solidFill>
                  <a:srgbClr val="404040"/>
                </a:solidFill>
                <a:latin typeface="Calibri"/>
                <a:cs typeface="Calibri"/>
              </a:rPr>
              <a:t> </a:t>
            </a:r>
            <a:r>
              <a:rPr sz="2000" spc="25" dirty="0">
                <a:solidFill>
                  <a:srgbClr val="404040"/>
                </a:solidFill>
                <a:latin typeface="Calibri"/>
                <a:cs typeface="Calibri"/>
              </a:rPr>
              <a:t>par</a:t>
            </a:r>
            <a:r>
              <a:rPr sz="2000" spc="-150" dirty="0">
                <a:solidFill>
                  <a:srgbClr val="404040"/>
                </a:solidFill>
                <a:latin typeface="Calibri"/>
                <a:cs typeface="Calibri"/>
              </a:rPr>
              <a:t> </a:t>
            </a:r>
            <a:r>
              <a:rPr sz="2000" spc="20" dirty="0">
                <a:solidFill>
                  <a:srgbClr val="404040"/>
                </a:solidFill>
                <a:latin typeface="Calibri"/>
                <a:cs typeface="Calibri"/>
              </a:rPr>
              <a:t>un</a:t>
            </a:r>
            <a:r>
              <a:rPr sz="2000" spc="-100" dirty="0">
                <a:solidFill>
                  <a:srgbClr val="404040"/>
                </a:solidFill>
                <a:latin typeface="Calibri"/>
                <a:cs typeface="Calibri"/>
              </a:rPr>
              <a:t> </a:t>
            </a:r>
            <a:r>
              <a:rPr sz="2000" spc="10" dirty="0">
                <a:solidFill>
                  <a:srgbClr val="404040"/>
                </a:solidFill>
                <a:latin typeface="Calibri"/>
                <a:cs typeface="Calibri"/>
              </a:rPr>
              <a:t>«stéréotype»</a:t>
            </a:r>
            <a:r>
              <a:rPr sz="2000" spc="-180" dirty="0">
                <a:solidFill>
                  <a:srgbClr val="404040"/>
                </a:solidFill>
                <a:latin typeface="Calibri"/>
                <a:cs typeface="Calibri"/>
              </a:rPr>
              <a:t> </a:t>
            </a:r>
            <a:r>
              <a:rPr sz="2000" spc="20" dirty="0">
                <a:solidFill>
                  <a:srgbClr val="404040"/>
                </a:solidFill>
                <a:latin typeface="Calibri"/>
                <a:cs typeface="Calibri"/>
              </a:rPr>
              <a:t>ou</a:t>
            </a:r>
            <a:r>
              <a:rPr sz="2000" spc="-100" dirty="0">
                <a:solidFill>
                  <a:srgbClr val="404040"/>
                </a:solidFill>
                <a:latin typeface="Calibri"/>
                <a:cs typeface="Calibri"/>
              </a:rPr>
              <a:t> </a:t>
            </a:r>
            <a:r>
              <a:rPr sz="2000" spc="5" dirty="0" err="1">
                <a:solidFill>
                  <a:srgbClr val="404040"/>
                </a:solidFill>
                <a:latin typeface="Calibri"/>
                <a:cs typeface="Calibri"/>
              </a:rPr>
              <a:t>d’autres</a:t>
            </a:r>
            <a:r>
              <a:rPr sz="2000" spc="-130" dirty="0">
                <a:solidFill>
                  <a:srgbClr val="404040"/>
                </a:solidFill>
                <a:latin typeface="Calibri"/>
                <a:cs typeface="Calibri"/>
              </a:rPr>
              <a:t> </a:t>
            </a:r>
            <a:r>
              <a:rPr sz="2000" spc="5" dirty="0" err="1">
                <a:solidFill>
                  <a:srgbClr val="404040"/>
                </a:solidFill>
                <a:latin typeface="Calibri"/>
                <a:cs typeface="Calibri"/>
              </a:rPr>
              <a:t>précisions</a:t>
            </a:r>
            <a:r>
              <a:rPr lang="fr-FR" sz="2000" spc="-135" dirty="0">
                <a:solidFill>
                  <a:srgbClr val="404040"/>
                </a:solidFill>
                <a:latin typeface="Calibri"/>
                <a:cs typeface="Calibri"/>
              </a:rPr>
              <a:t>.</a:t>
            </a:r>
            <a:endParaRPr sz="2000" dirty="0">
              <a:latin typeface="Calibri"/>
              <a:cs typeface="Calibri"/>
            </a:endParaRPr>
          </a:p>
          <a:p>
            <a:pPr marL="355600" marR="363855" indent="-342900">
              <a:lnSpc>
                <a:spcPct val="137500"/>
              </a:lnSpc>
              <a:spcBef>
                <a:spcPts val="1400"/>
              </a:spcBef>
              <a:buClr>
                <a:srgbClr val="DD7F46"/>
              </a:buClr>
              <a:buSzPct val="60000"/>
              <a:buFont typeface="Wingdings"/>
              <a:buChar char=""/>
              <a:tabLst>
                <a:tab pos="354965" algn="l"/>
                <a:tab pos="355600" algn="l"/>
              </a:tabLst>
            </a:pPr>
            <a:r>
              <a:rPr sz="2000" spc="5" dirty="0">
                <a:solidFill>
                  <a:srgbClr val="404040"/>
                </a:solidFill>
                <a:latin typeface="Calibri"/>
                <a:cs typeface="Calibri"/>
              </a:rPr>
              <a:t>Un</a:t>
            </a:r>
            <a:r>
              <a:rPr sz="2000" spc="-5" dirty="0">
                <a:solidFill>
                  <a:srgbClr val="404040"/>
                </a:solidFill>
                <a:latin typeface="Calibri"/>
                <a:cs typeface="Calibri"/>
              </a:rPr>
              <a:t> </a:t>
            </a:r>
            <a:r>
              <a:rPr sz="2000" spc="30" dirty="0">
                <a:solidFill>
                  <a:srgbClr val="404040"/>
                </a:solidFill>
                <a:latin typeface="Calibri"/>
                <a:cs typeface="Calibri"/>
              </a:rPr>
              <a:t>nom</a:t>
            </a:r>
            <a:r>
              <a:rPr sz="2000" spc="-145" dirty="0">
                <a:solidFill>
                  <a:srgbClr val="404040"/>
                </a:solidFill>
                <a:latin typeface="Calibri"/>
                <a:cs typeface="Calibri"/>
              </a:rPr>
              <a:t> </a:t>
            </a:r>
            <a:r>
              <a:rPr sz="2000" spc="20" dirty="0">
                <a:solidFill>
                  <a:srgbClr val="404040"/>
                </a:solidFill>
                <a:latin typeface="Calibri"/>
                <a:cs typeface="Calibri"/>
              </a:rPr>
              <a:t>de</a:t>
            </a:r>
            <a:r>
              <a:rPr sz="2000" spc="-50" dirty="0">
                <a:solidFill>
                  <a:srgbClr val="404040"/>
                </a:solidFill>
                <a:latin typeface="Calibri"/>
                <a:cs typeface="Calibri"/>
              </a:rPr>
              <a:t> </a:t>
            </a:r>
            <a:r>
              <a:rPr sz="2000" spc="10" dirty="0">
                <a:solidFill>
                  <a:srgbClr val="404040"/>
                </a:solidFill>
                <a:latin typeface="Calibri"/>
                <a:cs typeface="Calibri"/>
              </a:rPr>
              <a:t>classe</a:t>
            </a:r>
            <a:r>
              <a:rPr sz="2000" spc="-45" dirty="0">
                <a:solidFill>
                  <a:srgbClr val="404040"/>
                </a:solidFill>
                <a:latin typeface="Calibri"/>
                <a:cs typeface="Calibri"/>
              </a:rPr>
              <a:t> </a:t>
            </a:r>
            <a:r>
              <a:rPr sz="2000" spc="5" dirty="0">
                <a:solidFill>
                  <a:srgbClr val="404040"/>
                </a:solidFill>
                <a:latin typeface="Calibri"/>
                <a:cs typeface="Calibri"/>
              </a:rPr>
              <a:t>est</a:t>
            </a:r>
            <a:r>
              <a:rPr sz="2000" spc="-20" dirty="0">
                <a:solidFill>
                  <a:srgbClr val="404040"/>
                </a:solidFill>
                <a:latin typeface="Calibri"/>
                <a:cs typeface="Calibri"/>
              </a:rPr>
              <a:t> </a:t>
            </a:r>
            <a:r>
              <a:rPr sz="2000" spc="25" dirty="0">
                <a:solidFill>
                  <a:srgbClr val="404040"/>
                </a:solidFill>
                <a:latin typeface="Calibri"/>
                <a:cs typeface="Calibri"/>
              </a:rPr>
              <a:t>toujours</a:t>
            </a:r>
            <a:r>
              <a:rPr sz="2000" spc="-140" dirty="0">
                <a:solidFill>
                  <a:srgbClr val="404040"/>
                </a:solidFill>
                <a:latin typeface="Calibri"/>
                <a:cs typeface="Calibri"/>
              </a:rPr>
              <a:t> </a:t>
            </a:r>
            <a:r>
              <a:rPr sz="2000" spc="20" dirty="0">
                <a:solidFill>
                  <a:srgbClr val="404040"/>
                </a:solidFill>
                <a:latin typeface="Calibri"/>
                <a:cs typeface="Calibri"/>
              </a:rPr>
              <a:t>au</a:t>
            </a:r>
            <a:r>
              <a:rPr sz="2000" spc="-100" dirty="0">
                <a:solidFill>
                  <a:srgbClr val="404040"/>
                </a:solidFill>
                <a:latin typeface="Calibri"/>
                <a:cs typeface="Calibri"/>
              </a:rPr>
              <a:t> </a:t>
            </a:r>
            <a:r>
              <a:rPr sz="2000" spc="20" dirty="0">
                <a:solidFill>
                  <a:srgbClr val="404040"/>
                </a:solidFill>
                <a:latin typeface="Calibri"/>
                <a:cs typeface="Calibri"/>
              </a:rPr>
              <a:t>singulier</a:t>
            </a:r>
            <a:r>
              <a:rPr sz="2000" spc="-155" dirty="0">
                <a:solidFill>
                  <a:srgbClr val="404040"/>
                </a:solidFill>
                <a:latin typeface="Calibri"/>
                <a:cs typeface="Calibri"/>
              </a:rPr>
              <a:t> </a:t>
            </a:r>
            <a:r>
              <a:rPr sz="2000" dirty="0">
                <a:solidFill>
                  <a:srgbClr val="404040"/>
                </a:solidFill>
                <a:latin typeface="Calibri"/>
                <a:cs typeface="Calibri"/>
              </a:rPr>
              <a:t>:</a:t>
            </a:r>
            <a:r>
              <a:rPr sz="2000" spc="-85" dirty="0">
                <a:solidFill>
                  <a:srgbClr val="404040"/>
                </a:solidFill>
                <a:latin typeface="Calibri"/>
                <a:cs typeface="Calibri"/>
              </a:rPr>
              <a:t> </a:t>
            </a:r>
            <a:r>
              <a:rPr sz="2000" spc="25" dirty="0">
                <a:solidFill>
                  <a:srgbClr val="404040"/>
                </a:solidFill>
                <a:latin typeface="Calibri"/>
                <a:cs typeface="Calibri"/>
              </a:rPr>
              <a:t>pas</a:t>
            </a:r>
            <a:r>
              <a:rPr sz="2000" spc="-135" dirty="0">
                <a:solidFill>
                  <a:srgbClr val="404040"/>
                </a:solidFill>
                <a:latin typeface="Calibri"/>
                <a:cs typeface="Calibri"/>
              </a:rPr>
              <a:t> </a:t>
            </a:r>
            <a:r>
              <a:rPr sz="2000" spc="20" dirty="0">
                <a:solidFill>
                  <a:srgbClr val="404040"/>
                </a:solidFill>
                <a:latin typeface="Calibri"/>
                <a:cs typeface="Calibri"/>
              </a:rPr>
              <a:t>de</a:t>
            </a:r>
            <a:r>
              <a:rPr sz="2000" spc="-145" dirty="0">
                <a:solidFill>
                  <a:srgbClr val="404040"/>
                </a:solidFill>
                <a:latin typeface="Calibri"/>
                <a:cs typeface="Calibri"/>
              </a:rPr>
              <a:t> </a:t>
            </a:r>
            <a:r>
              <a:rPr sz="2000" dirty="0">
                <a:solidFill>
                  <a:srgbClr val="404040"/>
                </a:solidFill>
                <a:latin typeface="Calibri"/>
                <a:cs typeface="Calibri"/>
              </a:rPr>
              <a:t>"s"</a:t>
            </a:r>
            <a:r>
              <a:rPr sz="2000" spc="445" dirty="0">
                <a:solidFill>
                  <a:srgbClr val="404040"/>
                </a:solidFill>
                <a:latin typeface="Calibri"/>
                <a:cs typeface="Calibri"/>
              </a:rPr>
              <a:t> </a:t>
            </a:r>
            <a:r>
              <a:rPr sz="2000" dirty="0">
                <a:solidFill>
                  <a:srgbClr val="404040"/>
                </a:solidFill>
                <a:latin typeface="Calibri"/>
                <a:cs typeface="Calibri"/>
              </a:rPr>
              <a:t>à</a:t>
            </a:r>
            <a:r>
              <a:rPr sz="2000" spc="-10" dirty="0">
                <a:solidFill>
                  <a:srgbClr val="404040"/>
                </a:solidFill>
                <a:latin typeface="Calibri"/>
                <a:cs typeface="Calibri"/>
              </a:rPr>
              <a:t> </a:t>
            </a:r>
            <a:r>
              <a:rPr sz="2000" spc="20" dirty="0">
                <a:solidFill>
                  <a:srgbClr val="404040"/>
                </a:solidFill>
                <a:latin typeface="Calibri"/>
                <a:cs typeface="Calibri"/>
              </a:rPr>
              <a:t>la</a:t>
            </a:r>
            <a:r>
              <a:rPr sz="2000" spc="-5" dirty="0">
                <a:solidFill>
                  <a:srgbClr val="404040"/>
                </a:solidFill>
                <a:latin typeface="Calibri"/>
                <a:cs typeface="Calibri"/>
              </a:rPr>
              <a:t> </a:t>
            </a:r>
            <a:r>
              <a:rPr sz="2000" spc="15" dirty="0">
                <a:solidFill>
                  <a:srgbClr val="404040"/>
                </a:solidFill>
                <a:latin typeface="Calibri"/>
                <a:cs typeface="Calibri"/>
              </a:rPr>
              <a:t>fin,</a:t>
            </a:r>
            <a:r>
              <a:rPr sz="2000" spc="-155" dirty="0">
                <a:solidFill>
                  <a:srgbClr val="404040"/>
                </a:solidFill>
                <a:latin typeface="Calibri"/>
                <a:cs typeface="Calibri"/>
              </a:rPr>
              <a:t> </a:t>
            </a:r>
            <a:r>
              <a:rPr sz="2000" dirty="0">
                <a:solidFill>
                  <a:srgbClr val="404040"/>
                </a:solidFill>
                <a:latin typeface="Calibri"/>
                <a:cs typeface="Calibri"/>
              </a:rPr>
              <a:t>même</a:t>
            </a:r>
            <a:r>
              <a:rPr sz="2000" spc="55" dirty="0">
                <a:solidFill>
                  <a:srgbClr val="404040"/>
                </a:solidFill>
                <a:latin typeface="Calibri"/>
                <a:cs typeface="Calibri"/>
              </a:rPr>
              <a:t> </a:t>
            </a:r>
            <a:r>
              <a:rPr sz="2000" spc="5" dirty="0">
                <a:solidFill>
                  <a:srgbClr val="404040"/>
                </a:solidFill>
                <a:latin typeface="Calibri"/>
                <a:cs typeface="Calibri"/>
              </a:rPr>
              <a:t>si</a:t>
            </a:r>
            <a:r>
              <a:rPr sz="2000" spc="-10" dirty="0">
                <a:solidFill>
                  <a:srgbClr val="404040"/>
                </a:solidFill>
                <a:latin typeface="Calibri"/>
                <a:cs typeface="Calibri"/>
              </a:rPr>
              <a:t> </a:t>
            </a:r>
            <a:r>
              <a:rPr sz="2000" spc="10" dirty="0">
                <a:solidFill>
                  <a:srgbClr val="404040"/>
                </a:solidFill>
                <a:latin typeface="Calibri"/>
                <a:cs typeface="Calibri"/>
              </a:rPr>
              <a:t>conceptuellement </a:t>
            </a:r>
            <a:r>
              <a:rPr sz="2000" spc="-440" dirty="0">
                <a:solidFill>
                  <a:srgbClr val="404040"/>
                </a:solidFill>
                <a:latin typeface="Calibri"/>
                <a:cs typeface="Calibri"/>
              </a:rPr>
              <a:t> </a:t>
            </a:r>
            <a:r>
              <a:rPr sz="2000" spc="30" dirty="0">
                <a:solidFill>
                  <a:srgbClr val="404040"/>
                </a:solidFill>
                <a:latin typeface="Calibri"/>
                <a:cs typeface="Calibri"/>
              </a:rPr>
              <a:t>une</a:t>
            </a:r>
            <a:r>
              <a:rPr sz="2000" spc="-55" dirty="0">
                <a:solidFill>
                  <a:srgbClr val="404040"/>
                </a:solidFill>
                <a:latin typeface="Calibri"/>
                <a:cs typeface="Calibri"/>
              </a:rPr>
              <a:t> </a:t>
            </a:r>
            <a:r>
              <a:rPr sz="2000" spc="10" dirty="0">
                <a:solidFill>
                  <a:srgbClr val="404040"/>
                </a:solidFill>
                <a:latin typeface="Calibri"/>
                <a:cs typeface="Calibri"/>
              </a:rPr>
              <a:t>classe</a:t>
            </a:r>
            <a:r>
              <a:rPr sz="2000" spc="-50" dirty="0">
                <a:solidFill>
                  <a:srgbClr val="404040"/>
                </a:solidFill>
                <a:latin typeface="Calibri"/>
                <a:cs typeface="Calibri"/>
              </a:rPr>
              <a:t> </a:t>
            </a:r>
            <a:r>
              <a:rPr sz="2000" spc="5" dirty="0">
                <a:solidFill>
                  <a:srgbClr val="404040"/>
                </a:solidFill>
                <a:latin typeface="Calibri"/>
                <a:cs typeface="Calibri"/>
              </a:rPr>
              <a:t>est</a:t>
            </a:r>
            <a:r>
              <a:rPr sz="2000" spc="-125" dirty="0">
                <a:solidFill>
                  <a:srgbClr val="404040"/>
                </a:solidFill>
                <a:latin typeface="Calibri"/>
                <a:cs typeface="Calibri"/>
              </a:rPr>
              <a:t> </a:t>
            </a:r>
            <a:r>
              <a:rPr sz="2000" spc="20" dirty="0">
                <a:solidFill>
                  <a:srgbClr val="404040"/>
                </a:solidFill>
                <a:latin typeface="Calibri"/>
                <a:cs typeface="Calibri"/>
              </a:rPr>
              <a:t>un  </a:t>
            </a:r>
            <a:r>
              <a:rPr sz="2000" spc="15" dirty="0">
                <a:solidFill>
                  <a:srgbClr val="404040"/>
                </a:solidFill>
                <a:latin typeface="Calibri"/>
                <a:cs typeface="Calibri"/>
              </a:rPr>
              <a:t>ensemble</a:t>
            </a:r>
            <a:r>
              <a:rPr sz="2000" spc="-150" dirty="0">
                <a:solidFill>
                  <a:srgbClr val="404040"/>
                </a:solidFill>
                <a:latin typeface="Calibri"/>
                <a:cs typeface="Calibri"/>
              </a:rPr>
              <a:t> </a:t>
            </a:r>
            <a:r>
              <a:rPr sz="2000" spc="5" dirty="0">
                <a:solidFill>
                  <a:srgbClr val="404040"/>
                </a:solidFill>
                <a:latin typeface="Calibri"/>
                <a:cs typeface="Calibri"/>
              </a:rPr>
              <a:t>d'instances.</a:t>
            </a:r>
            <a:endParaRPr sz="2000" dirty="0">
              <a:latin typeface="Calibri"/>
              <a:cs typeface="Calibri"/>
            </a:endParaRPr>
          </a:p>
        </p:txBody>
      </p:sp>
      <p:pic>
        <p:nvPicPr>
          <p:cNvPr id="4" name="object 4"/>
          <p:cNvPicPr/>
          <p:nvPr/>
        </p:nvPicPr>
        <p:blipFill>
          <a:blip r:embed="rId2" cstate="print"/>
          <a:stretch>
            <a:fillRect/>
          </a:stretch>
        </p:blipFill>
        <p:spPr>
          <a:xfrm>
            <a:off x="4668436" y="3663950"/>
            <a:ext cx="2397927" cy="2019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80" y="286627"/>
            <a:ext cx="2280920" cy="756920"/>
          </a:xfrm>
          <a:prstGeom prst="rect">
            <a:avLst/>
          </a:prstGeom>
        </p:spPr>
        <p:txBody>
          <a:bodyPr vert="horz" wrap="square" lIns="0" tIns="12700" rIns="0" bIns="0" rtlCol="0">
            <a:spAutoFit/>
          </a:bodyPr>
          <a:lstStyle/>
          <a:p>
            <a:pPr marL="12700">
              <a:lnSpc>
                <a:spcPct val="100000"/>
              </a:lnSpc>
              <a:spcBef>
                <a:spcPts val="100"/>
              </a:spcBef>
            </a:pPr>
            <a:r>
              <a:rPr spc="80" dirty="0"/>
              <a:t>Attributs</a:t>
            </a:r>
          </a:p>
        </p:txBody>
      </p:sp>
      <p:sp>
        <p:nvSpPr>
          <p:cNvPr id="3" name="object 3"/>
          <p:cNvSpPr txBox="1"/>
          <p:nvPr/>
        </p:nvSpPr>
        <p:spPr>
          <a:xfrm>
            <a:off x="1219200" y="1447800"/>
            <a:ext cx="10210800" cy="1877180"/>
          </a:xfrm>
          <a:prstGeom prst="rect">
            <a:avLst/>
          </a:prstGeom>
        </p:spPr>
        <p:txBody>
          <a:bodyPr vert="horz" wrap="square" lIns="0" tIns="58419" rIns="0" bIns="0" rtlCol="0">
            <a:spAutoFit/>
          </a:bodyPr>
          <a:lstStyle/>
          <a:p>
            <a:pPr marL="304800" marR="417830" indent="-292100">
              <a:lnSpc>
                <a:spcPts val="2800"/>
              </a:lnSpc>
              <a:spcBef>
                <a:spcPts val="459"/>
              </a:spcBef>
              <a:buClr>
                <a:srgbClr val="DD7F46"/>
              </a:buClr>
              <a:buSzPct val="120000"/>
              <a:buFont typeface="Arial MT"/>
              <a:buChar char="•"/>
              <a:tabLst>
                <a:tab pos="304165" algn="l"/>
                <a:tab pos="304800" algn="l"/>
              </a:tabLst>
            </a:pPr>
            <a:r>
              <a:rPr sz="2000" dirty="0">
                <a:solidFill>
                  <a:schemeClr val="tx2">
                    <a:lumMod val="50000"/>
                  </a:schemeClr>
                </a:solidFill>
                <a:latin typeface="+mj-lt"/>
                <a:cs typeface="Microsoft Sans Serif"/>
              </a:rPr>
              <a:t>La description complète des attributs d’une classe  comporte les caractéristiques suivantes :</a:t>
            </a:r>
          </a:p>
          <a:p>
            <a:pPr marL="596900" lvl="1" indent="-254000">
              <a:lnSpc>
                <a:spcPct val="100000"/>
              </a:lnSpc>
              <a:spcBef>
                <a:spcPts val="140"/>
              </a:spcBef>
              <a:buClr>
                <a:srgbClr val="94B6D2"/>
              </a:buClr>
              <a:buSzPct val="66666"/>
              <a:buFont typeface="Arial MT"/>
              <a:buChar char="–"/>
              <a:tabLst>
                <a:tab pos="596265" algn="l"/>
                <a:tab pos="596900" algn="l"/>
              </a:tabLst>
            </a:pPr>
            <a:r>
              <a:rPr sz="2000" dirty="0">
                <a:solidFill>
                  <a:schemeClr val="tx2">
                    <a:lumMod val="50000"/>
                  </a:schemeClr>
                </a:solidFill>
                <a:latin typeface="+mj-lt"/>
                <a:cs typeface="Microsoft Sans Serif"/>
              </a:rPr>
              <a:t>Nom d’attribut : nom unique dans sa classe.</a:t>
            </a:r>
          </a:p>
          <a:p>
            <a:pPr marL="596900" lvl="1" indent="-254000">
              <a:lnSpc>
                <a:spcPct val="100000"/>
              </a:lnSpc>
              <a:spcBef>
                <a:spcPts val="180"/>
              </a:spcBef>
              <a:buClr>
                <a:srgbClr val="94B6D2"/>
              </a:buClr>
              <a:buSzPct val="66666"/>
              <a:buFont typeface="Arial MT"/>
              <a:buChar char="–"/>
              <a:tabLst>
                <a:tab pos="596265" algn="l"/>
                <a:tab pos="596900" algn="l"/>
                <a:tab pos="3593465" algn="l"/>
              </a:tabLst>
            </a:pPr>
            <a:r>
              <a:rPr sz="2000" dirty="0">
                <a:solidFill>
                  <a:schemeClr val="tx2">
                    <a:lumMod val="50000"/>
                  </a:schemeClr>
                </a:solidFill>
                <a:latin typeface="+mj-lt"/>
                <a:cs typeface="Microsoft Sans Serif"/>
              </a:rPr>
              <a:t>Type : type de </a:t>
            </a:r>
            <a:r>
              <a:rPr sz="2000" dirty="0" err="1">
                <a:solidFill>
                  <a:schemeClr val="tx2">
                    <a:lumMod val="50000"/>
                  </a:schemeClr>
                </a:solidFill>
                <a:latin typeface="+mj-lt"/>
                <a:cs typeface="Microsoft Sans Serif"/>
              </a:rPr>
              <a:t>l’attribut</a:t>
            </a:r>
            <a:r>
              <a:rPr sz="2000" dirty="0">
                <a:solidFill>
                  <a:schemeClr val="tx2">
                    <a:lumMod val="50000"/>
                  </a:schemeClr>
                </a:solidFill>
                <a:latin typeface="+mj-lt"/>
                <a:cs typeface="Microsoft Sans Serif"/>
              </a:rPr>
              <a:t> (integer, string,.....)</a:t>
            </a:r>
          </a:p>
          <a:p>
            <a:pPr marL="596900" marR="392430" lvl="1" indent="-254000">
              <a:lnSpc>
                <a:spcPts val="2600"/>
              </a:lnSpc>
              <a:spcBef>
                <a:spcPts val="640"/>
              </a:spcBef>
              <a:buClr>
                <a:srgbClr val="94B6D2"/>
              </a:buClr>
              <a:buSzPct val="66666"/>
              <a:buFont typeface="Arial MT"/>
              <a:buChar char="–"/>
              <a:tabLst>
                <a:tab pos="596265" algn="l"/>
                <a:tab pos="596900" algn="l"/>
              </a:tabLst>
            </a:pPr>
            <a:r>
              <a:rPr sz="2000" dirty="0">
                <a:solidFill>
                  <a:schemeClr val="tx2">
                    <a:lumMod val="50000"/>
                  </a:schemeClr>
                </a:solidFill>
                <a:latin typeface="+mj-lt"/>
                <a:cs typeface="Microsoft Sans Serif"/>
              </a:rPr>
              <a:t>Valeur initiale : la valeur par défaut à la création de  l'attribut (facultative). </a:t>
            </a:r>
            <a:endParaRPr lang="fr-FR" sz="2000" dirty="0">
              <a:solidFill>
                <a:schemeClr val="tx2">
                  <a:lumMod val="50000"/>
                </a:schemeClr>
              </a:solidFill>
              <a:latin typeface="+mj-lt"/>
              <a:cs typeface="Microsoft Sans Serif"/>
            </a:endParaRPr>
          </a:p>
          <a:p>
            <a:pPr marL="1257300" marR="392430" lvl="3">
              <a:lnSpc>
                <a:spcPts val="2600"/>
              </a:lnSpc>
              <a:spcBef>
                <a:spcPts val="640"/>
              </a:spcBef>
              <a:buClr>
                <a:srgbClr val="94B6D2"/>
              </a:buClr>
              <a:buSzPct val="66666"/>
              <a:tabLst>
                <a:tab pos="596265" algn="l"/>
                <a:tab pos="596900" algn="l"/>
              </a:tabLst>
            </a:pPr>
            <a:r>
              <a:rPr sz="2000" b="1" dirty="0" err="1">
                <a:solidFill>
                  <a:schemeClr val="accent2">
                    <a:lumMod val="75000"/>
                  </a:schemeClr>
                </a:solidFill>
                <a:latin typeface="+mj-lt"/>
                <a:cs typeface="Microsoft Sans Serif"/>
              </a:rPr>
              <a:t>Exemple</a:t>
            </a:r>
            <a:r>
              <a:rPr lang="fr-FR" sz="2000" b="1" dirty="0">
                <a:solidFill>
                  <a:schemeClr val="accent2">
                    <a:lumMod val="75000"/>
                  </a:schemeClr>
                </a:solidFill>
                <a:latin typeface="+mj-lt"/>
                <a:cs typeface="Microsoft Sans Serif"/>
              </a:rPr>
              <a:t>:</a:t>
            </a:r>
            <a:r>
              <a:rPr sz="2000" b="1" dirty="0">
                <a:solidFill>
                  <a:schemeClr val="accent2">
                    <a:lumMod val="75000"/>
                  </a:schemeClr>
                </a:solidFill>
                <a:latin typeface="+mj-lt"/>
                <a:cs typeface="Microsoft Sans Serif"/>
              </a:rPr>
              <a:t> </a:t>
            </a:r>
            <a:r>
              <a:rPr sz="2000" dirty="0">
                <a:solidFill>
                  <a:schemeClr val="tx2">
                    <a:lumMod val="50000"/>
                  </a:schemeClr>
                </a:solidFill>
                <a:latin typeface="+mj-lt"/>
                <a:cs typeface="Microsoft Sans Serif"/>
              </a:rPr>
              <a:t>date = date du jour.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60780" y="286627"/>
            <a:ext cx="2840355" cy="756920"/>
          </a:xfrm>
          <a:prstGeom prst="rect">
            <a:avLst/>
          </a:prstGeom>
        </p:spPr>
        <p:txBody>
          <a:bodyPr vert="horz" wrap="square" lIns="0" tIns="12700" rIns="0" bIns="0" rtlCol="0">
            <a:spAutoFit/>
          </a:bodyPr>
          <a:lstStyle/>
          <a:p>
            <a:pPr marL="12700">
              <a:lnSpc>
                <a:spcPct val="100000"/>
              </a:lnSpc>
              <a:spcBef>
                <a:spcPts val="100"/>
              </a:spcBef>
            </a:pPr>
            <a:r>
              <a:rPr spc="70" dirty="0"/>
              <a:t>Opérations</a:t>
            </a:r>
          </a:p>
        </p:txBody>
      </p:sp>
      <p:sp>
        <p:nvSpPr>
          <p:cNvPr id="3" name="object 3"/>
          <p:cNvSpPr txBox="1"/>
          <p:nvPr/>
        </p:nvSpPr>
        <p:spPr>
          <a:xfrm>
            <a:off x="1295400" y="1524000"/>
            <a:ext cx="10134600" cy="2836673"/>
          </a:xfrm>
          <a:prstGeom prst="rect">
            <a:avLst/>
          </a:prstGeom>
        </p:spPr>
        <p:txBody>
          <a:bodyPr vert="horz" wrap="square" lIns="0" tIns="27939" rIns="0" bIns="0" rtlCol="0">
            <a:spAutoFit/>
          </a:bodyPr>
          <a:lstStyle/>
          <a:p>
            <a:pPr marL="304800" marR="5080" indent="-292100">
              <a:lnSpc>
                <a:spcPts val="3100"/>
              </a:lnSpc>
              <a:spcBef>
                <a:spcPts val="219"/>
              </a:spcBef>
              <a:buClr>
                <a:srgbClr val="DD7F46"/>
              </a:buClr>
              <a:buSzPct val="120000"/>
              <a:buFont typeface="Arial MT"/>
              <a:buChar char="•"/>
              <a:tabLst>
                <a:tab pos="304165" algn="l"/>
                <a:tab pos="304800" algn="l"/>
              </a:tabLst>
            </a:pPr>
            <a:r>
              <a:rPr sz="2000" dirty="0">
                <a:solidFill>
                  <a:schemeClr val="tx2"/>
                </a:solidFill>
                <a:latin typeface="+mj-lt"/>
                <a:cs typeface="Microsoft Sans Serif"/>
              </a:rPr>
              <a:t>La description complète d'une opération d’une classe  peut comporter un certain nombre de caractéristiques :</a:t>
            </a:r>
          </a:p>
          <a:p>
            <a:pPr marL="596900" lvl="1" indent="-254000">
              <a:lnSpc>
                <a:spcPct val="100000"/>
              </a:lnSpc>
              <a:spcBef>
                <a:spcPts val="480"/>
              </a:spcBef>
              <a:buClr>
                <a:srgbClr val="94B6D2"/>
              </a:buClr>
              <a:buSzPct val="120000"/>
              <a:buFont typeface="Arial MT"/>
              <a:buChar char="•"/>
              <a:tabLst>
                <a:tab pos="596265" algn="l"/>
                <a:tab pos="596900" algn="l"/>
              </a:tabLst>
            </a:pPr>
            <a:r>
              <a:rPr sz="2000" dirty="0">
                <a:solidFill>
                  <a:schemeClr val="tx2"/>
                </a:solidFill>
                <a:latin typeface="+mj-lt"/>
                <a:cs typeface="Microsoft Sans Serif"/>
              </a:rPr>
              <a:t>Nom opération</a:t>
            </a:r>
          </a:p>
          <a:p>
            <a:pPr marL="596900" marR="292735" lvl="1" indent="-254000">
              <a:lnSpc>
                <a:spcPts val="2800"/>
              </a:lnSpc>
              <a:spcBef>
                <a:spcPts val="680"/>
              </a:spcBef>
              <a:buClr>
                <a:srgbClr val="94B6D2"/>
              </a:buClr>
              <a:buSzPct val="120000"/>
              <a:buFont typeface="Arial MT"/>
              <a:buChar char="•"/>
              <a:tabLst>
                <a:tab pos="596265" algn="l"/>
                <a:tab pos="596900" algn="l"/>
                <a:tab pos="3771265" algn="l"/>
              </a:tabLst>
            </a:pPr>
            <a:r>
              <a:rPr sz="2000" dirty="0">
                <a:solidFill>
                  <a:schemeClr val="accent2">
                    <a:lumMod val="75000"/>
                  </a:schemeClr>
                </a:solidFill>
                <a:latin typeface="+mj-lt"/>
                <a:cs typeface="Microsoft Sans Serif"/>
              </a:rPr>
              <a:t>Paramètres : </a:t>
            </a:r>
            <a:r>
              <a:rPr sz="2000" dirty="0">
                <a:solidFill>
                  <a:schemeClr val="tx2"/>
                </a:solidFill>
                <a:latin typeface="+mj-lt"/>
                <a:cs typeface="Microsoft Sans Serif"/>
              </a:rPr>
              <a:t>chaque paramètre peut être décrit, en plus  de son nom, par son type	et sa valeur par défaut.  L’absence de paramètres est indiquée par ( ).</a:t>
            </a:r>
          </a:p>
          <a:p>
            <a:pPr marL="596900" marR="90170" lvl="1" indent="-254000">
              <a:lnSpc>
                <a:spcPts val="2900"/>
              </a:lnSpc>
              <a:spcBef>
                <a:spcPts val="720"/>
              </a:spcBef>
              <a:buClr>
                <a:srgbClr val="94B6D2"/>
              </a:buClr>
              <a:buSzPct val="120000"/>
              <a:buFont typeface="Arial MT"/>
              <a:buChar char="•"/>
              <a:tabLst>
                <a:tab pos="596265" algn="l"/>
                <a:tab pos="596900" algn="l"/>
              </a:tabLst>
            </a:pPr>
            <a:r>
              <a:rPr sz="2000" dirty="0">
                <a:solidFill>
                  <a:schemeClr val="accent2">
                    <a:lumMod val="75000"/>
                  </a:schemeClr>
                </a:solidFill>
                <a:latin typeface="+mj-lt"/>
                <a:cs typeface="Microsoft Sans Serif"/>
              </a:rPr>
              <a:t>Type résultat : </a:t>
            </a:r>
            <a:r>
              <a:rPr sz="2000" dirty="0">
                <a:solidFill>
                  <a:schemeClr val="tx2"/>
                </a:solidFill>
                <a:latin typeface="+mj-lt"/>
                <a:cs typeface="Microsoft Sans Serif"/>
              </a:rPr>
              <a:t>type de valeur retournée. Par défaut, une  opération ne retourne pas de valeur.</a:t>
            </a:r>
          </a:p>
        </p:txBody>
      </p:sp>
      <p:pic>
        <p:nvPicPr>
          <p:cNvPr id="4" name="object 4"/>
          <p:cNvPicPr/>
          <p:nvPr/>
        </p:nvPicPr>
        <p:blipFill>
          <a:blip r:embed="rId2" cstate="print"/>
          <a:stretch>
            <a:fillRect/>
          </a:stretch>
        </p:blipFill>
        <p:spPr>
          <a:xfrm>
            <a:off x="4878562" y="4915337"/>
            <a:ext cx="3234974" cy="10151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309880"/>
            <a:ext cx="4627880" cy="756920"/>
          </a:xfrm>
          <a:prstGeom prst="rect">
            <a:avLst/>
          </a:prstGeom>
        </p:spPr>
        <p:txBody>
          <a:bodyPr vert="horz" wrap="square" lIns="0" tIns="12700" rIns="0" bIns="0" rtlCol="0">
            <a:spAutoFit/>
          </a:bodyPr>
          <a:lstStyle/>
          <a:p>
            <a:pPr marL="12700">
              <a:lnSpc>
                <a:spcPct val="100000"/>
              </a:lnSpc>
              <a:spcBef>
                <a:spcPts val="100"/>
              </a:spcBef>
            </a:pPr>
            <a:r>
              <a:rPr spc="70" dirty="0" err="1"/>
              <a:t>Opérations</a:t>
            </a:r>
            <a:endParaRPr spc="80" dirty="0"/>
          </a:p>
        </p:txBody>
      </p:sp>
      <p:sp>
        <p:nvSpPr>
          <p:cNvPr id="3" name="object 3"/>
          <p:cNvSpPr txBox="1"/>
          <p:nvPr/>
        </p:nvSpPr>
        <p:spPr>
          <a:xfrm>
            <a:off x="1288748" y="1524000"/>
            <a:ext cx="9912651" cy="1772279"/>
          </a:xfrm>
          <a:prstGeom prst="rect">
            <a:avLst/>
          </a:prstGeom>
        </p:spPr>
        <p:txBody>
          <a:bodyPr vert="horz" wrap="square" lIns="0" tIns="27939" rIns="0" bIns="0" rtlCol="0">
            <a:spAutoFit/>
          </a:bodyPr>
          <a:lstStyle/>
          <a:p>
            <a:pPr marL="355600" marR="386080" indent="-342900">
              <a:lnSpc>
                <a:spcPts val="2600"/>
              </a:lnSpc>
              <a:spcBef>
                <a:spcPts val="219"/>
              </a:spcBef>
              <a:buClr>
                <a:srgbClr val="DD7F46"/>
              </a:buClr>
              <a:buSzPct val="120000"/>
              <a:buFont typeface="Arial" panose="020B0604020202020204" pitchFamily="34" charset="0"/>
              <a:buChar char="•"/>
              <a:tabLst>
                <a:tab pos="304165" algn="l"/>
                <a:tab pos="304800" algn="l"/>
                <a:tab pos="1015365" algn="l"/>
              </a:tabLst>
            </a:pPr>
            <a:r>
              <a:rPr sz="2000" dirty="0">
                <a:solidFill>
                  <a:srgbClr val="002060"/>
                </a:solidFill>
                <a:latin typeface="+mj-lt"/>
                <a:cs typeface="Microsoft Sans Serif"/>
              </a:rPr>
              <a:t>Une méthode est l’implémentation d’une opération sur une  classe. Ainsi, en spécifications et conception </a:t>
            </a:r>
            <a:r>
              <a:rPr sz="2000" dirty="0" err="1">
                <a:solidFill>
                  <a:srgbClr val="002060"/>
                </a:solidFill>
                <a:latin typeface="+mj-lt"/>
                <a:cs typeface="Microsoft Sans Serif"/>
              </a:rPr>
              <a:t>orientée</a:t>
            </a:r>
            <a:r>
              <a:rPr sz="2000" dirty="0">
                <a:solidFill>
                  <a:srgbClr val="002060"/>
                </a:solidFill>
                <a:latin typeface="+mj-lt"/>
                <a:cs typeface="Microsoft Sans Serif"/>
              </a:rPr>
              <a:t>  objet</a:t>
            </a:r>
            <a:r>
              <a:rPr lang="fr-FR" sz="2000" dirty="0">
                <a:solidFill>
                  <a:srgbClr val="002060"/>
                </a:solidFill>
                <a:latin typeface="+mj-lt"/>
                <a:cs typeface="Microsoft Sans Serif"/>
              </a:rPr>
              <a:t> </a:t>
            </a:r>
            <a:r>
              <a:rPr sz="2000" dirty="0">
                <a:solidFill>
                  <a:srgbClr val="002060"/>
                </a:solidFill>
                <a:latin typeface="+mj-lt"/>
                <a:cs typeface="Microsoft Sans Serif"/>
              </a:rPr>
              <a:t>(OMT, UML,...), on parle d’opérations et en  programmation orientée objet (JAVA, C++) on parle de  méthodes.</a:t>
            </a:r>
          </a:p>
          <a:p>
            <a:pPr marL="355600" marR="5080" indent="-342900">
              <a:lnSpc>
                <a:spcPts val="2600"/>
              </a:lnSpc>
              <a:spcBef>
                <a:spcPts val="600"/>
              </a:spcBef>
              <a:buClr>
                <a:srgbClr val="DD7F46"/>
              </a:buClr>
              <a:buSzPct val="120000"/>
              <a:buFont typeface="Arial" panose="020B0604020202020204" pitchFamily="34" charset="0"/>
              <a:buChar char="•"/>
              <a:tabLst>
                <a:tab pos="304165" algn="l"/>
                <a:tab pos="304800" algn="l"/>
              </a:tabLst>
            </a:pPr>
            <a:r>
              <a:rPr sz="2000" dirty="0">
                <a:solidFill>
                  <a:schemeClr val="accent2"/>
                </a:solidFill>
                <a:latin typeface="+mj-lt"/>
                <a:cs typeface="Microsoft Sans Serif"/>
              </a:rPr>
              <a:t>Exemple : </a:t>
            </a:r>
            <a:r>
              <a:rPr sz="2000" dirty="0">
                <a:solidFill>
                  <a:srgbClr val="002060"/>
                </a:solidFill>
                <a:latin typeface="+mj-lt"/>
                <a:cs typeface="Microsoft Sans Serif"/>
              </a:rPr>
              <a:t>La classe « Voiture » possède quatre opérations : «  démarrer() », « rouler() », « freiner() » et « arrêter() » sans  paramètre ni valeur de retour.</a:t>
            </a:r>
          </a:p>
        </p:txBody>
      </p:sp>
      <p:pic>
        <p:nvPicPr>
          <p:cNvPr id="4" name="object 4"/>
          <p:cNvPicPr/>
          <p:nvPr/>
        </p:nvPicPr>
        <p:blipFill>
          <a:blip r:embed="rId2" cstate="print"/>
          <a:stretch>
            <a:fillRect/>
          </a:stretch>
        </p:blipFill>
        <p:spPr>
          <a:xfrm>
            <a:off x="8458199" y="3124200"/>
            <a:ext cx="2743199" cy="3505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309880"/>
            <a:ext cx="9906000" cy="689932"/>
          </a:xfrm>
          <a:prstGeom prst="rect">
            <a:avLst/>
          </a:prstGeom>
        </p:spPr>
        <p:txBody>
          <a:bodyPr vert="horz" wrap="square" lIns="0" tIns="12700" rIns="0" bIns="0" rtlCol="0">
            <a:spAutoFit/>
          </a:bodyPr>
          <a:lstStyle/>
          <a:p>
            <a:pPr marL="12700">
              <a:lnSpc>
                <a:spcPct val="100000"/>
              </a:lnSpc>
              <a:spcBef>
                <a:spcPts val="100"/>
              </a:spcBef>
            </a:pPr>
            <a:r>
              <a:rPr lang="fr-FR" sz="4400" spc="70" dirty="0"/>
              <a:t>Visibilité des attributs et des opérations</a:t>
            </a:r>
            <a:endParaRPr sz="4400" spc="80" dirty="0"/>
          </a:p>
        </p:txBody>
      </p:sp>
      <p:sp>
        <p:nvSpPr>
          <p:cNvPr id="3" name="object 3"/>
          <p:cNvSpPr txBox="1"/>
          <p:nvPr/>
        </p:nvSpPr>
        <p:spPr>
          <a:xfrm>
            <a:off x="1288748" y="1524000"/>
            <a:ext cx="9912651" cy="2487603"/>
          </a:xfrm>
          <a:prstGeom prst="rect">
            <a:avLst/>
          </a:prstGeom>
        </p:spPr>
        <p:txBody>
          <a:bodyPr vert="horz" wrap="square" lIns="0" tIns="27939" rIns="0" bIns="0" rtlCol="0">
            <a:spAutoFit/>
          </a:bodyPr>
          <a:lstStyle/>
          <a:p>
            <a:pPr marL="304800" indent="-292100">
              <a:lnSpc>
                <a:spcPct val="100000"/>
              </a:lnSpc>
              <a:spcBef>
                <a:spcPts val="780"/>
              </a:spcBef>
              <a:buSzPct val="60000"/>
              <a:buFont typeface="Arial MT"/>
              <a:buChar char="•"/>
              <a:tabLst>
                <a:tab pos="304165" algn="l"/>
                <a:tab pos="304800" algn="l"/>
              </a:tabLst>
            </a:pPr>
            <a:r>
              <a:rPr lang="fr-FR" sz="2000" dirty="0">
                <a:solidFill>
                  <a:schemeClr val="bg2">
                    <a:lumMod val="10000"/>
                  </a:schemeClr>
                </a:solidFill>
                <a:latin typeface="+mj-lt"/>
                <a:cs typeface="Microsoft Sans Serif"/>
              </a:rPr>
              <a:t>Trois niveaux de visibilité pour les propriétés :</a:t>
            </a:r>
          </a:p>
          <a:p>
            <a:pPr marL="596900" marR="237490" lvl="1" indent="-254000">
              <a:lnSpc>
                <a:spcPts val="2600"/>
              </a:lnSpc>
              <a:spcBef>
                <a:spcPts val="720"/>
              </a:spcBef>
              <a:buClr>
                <a:srgbClr val="94B6D2"/>
              </a:buClr>
              <a:buSzPct val="68181"/>
              <a:buFont typeface="Arial MT"/>
              <a:buChar char="•"/>
              <a:tabLst>
                <a:tab pos="596265" algn="l"/>
                <a:tab pos="596900" algn="l"/>
              </a:tabLst>
            </a:pPr>
            <a:r>
              <a:rPr lang="fr-FR" sz="2000" dirty="0">
                <a:solidFill>
                  <a:schemeClr val="accent2">
                    <a:lumMod val="75000"/>
                  </a:schemeClr>
                </a:solidFill>
                <a:latin typeface="+mj-lt"/>
                <a:cs typeface="Microsoft Sans Serif"/>
              </a:rPr>
              <a:t>Public (+) : </a:t>
            </a:r>
            <a:r>
              <a:rPr lang="fr-FR" sz="2000" dirty="0">
                <a:solidFill>
                  <a:schemeClr val="bg2">
                    <a:lumMod val="10000"/>
                  </a:schemeClr>
                </a:solidFill>
                <a:latin typeface="+mj-lt"/>
                <a:cs typeface="Microsoft Sans Serif"/>
              </a:rPr>
              <a:t>C'est le niveau le plus faible; cela revient à se  passer de la notion d’encapsulation et à rendre visibles les  attributs et les opérations pour toutes les classes.</a:t>
            </a:r>
          </a:p>
          <a:p>
            <a:pPr marL="596900" marR="13335" lvl="1" indent="-254000">
              <a:lnSpc>
                <a:spcPct val="100400"/>
              </a:lnSpc>
              <a:spcBef>
                <a:spcPts val="370"/>
              </a:spcBef>
              <a:buClr>
                <a:srgbClr val="94B6D2"/>
              </a:buClr>
              <a:buSzPct val="68181"/>
              <a:buFont typeface="Arial MT"/>
              <a:buChar char="•"/>
              <a:tabLst>
                <a:tab pos="596265" algn="l"/>
                <a:tab pos="596900" algn="l"/>
              </a:tabLst>
            </a:pPr>
            <a:r>
              <a:rPr lang="fr-FR" sz="2000" dirty="0">
                <a:solidFill>
                  <a:schemeClr val="accent2">
                    <a:lumMod val="75000"/>
                  </a:schemeClr>
                </a:solidFill>
                <a:latin typeface="+mj-lt"/>
                <a:cs typeface="Microsoft Sans Serif"/>
              </a:rPr>
              <a:t>Protégé (#) : </a:t>
            </a:r>
            <a:r>
              <a:rPr lang="fr-FR" sz="2000" dirty="0">
                <a:solidFill>
                  <a:schemeClr val="bg2">
                    <a:lumMod val="10000"/>
                  </a:schemeClr>
                </a:solidFill>
                <a:latin typeface="+mj-lt"/>
                <a:cs typeface="Microsoft Sans Serif"/>
              </a:rPr>
              <a:t>C’est relâcher légèrement le niveau  d’encapsulation; l'attribut ou l'opération est visible seulement  à l’intérieur de la classe et pour toutes ses sous classes.</a:t>
            </a:r>
          </a:p>
          <a:p>
            <a:pPr marL="596900" marR="5080" lvl="1" indent="-254000">
              <a:lnSpc>
                <a:spcPts val="2600"/>
              </a:lnSpc>
              <a:spcBef>
                <a:spcPts val="580"/>
              </a:spcBef>
              <a:buClr>
                <a:srgbClr val="94B6D2"/>
              </a:buClr>
              <a:buSzPct val="68181"/>
              <a:buFont typeface="Arial MT"/>
              <a:buChar char="•"/>
              <a:tabLst>
                <a:tab pos="596265" algn="l"/>
                <a:tab pos="596900" algn="l"/>
                <a:tab pos="4736465" algn="l"/>
              </a:tabLst>
            </a:pPr>
            <a:r>
              <a:rPr lang="fr-FR" sz="2000" dirty="0">
                <a:solidFill>
                  <a:schemeClr val="accent2">
                    <a:lumMod val="75000"/>
                  </a:schemeClr>
                </a:solidFill>
                <a:latin typeface="+mj-lt"/>
                <a:cs typeface="Microsoft Sans Serif"/>
              </a:rPr>
              <a:t>Privé (-) : </a:t>
            </a:r>
            <a:r>
              <a:rPr lang="fr-FR" sz="2000" dirty="0">
                <a:solidFill>
                  <a:schemeClr val="bg2">
                    <a:lumMod val="10000"/>
                  </a:schemeClr>
                </a:solidFill>
                <a:latin typeface="+mj-lt"/>
                <a:cs typeface="Microsoft Sans Serif"/>
              </a:rPr>
              <a:t>C'est le niveau le plus fort; l'attribut ou l'opération  est visible seulement à l’intérieur de la classe.</a:t>
            </a:r>
          </a:p>
        </p:txBody>
      </p:sp>
    </p:spTree>
    <p:extLst>
      <p:ext uri="{BB962C8B-B14F-4D97-AF65-F5344CB8AC3E}">
        <p14:creationId xmlns:p14="http://schemas.microsoft.com/office/powerpoint/2010/main" val="3138707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4258" y="227397"/>
            <a:ext cx="8823325" cy="1028487"/>
          </a:xfrm>
          <a:prstGeom prst="rect">
            <a:avLst/>
          </a:prstGeom>
        </p:spPr>
        <p:txBody>
          <a:bodyPr vert="horz" wrap="square" lIns="0" tIns="12700" rIns="0" bIns="0" rtlCol="0">
            <a:spAutoFit/>
          </a:bodyPr>
          <a:lstStyle/>
          <a:p>
            <a:pPr marL="12700" rtl="0">
              <a:lnSpc>
                <a:spcPct val="100000"/>
              </a:lnSpc>
              <a:spcBef>
                <a:spcPts val="100"/>
              </a:spcBef>
              <a:tabLst>
                <a:tab pos="4253865" algn="l"/>
              </a:tabLst>
            </a:pPr>
            <a:r>
              <a:rPr lang="fr-FR" sz="3300" spc="70" dirty="0"/>
              <a:t>Vi</a:t>
            </a:r>
            <a:r>
              <a:rPr lang="fr-FR" sz="3300" spc="120" dirty="0"/>
              <a:t>s</a:t>
            </a:r>
            <a:r>
              <a:rPr lang="fr-FR" sz="3300" spc="70" dirty="0"/>
              <a:t>i</a:t>
            </a:r>
            <a:r>
              <a:rPr lang="fr-FR" sz="3300" spc="85" dirty="0"/>
              <a:t>b</a:t>
            </a:r>
            <a:r>
              <a:rPr lang="fr-FR" sz="3300" spc="70" dirty="0"/>
              <a:t>ili</a:t>
            </a:r>
            <a:r>
              <a:rPr lang="fr-FR" sz="3300" spc="114" dirty="0"/>
              <a:t>t</a:t>
            </a:r>
            <a:r>
              <a:rPr lang="fr-FR" sz="3300" dirty="0"/>
              <a:t>é</a:t>
            </a:r>
            <a:r>
              <a:rPr lang="fr-FR" sz="3300" spc="20" dirty="0"/>
              <a:t> </a:t>
            </a:r>
            <a:r>
              <a:rPr lang="fr-FR" sz="3300" spc="85" dirty="0"/>
              <a:t>d</a:t>
            </a:r>
            <a:r>
              <a:rPr lang="fr-FR" sz="3300" spc="70" dirty="0"/>
              <a:t>e</a:t>
            </a:r>
            <a:r>
              <a:rPr lang="fr-FR" sz="3300" dirty="0"/>
              <a:t>s</a:t>
            </a:r>
            <a:r>
              <a:rPr lang="fr-FR" sz="3300" spc="85" dirty="0"/>
              <a:t> </a:t>
            </a:r>
            <a:r>
              <a:rPr sz="3300" spc="45" dirty="0" err="1"/>
              <a:t>a</a:t>
            </a:r>
            <a:r>
              <a:rPr sz="3300" spc="10" dirty="0" err="1"/>
              <a:t>tt</a:t>
            </a:r>
            <a:r>
              <a:rPr sz="3300" spc="-40" dirty="0" err="1"/>
              <a:t>r</a:t>
            </a:r>
            <a:r>
              <a:rPr sz="3300" spc="-30" dirty="0" err="1"/>
              <a:t>i</a:t>
            </a:r>
            <a:r>
              <a:rPr sz="3300" spc="-20" dirty="0" err="1"/>
              <a:t>bu</a:t>
            </a:r>
            <a:r>
              <a:rPr sz="3300" spc="10" dirty="0" err="1"/>
              <a:t>t</a:t>
            </a:r>
            <a:r>
              <a:rPr sz="3300" dirty="0" err="1"/>
              <a:t>s</a:t>
            </a:r>
            <a:r>
              <a:rPr sz="3300" spc="185" dirty="0"/>
              <a:t> </a:t>
            </a:r>
            <a:r>
              <a:rPr sz="3300" spc="-135" dirty="0"/>
              <a:t>e</a:t>
            </a:r>
            <a:r>
              <a:rPr sz="3300" dirty="0"/>
              <a:t>t</a:t>
            </a:r>
            <a:r>
              <a:rPr sz="3300" spc="-135" dirty="0"/>
              <a:t> </a:t>
            </a:r>
            <a:r>
              <a:rPr sz="3300" spc="85" dirty="0"/>
              <a:t>d</a:t>
            </a:r>
            <a:r>
              <a:rPr sz="3300" spc="70" dirty="0"/>
              <a:t>e</a:t>
            </a:r>
            <a:r>
              <a:rPr sz="3300" dirty="0"/>
              <a:t>s</a:t>
            </a:r>
            <a:r>
              <a:rPr sz="3300" spc="-130" dirty="0"/>
              <a:t> </a:t>
            </a:r>
            <a:r>
              <a:rPr sz="3300" spc="75" dirty="0" err="1"/>
              <a:t>o</a:t>
            </a:r>
            <a:r>
              <a:rPr sz="3300" spc="80" dirty="0" err="1"/>
              <a:t>p</a:t>
            </a:r>
            <a:r>
              <a:rPr sz="3300" spc="70" dirty="0" err="1"/>
              <a:t>é</a:t>
            </a:r>
            <a:r>
              <a:rPr sz="3300" spc="-40" dirty="0" err="1"/>
              <a:t>r</a:t>
            </a:r>
            <a:r>
              <a:rPr sz="3300" spc="145" dirty="0" err="1"/>
              <a:t>a</a:t>
            </a:r>
            <a:r>
              <a:rPr sz="3300" spc="114" dirty="0" err="1"/>
              <a:t>t</a:t>
            </a:r>
            <a:r>
              <a:rPr sz="3300" spc="70" dirty="0" err="1"/>
              <a:t>i</a:t>
            </a:r>
            <a:r>
              <a:rPr sz="3300" spc="75" dirty="0" err="1"/>
              <a:t>o</a:t>
            </a:r>
            <a:r>
              <a:rPr sz="3300" spc="80" dirty="0" err="1"/>
              <a:t>n</a:t>
            </a:r>
            <a:r>
              <a:rPr sz="3300" dirty="0" err="1"/>
              <a:t>s</a:t>
            </a:r>
            <a:br>
              <a:rPr lang="fr-FR" sz="3300" dirty="0"/>
            </a:br>
            <a:endParaRPr sz="3300" dirty="0"/>
          </a:p>
        </p:txBody>
      </p:sp>
      <p:sp>
        <p:nvSpPr>
          <p:cNvPr id="3" name="object 3"/>
          <p:cNvSpPr txBox="1"/>
          <p:nvPr/>
        </p:nvSpPr>
        <p:spPr>
          <a:xfrm>
            <a:off x="1524000" y="1371600"/>
            <a:ext cx="9067800" cy="2266261"/>
          </a:xfrm>
          <a:prstGeom prst="rect">
            <a:avLst/>
          </a:prstGeom>
        </p:spPr>
        <p:txBody>
          <a:bodyPr vert="horz" wrap="square" lIns="0" tIns="88900" rIns="0" bIns="0" rtlCol="0">
            <a:spAutoFit/>
          </a:bodyPr>
          <a:lstStyle/>
          <a:p>
            <a:pPr marL="12700">
              <a:lnSpc>
                <a:spcPct val="100000"/>
              </a:lnSpc>
              <a:spcBef>
                <a:spcPts val="700"/>
              </a:spcBef>
              <a:buClr>
                <a:srgbClr val="DD7F46"/>
              </a:buClr>
              <a:buSzPct val="60000"/>
              <a:tabLst>
                <a:tab pos="304800" algn="l"/>
              </a:tabLst>
            </a:pPr>
            <a:r>
              <a:rPr lang="fr-FR" sz="2000" spc="85" dirty="0"/>
              <a:t>E</a:t>
            </a:r>
            <a:r>
              <a:rPr lang="fr-FR" sz="2000" spc="20" dirty="0"/>
              <a:t>x</a:t>
            </a:r>
            <a:r>
              <a:rPr lang="fr-FR" sz="2000" spc="65" dirty="0"/>
              <a:t>e</a:t>
            </a:r>
            <a:r>
              <a:rPr lang="fr-FR" sz="2000" spc="85" dirty="0"/>
              <a:t>m</a:t>
            </a:r>
            <a:r>
              <a:rPr lang="fr-FR" sz="2000" spc="80" dirty="0"/>
              <a:t>p</a:t>
            </a:r>
            <a:r>
              <a:rPr lang="fr-FR" sz="2000" spc="70" dirty="0"/>
              <a:t>l</a:t>
            </a:r>
            <a:r>
              <a:rPr lang="fr-FR" sz="2000" dirty="0"/>
              <a:t>e</a:t>
            </a:r>
            <a:r>
              <a:rPr lang="fr-FR" sz="2000" spc="20" dirty="0"/>
              <a:t> </a:t>
            </a:r>
            <a:r>
              <a:rPr lang="fr-FR" sz="2000" dirty="0"/>
              <a:t>:</a:t>
            </a:r>
            <a:endParaRPr lang="fr-FR" sz="2000" dirty="0">
              <a:solidFill>
                <a:schemeClr val="bg2">
                  <a:lumMod val="10000"/>
                </a:schemeClr>
              </a:solidFill>
              <a:latin typeface="+mj-lt"/>
              <a:cs typeface="Microsoft Sans Serif"/>
            </a:endParaRPr>
          </a:p>
          <a:p>
            <a:pPr marL="304800" indent="-292100">
              <a:lnSpc>
                <a:spcPct val="100000"/>
              </a:lnSpc>
              <a:spcBef>
                <a:spcPts val="700"/>
              </a:spcBef>
              <a:buClr>
                <a:srgbClr val="DD7F46"/>
              </a:buClr>
              <a:buSzPct val="60000"/>
              <a:buFont typeface="Wingdings"/>
              <a:buChar char=""/>
              <a:tabLst>
                <a:tab pos="304800" algn="l"/>
              </a:tabLst>
            </a:pPr>
            <a:r>
              <a:rPr sz="2000" dirty="0">
                <a:solidFill>
                  <a:schemeClr val="bg2">
                    <a:lumMod val="10000"/>
                  </a:schemeClr>
                </a:solidFill>
                <a:latin typeface="+mj-lt"/>
                <a:cs typeface="Microsoft Sans Serif"/>
              </a:rPr>
              <a:t>La classe Voiture possède cinq attributs.</a:t>
            </a:r>
          </a:p>
          <a:p>
            <a:pPr marL="304800" marR="335915" indent="-292100">
              <a:lnSpc>
                <a:spcPct val="103299"/>
              </a:lnSpc>
              <a:spcBef>
                <a:spcPts val="500"/>
              </a:spcBef>
              <a:buClr>
                <a:srgbClr val="DD7F46"/>
              </a:buClr>
              <a:buSzPct val="60000"/>
              <a:buFont typeface="Wingdings"/>
              <a:buChar char=""/>
              <a:tabLst>
                <a:tab pos="304800" algn="l"/>
              </a:tabLst>
            </a:pPr>
            <a:r>
              <a:rPr sz="2000" dirty="0">
                <a:solidFill>
                  <a:schemeClr val="bg2">
                    <a:lumMod val="10000"/>
                  </a:schemeClr>
                </a:solidFill>
                <a:latin typeface="+mj-lt"/>
                <a:cs typeface="Microsoft Sans Serif"/>
              </a:rPr>
              <a:t>Trois attributs sont des attributs publics : Marque, Puissance et Cylindrée.</a:t>
            </a:r>
          </a:p>
          <a:p>
            <a:pPr marL="304800" indent="-292100">
              <a:lnSpc>
                <a:spcPct val="100000"/>
              </a:lnSpc>
              <a:spcBef>
                <a:spcPts val="600"/>
              </a:spcBef>
              <a:buClr>
                <a:srgbClr val="DD7F46"/>
              </a:buClr>
              <a:buSzPct val="60000"/>
              <a:buFont typeface="Wingdings"/>
              <a:buChar char=""/>
              <a:tabLst>
                <a:tab pos="304800" algn="l"/>
              </a:tabLst>
            </a:pPr>
            <a:r>
              <a:rPr sz="2000" dirty="0">
                <a:solidFill>
                  <a:schemeClr val="bg2">
                    <a:lumMod val="10000"/>
                  </a:schemeClr>
                </a:solidFill>
                <a:latin typeface="+mj-lt"/>
                <a:cs typeface="Microsoft Sans Serif"/>
              </a:rPr>
              <a:t>L'attribut Année est un attribut protégé.</a:t>
            </a:r>
          </a:p>
          <a:p>
            <a:pPr marL="304800" marR="5080" indent="-292100">
              <a:lnSpc>
                <a:spcPct val="100000"/>
              </a:lnSpc>
              <a:spcBef>
                <a:spcPts val="700"/>
              </a:spcBef>
              <a:buClr>
                <a:srgbClr val="DD7F46"/>
              </a:buClr>
              <a:buSzPct val="60000"/>
              <a:buFont typeface="Wingdings"/>
              <a:buChar char=""/>
              <a:tabLst>
                <a:tab pos="304800" algn="l"/>
                <a:tab pos="3390265" algn="l"/>
              </a:tabLst>
            </a:pPr>
            <a:r>
              <a:rPr sz="2000" dirty="0" err="1">
                <a:solidFill>
                  <a:schemeClr val="bg2">
                    <a:lumMod val="10000"/>
                  </a:schemeClr>
                </a:solidFill>
                <a:latin typeface="+mj-lt"/>
                <a:cs typeface="Microsoft Sans Serif"/>
              </a:rPr>
              <a:t>L’attribut</a:t>
            </a:r>
            <a:r>
              <a:rPr sz="2000" dirty="0">
                <a:solidFill>
                  <a:schemeClr val="bg2">
                    <a:lumMod val="10000"/>
                  </a:schemeClr>
                </a:solidFill>
                <a:latin typeface="+mj-lt"/>
                <a:cs typeface="Microsoft Sans Serif"/>
              </a:rPr>
              <a:t> </a:t>
            </a:r>
            <a:r>
              <a:rPr sz="2000" dirty="0" err="1">
                <a:solidFill>
                  <a:schemeClr val="bg2">
                    <a:lumMod val="10000"/>
                  </a:schemeClr>
                </a:solidFill>
                <a:latin typeface="+mj-lt"/>
                <a:cs typeface="Microsoft Sans Serif"/>
              </a:rPr>
              <a:t>ChiffreAffaire</a:t>
            </a:r>
            <a:r>
              <a:rPr lang="fr-FR" sz="2000" dirty="0">
                <a:solidFill>
                  <a:schemeClr val="bg2">
                    <a:lumMod val="10000"/>
                  </a:schemeClr>
                </a:solidFill>
                <a:latin typeface="+mj-lt"/>
                <a:cs typeface="Microsoft Sans Serif"/>
              </a:rPr>
              <a:t> </a:t>
            </a:r>
            <a:r>
              <a:rPr sz="2000" dirty="0" err="1">
                <a:solidFill>
                  <a:schemeClr val="bg2">
                    <a:lumMod val="10000"/>
                  </a:schemeClr>
                </a:solidFill>
                <a:latin typeface="+mj-lt"/>
                <a:cs typeface="Microsoft Sans Serif"/>
              </a:rPr>
              <a:t>est</a:t>
            </a:r>
            <a:r>
              <a:rPr sz="2000" dirty="0">
                <a:solidFill>
                  <a:schemeClr val="bg2">
                    <a:lumMod val="10000"/>
                  </a:schemeClr>
                </a:solidFill>
                <a:latin typeface="+mj-lt"/>
                <a:cs typeface="Microsoft Sans Serif"/>
              </a:rPr>
              <a:t> un attribut privé, qui ne  sera visible qu'à l’intérieur de la classe.</a:t>
            </a:r>
          </a:p>
        </p:txBody>
      </p:sp>
      <p:pic>
        <p:nvPicPr>
          <p:cNvPr id="4" name="object 4"/>
          <p:cNvPicPr/>
          <p:nvPr/>
        </p:nvPicPr>
        <p:blipFill>
          <a:blip r:embed="rId2" cstate="print"/>
          <a:stretch>
            <a:fillRect/>
          </a:stretch>
        </p:blipFill>
        <p:spPr>
          <a:xfrm>
            <a:off x="7924800" y="3352800"/>
            <a:ext cx="2102783" cy="2743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2927350" cy="756920"/>
          </a:xfrm>
          <a:prstGeom prst="rect">
            <a:avLst/>
          </a:prstGeom>
        </p:spPr>
        <p:txBody>
          <a:bodyPr vert="horz" wrap="square" lIns="0" tIns="12700" rIns="0" bIns="0" rtlCol="0">
            <a:spAutoFit/>
          </a:bodyPr>
          <a:lstStyle/>
          <a:p>
            <a:pPr marL="12700">
              <a:lnSpc>
                <a:spcPct val="100000"/>
              </a:lnSpc>
              <a:spcBef>
                <a:spcPts val="100"/>
              </a:spcBef>
            </a:pPr>
            <a:r>
              <a:rPr spc="-105" dirty="0"/>
              <a:t>A</a:t>
            </a:r>
            <a:r>
              <a:rPr spc="-65" dirty="0"/>
              <a:t>s</a:t>
            </a:r>
            <a:r>
              <a:rPr spc="-60" dirty="0"/>
              <a:t>s</a:t>
            </a:r>
            <a:r>
              <a:rPr spc="-105" dirty="0"/>
              <a:t>o</a:t>
            </a:r>
            <a:r>
              <a:rPr spc="-145" dirty="0"/>
              <a:t>c</a:t>
            </a:r>
            <a:r>
              <a:rPr spc="-60" dirty="0"/>
              <a:t>ia</a:t>
            </a:r>
            <a:r>
              <a:rPr spc="-80" dirty="0"/>
              <a:t>t</a:t>
            </a:r>
            <a:r>
              <a:rPr spc="-60" dirty="0"/>
              <a:t>i</a:t>
            </a:r>
            <a:r>
              <a:rPr spc="-105" dirty="0"/>
              <a:t>o</a:t>
            </a:r>
            <a:r>
              <a:rPr spc="-100" dirty="0"/>
              <a:t>n</a:t>
            </a:r>
            <a:r>
              <a:rPr dirty="0"/>
              <a:t>s</a:t>
            </a:r>
          </a:p>
        </p:txBody>
      </p:sp>
      <p:sp>
        <p:nvSpPr>
          <p:cNvPr id="3" name="object 3"/>
          <p:cNvSpPr txBox="1"/>
          <p:nvPr/>
        </p:nvSpPr>
        <p:spPr>
          <a:xfrm>
            <a:off x="1084580" y="1281379"/>
            <a:ext cx="9512300" cy="1333500"/>
          </a:xfrm>
          <a:prstGeom prst="rect">
            <a:avLst/>
          </a:prstGeom>
        </p:spPr>
        <p:txBody>
          <a:bodyPr vert="horz" wrap="square" lIns="0" tIns="43180" rIns="0" bIns="0" rtlCol="0">
            <a:spAutoFit/>
          </a:bodyPr>
          <a:lstStyle/>
          <a:p>
            <a:pPr marL="101600" marR="553085" indent="-88900">
              <a:lnSpc>
                <a:spcPts val="2200"/>
              </a:lnSpc>
              <a:spcBef>
                <a:spcPts val="340"/>
              </a:spcBef>
              <a:buClr>
                <a:srgbClr val="E48312"/>
              </a:buClr>
              <a:buSzPct val="95000"/>
              <a:buFont typeface="Wingdings"/>
              <a:buChar char=""/>
              <a:tabLst>
                <a:tab pos="241300" algn="l"/>
              </a:tabLst>
            </a:pPr>
            <a:r>
              <a:rPr sz="2000" spc="15" dirty="0">
                <a:solidFill>
                  <a:srgbClr val="404040"/>
                </a:solidFill>
                <a:latin typeface="Calibri"/>
                <a:cs typeface="Calibri"/>
              </a:rPr>
              <a:t>Traduisent</a:t>
            </a:r>
            <a:r>
              <a:rPr sz="2000" spc="-225" dirty="0">
                <a:solidFill>
                  <a:srgbClr val="404040"/>
                </a:solidFill>
                <a:latin typeface="Calibri"/>
                <a:cs typeface="Calibri"/>
              </a:rPr>
              <a:t> </a:t>
            </a:r>
            <a:r>
              <a:rPr sz="2000" spc="10" dirty="0">
                <a:solidFill>
                  <a:srgbClr val="404040"/>
                </a:solidFill>
                <a:latin typeface="Calibri"/>
                <a:cs typeface="Calibri"/>
              </a:rPr>
              <a:t>les</a:t>
            </a:r>
            <a:r>
              <a:rPr sz="2000" spc="-130" dirty="0">
                <a:solidFill>
                  <a:srgbClr val="404040"/>
                </a:solidFill>
                <a:latin typeface="Calibri"/>
                <a:cs typeface="Calibri"/>
              </a:rPr>
              <a:t> </a:t>
            </a:r>
            <a:r>
              <a:rPr sz="2000" spc="25" dirty="0">
                <a:solidFill>
                  <a:srgbClr val="404040"/>
                </a:solidFill>
                <a:latin typeface="Calibri"/>
                <a:cs typeface="Calibri"/>
              </a:rPr>
              <a:t>relations</a:t>
            </a:r>
            <a:r>
              <a:rPr sz="2000" spc="-130" dirty="0">
                <a:solidFill>
                  <a:srgbClr val="404040"/>
                </a:solidFill>
                <a:latin typeface="Calibri"/>
                <a:cs typeface="Calibri"/>
              </a:rPr>
              <a:t> </a:t>
            </a:r>
            <a:r>
              <a:rPr sz="2000" spc="10" dirty="0">
                <a:solidFill>
                  <a:srgbClr val="404040"/>
                </a:solidFill>
                <a:latin typeface="Calibri"/>
                <a:cs typeface="Calibri"/>
              </a:rPr>
              <a:t>sémantiques</a:t>
            </a:r>
            <a:r>
              <a:rPr sz="2000" spc="-235" dirty="0">
                <a:solidFill>
                  <a:srgbClr val="404040"/>
                </a:solidFill>
                <a:latin typeface="Calibri"/>
                <a:cs typeface="Calibri"/>
              </a:rPr>
              <a:t> </a:t>
            </a:r>
            <a:r>
              <a:rPr sz="2000" spc="15" dirty="0">
                <a:solidFill>
                  <a:srgbClr val="404040"/>
                </a:solidFill>
                <a:latin typeface="Calibri"/>
                <a:cs typeface="Calibri"/>
              </a:rPr>
              <a:t>entre</a:t>
            </a:r>
            <a:r>
              <a:rPr sz="2000" spc="-145" dirty="0">
                <a:solidFill>
                  <a:srgbClr val="404040"/>
                </a:solidFill>
                <a:latin typeface="Calibri"/>
                <a:cs typeface="Calibri"/>
              </a:rPr>
              <a:t> </a:t>
            </a:r>
            <a:r>
              <a:rPr sz="2000" spc="20" dirty="0">
                <a:solidFill>
                  <a:srgbClr val="404040"/>
                </a:solidFill>
                <a:latin typeface="Calibri"/>
                <a:cs typeface="Calibri"/>
              </a:rPr>
              <a:t>deux</a:t>
            </a:r>
            <a:r>
              <a:rPr sz="2000" spc="-114" dirty="0">
                <a:solidFill>
                  <a:srgbClr val="404040"/>
                </a:solidFill>
                <a:latin typeface="Calibri"/>
                <a:cs typeface="Calibri"/>
              </a:rPr>
              <a:t> </a:t>
            </a:r>
            <a:r>
              <a:rPr sz="2000" spc="20" dirty="0">
                <a:solidFill>
                  <a:srgbClr val="404040"/>
                </a:solidFill>
                <a:latin typeface="Calibri"/>
                <a:cs typeface="Calibri"/>
              </a:rPr>
              <a:t>ou</a:t>
            </a:r>
            <a:r>
              <a:rPr sz="2000" spc="-100" dirty="0">
                <a:solidFill>
                  <a:srgbClr val="404040"/>
                </a:solidFill>
                <a:latin typeface="Calibri"/>
                <a:cs typeface="Calibri"/>
              </a:rPr>
              <a:t> </a:t>
            </a:r>
            <a:r>
              <a:rPr sz="2000" spc="25" dirty="0">
                <a:solidFill>
                  <a:srgbClr val="404040"/>
                </a:solidFill>
                <a:latin typeface="Calibri"/>
                <a:cs typeface="Calibri"/>
              </a:rPr>
              <a:t>plusieurs</a:t>
            </a:r>
            <a:r>
              <a:rPr sz="2000" spc="-135" dirty="0">
                <a:solidFill>
                  <a:srgbClr val="404040"/>
                </a:solidFill>
                <a:latin typeface="Calibri"/>
                <a:cs typeface="Calibri"/>
              </a:rPr>
              <a:t> </a:t>
            </a:r>
            <a:r>
              <a:rPr sz="2000" spc="5" dirty="0">
                <a:solidFill>
                  <a:srgbClr val="404040"/>
                </a:solidFill>
                <a:latin typeface="Calibri"/>
                <a:cs typeface="Calibri"/>
              </a:rPr>
              <a:t>classes</a:t>
            </a:r>
            <a:r>
              <a:rPr sz="2000" spc="-130" dirty="0">
                <a:solidFill>
                  <a:srgbClr val="404040"/>
                </a:solidFill>
                <a:latin typeface="Calibri"/>
                <a:cs typeface="Calibri"/>
              </a:rPr>
              <a:t> </a:t>
            </a:r>
            <a:r>
              <a:rPr sz="2000" dirty="0">
                <a:solidFill>
                  <a:srgbClr val="404040"/>
                </a:solidFill>
                <a:latin typeface="Calibri"/>
                <a:cs typeface="Calibri"/>
              </a:rPr>
              <a:t>et</a:t>
            </a:r>
            <a:r>
              <a:rPr sz="2000" spc="-20" dirty="0">
                <a:solidFill>
                  <a:srgbClr val="404040"/>
                </a:solidFill>
                <a:latin typeface="Calibri"/>
                <a:cs typeface="Calibri"/>
              </a:rPr>
              <a:t> </a:t>
            </a:r>
            <a:r>
              <a:rPr sz="2000" spc="15" dirty="0">
                <a:solidFill>
                  <a:srgbClr val="404040"/>
                </a:solidFill>
                <a:latin typeface="Calibri"/>
                <a:cs typeface="Calibri"/>
              </a:rPr>
              <a:t>spécifiant</a:t>
            </a:r>
            <a:r>
              <a:rPr sz="2000" spc="-120" dirty="0">
                <a:solidFill>
                  <a:srgbClr val="404040"/>
                </a:solidFill>
                <a:latin typeface="Calibri"/>
                <a:cs typeface="Calibri"/>
              </a:rPr>
              <a:t> </a:t>
            </a:r>
            <a:r>
              <a:rPr sz="2000" spc="10" dirty="0">
                <a:solidFill>
                  <a:srgbClr val="404040"/>
                </a:solidFill>
                <a:latin typeface="Calibri"/>
                <a:cs typeface="Calibri"/>
              </a:rPr>
              <a:t>les </a:t>
            </a:r>
            <a:r>
              <a:rPr sz="2000" spc="-434" dirty="0">
                <a:solidFill>
                  <a:srgbClr val="404040"/>
                </a:solidFill>
                <a:latin typeface="Calibri"/>
                <a:cs typeface="Calibri"/>
              </a:rPr>
              <a:t> </a:t>
            </a:r>
            <a:r>
              <a:rPr sz="2000" spc="15" dirty="0">
                <a:solidFill>
                  <a:srgbClr val="404040"/>
                </a:solidFill>
                <a:latin typeface="Calibri"/>
                <a:cs typeface="Calibri"/>
              </a:rPr>
              <a:t>connections</a:t>
            </a:r>
            <a:r>
              <a:rPr sz="2000" spc="-140" dirty="0">
                <a:solidFill>
                  <a:srgbClr val="404040"/>
                </a:solidFill>
                <a:latin typeface="Calibri"/>
                <a:cs typeface="Calibri"/>
              </a:rPr>
              <a:t> </a:t>
            </a:r>
            <a:r>
              <a:rPr sz="2000" spc="15" dirty="0">
                <a:solidFill>
                  <a:srgbClr val="404040"/>
                </a:solidFill>
                <a:latin typeface="Calibri"/>
                <a:cs typeface="Calibri"/>
              </a:rPr>
              <a:t>entre</a:t>
            </a:r>
            <a:r>
              <a:rPr sz="2000" spc="-150" dirty="0">
                <a:solidFill>
                  <a:srgbClr val="404040"/>
                </a:solidFill>
                <a:latin typeface="Calibri"/>
                <a:cs typeface="Calibri"/>
              </a:rPr>
              <a:t> </a:t>
            </a:r>
            <a:r>
              <a:rPr sz="2000" spc="15" dirty="0">
                <a:solidFill>
                  <a:srgbClr val="404040"/>
                </a:solidFill>
                <a:latin typeface="Calibri"/>
                <a:cs typeface="Calibri"/>
              </a:rPr>
              <a:t>leurs</a:t>
            </a:r>
            <a:r>
              <a:rPr sz="2000" spc="-135" dirty="0">
                <a:solidFill>
                  <a:srgbClr val="404040"/>
                </a:solidFill>
                <a:latin typeface="Calibri"/>
                <a:cs typeface="Calibri"/>
              </a:rPr>
              <a:t> </a:t>
            </a:r>
            <a:r>
              <a:rPr sz="2000" spc="15" dirty="0">
                <a:solidFill>
                  <a:srgbClr val="404040"/>
                </a:solidFill>
                <a:latin typeface="Calibri"/>
                <a:cs typeface="Calibri"/>
              </a:rPr>
              <a:t>instances.</a:t>
            </a:r>
            <a:endParaRPr sz="2000" dirty="0">
              <a:latin typeface="Calibri"/>
              <a:cs typeface="Calibri"/>
            </a:endParaRPr>
          </a:p>
          <a:p>
            <a:pPr marL="101600" marR="5080" indent="-88900">
              <a:lnSpc>
                <a:spcPts val="2100"/>
              </a:lnSpc>
              <a:spcBef>
                <a:spcPts val="1480"/>
              </a:spcBef>
              <a:buClr>
                <a:srgbClr val="E48312"/>
              </a:buClr>
              <a:buSzPct val="95000"/>
              <a:buFont typeface="Wingdings"/>
              <a:buChar char=""/>
              <a:tabLst>
                <a:tab pos="241300" algn="l"/>
              </a:tabLst>
            </a:pPr>
            <a:r>
              <a:rPr sz="2000" spc="25" dirty="0">
                <a:solidFill>
                  <a:srgbClr val="404040"/>
                </a:solidFill>
                <a:latin typeface="Calibri"/>
                <a:cs typeface="Calibri"/>
              </a:rPr>
              <a:t>Relation</a:t>
            </a:r>
            <a:r>
              <a:rPr sz="2000" spc="-105" dirty="0">
                <a:solidFill>
                  <a:srgbClr val="404040"/>
                </a:solidFill>
                <a:latin typeface="Calibri"/>
                <a:cs typeface="Calibri"/>
              </a:rPr>
              <a:t> </a:t>
            </a:r>
            <a:r>
              <a:rPr sz="2000" spc="5" dirty="0">
                <a:solidFill>
                  <a:srgbClr val="404040"/>
                </a:solidFill>
                <a:latin typeface="Calibri"/>
                <a:cs typeface="Calibri"/>
              </a:rPr>
              <a:t>structurelle</a:t>
            </a:r>
            <a:r>
              <a:rPr sz="2000" spc="-145" dirty="0">
                <a:solidFill>
                  <a:srgbClr val="404040"/>
                </a:solidFill>
                <a:latin typeface="Calibri"/>
                <a:cs typeface="Calibri"/>
              </a:rPr>
              <a:t> </a:t>
            </a:r>
            <a:r>
              <a:rPr sz="2000" spc="15" dirty="0">
                <a:solidFill>
                  <a:srgbClr val="404040"/>
                </a:solidFill>
                <a:latin typeface="Calibri"/>
                <a:cs typeface="Calibri"/>
              </a:rPr>
              <a:t>spécifiant</a:t>
            </a:r>
            <a:r>
              <a:rPr sz="2000" spc="-120" dirty="0">
                <a:solidFill>
                  <a:srgbClr val="404040"/>
                </a:solidFill>
                <a:latin typeface="Calibri"/>
                <a:cs typeface="Calibri"/>
              </a:rPr>
              <a:t> </a:t>
            </a:r>
            <a:r>
              <a:rPr sz="2000" spc="30" dirty="0">
                <a:solidFill>
                  <a:srgbClr val="404040"/>
                </a:solidFill>
                <a:latin typeface="Calibri"/>
                <a:cs typeface="Calibri"/>
              </a:rPr>
              <a:t>que</a:t>
            </a:r>
            <a:r>
              <a:rPr sz="2000" spc="-145" dirty="0">
                <a:solidFill>
                  <a:srgbClr val="404040"/>
                </a:solidFill>
                <a:latin typeface="Calibri"/>
                <a:cs typeface="Calibri"/>
              </a:rPr>
              <a:t> </a:t>
            </a:r>
            <a:r>
              <a:rPr sz="2000" spc="10" dirty="0">
                <a:solidFill>
                  <a:srgbClr val="404040"/>
                </a:solidFill>
                <a:latin typeface="Calibri"/>
                <a:cs typeface="Calibri"/>
              </a:rPr>
              <a:t>les</a:t>
            </a:r>
            <a:r>
              <a:rPr sz="2000" spc="-130" dirty="0">
                <a:solidFill>
                  <a:srgbClr val="404040"/>
                </a:solidFill>
                <a:latin typeface="Calibri"/>
                <a:cs typeface="Calibri"/>
              </a:rPr>
              <a:t> </a:t>
            </a:r>
            <a:r>
              <a:rPr sz="2000" spc="20" dirty="0">
                <a:solidFill>
                  <a:srgbClr val="404040"/>
                </a:solidFill>
                <a:latin typeface="Calibri"/>
                <a:cs typeface="Calibri"/>
              </a:rPr>
              <a:t>objets</a:t>
            </a:r>
            <a:r>
              <a:rPr sz="2000" spc="-130" dirty="0">
                <a:solidFill>
                  <a:srgbClr val="404040"/>
                </a:solidFill>
                <a:latin typeface="Calibri"/>
                <a:cs typeface="Calibri"/>
              </a:rPr>
              <a:t> </a:t>
            </a:r>
            <a:r>
              <a:rPr sz="2000" spc="20" dirty="0">
                <a:solidFill>
                  <a:srgbClr val="404040"/>
                </a:solidFill>
                <a:latin typeface="Calibri"/>
                <a:cs typeface="Calibri"/>
              </a:rPr>
              <a:t>d’un</a:t>
            </a:r>
            <a:r>
              <a:rPr sz="2000" spc="-105" dirty="0">
                <a:solidFill>
                  <a:srgbClr val="404040"/>
                </a:solidFill>
                <a:latin typeface="Calibri"/>
                <a:cs typeface="Calibri"/>
              </a:rPr>
              <a:t> </a:t>
            </a:r>
            <a:r>
              <a:rPr sz="2000" spc="15" dirty="0">
                <a:solidFill>
                  <a:srgbClr val="404040"/>
                </a:solidFill>
                <a:latin typeface="Calibri"/>
                <a:cs typeface="Calibri"/>
              </a:rPr>
              <a:t>type</a:t>
            </a:r>
            <a:r>
              <a:rPr sz="2000" spc="-145" dirty="0">
                <a:solidFill>
                  <a:srgbClr val="404040"/>
                </a:solidFill>
                <a:latin typeface="Calibri"/>
                <a:cs typeface="Calibri"/>
              </a:rPr>
              <a:t> </a:t>
            </a:r>
            <a:r>
              <a:rPr sz="2000" spc="25" dirty="0">
                <a:solidFill>
                  <a:srgbClr val="404040"/>
                </a:solidFill>
                <a:latin typeface="Calibri"/>
                <a:cs typeface="Calibri"/>
              </a:rPr>
              <a:t>sont</a:t>
            </a:r>
            <a:r>
              <a:rPr sz="2000" spc="-120" dirty="0">
                <a:solidFill>
                  <a:srgbClr val="404040"/>
                </a:solidFill>
                <a:latin typeface="Calibri"/>
                <a:cs typeface="Calibri"/>
              </a:rPr>
              <a:t> </a:t>
            </a:r>
            <a:r>
              <a:rPr sz="2000" spc="5" dirty="0">
                <a:solidFill>
                  <a:srgbClr val="404040"/>
                </a:solidFill>
                <a:latin typeface="Calibri"/>
                <a:cs typeface="Calibri"/>
              </a:rPr>
              <a:t>connectés</a:t>
            </a:r>
            <a:r>
              <a:rPr sz="2000" spc="-130" dirty="0">
                <a:solidFill>
                  <a:srgbClr val="404040"/>
                </a:solidFill>
                <a:latin typeface="Calibri"/>
                <a:cs typeface="Calibri"/>
              </a:rPr>
              <a:t> </a:t>
            </a:r>
            <a:r>
              <a:rPr sz="2000" dirty="0">
                <a:solidFill>
                  <a:srgbClr val="404040"/>
                </a:solidFill>
                <a:latin typeface="Calibri"/>
                <a:cs typeface="Calibri"/>
              </a:rPr>
              <a:t>à</a:t>
            </a:r>
            <a:r>
              <a:rPr sz="2000" spc="-10" dirty="0">
                <a:solidFill>
                  <a:srgbClr val="404040"/>
                </a:solidFill>
                <a:latin typeface="Calibri"/>
                <a:cs typeface="Calibri"/>
              </a:rPr>
              <a:t> </a:t>
            </a:r>
            <a:r>
              <a:rPr sz="2000" spc="15" dirty="0">
                <a:solidFill>
                  <a:srgbClr val="404040"/>
                </a:solidFill>
                <a:latin typeface="Calibri"/>
                <a:cs typeface="Calibri"/>
              </a:rPr>
              <a:t>des</a:t>
            </a:r>
            <a:r>
              <a:rPr sz="2000" spc="-30" dirty="0">
                <a:solidFill>
                  <a:srgbClr val="404040"/>
                </a:solidFill>
                <a:latin typeface="Calibri"/>
                <a:cs typeface="Calibri"/>
              </a:rPr>
              <a:t> </a:t>
            </a:r>
            <a:r>
              <a:rPr sz="2000" spc="20" dirty="0" err="1">
                <a:solidFill>
                  <a:srgbClr val="404040"/>
                </a:solidFill>
                <a:latin typeface="Calibri"/>
                <a:cs typeface="Calibri"/>
              </a:rPr>
              <a:t>objets</a:t>
            </a:r>
            <a:r>
              <a:rPr sz="2000" spc="-130" dirty="0">
                <a:solidFill>
                  <a:srgbClr val="404040"/>
                </a:solidFill>
                <a:latin typeface="Calibri"/>
                <a:cs typeface="Calibri"/>
              </a:rPr>
              <a:t> </a:t>
            </a:r>
            <a:r>
              <a:rPr sz="2000" spc="25" dirty="0">
                <a:solidFill>
                  <a:srgbClr val="404040"/>
                </a:solidFill>
                <a:latin typeface="Calibri"/>
                <a:cs typeface="Calibri"/>
              </a:rPr>
              <a:t>d’un </a:t>
            </a:r>
            <a:r>
              <a:rPr sz="2000" spc="-434" dirty="0">
                <a:solidFill>
                  <a:srgbClr val="404040"/>
                </a:solidFill>
                <a:latin typeface="Calibri"/>
                <a:cs typeface="Calibri"/>
              </a:rPr>
              <a:t> </a:t>
            </a:r>
            <a:r>
              <a:rPr sz="2000" spc="20" dirty="0">
                <a:solidFill>
                  <a:srgbClr val="404040"/>
                </a:solidFill>
                <a:latin typeface="Calibri"/>
                <a:cs typeface="Calibri"/>
              </a:rPr>
              <a:t>autre</a:t>
            </a:r>
            <a:r>
              <a:rPr sz="2000" spc="-155" dirty="0">
                <a:solidFill>
                  <a:srgbClr val="404040"/>
                </a:solidFill>
                <a:latin typeface="Calibri"/>
                <a:cs typeface="Calibri"/>
              </a:rPr>
              <a:t> </a:t>
            </a:r>
            <a:r>
              <a:rPr sz="2000" spc="10" dirty="0">
                <a:solidFill>
                  <a:srgbClr val="404040"/>
                </a:solidFill>
                <a:latin typeface="Calibri"/>
                <a:cs typeface="Calibri"/>
              </a:rPr>
              <a:t>type.</a:t>
            </a:r>
            <a:endParaRPr sz="2000" dirty="0">
              <a:latin typeface="Calibri"/>
              <a:cs typeface="Calibri"/>
            </a:endParaRPr>
          </a:p>
        </p:txBody>
      </p:sp>
      <p:grpSp>
        <p:nvGrpSpPr>
          <p:cNvPr id="4" name="object 4"/>
          <p:cNvGrpSpPr/>
          <p:nvPr/>
        </p:nvGrpSpPr>
        <p:grpSpPr>
          <a:xfrm>
            <a:off x="7251700" y="4368800"/>
            <a:ext cx="1282700" cy="1092200"/>
            <a:chOff x="7251700" y="4368800"/>
            <a:chExt cx="1282700" cy="1092200"/>
          </a:xfrm>
        </p:grpSpPr>
        <p:pic>
          <p:nvPicPr>
            <p:cNvPr id="5" name="object 5"/>
            <p:cNvPicPr/>
            <p:nvPr/>
          </p:nvPicPr>
          <p:blipFill>
            <a:blip r:embed="rId2" cstate="print"/>
            <a:stretch>
              <a:fillRect/>
            </a:stretch>
          </p:blipFill>
          <p:spPr>
            <a:xfrm>
              <a:off x="7251700" y="4971027"/>
              <a:ext cx="131804" cy="129698"/>
            </a:xfrm>
            <a:prstGeom prst="rect">
              <a:avLst/>
            </a:prstGeom>
          </p:spPr>
        </p:pic>
        <p:sp>
          <p:nvSpPr>
            <p:cNvPr id="6" name="object 6"/>
            <p:cNvSpPr/>
            <p:nvPr/>
          </p:nvSpPr>
          <p:spPr>
            <a:xfrm>
              <a:off x="7303198" y="4368799"/>
              <a:ext cx="1231265" cy="1092835"/>
            </a:xfrm>
            <a:custGeom>
              <a:avLst/>
              <a:gdLst/>
              <a:ahLst/>
              <a:cxnLst/>
              <a:rect l="l" t="t" r="r" b="b"/>
              <a:pathLst>
                <a:path w="1231265" h="1092835">
                  <a:moveTo>
                    <a:pt x="1230947" y="6832"/>
                  </a:moveTo>
                  <a:lnTo>
                    <a:pt x="1224876" y="0"/>
                  </a:lnTo>
                  <a:lnTo>
                    <a:pt x="618121" y="0"/>
                  </a:lnTo>
                  <a:lnTo>
                    <a:pt x="618121" y="28829"/>
                  </a:lnTo>
                  <a:lnTo>
                    <a:pt x="1202156" y="28829"/>
                  </a:lnTo>
                  <a:lnTo>
                    <a:pt x="1202156" y="1063383"/>
                  </a:lnTo>
                  <a:lnTo>
                    <a:pt x="28028" y="1063383"/>
                  </a:lnTo>
                  <a:lnTo>
                    <a:pt x="28028" y="681951"/>
                  </a:lnTo>
                  <a:lnTo>
                    <a:pt x="26517" y="679323"/>
                  </a:lnTo>
                  <a:lnTo>
                    <a:pt x="26517" y="637120"/>
                  </a:lnTo>
                  <a:lnTo>
                    <a:pt x="2273" y="637120"/>
                  </a:lnTo>
                  <a:lnTo>
                    <a:pt x="2273" y="678675"/>
                  </a:lnTo>
                  <a:lnTo>
                    <a:pt x="0" y="682574"/>
                  </a:lnTo>
                  <a:lnTo>
                    <a:pt x="0" y="1085380"/>
                  </a:lnTo>
                  <a:lnTo>
                    <a:pt x="6070" y="1092212"/>
                  </a:lnTo>
                  <a:lnTo>
                    <a:pt x="14401" y="1092212"/>
                  </a:lnTo>
                  <a:lnTo>
                    <a:pt x="28028" y="1092212"/>
                  </a:lnTo>
                  <a:lnTo>
                    <a:pt x="1202156" y="1092212"/>
                  </a:lnTo>
                  <a:lnTo>
                    <a:pt x="1216545" y="1092212"/>
                  </a:lnTo>
                  <a:lnTo>
                    <a:pt x="1224876" y="1092212"/>
                  </a:lnTo>
                  <a:lnTo>
                    <a:pt x="1230947" y="1085380"/>
                  </a:lnTo>
                  <a:lnTo>
                    <a:pt x="1230947" y="6832"/>
                  </a:lnTo>
                  <a:close/>
                </a:path>
              </a:pathLst>
            </a:custGeom>
            <a:solidFill>
              <a:srgbClr val="000000"/>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2252465" y="3774194"/>
          <a:ext cx="3390265" cy="1178168"/>
        </p:xfrm>
        <a:graphic>
          <a:graphicData uri="http://schemas.openxmlformats.org/drawingml/2006/table">
            <a:tbl>
              <a:tblPr firstRow="1" bandRow="1">
                <a:tableStyleId>{2D5ABB26-0587-4C30-8999-92F81FD0307C}</a:tableStyleId>
              </a:tblPr>
              <a:tblGrid>
                <a:gridCol w="124269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1242695">
                  <a:extLst>
                    <a:ext uri="{9D8B030D-6E8A-4147-A177-3AD203B41FA5}">
                      <a16:colId xmlns:a16="http://schemas.microsoft.com/office/drawing/2014/main" val="20002"/>
                    </a:ext>
                  </a:extLst>
                </a:gridCol>
              </a:tblGrid>
              <a:tr h="592322">
                <a:tc rowSpan="2">
                  <a:txBody>
                    <a:bodyPr/>
                    <a:lstStyle/>
                    <a:p>
                      <a:pPr>
                        <a:lnSpc>
                          <a:spcPct val="100000"/>
                        </a:lnSpc>
                        <a:spcBef>
                          <a:spcPts val="10"/>
                        </a:spcBef>
                      </a:pPr>
                      <a:endParaRPr sz="1850">
                        <a:latin typeface="Times New Roman"/>
                        <a:cs typeface="Times New Roman"/>
                      </a:endParaRPr>
                    </a:p>
                    <a:p>
                      <a:pPr marL="210820">
                        <a:lnSpc>
                          <a:spcPct val="100000"/>
                        </a:lnSpc>
                        <a:spcBef>
                          <a:spcPts val="5"/>
                        </a:spcBef>
                      </a:pPr>
                      <a:r>
                        <a:rPr sz="1800" spc="-5" dirty="0">
                          <a:latin typeface="Arial MT"/>
                          <a:cs typeface="Arial MT"/>
                        </a:rPr>
                        <a:t>Student</a:t>
                      </a:r>
                      <a:endParaRPr sz="1800">
                        <a:latin typeface="Arial MT"/>
                        <a:cs typeface="Arial MT"/>
                      </a:endParaRPr>
                    </a:p>
                  </a:txBody>
                  <a:tcPr marL="0" marR="0" marT="1270" marB="0">
                    <a:lnL w="6350">
                      <a:solidFill>
                        <a:srgbClr val="000000"/>
                      </a:solidFill>
                      <a:prstDash val="solid"/>
                    </a:lnL>
                    <a:lnR w="6350">
                      <a:solidFill>
                        <a:srgbClr val="000000"/>
                      </a:solidFill>
                      <a:prstDash val="solid"/>
                    </a:lnR>
                    <a:lnB w="1905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B w="28575">
                      <a:solidFill>
                        <a:srgbClr val="000000"/>
                      </a:solidFill>
                      <a:prstDash val="solid"/>
                    </a:lnB>
                  </a:tcPr>
                </a:tc>
                <a:tc rowSpan="2">
                  <a:txBody>
                    <a:bodyPr/>
                    <a:lstStyle/>
                    <a:p>
                      <a:pPr>
                        <a:lnSpc>
                          <a:spcPct val="100000"/>
                        </a:lnSpc>
                        <a:spcBef>
                          <a:spcPts val="10"/>
                        </a:spcBef>
                      </a:pPr>
                      <a:endParaRPr sz="1850">
                        <a:latin typeface="Times New Roman"/>
                        <a:cs typeface="Times New Roman"/>
                      </a:endParaRPr>
                    </a:p>
                    <a:p>
                      <a:pPr marL="145415">
                        <a:lnSpc>
                          <a:spcPct val="100000"/>
                        </a:lnSpc>
                        <a:spcBef>
                          <a:spcPts val="5"/>
                        </a:spcBef>
                      </a:pPr>
                      <a:r>
                        <a:rPr sz="1800" spc="-5" dirty="0">
                          <a:latin typeface="Arial MT"/>
                          <a:cs typeface="Arial MT"/>
                        </a:rPr>
                        <a:t>Schedule</a:t>
                      </a:r>
                      <a:endParaRPr sz="1800">
                        <a:latin typeface="Arial MT"/>
                        <a:cs typeface="Arial MT"/>
                      </a:endParaRPr>
                    </a:p>
                  </a:txBody>
                  <a:tcPr marL="0" marR="0" marT="1270"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69850">
                <a:tc vMerge="1">
                  <a:txBody>
                    <a:bodyPr/>
                    <a:lstStyle/>
                    <a:p>
                      <a:endParaRPr/>
                    </a:p>
                  </a:txBody>
                  <a:tcPr marL="0" marR="0" marT="1270" marB="0">
                    <a:lnL w="6350">
                      <a:solidFill>
                        <a:srgbClr val="000000"/>
                      </a:solidFill>
                      <a:prstDash val="solid"/>
                    </a:lnL>
                    <a:lnR w="6350">
                      <a:solidFill>
                        <a:srgbClr val="000000"/>
                      </a:solidFill>
                      <a:prstDash val="solid"/>
                    </a:lnR>
                    <a:lnB w="19050">
                      <a:solidFill>
                        <a:srgbClr val="000000"/>
                      </a:solidFill>
                      <a:prstDash val="solid"/>
                    </a:lnB>
                  </a:tcPr>
                </a:tc>
                <a:tc rowSpan="3">
                  <a:txBody>
                    <a:bodyPr/>
                    <a:lstStyle/>
                    <a:p>
                      <a:pPr>
                        <a:lnSpc>
                          <a:spcPct val="100000"/>
                        </a:lnSpc>
                      </a:pPr>
                      <a:endParaRPr sz="1800">
                        <a:latin typeface="Times New Roman"/>
                        <a:cs typeface="Times New Roman"/>
                      </a:endParaRPr>
                    </a:p>
                  </a:txBody>
                  <a:tcPr marL="0" marR="0" marT="0" marB="0">
                    <a:lnL w="19050">
                      <a:solidFill>
                        <a:srgbClr val="000000"/>
                      </a:solidFill>
                      <a:prstDash val="solid"/>
                    </a:lnL>
                    <a:lnR w="6350">
                      <a:solidFill>
                        <a:srgbClr val="000000"/>
                      </a:solidFill>
                      <a:prstDash val="solid"/>
                    </a:lnR>
                    <a:lnT w="28575">
                      <a:solidFill>
                        <a:srgbClr val="000000"/>
                      </a:solidFill>
                      <a:prstDash val="solid"/>
                    </a:lnT>
                  </a:tcPr>
                </a:tc>
                <a:tc vMerge="1">
                  <a:txBody>
                    <a:bodyPr/>
                    <a:lstStyle/>
                    <a:p>
                      <a:endParaRPr/>
                    </a:p>
                  </a:txBody>
                  <a:tcPr marL="0" marR="0" marT="1270"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1"/>
                  </a:ext>
                </a:extLst>
              </a:tr>
              <a:tr h="165100">
                <a:tc>
                  <a:txBody>
                    <a:bodyPr/>
                    <a:lstStyle/>
                    <a:p>
                      <a:pPr>
                        <a:lnSpc>
                          <a:spcPct val="100000"/>
                        </a:lnSpc>
                      </a:pPr>
                      <a:endParaRPr sz="900">
                        <a:latin typeface="Times New Roman"/>
                        <a:cs typeface="Times New Roman"/>
                      </a:endParaRPr>
                    </a:p>
                  </a:txBody>
                  <a:tcPr marL="0" marR="0" marT="0" marB="0">
                    <a:lnL w="63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endParaRPr/>
                    </a:p>
                  </a:txBody>
                  <a:tcPr marL="0" marR="0" marT="0" marB="0">
                    <a:lnL w="19050">
                      <a:solidFill>
                        <a:srgbClr val="000000"/>
                      </a:solidFill>
                      <a:prstDash val="solid"/>
                    </a:lnL>
                    <a:lnR w="6350">
                      <a:solidFill>
                        <a:srgbClr val="000000"/>
                      </a:solidFill>
                      <a:prstDash val="solid"/>
                    </a:lnR>
                    <a:lnT w="28575">
                      <a:solidFill>
                        <a:srgbClr val="000000"/>
                      </a:solidFill>
                      <a:prstDash val="solid"/>
                    </a:lnT>
                  </a:tcPr>
                </a:tc>
                <a:tc>
                  <a:txBody>
                    <a:bodyPr/>
                    <a:lstStyle/>
                    <a:p>
                      <a:pPr>
                        <a:lnSpc>
                          <a:spcPct val="100000"/>
                        </a:lnSpc>
                      </a:pPr>
                      <a:endParaRPr sz="900">
                        <a:latin typeface="Times New Roman"/>
                        <a:cs typeface="Times New Roman"/>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350896">
                <a:tc>
                  <a:txBody>
                    <a:bodyPr/>
                    <a:lstStyle/>
                    <a:p>
                      <a:pPr>
                        <a:lnSpc>
                          <a:spcPct val="100000"/>
                        </a:lnSpc>
                      </a:pPr>
                      <a:endParaRPr sz="1800">
                        <a:latin typeface="Times New Roman"/>
                        <a:cs typeface="Times New Roman"/>
                      </a:endParaRPr>
                    </a:p>
                  </a:txBody>
                  <a:tcPr marL="0" marR="0" marT="0" marB="0">
                    <a:lnL w="63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tc vMerge="1">
                  <a:txBody>
                    <a:bodyPr/>
                    <a:lstStyle/>
                    <a:p>
                      <a:endParaRPr/>
                    </a:p>
                  </a:txBody>
                  <a:tcPr marL="0" marR="0" marT="0" marB="0">
                    <a:lnL w="19050">
                      <a:solidFill>
                        <a:srgbClr val="000000"/>
                      </a:solidFill>
                      <a:prstDash val="solid"/>
                    </a:lnL>
                    <a:lnR w="6350">
                      <a:solidFill>
                        <a:srgbClr val="000000"/>
                      </a:solidFill>
                      <a:prstDash val="solid"/>
                    </a:lnR>
                    <a:lnT w="28575">
                      <a:solidFill>
                        <a:srgbClr val="000000"/>
                      </a:solidFill>
                      <a:prstDash val="solid"/>
                    </a:lnT>
                  </a:tcPr>
                </a:tc>
                <a:tc>
                  <a:txBody>
                    <a:bodyPr/>
                    <a:lstStyle/>
                    <a:p>
                      <a:pPr>
                        <a:lnSpc>
                          <a:spcPct val="100000"/>
                        </a:lnSpc>
                      </a:pP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bl>
          </a:graphicData>
        </a:graphic>
      </p:graphicFrame>
      <p:grpSp>
        <p:nvGrpSpPr>
          <p:cNvPr id="8" name="object 8"/>
          <p:cNvGrpSpPr/>
          <p:nvPr/>
        </p:nvGrpSpPr>
        <p:grpSpPr>
          <a:xfrm>
            <a:off x="6718300" y="3771900"/>
            <a:ext cx="1257300" cy="1181100"/>
            <a:chOff x="6718300" y="3771900"/>
            <a:chExt cx="1257300" cy="1181100"/>
          </a:xfrm>
        </p:grpSpPr>
        <p:pic>
          <p:nvPicPr>
            <p:cNvPr id="9" name="object 9"/>
            <p:cNvPicPr/>
            <p:nvPr/>
          </p:nvPicPr>
          <p:blipFill>
            <a:blip r:embed="rId3" cstate="print"/>
            <a:stretch>
              <a:fillRect/>
            </a:stretch>
          </p:blipFill>
          <p:spPr>
            <a:xfrm>
              <a:off x="6718300" y="3771900"/>
              <a:ext cx="1257300" cy="1181100"/>
            </a:xfrm>
            <a:prstGeom prst="rect">
              <a:avLst/>
            </a:prstGeom>
          </p:spPr>
        </p:pic>
        <p:sp>
          <p:nvSpPr>
            <p:cNvPr id="10" name="object 10"/>
            <p:cNvSpPr/>
            <p:nvPr/>
          </p:nvSpPr>
          <p:spPr>
            <a:xfrm>
              <a:off x="6718300" y="3771900"/>
              <a:ext cx="1257300" cy="1181100"/>
            </a:xfrm>
            <a:custGeom>
              <a:avLst/>
              <a:gdLst/>
              <a:ahLst/>
              <a:cxnLst/>
              <a:rect l="l" t="t" r="r" b="b"/>
              <a:pathLst>
                <a:path w="1257300" h="1181100">
                  <a:moveTo>
                    <a:pt x="1254893" y="0"/>
                  </a:moveTo>
                  <a:lnTo>
                    <a:pt x="2278" y="0"/>
                  </a:lnTo>
                  <a:lnTo>
                    <a:pt x="0" y="2288"/>
                  </a:lnTo>
                  <a:lnTo>
                    <a:pt x="0" y="1178558"/>
                  </a:lnTo>
                  <a:lnTo>
                    <a:pt x="2280" y="1180847"/>
                  </a:lnTo>
                  <a:lnTo>
                    <a:pt x="4560" y="1180847"/>
                  </a:lnTo>
                  <a:lnTo>
                    <a:pt x="4560" y="9916"/>
                  </a:lnTo>
                  <a:lnTo>
                    <a:pt x="9880" y="4577"/>
                  </a:lnTo>
                  <a:lnTo>
                    <a:pt x="9880" y="9916"/>
                  </a:lnTo>
                  <a:lnTo>
                    <a:pt x="1248051" y="9916"/>
                  </a:lnTo>
                  <a:lnTo>
                    <a:pt x="1248053" y="4577"/>
                  </a:lnTo>
                  <a:lnTo>
                    <a:pt x="1252612" y="9916"/>
                  </a:lnTo>
                  <a:lnTo>
                    <a:pt x="1252612" y="1180847"/>
                  </a:lnTo>
                  <a:lnTo>
                    <a:pt x="1254893" y="1180847"/>
                  </a:lnTo>
                  <a:lnTo>
                    <a:pt x="1257174" y="1178558"/>
                  </a:lnTo>
                  <a:lnTo>
                    <a:pt x="1257174" y="2288"/>
                  </a:lnTo>
                  <a:lnTo>
                    <a:pt x="1254893" y="0"/>
                  </a:lnTo>
                  <a:close/>
                </a:path>
              </a:pathLst>
            </a:custGeom>
            <a:solidFill>
              <a:srgbClr val="000000"/>
            </a:solidFill>
          </p:spPr>
          <p:txBody>
            <a:bodyPr wrap="square" lIns="0" tIns="0" rIns="0" bIns="0" rtlCol="0"/>
            <a:lstStyle/>
            <a:p>
              <a:endParaRPr/>
            </a:p>
          </p:txBody>
        </p:sp>
      </p:grpSp>
      <p:graphicFrame>
        <p:nvGraphicFramePr>
          <p:cNvPr id="11" name="object 11"/>
          <p:cNvGraphicFramePr>
            <a:graphicFrameLocks noGrp="1"/>
          </p:cNvGraphicFramePr>
          <p:nvPr/>
        </p:nvGraphicFramePr>
        <p:xfrm>
          <a:off x="6719170" y="3776477"/>
          <a:ext cx="1243330" cy="1178168"/>
        </p:xfrm>
        <a:graphic>
          <a:graphicData uri="http://schemas.openxmlformats.org/drawingml/2006/table">
            <a:tbl>
              <a:tblPr firstRow="1" bandRow="1">
                <a:tableStyleId>{2D5ABB26-0587-4C30-8999-92F81FD0307C}</a:tableStyleId>
              </a:tblPr>
              <a:tblGrid>
                <a:gridCol w="1243330">
                  <a:extLst>
                    <a:ext uri="{9D8B030D-6E8A-4147-A177-3AD203B41FA5}">
                      <a16:colId xmlns:a16="http://schemas.microsoft.com/office/drawing/2014/main" val="20000"/>
                    </a:ext>
                  </a:extLst>
                </a:gridCol>
              </a:tblGrid>
              <a:tr h="662172">
                <a:tc>
                  <a:txBody>
                    <a:bodyPr/>
                    <a:lstStyle/>
                    <a:p>
                      <a:pPr>
                        <a:lnSpc>
                          <a:spcPct val="100000"/>
                        </a:lnSpc>
                        <a:spcBef>
                          <a:spcPts val="10"/>
                        </a:spcBef>
                      </a:pPr>
                      <a:endParaRPr sz="1850">
                        <a:latin typeface="Times New Roman"/>
                        <a:cs typeface="Times New Roman"/>
                      </a:endParaRPr>
                    </a:p>
                    <a:p>
                      <a:pPr marL="241935">
                        <a:lnSpc>
                          <a:spcPct val="100000"/>
                        </a:lnSpc>
                        <a:spcBef>
                          <a:spcPts val="5"/>
                        </a:spcBef>
                      </a:pPr>
                      <a:r>
                        <a:rPr sz="1800" spc="-5" dirty="0">
                          <a:latin typeface="Arial MT"/>
                          <a:cs typeface="Arial MT"/>
                        </a:rPr>
                        <a:t>Course</a:t>
                      </a:r>
                      <a:endParaRPr sz="1800">
                        <a:latin typeface="Arial MT"/>
                        <a:cs typeface="Arial MT"/>
                      </a:endParaRPr>
                    </a:p>
                  </a:txBody>
                  <a:tcPr marL="0" marR="0" marT="1270"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165100">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350896">
                <a:tc>
                  <a:txBody>
                    <a:bodyPr/>
                    <a:lstStyle/>
                    <a:p>
                      <a:pPr>
                        <a:lnSpc>
                          <a:spcPct val="100000"/>
                        </a:lnSpc>
                      </a:pPr>
                      <a:endParaRPr sz="18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12" name="object 12"/>
          <p:cNvGrpSpPr/>
          <p:nvPr/>
        </p:nvGrpSpPr>
        <p:grpSpPr>
          <a:xfrm>
            <a:off x="2247900" y="3771900"/>
            <a:ext cx="1257300" cy="1181100"/>
            <a:chOff x="2247900" y="3771900"/>
            <a:chExt cx="1257300" cy="1181100"/>
          </a:xfrm>
        </p:grpSpPr>
        <p:pic>
          <p:nvPicPr>
            <p:cNvPr id="13" name="object 13"/>
            <p:cNvPicPr/>
            <p:nvPr/>
          </p:nvPicPr>
          <p:blipFill>
            <a:blip r:embed="rId4" cstate="print"/>
            <a:stretch>
              <a:fillRect/>
            </a:stretch>
          </p:blipFill>
          <p:spPr>
            <a:xfrm>
              <a:off x="2247900" y="3771900"/>
              <a:ext cx="1257300" cy="1181100"/>
            </a:xfrm>
            <a:prstGeom prst="rect">
              <a:avLst/>
            </a:prstGeom>
          </p:spPr>
        </p:pic>
        <p:sp>
          <p:nvSpPr>
            <p:cNvPr id="14" name="object 14"/>
            <p:cNvSpPr/>
            <p:nvPr/>
          </p:nvSpPr>
          <p:spPr>
            <a:xfrm>
              <a:off x="2247900" y="3771900"/>
              <a:ext cx="1257300" cy="1181100"/>
            </a:xfrm>
            <a:custGeom>
              <a:avLst/>
              <a:gdLst/>
              <a:ahLst/>
              <a:cxnLst/>
              <a:rect l="l" t="t" r="r" b="b"/>
              <a:pathLst>
                <a:path w="1257300" h="1181100">
                  <a:moveTo>
                    <a:pt x="1254638" y="0"/>
                  </a:moveTo>
                  <a:lnTo>
                    <a:pt x="1520" y="0"/>
                  </a:lnTo>
                  <a:lnTo>
                    <a:pt x="0" y="2288"/>
                  </a:lnTo>
                  <a:lnTo>
                    <a:pt x="0" y="1178558"/>
                  </a:lnTo>
                  <a:lnTo>
                    <a:pt x="1521" y="1180847"/>
                  </a:lnTo>
                  <a:lnTo>
                    <a:pt x="4564" y="1180847"/>
                  </a:lnTo>
                  <a:lnTo>
                    <a:pt x="4565" y="9916"/>
                  </a:lnTo>
                  <a:lnTo>
                    <a:pt x="9130" y="4577"/>
                  </a:lnTo>
                  <a:lnTo>
                    <a:pt x="9128" y="9916"/>
                  </a:lnTo>
                  <a:lnTo>
                    <a:pt x="1247029" y="9916"/>
                  </a:lnTo>
                  <a:lnTo>
                    <a:pt x="1247029" y="4577"/>
                  </a:lnTo>
                  <a:lnTo>
                    <a:pt x="1251595" y="9916"/>
                  </a:lnTo>
                  <a:lnTo>
                    <a:pt x="1251595" y="1180847"/>
                  </a:lnTo>
                  <a:lnTo>
                    <a:pt x="1254638" y="1180847"/>
                  </a:lnTo>
                  <a:lnTo>
                    <a:pt x="1256920" y="1178558"/>
                  </a:lnTo>
                  <a:lnTo>
                    <a:pt x="1256920" y="2288"/>
                  </a:lnTo>
                  <a:lnTo>
                    <a:pt x="1254638" y="0"/>
                  </a:lnTo>
                  <a:close/>
                </a:path>
              </a:pathLst>
            </a:custGeom>
            <a:solidFill>
              <a:srgbClr val="000000"/>
            </a:solidFill>
          </p:spPr>
          <p:txBody>
            <a:bodyPr wrap="square" lIns="0" tIns="0" rIns="0" bIns="0" rtlCol="0"/>
            <a:lstStyle/>
            <a:p>
              <a:endParaRPr/>
            </a:p>
          </p:txBody>
        </p:sp>
      </p:grpSp>
      <p:grpSp>
        <p:nvGrpSpPr>
          <p:cNvPr id="15" name="object 15"/>
          <p:cNvGrpSpPr/>
          <p:nvPr/>
        </p:nvGrpSpPr>
        <p:grpSpPr>
          <a:xfrm>
            <a:off x="4394200" y="3771900"/>
            <a:ext cx="1257300" cy="1181100"/>
            <a:chOff x="4394200" y="3771900"/>
            <a:chExt cx="1257300" cy="1181100"/>
          </a:xfrm>
        </p:grpSpPr>
        <p:pic>
          <p:nvPicPr>
            <p:cNvPr id="16" name="object 16"/>
            <p:cNvPicPr/>
            <p:nvPr/>
          </p:nvPicPr>
          <p:blipFill>
            <a:blip r:embed="rId5" cstate="print"/>
            <a:stretch>
              <a:fillRect/>
            </a:stretch>
          </p:blipFill>
          <p:spPr>
            <a:xfrm>
              <a:off x="4394200" y="3771900"/>
              <a:ext cx="1257300" cy="1181100"/>
            </a:xfrm>
            <a:prstGeom prst="rect">
              <a:avLst/>
            </a:prstGeom>
          </p:spPr>
        </p:pic>
        <p:sp>
          <p:nvSpPr>
            <p:cNvPr id="17" name="object 17"/>
            <p:cNvSpPr/>
            <p:nvPr/>
          </p:nvSpPr>
          <p:spPr>
            <a:xfrm>
              <a:off x="4394200" y="3771900"/>
              <a:ext cx="1257300" cy="1181100"/>
            </a:xfrm>
            <a:custGeom>
              <a:avLst/>
              <a:gdLst/>
              <a:ahLst/>
              <a:cxnLst/>
              <a:rect l="l" t="t" r="r" b="b"/>
              <a:pathLst>
                <a:path w="1257300" h="1181100">
                  <a:moveTo>
                    <a:pt x="1255398" y="0"/>
                  </a:moveTo>
                  <a:lnTo>
                    <a:pt x="2282" y="0"/>
                  </a:lnTo>
                  <a:lnTo>
                    <a:pt x="0" y="2288"/>
                  </a:lnTo>
                  <a:lnTo>
                    <a:pt x="0" y="1178558"/>
                  </a:lnTo>
                  <a:lnTo>
                    <a:pt x="2282" y="1180847"/>
                  </a:lnTo>
                  <a:lnTo>
                    <a:pt x="5325" y="1180847"/>
                  </a:lnTo>
                  <a:lnTo>
                    <a:pt x="5326" y="9916"/>
                  </a:lnTo>
                  <a:lnTo>
                    <a:pt x="9890" y="4577"/>
                  </a:lnTo>
                  <a:lnTo>
                    <a:pt x="9890" y="9916"/>
                  </a:lnTo>
                  <a:lnTo>
                    <a:pt x="1247790" y="9916"/>
                  </a:lnTo>
                  <a:lnTo>
                    <a:pt x="1247790" y="4577"/>
                  </a:lnTo>
                  <a:lnTo>
                    <a:pt x="1252355" y="9916"/>
                  </a:lnTo>
                  <a:lnTo>
                    <a:pt x="1252355" y="1180847"/>
                  </a:lnTo>
                  <a:lnTo>
                    <a:pt x="1255398" y="1180847"/>
                  </a:lnTo>
                  <a:lnTo>
                    <a:pt x="1256920" y="1178558"/>
                  </a:lnTo>
                  <a:lnTo>
                    <a:pt x="1256920" y="2288"/>
                  </a:lnTo>
                  <a:lnTo>
                    <a:pt x="1255398" y="0"/>
                  </a:lnTo>
                  <a:close/>
                </a:path>
              </a:pathLst>
            </a:custGeom>
            <a:solidFill>
              <a:srgbClr val="000000"/>
            </a:solidFill>
          </p:spPr>
          <p:txBody>
            <a:bodyPr wrap="square" lIns="0" tIns="0" rIns="0" bIns="0" rtlCol="0"/>
            <a:lstStyle/>
            <a:p>
              <a:endParaRPr/>
            </a:p>
          </p:txBody>
        </p:sp>
      </p:grpSp>
      <p:sp>
        <p:nvSpPr>
          <p:cNvPr id="18" name="object 18"/>
          <p:cNvSpPr txBox="1"/>
          <p:nvPr/>
        </p:nvSpPr>
        <p:spPr>
          <a:xfrm>
            <a:off x="2928758" y="5137289"/>
            <a:ext cx="2018664" cy="177800"/>
          </a:xfrm>
          <a:prstGeom prst="rect">
            <a:avLst/>
          </a:prstGeom>
        </p:spPr>
        <p:txBody>
          <a:bodyPr vert="horz" wrap="square" lIns="0" tIns="12700" rIns="0" bIns="0" rtlCol="0">
            <a:spAutoFit/>
          </a:bodyPr>
          <a:lstStyle/>
          <a:p>
            <a:pPr marL="12700">
              <a:lnSpc>
                <a:spcPct val="100000"/>
              </a:lnSpc>
              <a:spcBef>
                <a:spcPts val="100"/>
              </a:spcBef>
            </a:pPr>
            <a:r>
              <a:rPr sz="1000" spc="-15" dirty="0">
                <a:latin typeface="Calibri"/>
                <a:cs typeface="Calibri"/>
              </a:rPr>
              <a:t>Association</a:t>
            </a:r>
            <a:r>
              <a:rPr sz="1000" spc="35" dirty="0">
                <a:latin typeface="Calibri"/>
                <a:cs typeface="Calibri"/>
              </a:rPr>
              <a:t> </a:t>
            </a:r>
            <a:r>
              <a:rPr sz="1000" spc="-25" dirty="0">
                <a:latin typeface="Calibri"/>
                <a:cs typeface="Calibri"/>
              </a:rPr>
              <a:t>entre</a:t>
            </a:r>
            <a:r>
              <a:rPr sz="1000" spc="170" dirty="0">
                <a:latin typeface="Calibri"/>
                <a:cs typeface="Calibri"/>
              </a:rPr>
              <a:t> </a:t>
            </a:r>
            <a:r>
              <a:rPr sz="1000" spc="-15" dirty="0">
                <a:latin typeface="Calibri"/>
                <a:cs typeface="Calibri"/>
              </a:rPr>
              <a:t>deux</a:t>
            </a:r>
            <a:r>
              <a:rPr sz="1000" spc="30" dirty="0">
                <a:latin typeface="Calibri"/>
                <a:cs typeface="Calibri"/>
              </a:rPr>
              <a:t> </a:t>
            </a:r>
            <a:r>
              <a:rPr sz="1000" spc="-5" dirty="0">
                <a:latin typeface="Calibri"/>
                <a:cs typeface="Calibri"/>
              </a:rPr>
              <a:t>classes</a:t>
            </a:r>
            <a:r>
              <a:rPr sz="1000" spc="-20" dirty="0">
                <a:latin typeface="Calibri"/>
                <a:cs typeface="Calibri"/>
              </a:rPr>
              <a:t> </a:t>
            </a:r>
            <a:r>
              <a:rPr sz="1000" spc="-25" dirty="0">
                <a:latin typeface="Calibri"/>
                <a:cs typeface="Calibri"/>
              </a:rPr>
              <a:t>distincts</a:t>
            </a:r>
            <a:endParaRPr sz="1000">
              <a:latin typeface="Calibri"/>
              <a:cs typeface="Calibri"/>
            </a:endParaRPr>
          </a:p>
        </p:txBody>
      </p:sp>
      <p:sp>
        <p:nvSpPr>
          <p:cNvPr id="19" name="object 19"/>
          <p:cNvSpPr txBox="1"/>
          <p:nvPr/>
        </p:nvSpPr>
        <p:spPr>
          <a:xfrm>
            <a:off x="6549394" y="3369785"/>
            <a:ext cx="2687320" cy="177800"/>
          </a:xfrm>
          <a:prstGeom prst="rect">
            <a:avLst/>
          </a:prstGeom>
        </p:spPr>
        <p:txBody>
          <a:bodyPr vert="horz" wrap="square" lIns="0" tIns="12700" rIns="0" bIns="0" rtlCol="0">
            <a:spAutoFit/>
          </a:bodyPr>
          <a:lstStyle/>
          <a:p>
            <a:pPr marL="12700">
              <a:lnSpc>
                <a:spcPct val="100000"/>
              </a:lnSpc>
              <a:spcBef>
                <a:spcPts val="100"/>
              </a:spcBef>
            </a:pPr>
            <a:r>
              <a:rPr sz="1000" spc="-15" dirty="0">
                <a:latin typeface="Calibri"/>
                <a:cs typeface="Calibri"/>
              </a:rPr>
              <a:t>Association</a:t>
            </a:r>
            <a:r>
              <a:rPr sz="1000" spc="40" dirty="0">
                <a:latin typeface="Calibri"/>
                <a:cs typeface="Calibri"/>
              </a:rPr>
              <a:t> </a:t>
            </a:r>
            <a:r>
              <a:rPr sz="1000" spc="-25" dirty="0">
                <a:latin typeface="Calibri"/>
                <a:cs typeface="Calibri"/>
              </a:rPr>
              <a:t>entre</a:t>
            </a:r>
            <a:r>
              <a:rPr sz="1000" spc="170" dirty="0">
                <a:latin typeface="Calibri"/>
                <a:cs typeface="Calibri"/>
              </a:rPr>
              <a:t> </a:t>
            </a:r>
            <a:r>
              <a:rPr sz="1000" spc="-10" dirty="0">
                <a:latin typeface="Calibri"/>
                <a:cs typeface="Calibri"/>
              </a:rPr>
              <a:t>des</a:t>
            </a:r>
            <a:r>
              <a:rPr sz="1000" spc="-20" dirty="0">
                <a:latin typeface="Calibri"/>
                <a:cs typeface="Calibri"/>
              </a:rPr>
              <a:t> </a:t>
            </a:r>
            <a:r>
              <a:rPr sz="1000" spc="-15" dirty="0">
                <a:latin typeface="Calibri"/>
                <a:cs typeface="Calibri"/>
              </a:rPr>
              <a:t>instances</a:t>
            </a:r>
            <a:r>
              <a:rPr sz="1000" spc="75" dirty="0">
                <a:latin typeface="Calibri"/>
                <a:cs typeface="Calibri"/>
              </a:rPr>
              <a:t> </a:t>
            </a:r>
            <a:r>
              <a:rPr sz="1000" spc="-30" dirty="0">
                <a:latin typeface="Calibri"/>
                <a:cs typeface="Calibri"/>
              </a:rPr>
              <a:t>d’une</a:t>
            </a:r>
            <a:r>
              <a:rPr sz="1000" spc="175" dirty="0">
                <a:latin typeface="Calibri"/>
                <a:cs typeface="Calibri"/>
              </a:rPr>
              <a:t> </a:t>
            </a:r>
            <a:r>
              <a:rPr sz="1000" dirty="0">
                <a:latin typeface="Calibri"/>
                <a:cs typeface="Calibri"/>
              </a:rPr>
              <a:t>même</a:t>
            </a:r>
            <a:r>
              <a:rPr sz="1000" spc="-30" dirty="0">
                <a:latin typeface="Calibri"/>
                <a:cs typeface="Calibri"/>
              </a:rPr>
              <a:t> </a:t>
            </a:r>
            <a:r>
              <a:rPr sz="1000" spc="-5" dirty="0">
                <a:latin typeface="Calibri"/>
                <a:cs typeface="Calibri"/>
              </a:rPr>
              <a:t>classe.</a:t>
            </a:r>
            <a:endParaRPr sz="1000">
              <a:latin typeface="Calibri"/>
              <a:cs typeface="Calibri"/>
            </a:endParaRPr>
          </a:p>
        </p:txBody>
      </p:sp>
      <p:cxnSp>
        <p:nvCxnSpPr>
          <p:cNvPr id="21" name="Connecteur droit 20">
            <a:extLst>
              <a:ext uri="{FF2B5EF4-FFF2-40B4-BE49-F238E27FC236}">
                <a16:creationId xmlns:a16="http://schemas.microsoft.com/office/drawing/2014/main" id="{5488EB53-03C5-4643-A3E9-19FADAC0C5AF}"/>
              </a:ext>
            </a:extLst>
          </p:cNvPr>
          <p:cNvCxnSpPr/>
          <p:nvPr/>
        </p:nvCxnSpPr>
        <p:spPr>
          <a:xfrm>
            <a:off x="2247900" y="4267200"/>
            <a:ext cx="1257300" cy="0"/>
          </a:xfrm>
          <a:prstGeom prst="line">
            <a:avLst/>
          </a:prstGeom>
        </p:spPr>
        <p:style>
          <a:lnRef idx="2">
            <a:schemeClr val="accent3"/>
          </a:lnRef>
          <a:fillRef idx="0">
            <a:schemeClr val="accent3"/>
          </a:fillRef>
          <a:effectRef idx="1">
            <a:schemeClr val="accent3"/>
          </a:effectRef>
          <a:fontRef idx="minor">
            <a:schemeClr val="tx1"/>
          </a:fontRef>
        </p:style>
      </p:cxnSp>
      <p:cxnSp>
        <p:nvCxnSpPr>
          <p:cNvPr id="22" name="Connecteur droit 21">
            <a:extLst>
              <a:ext uri="{FF2B5EF4-FFF2-40B4-BE49-F238E27FC236}">
                <a16:creationId xmlns:a16="http://schemas.microsoft.com/office/drawing/2014/main" id="{082DA751-E2D8-D8F8-6999-3981A4C36A84}"/>
              </a:ext>
            </a:extLst>
          </p:cNvPr>
          <p:cNvCxnSpPr/>
          <p:nvPr/>
        </p:nvCxnSpPr>
        <p:spPr>
          <a:xfrm>
            <a:off x="4419600" y="4191000"/>
            <a:ext cx="1257300" cy="0"/>
          </a:xfrm>
          <a:prstGeom prst="line">
            <a:avLst/>
          </a:prstGeom>
        </p:spPr>
        <p:style>
          <a:lnRef idx="2">
            <a:schemeClr val="accent3"/>
          </a:lnRef>
          <a:fillRef idx="0">
            <a:schemeClr val="accent3"/>
          </a:fillRef>
          <a:effectRef idx="1">
            <a:schemeClr val="accent3"/>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2927350" cy="756920"/>
          </a:xfrm>
          <a:prstGeom prst="rect">
            <a:avLst/>
          </a:prstGeom>
        </p:spPr>
        <p:txBody>
          <a:bodyPr vert="horz" wrap="square" lIns="0" tIns="12700" rIns="0" bIns="0" rtlCol="0">
            <a:spAutoFit/>
          </a:bodyPr>
          <a:lstStyle/>
          <a:p>
            <a:pPr marL="12700">
              <a:lnSpc>
                <a:spcPct val="100000"/>
              </a:lnSpc>
              <a:spcBef>
                <a:spcPts val="100"/>
              </a:spcBef>
            </a:pPr>
            <a:r>
              <a:rPr spc="-105" dirty="0"/>
              <a:t>A</a:t>
            </a:r>
            <a:r>
              <a:rPr spc="-65" dirty="0"/>
              <a:t>s</a:t>
            </a:r>
            <a:r>
              <a:rPr spc="-60" dirty="0"/>
              <a:t>s</a:t>
            </a:r>
            <a:r>
              <a:rPr spc="-105" dirty="0"/>
              <a:t>o</a:t>
            </a:r>
            <a:r>
              <a:rPr spc="-145" dirty="0"/>
              <a:t>c</a:t>
            </a:r>
            <a:r>
              <a:rPr spc="-60" dirty="0"/>
              <a:t>ia</a:t>
            </a:r>
            <a:r>
              <a:rPr spc="-80" dirty="0"/>
              <a:t>t</a:t>
            </a:r>
            <a:r>
              <a:rPr spc="-60" dirty="0"/>
              <a:t>i</a:t>
            </a:r>
            <a:r>
              <a:rPr spc="-105" dirty="0"/>
              <a:t>o</a:t>
            </a:r>
            <a:r>
              <a:rPr spc="-100" dirty="0"/>
              <a:t>n</a:t>
            </a:r>
            <a:r>
              <a:rPr dirty="0"/>
              <a:t>s</a:t>
            </a:r>
          </a:p>
        </p:txBody>
      </p:sp>
      <p:sp>
        <p:nvSpPr>
          <p:cNvPr id="3" name="object 3"/>
          <p:cNvSpPr txBox="1"/>
          <p:nvPr/>
        </p:nvSpPr>
        <p:spPr>
          <a:xfrm>
            <a:off x="1084580" y="1540168"/>
            <a:ext cx="9512300" cy="2172390"/>
          </a:xfrm>
          <a:prstGeom prst="rect">
            <a:avLst/>
          </a:prstGeom>
        </p:spPr>
        <p:txBody>
          <a:bodyPr vert="horz" wrap="square" lIns="0" tIns="43180" rIns="0" bIns="0" rtlCol="0">
            <a:spAutoFit/>
          </a:bodyPr>
          <a:lstStyle/>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Les associations peuvent avoir des étiquettes: Il s'agit du nom de l'association.</a:t>
            </a:r>
          </a:p>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Les associations peuvent avoir des noms de rôle: un nom de rôle identifie le rôle ou la responsabilité de l'objet dans l'association. </a:t>
            </a:r>
          </a:p>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Les associations peuvent indiquer la navigation avec une pointe de flèche ouverte:  Pas de flèche =&gt; bidirectionnelle </a:t>
            </a:r>
          </a:p>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La plupart des associations sont unidirectionnelles en fin de conception. </a:t>
            </a:r>
          </a:p>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Les associations peuvent indiquer une multiplicité</a:t>
            </a:r>
            <a:endParaRPr sz="2000" dirty="0">
              <a:solidFill>
                <a:schemeClr val="bg2">
                  <a:lumMod val="10000"/>
                </a:schemeClr>
              </a:solidFill>
              <a:latin typeface="Calibri"/>
              <a:cs typeface="Calibri"/>
            </a:endParaRPr>
          </a:p>
        </p:txBody>
      </p:sp>
      <p:grpSp>
        <p:nvGrpSpPr>
          <p:cNvPr id="25" name="Groupe 24"/>
          <p:cNvGrpSpPr/>
          <p:nvPr/>
        </p:nvGrpSpPr>
        <p:grpSpPr>
          <a:xfrm>
            <a:off x="5643880" y="3886200"/>
            <a:ext cx="4953000" cy="1569739"/>
            <a:chOff x="3962400" y="4038600"/>
            <a:chExt cx="5729581" cy="1722139"/>
          </a:xfrm>
        </p:grpSpPr>
        <p:pic>
          <p:nvPicPr>
            <p:cNvPr id="20" name="Image 19"/>
            <p:cNvPicPr>
              <a:picLocks noChangeAspect="1"/>
            </p:cNvPicPr>
            <p:nvPr/>
          </p:nvPicPr>
          <p:blipFill>
            <a:blip r:embed="rId2"/>
            <a:stretch>
              <a:fillRect/>
            </a:stretch>
          </p:blipFill>
          <p:spPr>
            <a:xfrm>
              <a:off x="3962400" y="4038600"/>
              <a:ext cx="5729581" cy="1722139"/>
            </a:xfrm>
            <a:prstGeom prst="rect">
              <a:avLst/>
            </a:prstGeom>
          </p:spPr>
        </p:pic>
        <p:sp>
          <p:nvSpPr>
            <p:cNvPr id="21" name="Rectangle 20"/>
            <p:cNvSpPr/>
            <p:nvPr/>
          </p:nvSpPr>
          <p:spPr>
            <a:xfrm>
              <a:off x="4070712" y="4191000"/>
              <a:ext cx="1459231" cy="533400"/>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Personne</a:t>
              </a:r>
            </a:p>
          </p:txBody>
        </p:sp>
        <p:sp>
          <p:nvSpPr>
            <p:cNvPr id="22" name="Rectangle 21"/>
            <p:cNvSpPr/>
            <p:nvPr/>
          </p:nvSpPr>
          <p:spPr>
            <a:xfrm>
              <a:off x="4099741" y="5105400"/>
              <a:ext cx="1459231" cy="533400"/>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Personne</a:t>
              </a:r>
            </a:p>
          </p:txBody>
        </p:sp>
        <p:sp>
          <p:nvSpPr>
            <p:cNvPr id="23" name="Rectangle 22"/>
            <p:cNvSpPr/>
            <p:nvPr/>
          </p:nvSpPr>
          <p:spPr>
            <a:xfrm>
              <a:off x="8305799" y="5105400"/>
              <a:ext cx="1219201" cy="533400"/>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Société</a:t>
              </a:r>
            </a:p>
          </p:txBody>
        </p:sp>
        <p:sp>
          <p:nvSpPr>
            <p:cNvPr id="24" name="Rectangle 23"/>
            <p:cNvSpPr/>
            <p:nvPr/>
          </p:nvSpPr>
          <p:spPr>
            <a:xfrm>
              <a:off x="8305799" y="4191000"/>
              <a:ext cx="1219201" cy="533400"/>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Société</a:t>
              </a:r>
            </a:p>
          </p:txBody>
        </p:sp>
      </p:grpSp>
    </p:spTree>
    <p:extLst>
      <p:ext uri="{BB962C8B-B14F-4D97-AF65-F5344CB8AC3E}">
        <p14:creationId xmlns:p14="http://schemas.microsoft.com/office/powerpoint/2010/main" val="2792308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2927350" cy="756920"/>
          </a:xfrm>
          <a:prstGeom prst="rect">
            <a:avLst/>
          </a:prstGeom>
        </p:spPr>
        <p:txBody>
          <a:bodyPr vert="horz" wrap="square" lIns="0" tIns="12700" rIns="0" bIns="0" rtlCol="0">
            <a:spAutoFit/>
          </a:bodyPr>
          <a:lstStyle/>
          <a:p>
            <a:pPr marL="12700">
              <a:lnSpc>
                <a:spcPct val="100000"/>
              </a:lnSpc>
              <a:spcBef>
                <a:spcPts val="100"/>
              </a:spcBef>
            </a:pPr>
            <a:r>
              <a:rPr spc="-105" dirty="0"/>
              <a:t>A</a:t>
            </a:r>
            <a:r>
              <a:rPr spc="-65" dirty="0"/>
              <a:t>s</a:t>
            </a:r>
            <a:r>
              <a:rPr spc="-60" dirty="0"/>
              <a:t>s</a:t>
            </a:r>
            <a:r>
              <a:rPr spc="-105" dirty="0"/>
              <a:t>o</a:t>
            </a:r>
            <a:r>
              <a:rPr spc="-145" dirty="0"/>
              <a:t>c</a:t>
            </a:r>
            <a:r>
              <a:rPr spc="-60" dirty="0"/>
              <a:t>ia</a:t>
            </a:r>
            <a:r>
              <a:rPr spc="-80" dirty="0"/>
              <a:t>t</a:t>
            </a:r>
            <a:r>
              <a:rPr spc="-60" dirty="0"/>
              <a:t>i</a:t>
            </a:r>
            <a:r>
              <a:rPr spc="-105" dirty="0"/>
              <a:t>o</a:t>
            </a:r>
            <a:r>
              <a:rPr spc="-100" dirty="0"/>
              <a:t>n</a:t>
            </a:r>
            <a:r>
              <a:rPr dirty="0"/>
              <a:t>s</a:t>
            </a:r>
          </a:p>
        </p:txBody>
      </p:sp>
      <p:sp>
        <p:nvSpPr>
          <p:cNvPr id="3" name="object 3"/>
          <p:cNvSpPr txBox="1"/>
          <p:nvPr/>
        </p:nvSpPr>
        <p:spPr>
          <a:xfrm>
            <a:off x="1084580" y="1540168"/>
            <a:ext cx="9512300" cy="2133918"/>
          </a:xfrm>
          <a:prstGeom prst="rect">
            <a:avLst/>
          </a:prstGeom>
        </p:spPr>
        <p:txBody>
          <a:bodyPr vert="horz" wrap="square" lIns="0" tIns="43180" rIns="0" bIns="0" rtlCol="0">
            <a:spAutoFit/>
          </a:bodyPr>
          <a:lstStyle/>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Par défaut le sens de lecture du nom d’une association est de gauche à droite.</a:t>
            </a:r>
          </a:p>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Dans le cas où la lecture du nom est ambiguë, on peut ajouter l’un des signes &lt; ou &gt; pour indiquer le sens de lecture.</a:t>
            </a:r>
          </a:p>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On peut attribuer à une extrémité d’une association un nom appelé rôle qui décrit comment une classe source voit une classe destination au travers de l’association.</a:t>
            </a:r>
          </a:p>
          <a:p>
            <a:pPr marL="101600" marR="553085" indent="-88900">
              <a:lnSpc>
                <a:spcPts val="2200"/>
              </a:lnSpc>
              <a:spcBef>
                <a:spcPts val="340"/>
              </a:spcBef>
              <a:buClr>
                <a:srgbClr val="E48312"/>
              </a:buClr>
              <a:buSzPct val="95000"/>
              <a:buFont typeface="Wingdings"/>
              <a:buChar char=""/>
              <a:tabLst>
                <a:tab pos="241300" algn="l"/>
              </a:tabLst>
            </a:pPr>
            <a:r>
              <a:rPr lang="fr-FR" sz="2000" dirty="0">
                <a:solidFill>
                  <a:schemeClr val="bg2">
                    <a:lumMod val="10000"/>
                  </a:schemeClr>
                </a:solidFill>
              </a:rPr>
              <a:t>Le rôle est placé près de la fin de l’association et à côté de la classe à laquelle il est appliqué.</a:t>
            </a:r>
            <a:endParaRPr sz="2000" dirty="0">
              <a:solidFill>
                <a:schemeClr val="bg2">
                  <a:lumMod val="10000"/>
                </a:schemeClr>
              </a:solidFill>
              <a:latin typeface="Calibri"/>
              <a:cs typeface="Calibri"/>
            </a:endParaRPr>
          </a:p>
        </p:txBody>
      </p:sp>
      <p:pic>
        <p:nvPicPr>
          <p:cNvPr id="4" name="Image 3"/>
          <p:cNvPicPr>
            <a:picLocks noChangeAspect="1"/>
          </p:cNvPicPr>
          <p:nvPr/>
        </p:nvPicPr>
        <p:blipFill>
          <a:blip r:embed="rId2"/>
          <a:stretch>
            <a:fillRect/>
          </a:stretch>
        </p:blipFill>
        <p:spPr>
          <a:xfrm>
            <a:off x="6324600" y="3639959"/>
            <a:ext cx="4943475" cy="2323304"/>
          </a:xfrm>
          <a:prstGeom prst="rect">
            <a:avLst/>
          </a:prstGeom>
        </p:spPr>
      </p:pic>
      <p:sp>
        <p:nvSpPr>
          <p:cNvPr id="11" name="Rectangle 10"/>
          <p:cNvSpPr/>
          <p:nvPr/>
        </p:nvSpPr>
        <p:spPr>
          <a:xfrm>
            <a:off x="6553199" y="4558512"/>
            <a:ext cx="1129177" cy="486198"/>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Personne</a:t>
            </a:r>
          </a:p>
        </p:txBody>
      </p:sp>
      <p:sp>
        <p:nvSpPr>
          <p:cNvPr id="12" name="Rectangle 11"/>
          <p:cNvSpPr/>
          <p:nvPr/>
        </p:nvSpPr>
        <p:spPr>
          <a:xfrm>
            <a:off x="9829800" y="3782344"/>
            <a:ext cx="1205377" cy="46442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Personne</a:t>
            </a:r>
          </a:p>
        </p:txBody>
      </p:sp>
      <p:sp>
        <p:nvSpPr>
          <p:cNvPr id="13" name="Rectangle 12"/>
          <p:cNvSpPr/>
          <p:nvPr/>
        </p:nvSpPr>
        <p:spPr>
          <a:xfrm>
            <a:off x="6476999" y="3776429"/>
            <a:ext cx="1205377" cy="46442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Société</a:t>
            </a:r>
          </a:p>
        </p:txBody>
      </p:sp>
      <p:grpSp>
        <p:nvGrpSpPr>
          <p:cNvPr id="6" name="Groupe 5"/>
          <p:cNvGrpSpPr/>
          <p:nvPr/>
        </p:nvGrpSpPr>
        <p:grpSpPr>
          <a:xfrm>
            <a:off x="1317636" y="4008642"/>
            <a:ext cx="4774066" cy="924383"/>
            <a:chOff x="1317636" y="4008642"/>
            <a:chExt cx="4774066" cy="924383"/>
          </a:xfrm>
        </p:grpSpPr>
        <p:pic>
          <p:nvPicPr>
            <p:cNvPr id="5" name="Image 4"/>
            <p:cNvPicPr>
              <a:picLocks noChangeAspect="1"/>
            </p:cNvPicPr>
            <p:nvPr/>
          </p:nvPicPr>
          <p:blipFill>
            <a:blip r:embed="rId3"/>
            <a:stretch>
              <a:fillRect/>
            </a:stretch>
          </p:blipFill>
          <p:spPr>
            <a:xfrm>
              <a:off x="1317636" y="4008642"/>
              <a:ext cx="4774066" cy="924383"/>
            </a:xfrm>
            <a:prstGeom prst="rect">
              <a:avLst/>
            </a:prstGeom>
          </p:spPr>
        </p:pic>
        <p:sp>
          <p:nvSpPr>
            <p:cNvPr id="15" name="Rectangle 14"/>
            <p:cNvSpPr/>
            <p:nvPr/>
          </p:nvSpPr>
          <p:spPr>
            <a:xfrm>
              <a:off x="1317636" y="4359269"/>
              <a:ext cx="1205377" cy="46442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Société</a:t>
              </a:r>
            </a:p>
          </p:txBody>
        </p:sp>
        <p:sp>
          <p:nvSpPr>
            <p:cNvPr id="16" name="Rectangle 15"/>
            <p:cNvSpPr/>
            <p:nvPr/>
          </p:nvSpPr>
          <p:spPr>
            <a:xfrm>
              <a:off x="4884047" y="4354247"/>
              <a:ext cx="1205377" cy="46442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Personne</a:t>
              </a:r>
            </a:p>
          </p:txBody>
        </p:sp>
      </p:grpSp>
    </p:spTree>
    <p:extLst>
      <p:ext uri="{BB962C8B-B14F-4D97-AF65-F5344CB8AC3E}">
        <p14:creationId xmlns:p14="http://schemas.microsoft.com/office/powerpoint/2010/main" val="3666865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4983480" cy="756920"/>
          </a:xfrm>
          <a:prstGeom prst="rect">
            <a:avLst/>
          </a:prstGeom>
        </p:spPr>
        <p:txBody>
          <a:bodyPr vert="horz" wrap="square" lIns="0" tIns="12700" rIns="0" bIns="0" rtlCol="0">
            <a:spAutoFit/>
          </a:bodyPr>
          <a:lstStyle/>
          <a:p>
            <a:pPr marL="12700">
              <a:lnSpc>
                <a:spcPct val="100000"/>
              </a:lnSpc>
              <a:spcBef>
                <a:spcPts val="100"/>
              </a:spcBef>
            </a:pPr>
            <a:r>
              <a:rPr spc="-80" dirty="0"/>
              <a:t>Associations</a:t>
            </a:r>
            <a:r>
              <a:rPr spc="220" dirty="0"/>
              <a:t> </a:t>
            </a:r>
            <a:r>
              <a:rPr spc="-40" dirty="0"/>
              <a:t>et</a:t>
            </a:r>
            <a:r>
              <a:rPr spc="-85" dirty="0"/>
              <a:t> Rôles</a:t>
            </a:r>
          </a:p>
        </p:txBody>
      </p:sp>
      <p:sp>
        <p:nvSpPr>
          <p:cNvPr id="3" name="object 3"/>
          <p:cNvSpPr txBox="1"/>
          <p:nvPr/>
        </p:nvSpPr>
        <p:spPr>
          <a:xfrm>
            <a:off x="1084580" y="1128979"/>
            <a:ext cx="7062470" cy="1397000"/>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sz="2000" spc="-45" dirty="0">
                <a:solidFill>
                  <a:srgbClr val="404040"/>
                </a:solidFill>
                <a:latin typeface="Calibri"/>
                <a:cs typeface="Calibri"/>
              </a:rPr>
              <a:t>L</a:t>
            </a:r>
            <a:r>
              <a:rPr sz="2000" dirty="0">
                <a:solidFill>
                  <a:srgbClr val="404040"/>
                </a:solidFill>
                <a:latin typeface="Calibri"/>
                <a:cs typeface="Calibri"/>
              </a:rPr>
              <a:t>es</a:t>
            </a:r>
            <a:r>
              <a:rPr sz="2000" spc="65" dirty="0">
                <a:solidFill>
                  <a:srgbClr val="404040"/>
                </a:solidFill>
                <a:latin typeface="Calibri"/>
                <a:cs typeface="Calibri"/>
              </a:rPr>
              <a:t> </a:t>
            </a:r>
            <a:r>
              <a:rPr sz="2000" dirty="0">
                <a:solidFill>
                  <a:srgbClr val="404040"/>
                </a:solidFill>
                <a:latin typeface="Calibri"/>
                <a:cs typeface="Calibri"/>
              </a:rPr>
              <a:t>r</a:t>
            </a:r>
            <a:r>
              <a:rPr sz="2000" spc="45" dirty="0">
                <a:solidFill>
                  <a:srgbClr val="404040"/>
                </a:solidFill>
                <a:latin typeface="Calibri"/>
                <a:cs typeface="Calibri"/>
              </a:rPr>
              <a:t>ô</a:t>
            </a:r>
            <a:r>
              <a:rPr sz="2000" spc="40" dirty="0">
                <a:solidFill>
                  <a:srgbClr val="404040"/>
                </a:solidFill>
                <a:latin typeface="Calibri"/>
                <a:cs typeface="Calibri"/>
              </a:rPr>
              <a:t>l</a:t>
            </a:r>
            <a:r>
              <a:rPr sz="2000" dirty="0">
                <a:solidFill>
                  <a:srgbClr val="404040"/>
                </a:solidFill>
                <a:latin typeface="Calibri"/>
                <a:cs typeface="Calibri"/>
              </a:rPr>
              <a:t>es</a:t>
            </a:r>
            <a:r>
              <a:rPr sz="2000" spc="-135" dirty="0">
                <a:solidFill>
                  <a:srgbClr val="404040"/>
                </a:solidFill>
                <a:latin typeface="Calibri"/>
                <a:cs typeface="Calibri"/>
              </a:rPr>
              <a:t> </a:t>
            </a:r>
            <a:r>
              <a:rPr sz="2000" spc="45" dirty="0">
                <a:solidFill>
                  <a:srgbClr val="404040"/>
                </a:solidFill>
                <a:latin typeface="Calibri"/>
                <a:cs typeface="Calibri"/>
              </a:rPr>
              <a:t>p</a:t>
            </a:r>
            <a:r>
              <a:rPr sz="2000" dirty="0">
                <a:solidFill>
                  <a:srgbClr val="404040"/>
                </a:solidFill>
                <a:latin typeface="Calibri"/>
                <a:cs typeface="Calibri"/>
              </a:rPr>
              <a:t>erme</a:t>
            </a:r>
            <a:r>
              <a:rPr sz="2000" spc="30" dirty="0">
                <a:solidFill>
                  <a:srgbClr val="404040"/>
                </a:solidFill>
                <a:latin typeface="Calibri"/>
                <a:cs typeface="Calibri"/>
              </a:rPr>
              <a:t>tt</a:t>
            </a:r>
            <a:r>
              <a:rPr sz="2000" dirty="0">
                <a:solidFill>
                  <a:srgbClr val="404040"/>
                </a:solidFill>
                <a:latin typeface="Calibri"/>
                <a:cs typeface="Calibri"/>
              </a:rPr>
              <a:t>e</a:t>
            </a:r>
            <a:r>
              <a:rPr sz="2000" spc="45" dirty="0">
                <a:solidFill>
                  <a:srgbClr val="404040"/>
                </a:solidFill>
                <a:latin typeface="Calibri"/>
                <a:cs typeface="Calibri"/>
              </a:rPr>
              <a:t>n</a:t>
            </a:r>
            <a:r>
              <a:rPr sz="2000" dirty="0">
                <a:solidFill>
                  <a:srgbClr val="404040"/>
                </a:solidFill>
                <a:latin typeface="Calibri"/>
                <a:cs typeface="Calibri"/>
              </a:rPr>
              <a:t>t</a:t>
            </a:r>
            <a:r>
              <a:rPr sz="2000" spc="-12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no</a:t>
            </a:r>
            <a:r>
              <a:rPr sz="2000" dirty="0">
                <a:solidFill>
                  <a:srgbClr val="404040"/>
                </a:solidFill>
                <a:latin typeface="Calibri"/>
                <a:cs typeface="Calibri"/>
              </a:rPr>
              <a:t>mmer</a:t>
            </a:r>
            <a:r>
              <a:rPr sz="2000" spc="-150"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es</a:t>
            </a:r>
            <a:r>
              <a:rPr sz="2000" spc="-35" dirty="0">
                <a:solidFill>
                  <a:srgbClr val="404040"/>
                </a:solidFill>
                <a:latin typeface="Calibri"/>
                <a:cs typeface="Calibri"/>
              </a:rPr>
              <a:t> </a:t>
            </a:r>
            <a:r>
              <a:rPr sz="2000" spc="40" dirty="0">
                <a:solidFill>
                  <a:srgbClr val="404040"/>
                </a:solidFill>
                <a:latin typeface="Calibri"/>
                <a:cs typeface="Calibri"/>
              </a:rPr>
              <a:t>a</a:t>
            </a:r>
            <a:r>
              <a:rPr sz="2000" spc="15" dirty="0">
                <a:solidFill>
                  <a:srgbClr val="404040"/>
                </a:solidFill>
                <a:latin typeface="Calibri"/>
                <a:cs typeface="Calibri"/>
              </a:rPr>
              <a:t>ss</a:t>
            </a:r>
            <a:r>
              <a:rPr sz="2000" spc="45" dirty="0">
                <a:solidFill>
                  <a:srgbClr val="404040"/>
                </a:solidFill>
                <a:latin typeface="Calibri"/>
                <a:cs typeface="Calibri"/>
              </a:rPr>
              <a:t>o</a:t>
            </a:r>
            <a:r>
              <a:rPr sz="2000" spc="-50" dirty="0">
                <a:solidFill>
                  <a:srgbClr val="404040"/>
                </a:solidFill>
                <a:latin typeface="Calibri"/>
                <a:cs typeface="Calibri"/>
              </a:rPr>
              <a:t>c</a:t>
            </a:r>
            <a:r>
              <a:rPr sz="2000" spc="40" dirty="0">
                <a:solidFill>
                  <a:srgbClr val="404040"/>
                </a:solidFill>
                <a:latin typeface="Calibri"/>
                <a:cs typeface="Calibri"/>
              </a:rPr>
              <a:t>ia</a:t>
            </a:r>
            <a:r>
              <a:rPr sz="2000" spc="30" dirty="0">
                <a:solidFill>
                  <a:srgbClr val="404040"/>
                </a:solidFill>
                <a:latin typeface="Calibri"/>
                <a:cs typeface="Calibri"/>
              </a:rPr>
              <a:t>t</a:t>
            </a:r>
            <a:r>
              <a:rPr sz="2000" spc="40" dirty="0">
                <a:solidFill>
                  <a:srgbClr val="404040"/>
                </a:solidFill>
                <a:latin typeface="Calibri"/>
                <a:cs typeface="Calibri"/>
              </a:rPr>
              <a:t>i</a:t>
            </a:r>
            <a:r>
              <a:rPr sz="2000" spc="45" dirty="0">
                <a:solidFill>
                  <a:srgbClr val="404040"/>
                </a:solidFill>
                <a:latin typeface="Calibri"/>
                <a:cs typeface="Calibri"/>
              </a:rPr>
              <a:t>on</a:t>
            </a:r>
            <a:r>
              <a:rPr sz="2000" dirty="0">
                <a:solidFill>
                  <a:srgbClr val="404040"/>
                </a:solidFill>
                <a:latin typeface="Calibri"/>
                <a:cs typeface="Calibri"/>
              </a:rPr>
              <a:t>s</a:t>
            </a:r>
            <a:r>
              <a:rPr sz="2000" spc="-135" dirty="0">
                <a:solidFill>
                  <a:srgbClr val="404040"/>
                </a:solidFill>
                <a:latin typeface="Calibri"/>
                <a:cs typeface="Calibri"/>
              </a:rPr>
              <a:t> </a:t>
            </a:r>
            <a:r>
              <a:rPr sz="2000" dirty="0">
                <a:solidFill>
                  <a:srgbClr val="404040"/>
                </a:solidFill>
                <a:latin typeface="Calibri"/>
                <a:cs typeface="Calibri"/>
              </a:rPr>
              <a:t>e</a:t>
            </a:r>
            <a:r>
              <a:rPr sz="2000" spc="45" dirty="0">
                <a:solidFill>
                  <a:srgbClr val="404040"/>
                </a:solidFill>
                <a:latin typeface="Calibri"/>
                <a:cs typeface="Calibri"/>
              </a:rPr>
              <a:t>n</a:t>
            </a:r>
            <a:r>
              <a:rPr sz="2000" spc="30" dirty="0">
                <a:solidFill>
                  <a:srgbClr val="404040"/>
                </a:solidFill>
                <a:latin typeface="Calibri"/>
                <a:cs typeface="Calibri"/>
              </a:rPr>
              <a:t>t</a:t>
            </a:r>
            <a:r>
              <a:rPr sz="2000" dirty="0">
                <a:solidFill>
                  <a:srgbClr val="404040"/>
                </a:solidFill>
                <a:latin typeface="Calibri"/>
                <a:cs typeface="Calibri"/>
              </a:rPr>
              <a:t>re</a:t>
            </a:r>
            <a:r>
              <a:rPr sz="2000" spc="-150"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es</a:t>
            </a:r>
            <a:r>
              <a:rPr sz="2000" spc="-135" dirty="0">
                <a:solidFill>
                  <a:srgbClr val="404040"/>
                </a:solidFill>
                <a:latin typeface="Calibri"/>
                <a:cs typeface="Calibri"/>
              </a:rPr>
              <a:t> </a:t>
            </a:r>
            <a:r>
              <a:rPr sz="2000" spc="-50" dirty="0">
                <a:solidFill>
                  <a:srgbClr val="404040"/>
                </a:solidFill>
                <a:latin typeface="Calibri"/>
                <a:cs typeface="Calibri"/>
              </a:rPr>
              <a:t>c</a:t>
            </a:r>
            <a:r>
              <a:rPr sz="2000" spc="40" dirty="0">
                <a:solidFill>
                  <a:srgbClr val="404040"/>
                </a:solidFill>
                <a:latin typeface="Calibri"/>
                <a:cs typeface="Calibri"/>
              </a:rPr>
              <a:t>la</a:t>
            </a:r>
            <a:r>
              <a:rPr sz="2000" spc="15" dirty="0">
                <a:solidFill>
                  <a:srgbClr val="404040"/>
                </a:solidFill>
                <a:latin typeface="Calibri"/>
                <a:cs typeface="Calibri"/>
              </a:rPr>
              <a:t>ss</a:t>
            </a:r>
            <a:r>
              <a:rPr sz="2000" dirty="0">
                <a:solidFill>
                  <a:srgbClr val="404040"/>
                </a:solidFill>
                <a:latin typeface="Calibri"/>
                <a:cs typeface="Calibri"/>
              </a:rPr>
              <a:t>es</a:t>
            </a:r>
            <a:endParaRPr sz="2000" dirty="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10" dirty="0">
                <a:solidFill>
                  <a:srgbClr val="404040"/>
                </a:solidFill>
                <a:latin typeface="Calibri"/>
                <a:cs typeface="Calibri"/>
              </a:rPr>
              <a:t>Ils</a:t>
            </a:r>
            <a:r>
              <a:rPr sz="2000" spc="-35" dirty="0">
                <a:solidFill>
                  <a:srgbClr val="404040"/>
                </a:solidFill>
                <a:latin typeface="Calibri"/>
                <a:cs typeface="Calibri"/>
              </a:rPr>
              <a:t> </a:t>
            </a:r>
            <a:r>
              <a:rPr sz="2000" spc="25" dirty="0">
                <a:solidFill>
                  <a:srgbClr val="404040"/>
                </a:solidFill>
                <a:latin typeface="Calibri"/>
                <a:cs typeface="Calibri"/>
              </a:rPr>
              <a:t>sont</a:t>
            </a:r>
            <a:r>
              <a:rPr sz="2000" spc="-125" dirty="0">
                <a:solidFill>
                  <a:srgbClr val="404040"/>
                </a:solidFill>
                <a:latin typeface="Calibri"/>
                <a:cs typeface="Calibri"/>
              </a:rPr>
              <a:t> </a:t>
            </a:r>
            <a:r>
              <a:rPr sz="2000" spc="25" dirty="0">
                <a:solidFill>
                  <a:srgbClr val="404040"/>
                </a:solidFill>
                <a:latin typeface="Calibri"/>
                <a:cs typeface="Calibri"/>
              </a:rPr>
              <a:t>utiles</a:t>
            </a:r>
            <a:r>
              <a:rPr sz="2000" spc="-130" dirty="0">
                <a:solidFill>
                  <a:srgbClr val="404040"/>
                </a:solidFill>
                <a:latin typeface="Calibri"/>
                <a:cs typeface="Calibri"/>
              </a:rPr>
              <a:t> </a:t>
            </a:r>
            <a:r>
              <a:rPr sz="2000" spc="30" dirty="0">
                <a:solidFill>
                  <a:srgbClr val="404040"/>
                </a:solidFill>
                <a:latin typeface="Calibri"/>
                <a:cs typeface="Calibri"/>
              </a:rPr>
              <a:t>pour</a:t>
            </a:r>
            <a:r>
              <a:rPr sz="2000" spc="-150" dirty="0">
                <a:solidFill>
                  <a:srgbClr val="404040"/>
                </a:solidFill>
                <a:latin typeface="Calibri"/>
                <a:cs typeface="Calibri"/>
              </a:rPr>
              <a:t> </a:t>
            </a:r>
            <a:r>
              <a:rPr sz="2000" spc="20" dirty="0">
                <a:solidFill>
                  <a:srgbClr val="404040"/>
                </a:solidFill>
                <a:latin typeface="Calibri"/>
                <a:cs typeface="Calibri"/>
              </a:rPr>
              <a:t>la</a:t>
            </a:r>
            <a:r>
              <a:rPr sz="2000" spc="-15" dirty="0">
                <a:solidFill>
                  <a:srgbClr val="404040"/>
                </a:solidFill>
                <a:latin typeface="Calibri"/>
                <a:cs typeface="Calibri"/>
              </a:rPr>
              <a:t> </a:t>
            </a:r>
            <a:r>
              <a:rPr sz="2000" spc="20" dirty="0">
                <a:solidFill>
                  <a:srgbClr val="404040"/>
                </a:solidFill>
                <a:latin typeface="Calibri"/>
                <a:cs typeface="Calibri"/>
              </a:rPr>
              <a:t>lisibilité</a:t>
            </a:r>
            <a:r>
              <a:rPr sz="2000" spc="-145" dirty="0">
                <a:solidFill>
                  <a:srgbClr val="404040"/>
                </a:solidFill>
                <a:latin typeface="Calibri"/>
                <a:cs typeface="Calibri"/>
              </a:rPr>
              <a:t> </a:t>
            </a:r>
            <a:r>
              <a:rPr sz="2000" dirty="0">
                <a:solidFill>
                  <a:srgbClr val="404040"/>
                </a:solidFill>
                <a:latin typeface="Calibri"/>
                <a:cs typeface="Calibri"/>
              </a:rPr>
              <a:t>et</a:t>
            </a:r>
            <a:r>
              <a:rPr sz="2000" spc="-125" dirty="0">
                <a:solidFill>
                  <a:srgbClr val="404040"/>
                </a:solidFill>
                <a:latin typeface="Calibri"/>
                <a:cs typeface="Calibri"/>
              </a:rPr>
              <a:t> </a:t>
            </a:r>
            <a:r>
              <a:rPr sz="2000" spc="20" dirty="0">
                <a:solidFill>
                  <a:srgbClr val="404040"/>
                </a:solidFill>
                <a:latin typeface="Calibri"/>
                <a:cs typeface="Calibri"/>
              </a:rPr>
              <a:t>la</a:t>
            </a:r>
            <a:r>
              <a:rPr sz="2000" spc="-10" dirty="0">
                <a:solidFill>
                  <a:srgbClr val="404040"/>
                </a:solidFill>
                <a:latin typeface="Calibri"/>
                <a:cs typeface="Calibri"/>
              </a:rPr>
              <a:t> </a:t>
            </a:r>
            <a:r>
              <a:rPr sz="2000" spc="15" dirty="0">
                <a:solidFill>
                  <a:srgbClr val="404040"/>
                </a:solidFill>
                <a:latin typeface="Calibri"/>
                <a:cs typeface="Calibri"/>
              </a:rPr>
              <a:t>compréhension</a:t>
            </a:r>
            <a:r>
              <a:rPr sz="2000" spc="-204" dirty="0">
                <a:solidFill>
                  <a:srgbClr val="404040"/>
                </a:solidFill>
                <a:latin typeface="Calibri"/>
                <a:cs typeface="Calibri"/>
              </a:rPr>
              <a:t> </a:t>
            </a:r>
            <a:r>
              <a:rPr sz="2000" spc="20" dirty="0">
                <a:solidFill>
                  <a:srgbClr val="404040"/>
                </a:solidFill>
                <a:latin typeface="Calibri"/>
                <a:cs typeface="Calibri"/>
              </a:rPr>
              <a:t>du</a:t>
            </a:r>
            <a:r>
              <a:rPr sz="2000" spc="-105" dirty="0">
                <a:solidFill>
                  <a:srgbClr val="404040"/>
                </a:solidFill>
                <a:latin typeface="Calibri"/>
                <a:cs typeface="Calibri"/>
              </a:rPr>
              <a:t> </a:t>
            </a:r>
            <a:r>
              <a:rPr sz="2000" spc="10" dirty="0">
                <a:solidFill>
                  <a:srgbClr val="404040"/>
                </a:solidFill>
                <a:latin typeface="Calibri"/>
                <a:cs typeface="Calibri"/>
              </a:rPr>
              <a:t>diagramme.</a:t>
            </a:r>
            <a:endParaRPr sz="2000" dirty="0">
              <a:latin typeface="Calibri"/>
              <a:cs typeface="Calibri"/>
            </a:endParaRPr>
          </a:p>
          <a:p>
            <a:pPr marL="12700">
              <a:lnSpc>
                <a:spcPct val="100000"/>
              </a:lnSpc>
              <a:spcBef>
                <a:spcPts val="1200"/>
              </a:spcBef>
              <a:buClr>
                <a:srgbClr val="E48312"/>
              </a:buClr>
              <a:buSzPct val="95000"/>
              <a:tabLst>
                <a:tab pos="241300" algn="l"/>
              </a:tabLst>
            </a:pPr>
            <a:endParaRPr sz="20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82529"/>
            <a:ext cx="5879465" cy="689932"/>
          </a:xfrm>
          <a:prstGeom prst="rect">
            <a:avLst/>
          </a:prstGeom>
        </p:spPr>
        <p:txBody>
          <a:bodyPr vert="horz" wrap="square" lIns="0" tIns="12700" rIns="0" bIns="0" rtlCol="0">
            <a:spAutoFit/>
          </a:bodyPr>
          <a:lstStyle/>
          <a:p>
            <a:pPr marL="12700">
              <a:lnSpc>
                <a:spcPct val="100000"/>
              </a:lnSpc>
              <a:spcBef>
                <a:spcPts val="100"/>
              </a:spcBef>
            </a:pPr>
            <a:r>
              <a:rPr spc="-80" dirty="0" err="1"/>
              <a:t>Généralisation</a:t>
            </a:r>
            <a:endParaRPr spc="-80" dirty="0"/>
          </a:p>
        </p:txBody>
      </p:sp>
      <p:sp>
        <p:nvSpPr>
          <p:cNvPr id="3" name="object 3"/>
          <p:cNvSpPr txBox="1"/>
          <p:nvPr/>
        </p:nvSpPr>
        <p:spPr>
          <a:xfrm>
            <a:off x="1084580" y="1281379"/>
            <a:ext cx="10085070" cy="4085734"/>
          </a:xfrm>
          <a:prstGeom prst="rect">
            <a:avLst/>
          </a:prstGeom>
        </p:spPr>
        <p:txBody>
          <a:bodyPr vert="horz" wrap="square" lIns="0" tIns="43180" rIns="0" bIns="0" rtlCol="0">
            <a:spAutoFit/>
          </a:bodyPr>
          <a:lstStyle/>
          <a:p>
            <a:pPr marL="101600" marR="145415" indent="-88900">
              <a:lnSpc>
                <a:spcPts val="2200"/>
              </a:lnSpc>
              <a:spcBef>
                <a:spcPts val="340"/>
              </a:spcBef>
              <a:buClr>
                <a:srgbClr val="E48312"/>
              </a:buClr>
              <a:buSzPct val="95000"/>
              <a:buFont typeface="Wingdings"/>
              <a:buChar char=""/>
              <a:tabLst>
                <a:tab pos="241300" algn="l"/>
              </a:tabLst>
            </a:pPr>
            <a:r>
              <a:rPr sz="2000" spc="25" dirty="0">
                <a:solidFill>
                  <a:srgbClr val="404040"/>
                </a:solidFill>
                <a:latin typeface="Calibri"/>
                <a:cs typeface="Calibri"/>
              </a:rPr>
              <a:t>Relation</a:t>
            </a:r>
            <a:r>
              <a:rPr sz="2000" spc="-105" dirty="0">
                <a:solidFill>
                  <a:srgbClr val="404040"/>
                </a:solidFill>
                <a:latin typeface="Calibri"/>
                <a:cs typeface="Calibri"/>
              </a:rPr>
              <a:t> </a:t>
            </a:r>
            <a:r>
              <a:rPr sz="2000" spc="15" dirty="0">
                <a:solidFill>
                  <a:srgbClr val="404040"/>
                </a:solidFill>
                <a:latin typeface="Calibri"/>
                <a:cs typeface="Calibri"/>
              </a:rPr>
              <a:t>entre</a:t>
            </a:r>
            <a:r>
              <a:rPr sz="2000" spc="-145" dirty="0">
                <a:solidFill>
                  <a:srgbClr val="404040"/>
                </a:solidFill>
                <a:latin typeface="Calibri"/>
                <a:cs typeface="Calibri"/>
              </a:rPr>
              <a:t> </a:t>
            </a:r>
            <a:r>
              <a:rPr sz="2000" spc="15" dirty="0">
                <a:solidFill>
                  <a:srgbClr val="404040"/>
                </a:solidFill>
                <a:latin typeface="Calibri"/>
                <a:cs typeface="Calibri"/>
              </a:rPr>
              <a:t>des</a:t>
            </a:r>
            <a:r>
              <a:rPr sz="2000" spc="-130" dirty="0">
                <a:solidFill>
                  <a:srgbClr val="404040"/>
                </a:solidFill>
                <a:latin typeface="Calibri"/>
                <a:cs typeface="Calibri"/>
              </a:rPr>
              <a:t> </a:t>
            </a:r>
            <a:r>
              <a:rPr sz="2000" spc="5" dirty="0">
                <a:solidFill>
                  <a:srgbClr val="404040"/>
                </a:solidFill>
                <a:latin typeface="Calibri"/>
                <a:cs typeface="Calibri"/>
              </a:rPr>
              <a:t>classes</a:t>
            </a:r>
            <a:r>
              <a:rPr sz="2000" spc="-30" dirty="0">
                <a:solidFill>
                  <a:srgbClr val="404040"/>
                </a:solidFill>
                <a:latin typeface="Calibri"/>
                <a:cs typeface="Calibri"/>
              </a:rPr>
              <a:t> </a:t>
            </a:r>
            <a:r>
              <a:rPr sz="2000" spc="20" dirty="0">
                <a:solidFill>
                  <a:srgbClr val="404040"/>
                </a:solidFill>
                <a:latin typeface="Calibri"/>
                <a:cs typeface="Calibri"/>
              </a:rPr>
              <a:t>où</a:t>
            </a:r>
            <a:r>
              <a:rPr sz="2000" spc="-100" dirty="0">
                <a:solidFill>
                  <a:srgbClr val="404040"/>
                </a:solidFill>
                <a:latin typeface="Calibri"/>
                <a:cs typeface="Calibri"/>
              </a:rPr>
              <a:t> </a:t>
            </a:r>
            <a:r>
              <a:rPr sz="2000" spc="25" dirty="0">
                <a:solidFill>
                  <a:srgbClr val="404040"/>
                </a:solidFill>
                <a:latin typeface="Calibri"/>
                <a:cs typeface="Calibri"/>
              </a:rPr>
              <a:t>l’une</a:t>
            </a:r>
            <a:r>
              <a:rPr sz="2000" spc="-150" dirty="0">
                <a:solidFill>
                  <a:srgbClr val="404040"/>
                </a:solidFill>
                <a:latin typeface="Calibri"/>
                <a:cs typeface="Calibri"/>
              </a:rPr>
              <a:t> </a:t>
            </a:r>
            <a:r>
              <a:rPr sz="2000" spc="15" dirty="0">
                <a:solidFill>
                  <a:srgbClr val="404040"/>
                </a:solidFill>
                <a:latin typeface="Calibri"/>
                <a:cs typeface="Calibri"/>
              </a:rPr>
              <a:t>des</a:t>
            </a:r>
            <a:r>
              <a:rPr sz="2000" spc="-30" dirty="0">
                <a:solidFill>
                  <a:srgbClr val="404040"/>
                </a:solidFill>
                <a:latin typeface="Calibri"/>
                <a:cs typeface="Calibri"/>
              </a:rPr>
              <a:t> </a:t>
            </a:r>
            <a:r>
              <a:rPr sz="2000" spc="5" dirty="0">
                <a:solidFill>
                  <a:srgbClr val="404040"/>
                </a:solidFill>
                <a:latin typeface="Calibri"/>
                <a:cs typeface="Calibri"/>
              </a:rPr>
              <a:t>classes</a:t>
            </a:r>
            <a:r>
              <a:rPr sz="2000" spc="-30" dirty="0">
                <a:solidFill>
                  <a:srgbClr val="404040"/>
                </a:solidFill>
                <a:latin typeface="Calibri"/>
                <a:cs typeface="Calibri"/>
              </a:rPr>
              <a:t> </a:t>
            </a:r>
            <a:r>
              <a:rPr sz="2000" spc="15" dirty="0">
                <a:solidFill>
                  <a:srgbClr val="404040"/>
                </a:solidFill>
                <a:latin typeface="Calibri"/>
                <a:cs typeface="Calibri"/>
              </a:rPr>
              <a:t>partage</a:t>
            </a:r>
            <a:r>
              <a:rPr sz="2000" spc="-145" dirty="0">
                <a:solidFill>
                  <a:srgbClr val="404040"/>
                </a:solidFill>
                <a:latin typeface="Calibri"/>
                <a:cs typeface="Calibri"/>
              </a:rPr>
              <a:t> </a:t>
            </a:r>
            <a:r>
              <a:rPr sz="2000" spc="20" dirty="0">
                <a:solidFill>
                  <a:srgbClr val="404040"/>
                </a:solidFill>
                <a:latin typeface="Calibri"/>
                <a:cs typeface="Calibri"/>
              </a:rPr>
              <a:t>la</a:t>
            </a:r>
            <a:r>
              <a:rPr sz="2000" spc="-110" dirty="0">
                <a:solidFill>
                  <a:srgbClr val="404040"/>
                </a:solidFill>
                <a:latin typeface="Calibri"/>
                <a:cs typeface="Calibri"/>
              </a:rPr>
              <a:t> </a:t>
            </a:r>
            <a:r>
              <a:rPr sz="2000" spc="10" dirty="0">
                <a:solidFill>
                  <a:srgbClr val="404040"/>
                </a:solidFill>
                <a:latin typeface="Calibri"/>
                <a:cs typeface="Calibri"/>
              </a:rPr>
              <a:t>structure</a:t>
            </a:r>
            <a:r>
              <a:rPr sz="2000" spc="-150" dirty="0">
                <a:solidFill>
                  <a:srgbClr val="404040"/>
                </a:solidFill>
                <a:latin typeface="Calibri"/>
                <a:cs typeface="Calibri"/>
              </a:rPr>
              <a:t> </a:t>
            </a:r>
            <a:r>
              <a:rPr sz="2000" spc="20" dirty="0">
                <a:solidFill>
                  <a:srgbClr val="404040"/>
                </a:solidFill>
                <a:latin typeface="Calibri"/>
                <a:cs typeface="Calibri"/>
              </a:rPr>
              <a:t>ou</a:t>
            </a:r>
            <a:r>
              <a:rPr sz="2000" dirty="0">
                <a:solidFill>
                  <a:srgbClr val="404040"/>
                </a:solidFill>
                <a:latin typeface="Calibri"/>
                <a:cs typeface="Calibri"/>
              </a:rPr>
              <a:t> </a:t>
            </a:r>
            <a:r>
              <a:rPr sz="2000" spc="20" dirty="0">
                <a:solidFill>
                  <a:srgbClr val="404040"/>
                </a:solidFill>
                <a:latin typeface="Calibri"/>
                <a:cs typeface="Calibri"/>
              </a:rPr>
              <a:t>le</a:t>
            </a:r>
            <a:r>
              <a:rPr sz="2000" spc="-45" dirty="0">
                <a:solidFill>
                  <a:srgbClr val="404040"/>
                </a:solidFill>
                <a:latin typeface="Calibri"/>
                <a:cs typeface="Calibri"/>
              </a:rPr>
              <a:t> </a:t>
            </a:r>
            <a:r>
              <a:rPr sz="2000" spc="10" dirty="0">
                <a:solidFill>
                  <a:srgbClr val="404040"/>
                </a:solidFill>
                <a:latin typeface="Calibri"/>
                <a:cs typeface="Calibri"/>
              </a:rPr>
              <a:t>comportement</a:t>
            </a:r>
            <a:r>
              <a:rPr sz="2000" spc="-120" dirty="0">
                <a:solidFill>
                  <a:srgbClr val="404040"/>
                </a:solidFill>
                <a:latin typeface="Calibri"/>
                <a:cs typeface="Calibri"/>
              </a:rPr>
              <a:t> </a:t>
            </a:r>
            <a:r>
              <a:rPr sz="2000" spc="25" dirty="0">
                <a:solidFill>
                  <a:srgbClr val="404040"/>
                </a:solidFill>
                <a:latin typeface="Calibri"/>
                <a:cs typeface="Calibri"/>
              </a:rPr>
              <a:t>d’une </a:t>
            </a:r>
            <a:r>
              <a:rPr sz="2000" spc="-434" dirty="0">
                <a:solidFill>
                  <a:srgbClr val="404040"/>
                </a:solidFill>
                <a:latin typeface="Calibri"/>
                <a:cs typeface="Calibri"/>
              </a:rPr>
              <a:t> </a:t>
            </a:r>
            <a:r>
              <a:rPr sz="2000" spc="20" dirty="0">
                <a:solidFill>
                  <a:srgbClr val="404040"/>
                </a:solidFill>
                <a:latin typeface="Calibri"/>
                <a:cs typeface="Calibri"/>
              </a:rPr>
              <a:t>autre</a:t>
            </a:r>
            <a:r>
              <a:rPr sz="2000" spc="-155" dirty="0">
                <a:solidFill>
                  <a:srgbClr val="404040"/>
                </a:solidFill>
                <a:latin typeface="Calibri"/>
                <a:cs typeface="Calibri"/>
              </a:rPr>
              <a:t> </a:t>
            </a:r>
            <a:r>
              <a:rPr sz="2000" spc="10" dirty="0">
                <a:solidFill>
                  <a:srgbClr val="404040"/>
                </a:solidFill>
                <a:latin typeface="Calibri"/>
                <a:cs typeface="Calibri"/>
              </a:rPr>
              <a:t>classe</a:t>
            </a:r>
            <a:endParaRPr sz="2000" dirty="0">
              <a:latin typeface="Calibri"/>
              <a:cs typeface="Calibri"/>
            </a:endParaRPr>
          </a:p>
          <a:p>
            <a:pPr marL="241300" indent="-228600">
              <a:lnSpc>
                <a:spcPct val="100000"/>
              </a:lnSpc>
              <a:spcBef>
                <a:spcPts val="1160"/>
              </a:spcBef>
              <a:buClr>
                <a:srgbClr val="E48312"/>
              </a:buClr>
              <a:buSzPct val="95000"/>
              <a:buFont typeface="Wingdings"/>
              <a:buChar char=""/>
              <a:tabLst>
                <a:tab pos="241300" algn="l"/>
              </a:tabLst>
            </a:pPr>
            <a:r>
              <a:rPr sz="2000" spc="5" dirty="0">
                <a:solidFill>
                  <a:srgbClr val="404040"/>
                </a:solidFill>
                <a:latin typeface="Calibri"/>
                <a:cs typeface="Calibri"/>
              </a:rPr>
              <a:t>Défini</a:t>
            </a:r>
            <a:r>
              <a:rPr sz="2000" spc="-114" dirty="0">
                <a:solidFill>
                  <a:srgbClr val="404040"/>
                </a:solidFill>
                <a:latin typeface="Calibri"/>
                <a:cs typeface="Calibri"/>
              </a:rPr>
              <a:t> </a:t>
            </a:r>
            <a:r>
              <a:rPr sz="2000" spc="30" dirty="0">
                <a:solidFill>
                  <a:srgbClr val="404040"/>
                </a:solidFill>
                <a:latin typeface="Calibri"/>
                <a:cs typeface="Calibri"/>
              </a:rPr>
              <a:t>une</a:t>
            </a:r>
            <a:r>
              <a:rPr sz="2000" spc="-40" dirty="0">
                <a:solidFill>
                  <a:srgbClr val="404040"/>
                </a:solidFill>
                <a:latin typeface="Calibri"/>
                <a:cs typeface="Calibri"/>
              </a:rPr>
              <a:t> </a:t>
            </a:r>
            <a:r>
              <a:rPr sz="2000" spc="15" dirty="0">
                <a:solidFill>
                  <a:srgbClr val="404040"/>
                </a:solidFill>
                <a:latin typeface="Calibri"/>
                <a:cs typeface="Calibri"/>
              </a:rPr>
              <a:t>hiérarchie</a:t>
            </a:r>
            <a:r>
              <a:rPr sz="2000" spc="-150" dirty="0">
                <a:solidFill>
                  <a:srgbClr val="404040"/>
                </a:solidFill>
                <a:latin typeface="Calibri"/>
                <a:cs typeface="Calibri"/>
              </a:rPr>
              <a:t> </a:t>
            </a:r>
            <a:r>
              <a:rPr sz="2000" dirty="0">
                <a:solidFill>
                  <a:srgbClr val="404040"/>
                </a:solidFill>
                <a:latin typeface="Calibri"/>
                <a:cs typeface="Calibri"/>
              </a:rPr>
              <a:t>d’abstractions</a:t>
            </a:r>
            <a:r>
              <a:rPr sz="2000" spc="-130" dirty="0">
                <a:solidFill>
                  <a:srgbClr val="404040"/>
                </a:solidFill>
                <a:latin typeface="Calibri"/>
                <a:cs typeface="Calibri"/>
              </a:rPr>
              <a:t> </a:t>
            </a:r>
            <a:r>
              <a:rPr sz="2000" spc="20" dirty="0">
                <a:solidFill>
                  <a:srgbClr val="404040"/>
                </a:solidFill>
                <a:latin typeface="Calibri"/>
                <a:cs typeface="Calibri"/>
              </a:rPr>
              <a:t>où</a:t>
            </a:r>
            <a:r>
              <a:rPr sz="2000" spc="-100" dirty="0">
                <a:solidFill>
                  <a:srgbClr val="404040"/>
                </a:solidFill>
                <a:latin typeface="Calibri"/>
                <a:cs typeface="Calibri"/>
              </a:rPr>
              <a:t> </a:t>
            </a:r>
            <a:r>
              <a:rPr sz="2000" spc="15" dirty="0">
                <a:solidFill>
                  <a:srgbClr val="404040"/>
                </a:solidFill>
                <a:latin typeface="Calibri"/>
                <a:cs typeface="Calibri"/>
              </a:rPr>
              <a:t>des</a:t>
            </a:r>
            <a:r>
              <a:rPr sz="2000" spc="-130" dirty="0">
                <a:solidFill>
                  <a:srgbClr val="404040"/>
                </a:solidFill>
                <a:latin typeface="Calibri"/>
                <a:cs typeface="Calibri"/>
              </a:rPr>
              <a:t> </a:t>
            </a:r>
            <a:r>
              <a:rPr sz="2000" spc="10" dirty="0">
                <a:solidFill>
                  <a:srgbClr val="404040"/>
                </a:solidFill>
                <a:latin typeface="Calibri"/>
                <a:cs typeface="Calibri"/>
              </a:rPr>
              <a:t>sous-classes</a:t>
            </a:r>
            <a:r>
              <a:rPr sz="2000" spc="-130" dirty="0">
                <a:solidFill>
                  <a:srgbClr val="404040"/>
                </a:solidFill>
                <a:latin typeface="Calibri"/>
                <a:cs typeface="Calibri"/>
              </a:rPr>
              <a:t> </a:t>
            </a:r>
            <a:r>
              <a:rPr sz="2000" spc="15" dirty="0">
                <a:solidFill>
                  <a:srgbClr val="404040"/>
                </a:solidFill>
                <a:latin typeface="Calibri"/>
                <a:cs typeface="Calibri"/>
              </a:rPr>
              <a:t>hérite</a:t>
            </a:r>
            <a:r>
              <a:rPr sz="2000" spc="-145" dirty="0">
                <a:solidFill>
                  <a:srgbClr val="404040"/>
                </a:solidFill>
                <a:latin typeface="Calibri"/>
                <a:cs typeface="Calibri"/>
              </a:rPr>
              <a:t> </a:t>
            </a:r>
            <a:r>
              <a:rPr sz="2000" spc="25" dirty="0">
                <a:solidFill>
                  <a:srgbClr val="404040"/>
                </a:solidFill>
                <a:latin typeface="Calibri"/>
                <a:cs typeface="Calibri"/>
              </a:rPr>
              <a:t>d’une</a:t>
            </a:r>
            <a:r>
              <a:rPr sz="2000" spc="-145" dirty="0">
                <a:solidFill>
                  <a:srgbClr val="404040"/>
                </a:solidFill>
                <a:latin typeface="Calibri"/>
                <a:cs typeface="Calibri"/>
              </a:rPr>
              <a:t> </a:t>
            </a:r>
            <a:r>
              <a:rPr sz="2000" spc="20" dirty="0">
                <a:solidFill>
                  <a:srgbClr val="404040"/>
                </a:solidFill>
                <a:latin typeface="Calibri"/>
                <a:cs typeface="Calibri"/>
              </a:rPr>
              <a:t>ou</a:t>
            </a:r>
            <a:r>
              <a:rPr sz="2000" spc="-100" dirty="0">
                <a:solidFill>
                  <a:srgbClr val="404040"/>
                </a:solidFill>
                <a:latin typeface="Calibri"/>
                <a:cs typeface="Calibri"/>
              </a:rPr>
              <a:t> </a:t>
            </a:r>
            <a:r>
              <a:rPr sz="2000" spc="25" dirty="0">
                <a:solidFill>
                  <a:srgbClr val="404040"/>
                </a:solidFill>
                <a:latin typeface="Calibri"/>
                <a:cs typeface="Calibri"/>
              </a:rPr>
              <a:t>plusieurs</a:t>
            </a:r>
            <a:r>
              <a:rPr sz="2000" spc="-130" dirty="0">
                <a:solidFill>
                  <a:srgbClr val="404040"/>
                </a:solidFill>
                <a:latin typeface="Calibri"/>
                <a:cs typeface="Calibri"/>
              </a:rPr>
              <a:t> </a:t>
            </a:r>
            <a:r>
              <a:rPr sz="2000" spc="20" dirty="0">
                <a:solidFill>
                  <a:srgbClr val="404040"/>
                </a:solidFill>
                <a:latin typeface="Calibri"/>
                <a:cs typeface="Calibri"/>
              </a:rPr>
              <a:t>super</a:t>
            </a:r>
            <a:r>
              <a:rPr sz="2000" spc="-145" dirty="0">
                <a:solidFill>
                  <a:srgbClr val="404040"/>
                </a:solidFill>
                <a:latin typeface="Calibri"/>
                <a:cs typeface="Calibri"/>
              </a:rPr>
              <a:t> </a:t>
            </a:r>
            <a:r>
              <a:rPr sz="2000" spc="-5" dirty="0">
                <a:solidFill>
                  <a:srgbClr val="404040"/>
                </a:solidFill>
                <a:latin typeface="Calibri"/>
                <a:cs typeface="Calibri"/>
              </a:rPr>
              <a:t>classes.</a:t>
            </a:r>
            <a:endParaRPr sz="2000" dirty="0">
              <a:latin typeface="Calibri"/>
              <a:cs typeface="Calibri"/>
            </a:endParaRPr>
          </a:p>
          <a:p>
            <a:pPr marL="419734" lvl="1" indent="-204470">
              <a:lnSpc>
                <a:spcPct val="100000"/>
              </a:lnSpc>
              <a:spcBef>
                <a:spcPts val="100"/>
              </a:spcBef>
              <a:buClr>
                <a:srgbClr val="E48312"/>
              </a:buClr>
              <a:buSzPct val="94444"/>
              <a:buFont typeface="Wingdings"/>
              <a:buChar char=""/>
              <a:tabLst>
                <a:tab pos="420370" algn="l"/>
              </a:tabLst>
            </a:pPr>
            <a:r>
              <a:rPr sz="1800" spc="-15" dirty="0">
                <a:solidFill>
                  <a:srgbClr val="404040"/>
                </a:solidFill>
                <a:latin typeface="Calibri"/>
                <a:cs typeface="Calibri"/>
              </a:rPr>
              <a:t>Héritage</a:t>
            </a:r>
            <a:r>
              <a:rPr sz="1800" spc="70" dirty="0">
                <a:solidFill>
                  <a:srgbClr val="404040"/>
                </a:solidFill>
                <a:latin typeface="Calibri"/>
                <a:cs typeface="Calibri"/>
              </a:rPr>
              <a:t> </a:t>
            </a:r>
            <a:r>
              <a:rPr sz="1800" spc="-25" dirty="0">
                <a:solidFill>
                  <a:srgbClr val="404040"/>
                </a:solidFill>
                <a:latin typeface="Calibri"/>
                <a:cs typeface="Calibri"/>
              </a:rPr>
              <a:t>simple</a:t>
            </a:r>
            <a:endParaRPr sz="1800" dirty="0">
              <a:latin typeface="Calibri"/>
              <a:cs typeface="Calibri"/>
            </a:endParaRPr>
          </a:p>
          <a:p>
            <a:pPr marL="419734" lvl="1" indent="-204470">
              <a:lnSpc>
                <a:spcPct val="100000"/>
              </a:lnSpc>
              <a:spcBef>
                <a:spcPts val="439"/>
              </a:spcBef>
              <a:buClr>
                <a:srgbClr val="E48312"/>
              </a:buClr>
              <a:buSzPct val="94444"/>
              <a:buFont typeface="Wingdings"/>
              <a:buChar char=""/>
              <a:tabLst>
                <a:tab pos="420370" algn="l"/>
              </a:tabLst>
            </a:pPr>
            <a:r>
              <a:rPr sz="1800" spc="-15" dirty="0">
                <a:solidFill>
                  <a:srgbClr val="404040"/>
                </a:solidFill>
                <a:latin typeface="Calibri"/>
                <a:cs typeface="Calibri"/>
              </a:rPr>
              <a:t>Héritage</a:t>
            </a:r>
            <a:r>
              <a:rPr sz="1800" spc="65" dirty="0">
                <a:solidFill>
                  <a:srgbClr val="404040"/>
                </a:solidFill>
                <a:latin typeface="Calibri"/>
                <a:cs typeface="Calibri"/>
              </a:rPr>
              <a:t> </a:t>
            </a:r>
            <a:r>
              <a:rPr sz="1800" spc="-25" dirty="0">
                <a:solidFill>
                  <a:srgbClr val="404040"/>
                </a:solidFill>
                <a:latin typeface="Calibri"/>
                <a:cs typeface="Calibri"/>
              </a:rPr>
              <a:t>multiple</a:t>
            </a:r>
            <a:endParaRPr sz="1800" dirty="0">
              <a:latin typeface="Calibri"/>
              <a:cs typeface="Calibri"/>
            </a:endParaRPr>
          </a:p>
          <a:p>
            <a:pPr marL="241300" indent="-228600">
              <a:lnSpc>
                <a:spcPct val="100000"/>
              </a:lnSpc>
              <a:spcBef>
                <a:spcPts val="1340"/>
              </a:spcBef>
              <a:buClr>
                <a:srgbClr val="E48312"/>
              </a:buClr>
              <a:buSzPct val="95000"/>
              <a:buFont typeface="Wingdings"/>
              <a:buChar char=""/>
              <a:tabLst>
                <a:tab pos="241300" algn="l"/>
              </a:tabLst>
            </a:pPr>
            <a:r>
              <a:rPr sz="2000" dirty="0">
                <a:solidFill>
                  <a:srgbClr val="404040"/>
                </a:solidFill>
                <a:latin typeface="+mj-lt"/>
                <a:cs typeface="Calibri"/>
              </a:rPr>
              <a:t>Traduit la relation « est un », « est une sorte de »</a:t>
            </a:r>
            <a:endParaRPr sz="2000" dirty="0">
              <a:latin typeface="+mj-lt"/>
              <a:cs typeface="Calibri"/>
            </a:endParaRPr>
          </a:p>
          <a:p>
            <a:pPr marL="241300" indent="-228600">
              <a:lnSpc>
                <a:spcPct val="100000"/>
              </a:lnSpc>
              <a:spcBef>
                <a:spcPts val="1200"/>
              </a:spcBef>
              <a:buClr>
                <a:srgbClr val="E48312"/>
              </a:buClr>
              <a:buSzPct val="95000"/>
              <a:buFont typeface="Wingdings"/>
              <a:buChar char=""/>
              <a:tabLst>
                <a:tab pos="241300" algn="l"/>
                <a:tab pos="6501765" algn="l"/>
              </a:tabLst>
            </a:pPr>
            <a:r>
              <a:rPr sz="2000" dirty="0">
                <a:solidFill>
                  <a:srgbClr val="404040"/>
                </a:solidFill>
                <a:latin typeface="+mj-lt"/>
                <a:cs typeface="Microsoft Sans Serif"/>
              </a:rPr>
              <a:t>La généralisation est une </a:t>
            </a:r>
            <a:r>
              <a:rPr sz="2000" dirty="0">
                <a:solidFill>
                  <a:srgbClr val="DD7F46"/>
                </a:solidFill>
                <a:latin typeface="+mj-lt"/>
                <a:cs typeface="Microsoft Sans Serif"/>
              </a:rPr>
              <a:t>relation non réflexive</a:t>
            </a:r>
            <a:r>
              <a:rPr sz="2000" dirty="0">
                <a:solidFill>
                  <a:srgbClr val="404040"/>
                </a:solidFill>
                <a:latin typeface="+mj-lt"/>
                <a:cs typeface="Microsoft Sans Serif"/>
              </a:rPr>
              <a:t>: une </a:t>
            </a:r>
            <a:r>
              <a:rPr sz="2000" dirty="0" err="1">
                <a:solidFill>
                  <a:srgbClr val="404040"/>
                </a:solidFill>
                <a:latin typeface="+mj-lt"/>
                <a:cs typeface="Microsoft Sans Serif"/>
              </a:rPr>
              <a:t>classe</a:t>
            </a:r>
            <a:r>
              <a:rPr sz="2000" dirty="0">
                <a:solidFill>
                  <a:srgbClr val="404040"/>
                </a:solidFill>
                <a:latin typeface="+mj-lt"/>
                <a:cs typeface="Microsoft Sans Serif"/>
              </a:rPr>
              <a:t> ne</a:t>
            </a:r>
            <a:r>
              <a:rPr lang="fr-FR" sz="2000" dirty="0">
                <a:solidFill>
                  <a:srgbClr val="404040"/>
                </a:solidFill>
                <a:latin typeface="+mj-lt"/>
                <a:cs typeface="Microsoft Sans Serif"/>
              </a:rPr>
              <a:t> </a:t>
            </a:r>
            <a:r>
              <a:rPr sz="2000" dirty="0" err="1">
                <a:solidFill>
                  <a:srgbClr val="404040"/>
                </a:solidFill>
                <a:latin typeface="+mj-lt"/>
                <a:cs typeface="Microsoft Sans Serif"/>
              </a:rPr>
              <a:t>peut</a:t>
            </a:r>
            <a:r>
              <a:rPr sz="2000" dirty="0">
                <a:solidFill>
                  <a:srgbClr val="404040"/>
                </a:solidFill>
                <a:latin typeface="+mj-lt"/>
                <a:cs typeface="Microsoft Sans Serif"/>
              </a:rPr>
              <a:t> pas dériver d’elle-même</a:t>
            </a:r>
            <a:endParaRPr sz="2000" dirty="0">
              <a:latin typeface="+mj-lt"/>
              <a:cs typeface="Microsoft Sans Serif"/>
            </a:endParaRPr>
          </a:p>
          <a:p>
            <a:pPr marL="101600" marR="276860" indent="-88900">
              <a:lnSpc>
                <a:spcPts val="2200"/>
              </a:lnSpc>
              <a:spcBef>
                <a:spcPts val="1340"/>
              </a:spcBef>
              <a:buClr>
                <a:srgbClr val="E48312"/>
              </a:buClr>
              <a:buSzPct val="95000"/>
              <a:buFont typeface="Wingdings"/>
              <a:buChar char=""/>
              <a:tabLst>
                <a:tab pos="241300" algn="l"/>
                <a:tab pos="3098165" algn="l"/>
                <a:tab pos="6628765" algn="l"/>
              </a:tabLst>
            </a:pPr>
            <a:r>
              <a:rPr sz="2000" dirty="0">
                <a:solidFill>
                  <a:srgbClr val="404040"/>
                </a:solidFill>
                <a:latin typeface="+mj-lt"/>
                <a:cs typeface="Microsoft Sans Serif"/>
              </a:rPr>
              <a:t>La généralisation est une </a:t>
            </a:r>
            <a:r>
              <a:rPr sz="2000" dirty="0">
                <a:solidFill>
                  <a:srgbClr val="DD7F46"/>
                </a:solidFill>
                <a:latin typeface="+mj-lt"/>
                <a:cs typeface="Microsoft Sans Serif"/>
              </a:rPr>
              <a:t>relation non symétrique</a:t>
            </a:r>
            <a:r>
              <a:rPr sz="2000" dirty="0">
                <a:solidFill>
                  <a:srgbClr val="404040"/>
                </a:solidFill>
                <a:latin typeface="+mj-lt"/>
                <a:cs typeface="Microsoft Sans Serif"/>
              </a:rPr>
              <a:t>: si </a:t>
            </a:r>
            <a:r>
              <a:rPr sz="2000" dirty="0" err="1">
                <a:solidFill>
                  <a:srgbClr val="404040"/>
                </a:solidFill>
                <a:latin typeface="+mj-lt"/>
                <a:cs typeface="Microsoft Sans Serif"/>
              </a:rPr>
              <a:t>une</a:t>
            </a:r>
            <a:r>
              <a:rPr sz="2000" dirty="0">
                <a:solidFill>
                  <a:srgbClr val="404040"/>
                </a:solidFill>
                <a:latin typeface="+mj-lt"/>
                <a:cs typeface="Microsoft Sans Serif"/>
              </a:rPr>
              <a:t> </a:t>
            </a:r>
            <a:r>
              <a:rPr sz="2000" dirty="0" err="1">
                <a:solidFill>
                  <a:srgbClr val="404040"/>
                </a:solidFill>
                <a:latin typeface="+mj-lt"/>
                <a:cs typeface="Microsoft Sans Serif"/>
              </a:rPr>
              <a:t>classe</a:t>
            </a:r>
            <a:r>
              <a:rPr lang="fr-FR" sz="2000" dirty="0">
                <a:solidFill>
                  <a:srgbClr val="404040"/>
                </a:solidFill>
                <a:latin typeface="+mj-lt"/>
                <a:cs typeface="Microsoft Sans Serif"/>
              </a:rPr>
              <a:t> </a:t>
            </a:r>
            <a:r>
              <a:rPr sz="2000" dirty="0">
                <a:solidFill>
                  <a:srgbClr val="404040"/>
                </a:solidFill>
                <a:latin typeface="+mj-lt"/>
                <a:cs typeface="Microsoft Sans Serif"/>
              </a:rPr>
              <a:t>B dérive d’une classe A, alors la  classe A ne peut pas </a:t>
            </a:r>
            <a:r>
              <a:rPr sz="2000" dirty="0" err="1">
                <a:solidFill>
                  <a:srgbClr val="404040"/>
                </a:solidFill>
                <a:latin typeface="+mj-lt"/>
                <a:cs typeface="Microsoft Sans Serif"/>
              </a:rPr>
              <a:t>dériver</a:t>
            </a:r>
            <a:r>
              <a:rPr lang="fr-FR" sz="2000" dirty="0">
                <a:solidFill>
                  <a:srgbClr val="404040"/>
                </a:solidFill>
                <a:latin typeface="+mj-lt"/>
                <a:cs typeface="Microsoft Sans Serif"/>
              </a:rPr>
              <a:t> </a:t>
            </a:r>
            <a:r>
              <a:rPr sz="2000" dirty="0">
                <a:solidFill>
                  <a:srgbClr val="404040"/>
                </a:solidFill>
                <a:latin typeface="+mj-lt"/>
                <a:cs typeface="Microsoft Sans Serif"/>
              </a:rPr>
              <a:t>de la classe B.</a:t>
            </a:r>
            <a:endParaRPr sz="2000" dirty="0">
              <a:latin typeface="+mj-lt"/>
              <a:cs typeface="Microsoft Sans Serif"/>
            </a:endParaRPr>
          </a:p>
          <a:p>
            <a:pPr marL="101600" marR="137160" indent="-88900">
              <a:lnSpc>
                <a:spcPts val="2100"/>
              </a:lnSpc>
              <a:spcBef>
                <a:spcPts val="1480"/>
              </a:spcBef>
              <a:buClr>
                <a:srgbClr val="E48312"/>
              </a:buClr>
              <a:buSzPct val="95000"/>
              <a:buFont typeface="Wingdings"/>
              <a:buChar char=""/>
              <a:tabLst>
                <a:tab pos="241300" algn="l"/>
                <a:tab pos="2374265" algn="l"/>
                <a:tab pos="6260465" algn="l"/>
              </a:tabLst>
            </a:pPr>
            <a:r>
              <a:rPr sz="2000" dirty="0">
                <a:solidFill>
                  <a:srgbClr val="404040"/>
                </a:solidFill>
                <a:latin typeface="+mj-lt"/>
                <a:cs typeface="Microsoft Sans Serif"/>
              </a:rPr>
              <a:t>La généralisation est par contre une </a:t>
            </a:r>
            <a:r>
              <a:rPr sz="2000" dirty="0">
                <a:solidFill>
                  <a:srgbClr val="DD7F46"/>
                </a:solidFill>
                <a:latin typeface="+mj-lt"/>
                <a:cs typeface="Microsoft Sans Serif"/>
              </a:rPr>
              <a:t>relation transitive</a:t>
            </a:r>
            <a:r>
              <a:rPr sz="2000" dirty="0">
                <a:solidFill>
                  <a:srgbClr val="404040"/>
                </a:solidFill>
                <a:latin typeface="+mj-lt"/>
                <a:cs typeface="Microsoft Sans Serif"/>
              </a:rPr>
              <a:t>: si C	dérive d’une classe B qui dérive </a:t>
            </a:r>
            <a:r>
              <a:rPr sz="2000" dirty="0" err="1">
                <a:solidFill>
                  <a:srgbClr val="404040"/>
                </a:solidFill>
                <a:latin typeface="+mj-lt"/>
                <a:cs typeface="Microsoft Sans Serif"/>
              </a:rPr>
              <a:t>elle</a:t>
            </a:r>
            <a:r>
              <a:rPr sz="2000" dirty="0">
                <a:solidFill>
                  <a:srgbClr val="404040"/>
                </a:solidFill>
                <a:latin typeface="+mj-lt"/>
                <a:cs typeface="Microsoft Sans Serif"/>
              </a:rPr>
              <a:t>- </a:t>
            </a:r>
            <a:r>
              <a:rPr sz="2000" dirty="0" err="1">
                <a:solidFill>
                  <a:srgbClr val="404040"/>
                </a:solidFill>
                <a:latin typeface="+mj-lt"/>
                <a:cs typeface="Microsoft Sans Serif"/>
              </a:rPr>
              <a:t>même</a:t>
            </a:r>
            <a:r>
              <a:rPr sz="2000" dirty="0">
                <a:solidFill>
                  <a:srgbClr val="404040"/>
                </a:solidFill>
                <a:latin typeface="+mj-lt"/>
                <a:cs typeface="Microsoft Sans Serif"/>
              </a:rPr>
              <a:t> d’une </a:t>
            </a:r>
            <a:r>
              <a:rPr sz="2000" dirty="0" err="1">
                <a:solidFill>
                  <a:srgbClr val="404040"/>
                </a:solidFill>
                <a:latin typeface="+mj-lt"/>
                <a:cs typeface="Microsoft Sans Serif"/>
              </a:rPr>
              <a:t>classe</a:t>
            </a:r>
            <a:r>
              <a:rPr sz="2000" dirty="0">
                <a:solidFill>
                  <a:srgbClr val="404040"/>
                </a:solidFill>
                <a:latin typeface="+mj-lt"/>
                <a:cs typeface="Microsoft Sans Serif"/>
              </a:rPr>
              <a:t> A,</a:t>
            </a:r>
            <a:r>
              <a:rPr lang="fr-FR" sz="2000" dirty="0">
                <a:solidFill>
                  <a:srgbClr val="404040"/>
                </a:solidFill>
                <a:latin typeface="+mj-lt"/>
                <a:cs typeface="Microsoft Sans Serif"/>
              </a:rPr>
              <a:t> </a:t>
            </a:r>
            <a:r>
              <a:rPr sz="2000" dirty="0" err="1">
                <a:solidFill>
                  <a:srgbClr val="404040"/>
                </a:solidFill>
                <a:latin typeface="+mj-lt"/>
                <a:cs typeface="Microsoft Sans Serif"/>
              </a:rPr>
              <a:t>alors</a:t>
            </a:r>
            <a:r>
              <a:rPr sz="2000" dirty="0">
                <a:solidFill>
                  <a:srgbClr val="404040"/>
                </a:solidFill>
                <a:latin typeface="+mj-lt"/>
                <a:cs typeface="Microsoft Sans Serif"/>
              </a:rPr>
              <a:t> C dérive également de A.</a:t>
            </a:r>
            <a:endParaRPr sz="2000" dirty="0">
              <a:latin typeface="+mj-lt"/>
              <a:cs typeface="Microsoft Sans Serif"/>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3793490" cy="756920"/>
          </a:xfrm>
          <a:prstGeom prst="rect">
            <a:avLst/>
          </a:prstGeom>
        </p:spPr>
        <p:txBody>
          <a:bodyPr vert="horz" wrap="square" lIns="0" tIns="12700" rIns="0" bIns="0" rtlCol="0">
            <a:spAutoFit/>
          </a:bodyPr>
          <a:lstStyle/>
          <a:p>
            <a:pPr marL="12700">
              <a:lnSpc>
                <a:spcPct val="100000"/>
              </a:lnSpc>
              <a:spcBef>
                <a:spcPts val="100"/>
              </a:spcBef>
            </a:pPr>
            <a:r>
              <a:rPr spc="-75" dirty="0"/>
              <a:t>Héritage</a:t>
            </a:r>
            <a:r>
              <a:rPr spc="-20" dirty="0"/>
              <a:t> </a:t>
            </a:r>
            <a:r>
              <a:rPr spc="-65" dirty="0"/>
              <a:t>Simple</a:t>
            </a:r>
          </a:p>
        </p:txBody>
      </p:sp>
      <p:sp>
        <p:nvSpPr>
          <p:cNvPr id="4" name="object 4"/>
          <p:cNvSpPr/>
          <p:nvPr/>
        </p:nvSpPr>
        <p:spPr>
          <a:xfrm>
            <a:off x="3638550" y="4070350"/>
            <a:ext cx="0" cy="889000"/>
          </a:xfrm>
          <a:custGeom>
            <a:avLst/>
            <a:gdLst/>
            <a:ahLst/>
            <a:cxnLst/>
            <a:rect l="l" t="t" r="r" b="b"/>
            <a:pathLst>
              <a:path h="889000">
                <a:moveTo>
                  <a:pt x="0" y="0"/>
                </a:moveTo>
                <a:lnTo>
                  <a:pt x="0" y="888744"/>
                </a:lnTo>
              </a:path>
            </a:pathLst>
          </a:custGeom>
          <a:ln w="12700">
            <a:solidFill>
              <a:srgbClr val="0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3048000" y="4870449"/>
            <a:ext cx="1155700" cy="673100"/>
          </a:xfrm>
          <a:prstGeom prst="rect">
            <a:avLst/>
          </a:prstGeom>
        </p:spPr>
      </p:pic>
      <p:sp>
        <p:nvSpPr>
          <p:cNvPr id="6" name="object 6"/>
          <p:cNvSpPr/>
          <p:nvPr/>
        </p:nvSpPr>
        <p:spPr>
          <a:xfrm>
            <a:off x="3048000" y="4864099"/>
            <a:ext cx="1155700" cy="685800"/>
          </a:xfrm>
          <a:custGeom>
            <a:avLst/>
            <a:gdLst/>
            <a:ahLst/>
            <a:cxnLst/>
            <a:rect l="l" t="t" r="r" b="b"/>
            <a:pathLst>
              <a:path w="1155700" h="685800">
                <a:moveTo>
                  <a:pt x="1155433" y="2273"/>
                </a:moveTo>
                <a:lnTo>
                  <a:pt x="1153147" y="0"/>
                </a:lnTo>
                <a:lnTo>
                  <a:pt x="1145514" y="0"/>
                </a:lnTo>
                <a:lnTo>
                  <a:pt x="1145514" y="9804"/>
                </a:lnTo>
                <a:lnTo>
                  <a:pt x="1145514" y="355600"/>
                </a:lnTo>
                <a:lnTo>
                  <a:pt x="1142365" y="355600"/>
                </a:lnTo>
                <a:lnTo>
                  <a:pt x="1142365" y="368808"/>
                </a:lnTo>
                <a:lnTo>
                  <a:pt x="1142365" y="482600"/>
                </a:lnTo>
                <a:lnTo>
                  <a:pt x="1142365" y="496201"/>
                </a:lnTo>
                <a:lnTo>
                  <a:pt x="1142365" y="663676"/>
                </a:lnTo>
                <a:lnTo>
                  <a:pt x="12941" y="663676"/>
                </a:lnTo>
                <a:lnTo>
                  <a:pt x="12941" y="496201"/>
                </a:lnTo>
                <a:lnTo>
                  <a:pt x="1142365" y="496201"/>
                </a:lnTo>
                <a:lnTo>
                  <a:pt x="1142365" y="482600"/>
                </a:lnTo>
                <a:lnTo>
                  <a:pt x="12941" y="482600"/>
                </a:lnTo>
                <a:lnTo>
                  <a:pt x="12941" y="368808"/>
                </a:lnTo>
                <a:lnTo>
                  <a:pt x="1142365" y="368808"/>
                </a:lnTo>
                <a:lnTo>
                  <a:pt x="1142365" y="355600"/>
                </a:lnTo>
                <a:lnTo>
                  <a:pt x="9918" y="355600"/>
                </a:lnTo>
                <a:lnTo>
                  <a:pt x="9918" y="9804"/>
                </a:lnTo>
                <a:lnTo>
                  <a:pt x="1145514" y="9804"/>
                </a:lnTo>
                <a:lnTo>
                  <a:pt x="1145514" y="0"/>
                </a:lnTo>
                <a:lnTo>
                  <a:pt x="2286" y="0"/>
                </a:lnTo>
                <a:lnTo>
                  <a:pt x="0" y="2273"/>
                </a:lnTo>
                <a:lnTo>
                  <a:pt x="0" y="355600"/>
                </a:lnTo>
                <a:lnTo>
                  <a:pt x="0" y="482600"/>
                </a:lnTo>
                <a:lnTo>
                  <a:pt x="0" y="670471"/>
                </a:lnTo>
                <a:lnTo>
                  <a:pt x="0" y="685673"/>
                </a:lnTo>
                <a:lnTo>
                  <a:pt x="0" y="685800"/>
                </a:lnTo>
                <a:lnTo>
                  <a:pt x="6845" y="685800"/>
                </a:lnTo>
                <a:lnTo>
                  <a:pt x="12941" y="685800"/>
                </a:lnTo>
                <a:lnTo>
                  <a:pt x="1142365" y="685800"/>
                </a:lnTo>
                <a:lnTo>
                  <a:pt x="1149223" y="685800"/>
                </a:lnTo>
                <a:lnTo>
                  <a:pt x="1155319" y="685800"/>
                </a:lnTo>
                <a:lnTo>
                  <a:pt x="1155306" y="685673"/>
                </a:lnTo>
                <a:lnTo>
                  <a:pt x="1155319" y="670585"/>
                </a:lnTo>
                <a:lnTo>
                  <a:pt x="1155433" y="2273"/>
                </a:lnTo>
                <a:close/>
              </a:path>
            </a:pathLst>
          </a:custGeom>
          <a:solidFill>
            <a:srgbClr val="000000"/>
          </a:solidFill>
        </p:spPr>
        <p:txBody>
          <a:bodyPr wrap="square" lIns="0" tIns="0" rIns="0" bIns="0" rtlCol="0"/>
          <a:lstStyle/>
          <a:p>
            <a:endParaRPr/>
          </a:p>
        </p:txBody>
      </p:sp>
      <p:pic>
        <p:nvPicPr>
          <p:cNvPr id="7" name="object 7"/>
          <p:cNvPicPr/>
          <p:nvPr/>
        </p:nvPicPr>
        <p:blipFill>
          <a:blip r:embed="rId3" cstate="print"/>
          <a:stretch>
            <a:fillRect/>
          </a:stretch>
        </p:blipFill>
        <p:spPr>
          <a:xfrm>
            <a:off x="5838300" y="4861986"/>
            <a:ext cx="1143000" cy="673100"/>
          </a:xfrm>
          <a:prstGeom prst="rect">
            <a:avLst/>
          </a:prstGeom>
        </p:spPr>
      </p:pic>
      <p:sp>
        <p:nvSpPr>
          <p:cNvPr id="8" name="object 8"/>
          <p:cNvSpPr/>
          <p:nvPr/>
        </p:nvSpPr>
        <p:spPr>
          <a:xfrm>
            <a:off x="5842000" y="4864099"/>
            <a:ext cx="1143000" cy="673100"/>
          </a:xfrm>
          <a:custGeom>
            <a:avLst/>
            <a:gdLst/>
            <a:ahLst/>
            <a:cxnLst/>
            <a:rect l="l" t="t" r="r" b="b"/>
            <a:pathLst>
              <a:path w="1143000" h="673100">
                <a:moveTo>
                  <a:pt x="1142619" y="2273"/>
                </a:moveTo>
                <a:lnTo>
                  <a:pt x="1141107" y="0"/>
                </a:lnTo>
                <a:lnTo>
                  <a:pt x="1133551" y="0"/>
                </a:lnTo>
                <a:lnTo>
                  <a:pt x="1133551" y="9804"/>
                </a:lnTo>
                <a:lnTo>
                  <a:pt x="1133551" y="663676"/>
                </a:lnTo>
                <a:lnTo>
                  <a:pt x="9067" y="663676"/>
                </a:lnTo>
                <a:lnTo>
                  <a:pt x="9067" y="9804"/>
                </a:lnTo>
                <a:lnTo>
                  <a:pt x="1133551" y="9804"/>
                </a:lnTo>
                <a:lnTo>
                  <a:pt x="1133551" y="0"/>
                </a:lnTo>
                <a:lnTo>
                  <a:pt x="2260" y="0"/>
                </a:lnTo>
                <a:lnTo>
                  <a:pt x="0" y="2273"/>
                </a:lnTo>
                <a:lnTo>
                  <a:pt x="0" y="670471"/>
                </a:lnTo>
                <a:lnTo>
                  <a:pt x="2260" y="672731"/>
                </a:lnTo>
                <a:lnTo>
                  <a:pt x="4533" y="672731"/>
                </a:lnTo>
                <a:lnTo>
                  <a:pt x="9067" y="672731"/>
                </a:lnTo>
                <a:lnTo>
                  <a:pt x="1133551" y="672731"/>
                </a:lnTo>
                <a:lnTo>
                  <a:pt x="1138085" y="672731"/>
                </a:lnTo>
                <a:lnTo>
                  <a:pt x="1141107" y="672731"/>
                </a:lnTo>
                <a:lnTo>
                  <a:pt x="1142619" y="670471"/>
                </a:lnTo>
                <a:lnTo>
                  <a:pt x="1142619" y="2273"/>
                </a:lnTo>
                <a:close/>
              </a:path>
            </a:pathLst>
          </a:custGeom>
          <a:solidFill>
            <a:srgbClr val="000000"/>
          </a:solidFill>
        </p:spPr>
        <p:txBody>
          <a:bodyPr wrap="square" lIns="0" tIns="0" rIns="0" bIns="0" rtlCol="0"/>
          <a:lstStyle/>
          <a:p>
            <a:endParaRPr/>
          </a:p>
        </p:txBody>
      </p:sp>
      <p:sp>
        <p:nvSpPr>
          <p:cNvPr id="9" name="object 9"/>
          <p:cNvSpPr txBox="1"/>
          <p:nvPr/>
        </p:nvSpPr>
        <p:spPr>
          <a:xfrm>
            <a:off x="5968743" y="4915106"/>
            <a:ext cx="920115" cy="284480"/>
          </a:xfrm>
          <a:prstGeom prst="rect">
            <a:avLst/>
          </a:prstGeom>
        </p:spPr>
        <p:txBody>
          <a:bodyPr vert="horz" wrap="square" lIns="0" tIns="12700" rIns="0" bIns="0" rtlCol="0">
            <a:spAutoFit/>
          </a:bodyPr>
          <a:lstStyle/>
          <a:p>
            <a:pPr marL="12700">
              <a:lnSpc>
                <a:spcPct val="100000"/>
              </a:lnSpc>
              <a:spcBef>
                <a:spcPts val="100"/>
              </a:spcBef>
            </a:pPr>
            <a:r>
              <a:rPr sz="1700" spc="-30" dirty="0">
                <a:latin typeface="Arial MT"/>
                <a:cs typeface="Arial MT"/>
              </a:rPr>
              <a:t>C</a:t>
            </a:r>
            <a:r>
              <a:rPr sz="1700" spc="-50" dirty="0">
                <a:latin typeface="Arial MT"/>
                <a:cs typeface="Arial MT"/>
              </a:rPr>
              <a:t>he</a:t>
            </a:r>
            <a:r>
              <a:rPr sz="1700" spc="50" dirty="0">
                <a:latin typeface="Arial MT"/>
                <a:cs typeface="Arial MT"/>
              </a:rPr>
              <a:t>ck</a:t>
            </a:r>
            <a:r>
              <a:rPr sz="1700" spc="20" dirty="0">
                <a:latin typeface="Arial MT"/>
                <a:cs typeface="Arial MT"/>
              </a:rPr>
              <a:t>i</a:t>
            </a:r>
            <a:r>
              <a:rPr sz="1700" spc="-50" dirty="0">
                <a:latin typeface="Arial MT"/>
                <a:cs typeface="Arial MT"/>
              </a:rPr>
              <a:t>n</a:t>
            </a:r>
            <a:r>
              <a:rPr sz="1700" dirty="0">
                <a:latin typeface="Arial MT"/>
                <a:cs typeface="Arial MT"/>
              </a:rPr>
              <a:t>g</a:t>
            </a:r>
          </a:p>
        </p:txBody>
      </p:sp>
      <p:grpSp>
        <p:nvGrpSpPr>
          <p:cNvPr id="10" name="object 10"/>
          <p:cNvGrpSpPr/>
          <p:nvPr/>
        </p:nvGrpSpPr>
        <p:grpSpPr>
          <a:xfrm>
            <a:off x="4165600" y="1638299"/>
            <a:ext cx="2908616" cy="3901012"/>
            <a:chOff x="4165600" y="1638299"/>
            <a:chExt cx="2908616" cy="3901012"/>
          </a:xfrm>
        </p:grpSpPr>
        <p:sp>
          <p:nvSpPr>
            <p:cNvPr id="11" name="object 11"/>
            <p:cNvSpPr/>
            <p:nvPr/>
          </p:nvSpPr>
          <p:spPr>
            <a:xfrm>
              <a:off x="5840200" y="5209111"/>
              <a:ext cx="1144800" cy="330200"/>
            </a:xfrm>
            <a:custGeom>
              <a:avLst/>
              <a:gdLst/>
              <a:ahLst/>
              <a:cxnLst/>
              <a:rect l="l" t="t" r="r" b="b"/>
              <a:pathLst>
                <a:path w="1155700" h="330200">
                  <a:moveTo>
                    <a:pt x="1155319" y="0"/>
                  </a:moveTo>
                  <a:lnTo>
                    <a:pt x="1142365" y="0"/>
                  </a:lnTo>
                  <a:lnTo>
                    <a:pt x="1142365" y="13208"/>
                  </a:lnTo>
                  <a:lnTo>
                    <a:pt x="1142365" y="127000"/>
                  </a:lnTo>
                  <a:lnTo>
                    <a:pt x="1142365" y="140601"/>
                  </a:lnTo>
                  <a:lnTo>
                    <a:pt x="1142365" y="316484"/>
                  </a:lnTo>
                  <a:lnTo>
                    <a:pt x="12941" y="316484"/>
                  </a:lnTo>
                  <a:lnTo>
                    <a:pt x="12941" y="140601"/>
                  </a:lnTo>
                  <a:lnTo>
                    <a:pt x="1142365" y="140601"/>
                  </a:lnTo>
                  <a:lnTo>
                    <a:pt x="1142365" y="127000"/>
                  </a:lnTo>
                  <a:lnTo>
                    <a:pt x="12941" y="127000"/>
                  </a:lnTo>
                  <a:lnTo>
                    <a:pt x="12941" y="13208"/>
                  </a:lnTo>
                  <a:lnTo>
                    <a:pt x="1142365" y="13208"/>
                  </a:lnTo>
                  <a:lnTo>
                    <a:pt x="1142365" y="0"/>
                  </a:lnTo>
                  <a:lnTo>
                    <a:pt x="0" y="0"/>
                  </a:lnTo>
                  <a:lnTo>
                    <a:pt x="0" y="127000"/>
                  </a:lnTo>
                  <a:lnTo>
                    <a:pt x="0" y="330073"/>
                  </a:lnTo>
                  <a:lnTo>
                    <a:pt x="0" y="330200"/>
                  </a:lnTo>
                  <a:lnTo>
                    <a:pt x="6083" y="330200"/>
                  </a:lnTo>
                  <a:lnTo>
                    <a:pt x="12941" y="330200"/>
                  </a:lnTo>
                  <a:lnTo>
                    <a:pt x="1142365" y="330200"/>
                  </a:lnTo>
                  <a:lnTo>
                    <a:pt x="1148461" y="330200"/>
                  </a:lnTo>
                  <a:lnTo>
                    <a:pt x="1155319" y="330200"/>
                  </a:lnTo>
                  <a:lnTo>
                    <a:pt x="1155319" y="330073"/>
                  </a:lnTo>
                  <a:lnTo>
                    <a:pt x="1155319" y="127000"/>
                  </a:lnTo>
                  <a:lnTo>
                    <a:pt x="1155319" y="0"/>
                  </a:lnTo>
                  <a:close/>
                </a:path>
              </a:pathLst>
            </a:custGeom>
            <a:solidFill>
              <a:srgbClr val="000000"/>
            </a:solidFill>
          </p:spPr>
          <p:txBody>
            <a:bodyPr wrap="square" lIns="0" tIns="0" rIns="0" bIns="0" rtlCol="0"/>
            <a:lstStyle/>
            <a:p>
              <a:endParaRPr/>
            </a:p>
          </p:txBody>
        </p:sp>
        <p:sp>
          <p:nvSpPr>
            <p:cNvPr id="12" name="object 12"/>
            <p:cNvSpPr/>
            <p:nvPr/>
          </p:nvSpPr>
          <p:spPr>
            <a:xfrm>
              <a:off x="6432550" y="4070350"/>
              <a:ext cx="0" cy="800100"/>
            </a:xfrm>
            <a:custGeom>
              <a:avLst/>
              <a:gdLst/>
              <a:ahLst/>
              <a:cxnLst/>
              <a:rect l="l" t="t" r="r" b="b"/>
              <a:pathLst>
                <a:path h="800100">
                  <a:moveTo>
                    <a:pt x="0" y="0"/>
                  </a:moveTo>
                  <a:lnTo>
                    <a:pt x="0" y="799720"/>
                  </a:lnTo>
                </a:path>
              </a:pathLst>
            </a:custGeom>
            <a:ln w="12700">
              <a:solidFill>
                <a:srgbClr val="000000"/>
              </a:solidFill>
            </a:ln>
          </p:spPr>
          <p:txBody>
            <a:bodyPr wrap="square" lIns="0" tIns="0" rIns="0" bIns="0" rtlCol="0"/>
            <a:lstStyle/>
            <a:p>
              <a:endParaRPr/>
            </a:p>
          </p:txBody>
        </p:sp>
        <p:sp>
          <p:nvSpPr>
            <p:cNvPr id="13" name="object 13"/>
            <p:cNvSpPr/>
            <p:nvPr/>
          </p:nvSpPr>
          <p:spPr>
            <a:xfrm>
              <a:off x="5175250" y="3867150"/>
              <a:ext cx="0" cy="203200"/>
            </a:xfrm>
            <a:custGeom>
              <a:avLst/>
              <a:gdLst/>
              <a:ahLst/>
              <a:cxnLst/>
              <a:rect l="l" t="t" r="r" b="b"/>
              <a:pathLst>
                <a:path h="203200">
                  <a:moveTo>
                    <a:pt x="0" y="0"/>
                  </a:moveTo>
                  <a:lnTo>
                    <a:pt x="0" y="202952"/>
                  </a:lnTo>
                </a:path>
              </a:pathLst>
            </a:custGeom>
            <a:ln w="12700">
              <a:solidFill>
                <a:srgbClr val="000000"/>
              </a:solidFill>
            </a:ln>
          </p:spPr>
          <p:txBody>
            <a:bodyPr wrap="square" lIns="0" tIns="0" rIns="0" bIns="0" rtlCol="0"/>
            <a:lstStyle/>
            <a:p>
              <a:endParaRPr/>
            </a:p>
          </p:txBody>
        </p:sp>
        <p:sp>
          <p:nvSpPr>
            <p:cNvPr id="14" name="object 14"/>
            <p:cNvSpPr/>
            <p:nvPr/>
          </p:nvSpPr>
          <p:spPr>
            <a:xfrm>
              <a:off x="5041900" y="3543299"/>
              <a:ext cx="241300" cy="317500"/>
            </a:xfrm>
            <a:custGeom>
              <a:avLst/>
              <a:gdLst/>
              <a:ahLst/>
              <a:cxnLst/>
              <a:rect l="l" t="t" r="r" b="b"/>
              <a:pathLst>
                <a:path w="241300" h="317500">
                  <a:moveTo>
                    <a:pt x="240919" y="310502"/>
                  </a:moveTo>
                  <a:lnTo>
                    <a:pt x="234835" y="294233"/>
                  </a:lnTo>
                  <a:lnTo>
                    <a:pt x="234835" y="304507"/>
                  </a:lnTo>
                  <a:lnTo>
                    <a:pt x="234835" y="304800"/>
                  </a:lnTo>
                  <a:lnTo>
                    <a:pt x="234619" y="304800"/>
                  </a:lnTo>
                  <a:lnTo>
                    <a:pt x="234835" y="304507"/>
                  </a:lnTo>
                  <a:lnTo>
                    <a:pt x="234835" y="294233"/>
                  </a:lnTo>
                  <a:lnTo>
                    <a:pt x="231800" y="286118"/>
                  </a:lnTo>
                  <a:lnTo>
                    <a:pt x="231800" y="308635"/>
                  </a:lnTo>
                  <a:lnTo>
                    <a:pt x="231800" y="312420"/>
                  </a:lnTo>
                  <a:lnTo>
                    <a:pt x="228993" y="312420"/>
                  </a:lnTo>
                  <a:lnTo>
                    <a:pt x="231800" y="308635"/>
                  </a:lnTo>
                  <a:lnTo>
                    <a:pt x="231800" y="286118"/>
                  </a:lnTo>
                  <a:lnTo>
                    <a:pt x="228612" y="277596"/>
                  </a:lnTo>
                  <a:lnTo>
                    <a:pt x="228612" y="312420"/>
                  </a:lnTo>
                  <a:lnTo>
                    <a:pt x="227203" y="312420"/>
                  </a:lnTo>
                  <a:lnTo>
                    <a:pt x="227203" y="308622"/>
                  </a:lnTo>
                  <a:lnTo>
                    <a:pt x="228612" y="312420"/>
                  </a:lnTo>
                  <a:lnTo>
                    <a:pt x="228612" y="277596"/>
                  </a:lnTo>
                  <a:lnTo>
                    <a:pt x="225767" y="269976"/>
                  </a:lnTo>
                  <a:lnTo>
                    <a:pt x="225767" y="304800"/>
                  </a:lnTo>
                  <a:lnTo>
                    <a:pt x="15125" y="304800"/>
                  </a:lnTo>
                  <a:lnTo>
                    <a:pt x="15240" y="304507"/>
                  </a:lnTo>
                  <a:lnTo>
                    <a:pt x="114757" y="38709"/>
                  </a:lnTo>
                  <a:lnTo>
                    <a:pt x="120459" y="23482"/>
                  </a:lnTo>
                  <a:lnTo>
                    <a:pt x="126149" y="38709"/>
                  </a:lnTo>
                  <a:lnTo>
                    <a:pt x="225666" y="304507"/>
                  </a:lnTo>
                  <a:lnTo>
                    <a:pt x="225767" y="304800"/>
                  </a:lnTo>
                  <a:lnTo>
                    <a:pt x="225767" y="269976"/>
                  </a:lnTo>
                  <a:lnTo>
                    <a:pt x="125399" y="1511"/>
                  </a:lnTo>
                  <a:lnTo>
                    <a:pt x="123113" y="0"/>
                  </a:lnTo>
                  <a:lnTo>
                    <a:pt x="117792" y="0"/>
                  </a:lnTo>
                  <a:lnTo>
                    <a:pt x="115519" y="1511"/>
                  </a:lnTo>
                  <a:lnTo>
                    <a:pt x="13703" y="273850"/>
                  </a:lnTo>
                  <a:lnTo>
                    <a:pt x="13703" y="308622"/>
                  </a:lnTo>
                  <a:lnTo>
                    <a:pt x="13703" y="312420"/>
                  </a:lnTo>
                  <a:lnTo>
                    <a:pt x="12280" y="312420"/>
                  </a:lnTo>
                  <a:lnTo>
                    <a:pt x="13703" y="308622"/>
                  </a:lnTo>
                  <a:lnTo>
                    <a:pt x="13703" y="273850"/>
                  </a:lnTo>
                  <a:lnTo>
                    <a:pt x="11925" y="278612"/>
                  </a:lnTo>
                  <a:lnTo>
                    <a:pt x="11925" y="312420"/>
                  </a:lnTo>
                  <a:lnTo>
                    <a:pt x="9486" y="312420"/>
                  </a:lnTo>
                  <a:lnTo>
                    <a:pt x="9486" y="308635"/>
                  </a:lnTo>
                  <a:lnTo>
                    <a:pt x="11925" y="312420"/>
                  </a:lnTo>
                  <a:lnTo>
                    <a:pt x="11925" y="278612"/>
                  </a:lnTo>
                  <a:lnTo>
                    <a:pt x="7010" y="291757"/>
                  </a:lnTo>
                  <a:lnTo>
                    <a:pt x="7010" y="304800"/>
                  </a:lnTo>
                  <a:lnTo>
                    <a:pt x="6832" y="304800"/>
                  </a:lnTo>
                  <a:lnTo>
                    <a:pt x="6832" y="304507"/>
                  </a:lnTo>
                  <a:lnTo>
                    <a:pt x="7010" y="304800"/>
                  </a:lnTo>
                  <a:lnTo>
                    <a:pt x="7010" y="291757"/>
                  </a:lnTo>
                  <a:lnTo>
                    <a:pt x="0" y="310502"/>
                  </a:lnTo>
                  <a:lnTo>
                    <a:pt x="0" y="312762"/>
                  </a:lnTo>
                  <a:lnTo>
                    <a:pt x="1511" y="314261"/>
                  </a:lnTo>
                  <a:lnTo>
                    <a:pt x="2273" y="315760"/>
                  </a:lnTo>
                  <a:lnTo>
                    <a:pt x="4559" y="317258"/>
                  </a:lnTo>
                  <a:lnTo>
                    <a:pt x="6832" y="317258"/>
                  </a:lnTo>
                  <a:lnTo>
                    <a:pt x="6832" y="317500"/>
                  </a:lnTo>
                  <a:lnTo>
                    <a:pt x="234835" y="317500"/>
                  </a:lnTo>
                  <a:lnTo>
                    <a:pt x="234835" y="317258"/>
                  </a:lnTo>
                  <a:lnTo>
                    <a:pt x="236359" y="317258"/>
                  </a:lnTo>
                  <a:lnTo>
                    <a:pt x="238633" y="315760"/>
                  </a:lnTo>
                  <a:lnTo>
                    <a:pt x="239395" y="314261"/>
                  </a:lnTo>
                  <a:lnTo>
                    <a:pt x="240919" y="312762"/>
                  </a:lnTo>
                  <a:lnTo>
                    <a:pt x="240919" y="310502"/>
                  </a:lnTo>
                  <a:close/>
                </a:path>
              </a:pathLst>
            </a:custGeom>
            <a:solidFill>
              <a:srgbClr val="000000"/>
            </a:solidFill>
          </p:spPr>
          <p:txBody>
            <a:bodyPr wrap="square" lIns="0" tIns="0" rIns="0" bIns="0" rtlCol="0"/>
            <a:lstStyle/>
            <a:p>
              <a:endParaRPr/>
            </a:p>
          </p:txBody>
        </p:sp>
        <p:pic>
          <p:nvPicPr>
            <p:cNvPr id="15" name="object 15"/>
            <p:cNvPicPr/>
            <p:nvPr/>
          </p:nvPicPr>
          <p:blipFill>
            <a:blip r:embed="rId4" cstate="print"/>
            <a:stretch>
              <a:fillRect/>
            </a:stretch>
          </p:blipFill>
          <p:spPr>
            <a:xfrm>
              <a:off x="4165600" y="1638300"/>
              <a:ext cx="2019300" cy="1854200"/>
            </a:xfrm>
            <a:prstGeom prst="rect">
              <a:avLst/>
            </a:prstGeom>
          </p:spPr>
        </p:pic>
        <p:sp>
          <p:nvSpPr>
            <p:cNvPr id="16" name="object 16"/>
            <p:cNvSpPr/>
            <p:nvPr/>
          </p:nvSpPr>
          <p:spPr>
            <a:xfrm>
              <a:off x="4165600" y="1638299"/>
              <a:ext cx="2019300" cy="1866900"/>
            </a:xfrm>
            <a:custGeom>
              <a:avLst/>
              <a:gdLst/>
              <a:ahLst/>
              <a:cxnLst/>
              <a:rect l="l" t="t" r="r" b="b"/>
              <a:pathLst>
                <a:path w="2019300" h="1866900">
                  <a:moveTo>
                    <a:pt x="2018906" y="2286"/>
                  </a:moveTo>
                  <a:lnTo>
                    <a:pt x="2016620" y="0"/>
                  </a:lnTo>
                  <a:lnTo>
                    <a:pt x="2009736" y="0"/>
                  </a:lnTo>
                  <a:lnTo>
                    <a:pt x="2009736" y="9118"/>
                  </a:lnTo>
                  <a:lnTo>
                    <a:pt x="2009736" y="317500"/>
                  </a:lnTo>
                  <a:lnTo>
                    <a:pt x="2005812" y="317500"/>
                  </a:lnTo>
                  <a:lnTo>
                    <a:pt x="2005812" y="330466"/>
                  </a:lnTo>
                  <a:lnTo>
                    <a:pt x="2005812" y="1155700"/>
                  </a:lnTo>
                  <a:lnTo>
                    <a:pt x="2005812" y="1167790"/>
                  </a:lnTo>
                  <a:lnTo>
                    <a:pt x="2005812" y="1841373"/>
                  </a:lnTo>
                  <a:lnTo>
                    <a:pt x="12966" y="1841373"/>
                  </a:lnTo>
                  <a:lnTo>
                    <a:pt x="12966" y="1167790"/>
                  </a:lnTo>
                  <a:lnTo>
                    <a:pt x="2005812" y="1167790"/>
                  </a:lnTo>
                  <a:lnTo>
                    <a:pt x="2005812" y="1155700"/>
                  </a:lnTo>
                  <a:lnTo>
                    <a:pt x="12966" y="1155700"/>
                  </a:lnTo>
                  <a:lnTo>
                    <a:pt x="12966" y="330466"/>
                  </a:lnTo>
                  <a:lnTo>
                    <a:pt x="2005812" y="330466"/>
                  </a:lnTo>
                  <a:lnTo>
                    <a:pt x="2005812" y="317500"/>
                  </a:lnTo>
                  <a:lnTo>
                    <a:pt x="9931" y="317500"/>
                  </a:lnTo>
                  <a:lnTo>
                    <a:pt x="9931" y="9118"/>
                  </a:lnTo>
                  <a:lnTo>
                    <a:pt x="2009736" y="9118"/>
                  </a:lnTo>
                  <a:lnTo>
                    <a:pt x="2009736" y="0"/>
                  </a:lnTo>
                  <a:lnTo>
                    <a:pt x="2286" y="0"/>
                  </a:lnTo>
                  <a:lnTo>
                    <a:pt x="0" y="2286"/>
                  </a:lnTo>
                  <a:lnTo>
                    <a:pt x="0" y="317500"/>
                  </a:lnTo>
                  <a:lnTo>
                    <a:pt x="0" y="1155700"/>
                  </a:lnTo>
                  <a:lnTo>
                    <a:pt x="0" y="1851545"/>
                  </a:lnTo>
                  <a:lnTo>
                    <a:pt x="0" y="1854200"/>
                  </a:lnTo>
                  <a:lnTo>
                    <a:pt x="0" y="1866531"/>
                  </a:lnTo>
                  <a:lnTo>
                    <a:pt x="6858" y="1866531"/>
                  </a:lnTo>
                  <a:lnTo>
                    <a:pt x="12966" y="1866531"/>
                  </a:lnTo>
                  <a:lnTo>
                    <a:pt x="2005812" y="1866531"/>
                  </a:lnTo>
                  <a:lnTo>
                    <a:pt x="2012683" y="1866531"/>
                  </a:lnTo>
                  <a:lnTo>
                    <a:pt x="2018792" y="1866531"/>
                  </a:lnTo>
                  <a:lnTo>
                    <a:pt x="2018792" y="1854200"/>
                  </a:lnTo>
                  <a:lnTo>
                    <a:pt x="2018792" y="1851660"/>
                  </a:lnTo>
                  <a:lnTo>
                    <a:pt x="2018906" y="2286"/>
                  </a:lnTo>
                  <a:close/>
                </a:path>
              </a:pathLst>
            </a:custGeom>
            <a:solidFill>
              <a:srgbClr val="000000"/>
            </a:solidFill>
          </p:spPr>
          <p:txBody>
            <a:bodyPr wrap="square" lIns="0" tIns="0" rIns="0" bIns="0" rtlCol="0"/>
            <a:lstStyle/>
            <a:p>
              <a:endParaRPr/>
            </a:p>
          </p:txBody>
        </p:sp>
        <p:pic>
          <p:nvPicPr>
            <p:cNvPr id="17" name="object 17"/>
            <p:cNvPicPr/>
            <p:nvPr/>
          </p:nvPicPr>
          <p:blipFill>
            <a:blip r:embed="rId5" cstate="print"/>
            <a:stretch>
              <a:fillRect/>
            </a:stretch>
          </p:blipFill>
          <p:spPr>
            <a:xfrm>
              <a:off x="5448300" y="3924433"/>
              <a:ext cx="121304" cy="113785"/>
            </a:xfrm>
            <a:prstGeom prst="rect">
              <a:avLst/>
            </a:prstGeom>
          </p:spPr>
        </p:pic>
        <p:sp>
          <p:nvSpPr>
            <p:cNvPr id="18" name="object 18"/>
            <p:cNvSpPr/>
            <p:nvPr/>
          </p:nvSpPr>
          <p:spPr>
            <a:xfrm>
              <a:off x="5558471" y="3746500"/>
              <a:ext cx="1515745" cy="254000"/>
            </a:xfrm>
            <a:custGeom>
              <a:avLst/>
              <a:gdLst/>
              <a:ahLst/>
              <a:cxnLst/>
              <a:rect l="l" t="t" r="r" b="b"/>
              <a:pathLst>
                <a:path w="1515745" h="254000">
                  <a:moveTo>
                    <a:pt x="1509996" y="0"/>
                  </a:moveTo>
                  <a:lnTo>
                    <a:pt x="0" y="215773"/>
                  </a:lnTo>
                  <a:lnTo>
                    <a:pt x="5590" y="253906"/>
                  </a:lnTo>
                  <a:lnTo>
                    <a:pt x="1515303" y="37419"/>
                  </a:lnTo>
                  <a:lnTo>
                    <a:pt x="1509996" y="0"/>
                  </a:lnTo>
                  <a:close/>
                </a:path>
              </a:pathLst>
            </a:custGeom>
            <a:solidFill>
              <a:srgbClr val="4F81BD"/>
            </a:solidFill>
          </p:spPr>
          <p:txBody>
            <a:bodyPr wrap="square" lIns="0" tIns="0" rIns="0" bIns="0" rtlCol="0"/>
            <a:lstStyle/>
            <a:p>
              <a:endParaRPr/>
            </a:p>
          </p:txBody>
        </p:sp>
        <p:pic>
          <p:nvPicPr>
            <p:cNvPr id="19" name="object 19"/>
            <p:cNvPicPr/>
            <p:nvPr/>
          </p:nvPicPr>
          <p:blipFill>
            <a:blip r:embed="rId5" cstate="print"/>
            <a:stretch>
              <a:fillRect/>
            </a:stretch>
          </p:blipFill>
          <p:spPr>
            <a:xfrm>
              <a:off x="5448300" y="3924433"/>
              <a:ext cx="121304" cy="113785"/>
            </a:xfrm>
            <a:prstGeom prst="rect">
              <a:avLst/>
            </a:prstGeom>
          </p:spPr>
        </p:pic>
        <p:sp>
          <p:nvSpPr>
            <p:cNvPr id="20" name="object 20"/>
            <p:cNvSpPr/>
            <p:nvPr/>
          </p:nvSpPr>
          <p:spPr>
            <a:xfrm>
              <a:off x="5558471" y="3746500"/>
              <a:ext cx="1515745" cy="254000"/>
            </a:xfrm>
            <a:custGeom>
              <a:avLst/>
              <a:gdLst/>
              <a:ahLst/>
              <a:cxnLst/>
              <a:rect l="l" t="t" r="r" b="b"/>
              <a:pathLst>
                <a:path w="1515745" h="254000">
                  <a:moveTo>
                    <a:pt x="1509996" y="0"/>
                  </a:moveTo>
                  <a:lnTo>
                    <a:pt x="0" y="215773"/>
                  </a:lnTo>
                  <a:lnTo>
                    <a:pt x="5590" y="253906"/>
                  </a:lnTo>
                  <a:lnTo>
                    <a:pt x="1515303" y="37419"/>
                  </a:lnTo>
                  <a:lnTo>
                    <a:pt x="1509996" y="0"/>
                  </a:lnTo>
                  <a:close/>
                </a:path>
              </a:pathLst>
            </a:custGeom>
            <a:solidFill>
              <a:srgbClr val="4F81BD"/>
            </a:solidFill>
          </p:spPr>
          <p:txBody>
            <a:bodyPr wrap="square" lIns="0" tIns="0" rIns="0" bIns="0" rtlCol="0"/>
            <a:lstStyle/>
            <a:p>
              <a:endParaRPr/>
            </a:p>
          </p:txBody>
        </p:sp>
      </p:grpSp>
      <p:sp>
        <p:nvSpPr>
          <p:cNvPr id="21" name="object 21"/>
          <p:cNvSpPr txBox="1"/>
          <p:nvPr/>
        </p:nvSpPr>
        <p:spPr>
          <a:xfrm>
            <a:off x="3224768" y="4915106"/>
            <a:ext cx="781050" cy="284480"/>
          </a:xfrm>
          <a:prstGeom prst="rect">
            <a:avLst/>
          </a:prstGeom>
        </p:spPr>
        <p:txBody>
          <a:bodyPr vert="horz" wrap="square" lIns="0" tIns="12700" rIns="0" bIns="0" rtlCol="0">
            <a:spAutoFit/>
          </a:bodyPr>
          <a:lstStyle/>
          <a:p>
            <a:pPr marL="12700">
              <a:lnSpc>
                <a:spcPct val="100000"/>
              </a:lnSpc>
              <a:spcBef>
                <a:spcPts val="100"/>
              </a:spcBef>
            </a:pPr>
            <a:r>
              <a:rPr sz="1700" spc="-20" dirty="0">
                <a:latin typeface="Arial MT"/>
                <a:cs typeface="Arial MT"/>
              </a:rPr>
              <a:t>Savings</a:t>
            </a:r>
            <a:endParaRPr sz="1700" dirty="0">
              <a:latin typeface="Arial MT"/>
              <a:cs typeface="Arial MT"/>
            </a:endParaRPr>
          </a:p>
        </p:txBody>
      </p:sp>
      <p:sp>
        <p:nvSpPr>
          <p:cNvPr id="22" name="object 22"/>
          <p:cNvSpPr txBox="1"/>
          <p:nvPr/>
        </p:nvSpPr>
        <p:spPr>
          <a:xfrm>
            <a:off x="1728213" y="2195783"/>
            <a:ext cx="1395987" cy="297516"/>
          </a:xfrm>
          <a:prstGeom prst="rect">
            <a:avLst/>
          </a:prstGeom>
        </p:spPr>
        <p:txBody>
          <a:bodyPr vert="horz" wrap="square" lIns="0" tIns="27939" rIns="0" bIns="0" rtlCol="0">
            <a:spAutoFit/>
          </a:bodyPr>
          <a:lstStyle/>
          <a:p>
            <a:pPr marL="177800" marR="5080" indent="-165100">
              <a:lnSpc>
                <a:spcPts val="2100"/>
              </a:lnSpc>
              <a:spcBef>
                <a:spcPts val="219"/>
              </a:spcBef>
            </a:pPr>
            <a:r>
              <a:rPr lang="fr-FR" sz="1800" i="1" spc="-5" dirty="0">
                <a:solidFill>
                  <a:srgbClr val="1F497C"/>
                </a:solidFill>
                <a:latin typeface="Arial"/>
                <a:cs typeface="Arial"/>
              </a:rPr>
              <a:t>Classe mère</a:t>
            </a:r>
            <a:endParaRPr sz="1800" dirty="0">
              <a:latin typeface="Arial"/>
              <a:cs typeface="Arial"/>
            </a:endParaRPr>
          </a:p>
        </p:txBody>
      </p:sp>
      <p:sp>
        <p:nvSpPr>
          <p:cNvPr id="23" name="object 23"/>
          <p:cNvSpPr txBox="1"/>
          <p:nvPr/>
        </p:nvSpPr>
        <p:spPr>
          <a:xfrm>
            <a:off x="1642094" y="4753066"/>
            <a:ext cx="1194435" cy="297516"/>
          </a:xfrm>
          <a:prstGeom prst="rect">
            <a:avLst/>
          </a:prstGeom>
        </p:spPr>
        <p:txBody>
          <a:bodyPr vert="horz" wrap="square" lIns="0" tIns="27939" rIns="0" bIns="0" rtlCol="0">
            <a:spAutoFit/>
          </a:bodyPr>
          <a:lstStyle/>
          <a:p>
            <a:pPr marL="114300" marR="5080" indent="-101600">
              <a:lnSpc>
                <a:spcPts val="2100"/>
              </a:lnSpc>
              <a:spcBef>
                <a:spcPts val="219"/>
              </a:spcBef>
            </a:pPr>
            <a:r>
              <a:rPr lang="fr-FR" sz="1800" i="1" spc="-5" dirty="0">
                <a:solidFill>
                  <a:srgbClr val="1F497C"/>
                </a:solidFill>
                <a:latin typeface="Arial"/>
                <a:cs typeface="Arial"/>
              </a:rPr>
              <a:t>Classe fille</a:t>
            </a:r>
            <a:endParaRPr sz="1800" dirty="0">
              <a:latin typeface="Arial"/>
              <a:cs typeface="Arial"/>
            </a:endParaRPr>
          </a:p>
        </p:txBody>
      </p:sp>
      <p:sp>
        <p:nvSpPr>
          <p:cNvPr id="24" name="object 24"/>
          <p:cNvSpPr txBox="1"/>
          <p:nvPr/>
        </p:nvSpPr>
        <p:spPr>
          <a:xfrm>
            <a:off x="4206985" y="2233627"/>
            <a:ext cx="760730" cy="454659"/>
          </a:xfrm>
          <a:prstGeom prst="rect">
            <a:avLst/>
          </a:prstGeom>
        </p:spPr>
        <p:txBody>
          <a:bodyPr vert="horz" wrap="square" lIns="0" tIns="12700" rIns="0" bIns="0" rtlCol="0">
            <a:spAutoFit/>
          </a:bodyPr>
          <a:lstStyle/>
          <a:p>
            <a:pPr marL="127000" indent="-114300">
              <a:lnSpc>
                <a:spcPct val="100000"/>
              </a:lnSpc>
              <a:spcBef>
                <a:spcPts val="100"/>
              </a:spcBef>
              <a:buChar char="-"/>
              <a:tabLst>
                <a:tab pos="127000" algn="l"/>
              </a:tabLst>
            </a:pPr>
            <a:r>
              <a:rPr sz="1400" spc="15" dirty="0">
                <a:latin typeface="Arial MT"/>
                <a:cs typeface="Arial MT"/>
              </a:rPr>
              <a:t>name</a:t>
            </a:r>
            <a:endParaRPr sz="1400">
              <a:latin typeface="Arial MT"/>
              <a:cs typeface="Arial MT"/>
            </a:endParaRPr>
          </a:p>
          <a:p>
            <a:pPr marL="127000" indent="-114300">
              <a:lnSpc>
                <a:spcPct val="100000"/>
              </a:lnSpc>
              <a:spcBef>
                <a:spcPts val="20"/>
              </a:spcBef>
              <a:buChar char="-"/>
              <a:tabLst>
                <a:tab pos="127000" algn="l"/>
              </a:tabLst>
            </a:pPr>
            <a:r>
              <a:rPr sz="1400" spc="20" dirty="0">
                <a:latin typeface="Arial MT"/>
                <a:cs typeface="Arial MT"/>
              </a:rPr>
              <a:t>nu</a:t>
            </a:r>
            <a:r>
              <a:rPr sz="1400" spc="30" dirty="0">
                <a:latin typeface="Arial MT"/>
                <a:cs typeface="Arial MT"/>
              </a:rPr>
              <a:t>m</a:t>
            </a:r>
            <a:r>
              <a:rPr sz="1400" spc="20" dirty="0">
                <a:latin typeface="Arial MT"/>
                <a:cs typeface="Arial MT"/>
              </a:rPr>
              <a:t>ber</a:t>
            </a:r>
            <a:endParaRPr sz="1400">
              <a:latin typeface="Arial MT"/>
              <a:cs typeface="Arial MT"/>
            </a:endParaRPr>
          </a:p>
        </p:txBody>
      </p:sp>
      <p:sp>
        <p:nvSpPr>
          <p:cNvPr id="25" name="object 25"/>
          <p:cNvSpPr txBox="1"/>
          <p:nvPr/>
        </p:nvSpPr>
        <p:spPr>
          <a:xfrm>
            <a:off x="4206985" y="2872958"/>
            <a:ext cx="1609090" cy="454659"/>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a:t>
            </a:r>
            <a:r>
              <a:rPr sz="1400" spc="-110" dirty="0">
                <a:latin typeface="Arial MT"/>
                <a:cs typeface="Arial MT"/>
              </a:rPr>
              <a:t> </a:t>
            </a:r>
            <a:r>
              <a:rPr sz="1400" spc="-15" dirty="0">
                <a:latin typeface="Arial MT"/>
                <a:cs typeface="Arial MT"/>
              </a:rPr>
              <a:t>wi</a:t>
            </a:r>
            <a:r>
              <a:rPr sz="1400" spc="10" dirty="0">
                <a:latin typeface="Arial MT"/>
                <a:cs typeface="Arial MT"/>
              </a:rPr>
              <a:t>t</a:t>
            </a:r>
            <a:r>
              <a:rPr sz="1400" spc="20" dirty="0">
                <a:latin typeface="Arial MT"/>
                <a:cs typeface="Arial MT"/>
              </a:rPr>
              <a:t>hd</a:t>
            </a:r>
            <a:r>
              <a:rPr sz="1400" spc="30" dirty="0">
                <a:latin typeface="Arial MT"/>
                <a:cs typeface="Arial MT"/>
              </a:rPr>
              <a:t>r</a:t>
            </a:r>
            <a:r>
              <a:rPr sz="1400" spc="20" dirty="0">
                <a:latin typeface="Arial MT"/>
                <a:cs typeface="Arial MT"/>
              </a:rPr>
              <a:t>a</a:t>
            </a:r>
            <a:r>
              <a:rPr sz="1400" spc="-15" dirty="0">
                <a:latin typeface="Arial MT"/>
                <a:cs typeface="Arial MT"/>
              </a:rPr>
              <a:t>w</a:t>
            </a:r>
            <a:r>
              <a:rPr sz="1400" spc="30" dirty="0">
                <a:latin typeface="Arial MT"/>
                <a:cs typeface="Arial MT"/>
              </a:rPr>
              <a:t>(</a:t>
            </a:r>
            <a:r>
              <a:rPr sz="1400" dirty="0">
                <a:latin typeface="Arial MT"/>
                <a:cs typeface="Arial MT"/>
              </a:rPr>
              <a:t>)</a:t>
            </a:r>
            <a:endParaRPr sz="1400">
              <a:latin typeface="Arial MT"/>
              <a:cs typeface="Arial MT"/>
            </a:endParaRPr>
          </a:p>
          <a:p>
            <a:pPr marL="12700">
              <a:lnSpc>
                <a:spcPct val="100000"/>
              </a:lnSpc>
              <a:spcBef>
                <a:spcPts val="20"/>
              </a:spcBef>
            </a:pPr>
            <a:r>
              <a:rPr sz="1400" dirty="0">
                <a:latin typeface="Arial MT"/>
                <a:cs typeface="Arial MT"/>
              </a:rPr>
              <a:t>+</a:t>
            </a:r>
            <a:r>
              <a:rPr sz="1400" spc="-60" dirty="0">
                <a:latin typeface="Arial MT"/>
                <a:cs typeface="Arial MT"/>
              </a:rPr>
              <a:t> </a:t>
            </a:r>
            <a:r>
              <a:rPr sz="1400" dirty="0">
                <a:latin typeface="Arial MT"/>
                <a:cs typeface="Arial MT"/>
              </a:rPr>
              <a:t>createStatement()</a:t>
            </a:r>
            <a:endParaRPr sz="1400">
              <a:latin typeface="Arial MT"/>
              <a:cs typeface="Arial MT"/>
            </a:endParaRPr>
          </a:p>
        </p:txBody>
      </p:sp>
      <p:sp>
        <p:nvSpPr>
          <p:cNvPr id="26" name="object 26"/>
          <p:cNvSpPr txBox="1"/>
          <p:nvPr/>
        </p:nvSpPr>
        <p:spPr>
          <a:xfrm>
            <a:off x="7115285" y="3431759"/>
            <a:ext cx="1647715" cy="572080"/>
          </a:xfrm>
          <a:prstGeom prst="rect">
            <a:avLst/>
          </a:prstGeom>
        </p:spPr>
        <p:txBody>
          <a:bodyPr vert="horz" wrap="square" lIns="0" tIns="6985" rIns="0" bIns="0" rtlCol="0">
            <a:spAutoFit/>
          </a:bodyPr>
          <a:lstStyle/>
          <a:p>
            <a:pPr marL="127000" marR="5080" indent="-114300">
              <a:lnSpc>
                <a:spcPct val="101899"/>
              </a:lnSpc>
              <a:spcBef>
                <a:spcPts val="55"/>
              </a:spcBef>
            </a:pPr>
            <a:r>
              <a:rPr lang="fr-FR" sz="1800" i="1" spc="-5" dirty="0">
                <a:solidFill>
                  <a:srgbClr val="1F497C"/>
                </a:solidFill>
                <a:latin typeface="Arial"/>
                <a:cs typeface="Arial"/>
              </a:rPr>
              <a:t>Relation de </a:t>
            </a:r>
            <a:r>
              <a:rPr lang="fr-FR" sz="1800" i="1" spc="-5" dirty="0" err="1">
                <a:solidFill>
                  <a:srgbClr val="1F497C"/>
                </a:solidFill>
                <a:latin typeface="Arial"/>
                <a:cs typeface="Arial"/>
              </a:rPr>
              <a:t>géneralisation</a:t>
            </a:r>
            <a:endParaRPr sz="1800" dirty="0">
              <a:latin typeface="Arial"/>
              <a:cs typeface="Arial"/>
            </a:endParaRPr>
          </a:p>
        </p:txBody>
      </p:sp>
      <p:sp>
        <p:nvSpPr>
          <p:cNvPr id="27" name="object 27"/>
          <p:cNvSpPr/>
          <p:nvPr/>
        </p:nvSpPr>
        <p:spPr>
          <a:xfrm>
            <a:off x="3638550" y="4070350"/>
            <a:ext cx="2794000" cy="0"/>
          </a:xfrm>
          <a:custGeom>
            <a:avLst/>
            <a:gdLst/>
            <a:ahLst/>
            <a:cxnLst/>
            <a:rect l="l" t="t" r="r" b="b"/>
            <a:pathLst>
              <a:path w="2794000">
                <a:moveTo>
                  <a:pt x="0" y="0"/>
                </a:moveTo>
                <a:lnTo>
                  <a:pt x="2793746" y="0"/>
                </a:lnTo>
              </a:path>
            </a:pathLst>
          </a:custGeom>
          <a:ln w="12700">
            <a:solidFill>
              <a:srgbClr val="000000"/>
            </a:solidFill>
          </a:ln>
        </p:spPr>
        <p:txBody>
          <a:bodyPr wrap="square" lIns="0" tIns="0" rIns="0" bIns="0" rtlCol="0"/>
          <a:lstStyle/>
          <a:p>
            <a:endParaRPr/>
          </a:p>
        </p:txBody>
      </p:sp>
      <p:sp>
        <p:nvSpPr>
          <p:cNvPr id="28" name="object 28"/>
          <p:cNvSpPr txBox="1"/>
          <p:nvPr/>
        </p:nvSpPr>
        <p:spPr>
          <a:xfrm>
            <a:off x="1084580" y="1225124"/>
            <a:ext cx="4490085" cy="693420"/>
          </a:xfrm>
          <a:prstGeom prst="rect">
            <a:avLst/>
          </a:prstGeom>
        </p:spPr>
        <p:txBody>
          <a:bodyPr vert="horz" wrap="square" lIns="0" tIns="68580" rIns="0" bIns="0" rtlCol="0">
            <a:spAutoFit/>
          </a:bodyPr>
          <a:lstStyle/>
          <a:p>
            <a:pPr marL="241300" indent="-228600">
              <a:lnSpc>
                <a:spcPct val="100000"/>
              </a:lnSpc>
              <a:spcBef>
                <a:spcPts val="540"/>
              </a:spcBef>
              <a:buClr>
                <a:srgbClr val="E48312"/>
              </a:buClr>
              <a:buSzPct val="95000"/>
              <a:buFont typeface="Wingdings"/>
              <a:buChar char=""/>
              <a:tabLst>
                <a:tab pos="241300" algn="l"/>
              </a:tabLst>
            </a:pPr>
            <a:r>
              <a:rPr sz="2000" spc="15" dirty="0">
                <a:solidFill>
                  <a:srgbClr val="404040"/>
                </a:solidFill>
                <a:latin typeface="Calibri"/>
                <a:cs typeface="Calibri"/>
              </a:rPr>
              <a:t>U</a:t>
            </a:r>
            <a:r>
              <a:rPr sz="2000" spc="45" dirty="0">
                <a:solidFill>
                  <a:srgbClr val="404040"/>
                </a:solidFill>
                <a:latin typeface="Calibri"/>
                <a:cs typeface="Calibri"/>
              </a:rPr>
              <a:t>n</a:t>
            </a:r>
            <a:r>
              <a:rPr sz="2000" dirty="0">
                <a:solidFill>
                  <a:srgbClr val="404040"/>
                </a:solidFill>
                <a:latin typeface="Calibri"/>
                <a:cs typeface="Calibri"/>
              </a:rPr>
              <a:t>e</a:t>
            </a:r>
            <a:r>
              <a:rPr sz="2000" spc="-50" dirty="0">
                <a:solidFill>
                  <a:srgbClr val="404040"/>
                </a:solidFill>
                <a:latin typeface="Calibri"/>
                <a:cs typeface="Calibri"/>
              </a:rPr>
              <a:t> c</a:t>
            </a:r>
            <a:r>
              <a:rPr sz="2000" spc="40" dirty="0">
                <a:solidFill>
                  <a:srgbClr val="404040"/>
                </a:solidFill>
                <a:latin typeface="Calibri"/>
                <a:cs typeface="Calibri"/>
              </a:rPr>
              <a:t>la</a:t>
            </a:r>
            <a:r>
              <a:rPr sz="2000" spc="15" dirty="0">
                <a:solidFill>
                  <a:srgbClr val="404040"/>
                </a:solidFill>
                <a:latin typeface="Calibri"/>
                <a:cs typeface="Calibri"/>
              </a:rPr>
              <a:t>ss</a:t>
            </a:r>
            <a:r>
              <a:rPr sz="2000" dirty="0">
                <a:solidFill>
                  <a:srgbClr val="404040"/>
                </a:solidFill>
                <a:latin typeface="Calibri"/>
                <a:cs typeface="Calibri"/>
              </a:rPr>
              <a:t>e</a:t>
            </a:r>
            <a:r>
              <a:rPr sz="2000" spc="-50" dirty="0">
                <a:solidFill>
                  <a:srgbClr val="404040"/>
                </a:solidFill>
                <a:latin typeface="Calibri"/>
                <a:cs typeface="Calibri"/>
              </a:rPr>
              <a:t> </a:t>
            </a:r>
            <a:r>
              <a:rPr sz="2000" spc="45" dirty="0">
                <a:solidFill>
                  <a:srgbClr val="404040"/>
                </a:solidFill>
                <a:latin typeface="Calibri"/>
                <a:cs typeface="Calibri"/>
              </a:rPr>
              <a:t>h</a:t>
            </a:r>
            <a:r>
              <a:rPr sz="2000" dirty="0">
                <a:solidFill>
                  <a:srgbClr val="404040"/>
                </a:solidFill>
                <a:latin typeface="Calibri"/>
                <a:cs typeface="Calibri"/>
              </a:rPr>
              <a:t>ér</a:t>
            </a:r>
            <a:r>
              <a:rPr sz="2000" spc="40" dirty="0">
                <a:solidFill>
                  <a:srgbClr val="404040"/>
                </a:solidFill>
                <a:latin typeface="Calibri"/>
                <a:cs typeface="Calibri"/>
              </a:rPr>
              <a:t>i</a:t>
            </a:r>
            <a:r>
              <a:rPr sz="2000" spc="30" dirty="0">
                <a:solidFill>
                  <a:srgbClr val="404040"/>
                </a:solidFill>
                <a:latin typeface="Calibri"/>
                <a:cs typeface="Calibri"/>
              </a:rPr>
              <a:t>t</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a:t>
            </a:r>
            <a:r>
              <a:rPr sz="2000" spc="50" dirty="0">
                <a:solidFill>
                  <a:srgbClr val="404040"/>
                </a:solidFill>
                <a:latin typeface="Calibri"/>
                <a:cs typeface="Calibri"/>
              </a:rPr>
              <a:t>u</a:t>
            </a:r>
            <a:r>
              <a:rPr sz="2000" spc="45" dirty="0">
                <a:solidFill>
                  <a:srgbClr val="404040"/>
                </a:solidFill>
                <a:latin typeface="Calibri"/>
                <a:cs typeface="Calibri"/>
              </a:rPr>
              <a:t>n</a:t>
            </a:r>
            <a:r>
              <a:rPr sz="2000" dirty="0">
                <a:solidFill>
                  <a:srgbClr val="404040"/>
                </a:solidFill>
                <a:latin typeface="Calibri"/>
                <a:cs typeface="Calibri"/>
              </a:rPr>
              <a:t>e</a:t>
            </a:r>
            <a:r>
              <a:rPr sz="2000" spc="-150" dirty="0">
                <a:solidFill>
                  <a:srgbClr val="404040"/>
                </a:solidFill>
                <a:latin typeface="Calibri"/>
                <a:cs typeface="Calibri"/>
              </a:rPr>
              <a:t> </a:t>
            </a:r>
            <a:r>
              <a:rPr sz="2000" spc="40" dirty="0">
                <a:solidFill>
                  <a:srgbClr val="404040"/>
                </a:solidFill>
                <a:latin typeface="Calibri"/>
                <a:cs typeface="Calibri"/>
              </a:rPr>
              <a:t>a</a:t>
            </a:r>
            <a:r>
              <a:rPr sz="2000" spc="45" dirty="0">
                <a:solidFill>
                  <a:srgbClr val="404040"/>
                </a:solidFill>
                <a:latin typeface="Calibri"/>
                <a:cs typeface="Calibri"/>
              </a:rPr>
              <a:t>u</a:t>
            </a:r>
            <a:r>
              <a:rPr sz="2000" spc="30" dirty="0">
                <a:solidFill>
                  <a:srgbClr val="404040"/>
                </a:solidFill>
                <a:latin typeface="Calibri"/>
                <a:cs typeface="Calibri"/>
              </a:rPr>
              <a:t>t</a:t>
            </a:r>
            <a:r>
              <a:rPr sz="2000" dirty="0">
                <a:solidFill>
                  <a:srgbClr val="404040"/>
                </a:solidFill>
                <a:latin typeface="Calibri"/>
                <a:cs typeface="Calibri"/>
              </a:rPr>
              <a:t>re</a:t>
            </a:r>
            <a:endParaRPr sz="2000">
              <a:latin typeface="Calibri"/>
              <a:cs typeface="Calibri"/>
            </a:endParaRPr>
          </a:p>
          <a:p>
            <a:pPr marR="5080" algn="r">
              <a:lnSpc>
                <a:spcPct val="100000"/>
              </a:lnSpc>
              <a:spcBef>
                <a:spcPts val="380"/>
              </a:spcBef>
            </a:pPr>
            <a:r>
              <a:rPr sz="1700" spc="-15" dirty="0">
                <a:latin typeface="Arial MT"/>
                <a:cs typeface="Arial MT"/>
              </a:rPr>
              <a:t>Account</a:t>
            </a:r>
            <a:endParaRPr sz="170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4186554" cy="756920"/>
          </a:xfrm>
          <a:prstGeom prst="rect">
            <a:avLst/>
          </a:prstGeom>
        </p:spPr>
        <p:txBody>
          <a:bodyPr vert="horz" wrap="square" lIns="0" tIns="12700" rIns="0" bIns="0" rtlCol="0">
            <a:spAutoFit/>
          </a:bodyPr>
          <a:lstStyle/>
          <a:p>
            <a:pPr marL="12700">
              <a:lnSpc>
                <a:spcPct val="100000"/>
              </a:lnSpc>
              <a:spcBef>
                <a:spcPts val="100"/>
              </a:spcBef>
            </a:pPr>
            <a:r>
              <a:rPr spc="-75" dirty="0"/>
              <a:t>Héritage</a:t>
            </a:r>
            <a:r>
              <a:rPr spc="-10" dirty="0"/>
              <a:t> </a:t>
            </a:r>
            <a:r>
              <a:rPr spc="-65" dirty="0"/>
              <a:t>Multiple</a:t>
            </a:r>
          </a:p>
        </p:txBody>
      </p:sp>
      <p:sp>
        <p:nvSpPr>
          <p:cNvPr id="3" name="object 3"/>
          <p:cNvSpPr txBox="1"/>
          <p:nvPr/>
        </p:nvSpPr>
        <p:spPr>
          <a:xfrm>
            <a:off x="1084580" y="1281379"/>
            <a:ext cx="5484495" cy="330200"/>
          </a:xfrm>
          <a:prstGeom prst="rect">
            <a:avLst/>
          </a:prstGeom>
        </p:spPr>
        <p:txBody>
          <a:bodyPr vert="horz" wrap="square" lIns="0" tIns="12700" rIns="0" bIns="0" rtlCol="0">
            <a:spAutoFit/>
          </a:bodyPr>
          <a:lstStyle/>
          <a:p>
            <a:pPr marL="241300" indent="-228600">
              <a:lnSpc>
                <a:spcPct val="100000"/>
              </a:lnSpc>
              <a:spcBef>
                <a:spcPts val="100"/>
              </a:spcBef>
              <a:buClr>
                <a:srgbClr val="E48312"/>
              </a:buClr>
              <a:buSzPct val="95000"/>
              <a:buFont typeface="Wingdings"/>
              <a:buChar char=""/>
              <a:tabLst>
                <a:tab pos="241300" algn="l"/>
              </a:tabLst>
            </a:pPr>
            <a:r>
              <a:rPr sz="2000" spc="20" dirty="0">
                <a:solidFill>
                  <a:srgbClr val="404040"/>
                </a:solidFill>
                <a:latin typeface="Calibri"/>
                <a:cs typeface="Calibri"/>
              </a:rPr>
              <a:t>Une</a:t>
            </a:r>
            <a:r>
              <a:rPr sz="2000" spc="-50" dirty="0">
                <a:solidFill>
                  <a:srgbClr val="404040"/>
                </a:solidFill>
                <a:latin typeface="Calibri"/>
                <a:cs typeface="Calibri"/>
              </a:rPr>
              <a:t> </a:t>
            </a:r>
            <a:r>
              <a:rPr sz="2000" spc="10" dirty="0">
                <a:solidFill>
                  <a:srgbClr val="404040"/>
                </a:solidFill>
                <a:latin typeface="Calibri"/>
                <a:cs typeface="Calibri"/>
              </a:rPr>
              <a:t>classe</a:t>
            </a:r>
            <a:r>
              <a:rPr sz="2000" spc="-50" dirty="0">
                <a:solidFill>
                  <a:srgbClr val="404040"/>
                </a:solidFill>
                <a:latin typeface="Calibri"/>
                <a:cs typeface="Calibri"/>
              </a:rPr>
              <a:t> </a:t>
            </a:r>
            <a:r>
              <a:rPr sz="2000" spc="15" dirty="0">
                <a:solidFill>
                  <a:srgbClr val="404040"/>
                </a:solidFill>
                <a:latin typeface="Calibri"/>
                <a:cs typeface="Calibri"/>
              </a:rPr>
              <a:t>hérite</a:t>
            </a:r>
            <a:r>
              <a:rPr sz="2000" spc="-150" dirty="0">
                <a:solidFill>
                  <a:srgbClr val="404040"/>
                </a:solidFill>
                <a:latin typeface="Calibri"/>
                <a:cs typeface="Calibri"/>
              </a:rPr>
              <a:t> </a:t>
            </a:r>
            <a:r>
              <a:rPr sz="2000" spc="25" dirty="0">
                <a:solidFill>
                  <a:srgbClr val="404040"/>
                </a:solidFill>
                <a:latin typeface="Calibri"/>
                <a:cs typeface="Calibri"/>
              </a:rPr>
              <a:t>d’une</a:t>
            </a:r>
            <a:r>
              <a:rPr sz="2000" spc="-150" dirty="0">
                <a:solidFill>
                  <a:srgbClr val="404040"/>
                </a:solidFill>
                <a:latin typeface="Calibri"/>
                <a:cs typeface="Calibri"/>
              </a:rPr>
              <a:t> </a:t>
            </a:r>
            <a:r>
              <a:rPr sz="2000" spc="20" dirty="0">
                <a:solidFill>
                  <a:srgbClr val="404040"/>
                </a:solidFill>
                <a:latin typeface="Calibri"/>
                <a:cs typeface="Calibri"/>
              </a:rPr>
              <a:t>ou</a:t>
            </a:r>
            <a:r>
              <a:rPr sz="2000" spc="-105" dirty="0">
                <a:solidFill>
                  <a:srgbClr val="404040"/>
                </a:solidFill>
                <a:latin typeface="Calibri"/>
                <a:cs typeface="Calibri"/>
              </a:rPr>
              <a:t> </a:t>
            </a:r>
            <a:r>
              <a:rPr sz="2000" spc="25" dirty="0">
                <a:solidFill>
                  <a:srgbClr val="404040"/>
                </a:solidFill>
                <a:latin typeface="Calibri"/>
                <a:cs typeface="Calibri"/>
              </a:rPr>
              <a:t>plusieurs</a:t>
            </a:r>
            <a:r>
              <a:rPr sz="2000" spc="-135" dirty="0">
                <a:solidFill>
                  <a:srgbClr val="404040"/>
                </a:solidFill>
                <a:latin typeface="Calibri"/>
                <a:cs typeface="Calibri"/>
              </a:rPr>
              <a:t> </a:t>
            </a:r>
            <a:r>
              <a:rPr sz="2000" spc="15" dirty="0">
                <a:solidFill>
                  <a:srgbClr val="404040"/>
                </a:solidFill>
                <a:latin typeface="Calibri"/>
                <a:cs typeface="Calibri"/>
              </a:rPr>
              <a:t>autres</a:t>
            </a:r>
            <a:r>
              <a:rPr sz="2000" spc="-135" dirty="0">
                <a:solidFill>
                  <a:srgbClr val="404040"/>
                </a:solidFill>
                <a:latin typeface="Calibri"/>
                <a:cs typeface="Calibri"/>
              </a:rPr>
              <a:t> </a:t>
            </a:r>
            <a:r>
              <a:rPr sz="2000" spc="5" dirty="0">
                <a:solidFill>
                  <a:srgbClr val="404040"/>
                </a:solidFill>
                <a:latin typeface="Calibri"/>
                <a:cs typeface="Calibri"/>
              </a:rPr>
              <a:t>classes</a:t>
            </a:r>
            <a:endParaRPr sz="2000">
              <a:latin typeface="Calibri"/>
              <a:cs typeface="Calibri"/>
            </a:endParaRPr>
          </a:p>
        </p:txBody>
      </p:sp>
      <p:grpSp>
        <p:nvGrpSpPr>
          <p:cNvPr id="4" name="object 4"/>
          <p:cNvGrpSpPr/>
          <p:nvPr/>
        </p:nvGrpSpPr>
        <p:grpSpPr>
          <a:xfrm>
            <a:off x="2374900" y="2628900"/>
            <a:ext cx="1371600" cy="774700"/>
            <a:chOff x="2374900" y="2628900"/>
            <a:chExt cx="1371600" cy="774700"/>
          </a:xfrm>
        </p:grpSpPr>
        <p:pic>
          <p:nvPicPr>
            <p:cNvPr id="5" name="object 5"/>
            <p:cNvPicPr/>
            <p:nvPr/>
          </p:nvPicPr>
          <p:blipFill>
            <a:blip r:embed="rId2" cstate="print"/>
            <a:stretch>
              <a:fillRect/>
            </a:stretch>
          </p:blipFill>
          <p:spPr>
            <a:xfrm>
              <a:off x="2374900" y="2628900"/>
              <a:ext cx="1371600" cy="774700"/>
            </a:xfrm>
            <a:prstGeom prst="rect">
              <a:avLst/>
            </a:prstGeom>
          </p:spPr>
        </p:pic>
        <p:sp>
          <p:nvSpPr>
            <p:cNvPr id="6" name="object 6"/>
            <p:cNvSpPr/>
            <p:nvPr/>
          </p:nvSpPr>
          <p:spPr>
            <a:xfrm>
              <a:off x="2374900" y="2628900"/>
              <a:ext cx="1371600" cy="774700"/>
            </a:xfrm>
            <a:custGeom>
              <a:avLst/>
              <a:gdLst/>
              <a:ahLst/>
              <a:cxnLst/>
              <a:rect l="l" t="t" r="r" b="b"/>
              <a:pathLst>
                <a:path w="1371600" h="774700">
                  <a:moveTo>
                    <a:pt x="1369079" y="0"/>
                  </a:moveTo>
                  <a:lnTo>
                    <a:pt x="2268" y="0"/>
                  </a:lnTo>
                  <a:lnTo>
                    <a:pt x="0" y="2283"/>
                  </a:lnTo>
                  <a:lnTo>
                    <a:pt x="0" y="772035"/>
                  </a:lnTo>
                  <a:lnTo>
                    <a:pt x="2269" y="774319"/>
                  </a:lnTo>
                  <a:lnTo>
                    <a:pt x="4537" y="774319"/>
                  </a:lnTo>
                  <a:lnTo>
                    <a:pt x="4537" y="9898"/>
                  </a:lnTo>
                  <a:lnTo>
                    <a:pt x="9833" y="4568"/>
                  </a:lnTo>
                  <a:lnTo>
                    <a:pt x="9833" y="9898"/>
                  </a:lnTo>
                  <a:lnTo>
                    <a:pt x="1361514" y="9898"/>
                  </a:lnTo>
                  <a:lnTo>
                    <a:pt x="1361514" y="4568"/>
                  </a:lnTo>
                  <a:lnTo>
                    <a:pt x="1366052" y="9898"/>
                  </a:lnTo>
                  <a:lnTo>
                    <a:pt x="1366052" y="774319"/>
                  </a:lnTo>
                  <a:lnTo>
                    <a:pt x="1369079" y="774319"/>
                  </a:lnTo>
                  <a:lnTo>
                    <a:pt x="1371348" y="772035"/>
                  </a:lnTo>
                  <a:lnTo>
                    <a:pt x="1371348" y="2283"/>
                  </a:lnTo>
                  <a:lnTo>
                    <a:pt x="1369079" y="0"/>
                  </a:lnTo>
                  <a:close/>
                </a:path>
              </a:pathLst>
            </a:custGeom>
            <a:solidFill>
              <a:srgbClr val="000000"/>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2375735" y="2633468"/>
          <a:ext cx="1356360" cy="771341"/>
        </p:xfrm>
        <a:graphic>
          <a:graphicData uri="http://schemas.openxmlformats.org/drawingml/2006/table">
            <a:tbl>
              <a:tblPr firstRow="1" bandRow="1">
                <a:tableStyleId>{2D5ABB26-0587-4C30-8999-92F81FD0307C}</a:tableStyleId>
              </a:tblPr>
              <a:tblGrid>
                <a:gridCol w="1356360">
                  <a:extLst>
                    <a:ext uri="{9D8B030D-6E8A-4147-A177-3AD203B41FA5}">
                      <a16:colId xmlns:a16="http://schemas.microsoft.com/office/drawing/2014/main" val="20000"/>
                    </a:ext>
                  </a:extLst>
                </a:gridCol>
              </a:tblGrid>
              <a:tr h="395481">
                <a:tc>
                  <a:txBody>
                    <a:bodyPr/>
                    <a:lstStyle/>
                    <a:p>
                      <a:pPr marL="80010">
                        <a:lnSpc>
                          <a:spcPct val="100000"/>
                        </a:lnSpc>
                        <a:spcBef>
                          <a:spcPts val="455"/>
                        </a:spcBef>
                      </a:pPr>
                      <a:r>
                        <a:rPr sz="1900" spc="5" dirty="0">
                          <a:latin typeface="Arial MT"/>
                          <a:cs typeface="Arial MT"/>
                        </a:rPr>
                        <a:t>FlyingThing</a:t>
                      </a:r>
                      <a:endParaRPr sz="1900" dirty="0">
                        <a:latin typeface="Arial MT"/>
                        <a:cs typeface="Arial MT"/>
                      </a:endParaRPr>
                    </a:p>
                  </a:txBody>
                  <a:tcPr marL="0" marR="0" marT="57785"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152400">
                <a:tc>
                  <a:txBody>
                    <a:bodyPr/>
                    <a:lstStyle/>
                    <a:p>
                      <a:pPr>
                        <a:lnSpc>
                          <a:spcPct val="100000"/>
                        </a:lnSpc>
                      </a:pPr>
                      <a:endParaRPr sz="8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23460">
                <a:tc>
                  <a:txBody>
                    <a:bodyPr/>
                    <a:lstStyle/>
                    <a:p>
                      <a:pPr>
                        <a:lnSpc>
                          <a:spcPct val="100000"/>
                        </a:lnSpc>
                      </a:pPr>
                      <a:endParaRPr sz="13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8" name="object 8"/>
          <p:cNvGrpSpPr/>
          <p:nvPr/>
        </p:nvGrpSpPr>
        <p:grpSpPr>
          <a:xfrm>
            <a:off x="7366000" y="2628900"/>
            <a:ext cx="990600" cy="774700"/>
            <a:chOff x="7366000" y="2628900"/>
            <a:chExt cx="990600" cy="774700"/>
          </a:xfrm>
        </p:grpSpPr>
        <p:pic>
          <p:nvPicPr>
            <p:cNvPr id="9" name="object 9"/>
            <p:cNvPicPr/>
            <p:nvPr/>
          </p:nvPicPr>
          <p:blipFill>
            <a:blip r:embed="rId3" cstate="print"/>
            <a:stretch>
              <a:fillRect/>
            </a:stretch>
          </p:blipFill>
          <p:spPr>
            <a:xfrm>
              <a:off x="7366000" y="2628900"/>
              <a:ext cx="990600" cy="774700"/>
            </a:xfrm>
            <a:prstGeom prst="rect">
              <a:avLst/>
            </a:prstGeom>
          </p:spPr>
        </p:pic>
        <p:sp>
          <p:nvSpPr>
            <p:cNvPr id="10" name="object 10"/>
            <p:cNvSpPr/>
            <p:nvPr/>
          </p:nvSpPr>
          <p:spPr>
            <a:xfrm>
              <a:off x="7366000" y="2628900"/>
              <a:ext cx="990600" cy="774700"/>
            </a:xfrm>
            <a:custGeom>
              <a:avLst/>
              <a:gdLst/>
              <a:ahLst/>
              <a:cxnLst/>
              <a:rect l="l" t="t" r="r" b="b"/>
              <a:pathLst>
                <a:path w="990600" h="774700">
                  <a:moveTo>
                    <a:pt x="988312" y="0"/>
                  </a:moveTo>
                  <a:lnTo>
                    <a:pt x="2284" y="0"/>
                  </a:lnTo>
                  <a:lnTo>
                    <a:pt x="0" y="2283"/>
                  </a:lnTo>
                  <a:lnTo>
                    <a:pt x="0" y="772035"/>
                  </a:lnTo>
                  <a:lnTo>
                    <a:pt x="2285" y="774319"/>
                  </a:lnTo>
                  <a:lnTo>
                    <a:pt x="4570" y="774319"/>
                  </a:lnTo>
                  <a:lnTo>
                    <a:pt x="4572" y="9898"/>
                  </a:lnTo>
                  <a:lnTo>
                    <a:pt x="9905" y="4568"/>
                  </a:lnTo>
                  <a:lnTo>
                    <a:pt x="9905" y="9898"/>
                  </a:lnTo>
                  <a:lnTo>
                    <a:pt x="981455" y="9898"/>
                  </a:lnTo>
                  <a:lnTo>
                    <a:pt x="981455" y="4568"/>
                  </a:lnTo>
                  <a:lnTo>
                    <a:pt x="986027" y="9898"/>
                  </a:lnTo>
                  <a:lnTo>
                    <a:pt x="986027" y="774319"/>
                  </a:lnTo>
                  <a:lnTo>
                    <a:pt x="988312" y="774319"/>
                  </a:lnTo>
                  <a:lnTo>
                    <a:pt x="990600" y="772035"/>
                  </a:lnTo>
                  <a:lnTo>
                    <a:pt x="990600" y="2283"/>
                  </a:lnTo>
                  <a:lnTo>
                    <a:pt x="988312" y="0"/>
                  </a:lnTo>
                  <a:close/>
                </a:path>
              </a:pathLst>
            </a:custGeom>
            <a:solidFill>
              <a:srgbClr val="000000"/>
            </a:solidFill>
          </p:spPr>
          <p:txBody>
            <a:bodyPr wrap="square" lIns="0" tIns="0" rIns="0" bIns="0" rtlCol="0"/>
            <a:lstStyle/>
            <a:p>
              <a:endParaRPr/>
            </a:p>
          </p:txBody>
        </p:sp>
      </p:grpSp>
      <p:graphicFrame>
        <p:nvGraphicFramePr>
          <p:cNvPr id="11" name="object 11"/>
          <p:cNvGraphicFramePr>
            <a:graphicFrameLocks noGrp="1"/>
          </p:cNvGraphicFramePr>
          <p:nvPr/>
        </p:nvGraphicFramePr>
        <p:xfrm>
          <a:off x="7366888" y="2633468"/>
          <a:ext cx="976630" cy="771341"/>
        </p:xfrm>
        <a:graphic>
          <a:graphicData uri="http://schemas.openxmlformats.org/drawingml/2006/table">
            <a:tbl>
              <a:tblPr firstRow="1" bandRow="1">
                <a:tableStyleId>{2D5ABB26-0587-4C30-8999-92F81FD0307C}</a:tableStyleId>
              </a:tblPr>
              <a:tblGrid>
                <a:gridCol w="976630">
                  <a:extLst>
                    <a:ext uri="{9D8B030D-6E8A-4147-A177-3AD203B41FA5}">
                      <a16:colId xmlns:a16="http://schemas.microsoft.com/office/drawing/2014/main" val="20000"/>
                    </a:ext>
                  </a:extLst>
                </a:gridCol>
              </a:tblGrid>
              <a:tr h="420881">
                <a:tc>
                  <a:txBody>
                    <a:bodyPr/>
                    <a:lstStyle/>
                    <a:p>
                      <a:pPr marL="105410">
                        <a:lnSpc>
                          <a:spcPct val="100000"/>
                        </a:lnSpc>
                        <a:spcBef>
                          <a:spcPts val="455"/>
                        </a:spcBef>
                      </a:pPr>
                      <a:r>
                        <a:rPr sz="1900" spc="15" dirty="0">
                          <a:latin typeface="Arial MT"/>
                          <a:cs typeface="Arial MT"/>
                        </a:rPr>
                        <a:t>Animal</a:t>
                      </a:r>
                      <a:endParaRPr sz="1900">
                        <a:latin typeface="Arial MT"/>
                        <a:cs typeface="Arial MT"/>
                      </a:endParaRPr>
                    </a:p>
                  </a:txBody>
                  <a:tcPr marL="0" marR="0" marT="57785"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152400">
                <a:tc>
                  <a:txBody>
                    <a:bodyPr/>
                    <a:lstStyle/>
                    <a:p>
                      <a:pPr>
                        <a:lnSpc>
                          <a:spcPct val="100000"/>
                        </a:lnSpc>
                      </a:pPr>
                      <a:endParaRPr sz="8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198060">
                <a:tc>
                  <a:txBody>
                    <a:bodyPr/>
                    <a:lstStyle/>
                    <a:p>
                      <a:pPr>
                        <a:lnSpc>
                          <a:spcPct val="100000"/>
                        </a:lnSpc>
                      </a:pPr>
                      <a:endParaRPr sz="1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12" name="object 12"/>
          <p:cNvGrpSpPr/>
          <p:nvPr/>
        </p:nvGrpSpPr>
        <p:grpSpPr>
          <a:xfrm>
            <a:off x="8089900" y="4343400"/>
            <a:ext cx="965200" cy="762000"/>
            <a:chOff x="8089900" y="4343400"/>
            <a:chExt cx="965200" cy="762000"/>
          </a:xfrm>
        </p:grpSpPr>
        <p:pic>
          <p:nvPicPr>
            <p:cNvPr id="13" name="object 13"/>
            <p:cNvPicPr/>
            <p:nvPr/>
          </p:nvPicPr>
          <p:blipFill>
            <a:blip r:embed="rId4" cstate="print"/>
            <a:stretch>
              <a:fillRect/>
            </a:stretch>
          </p:blipFill>
          <p:spPr>
            <a:xfrm>
              <a:off x="8089900" y="4343400"/>
              <a:ext cx="965200" cy="762000"/>
            </a:xfrm>
            <a:prstGeom prst="rect">
              <a:avLst/>
            </a:prstGeom>
          </p:spPr>
        </p:pic>
        <p:sp>
          <p:nvSpPr>
            <p:cNvPr id="14" name="object 14"/>
            <p:cNvSpPr/>
            <p:nvPr/>
          </p:nvSpPr>
          <p:spPr>
            <a:xfrm>
              <a:off x="8089900" y="4343400"/>
              <a:ext cx="965200" cy="762000"/>
            </a:xfrm>
            <a:custGeom>
              <a:avLst/>
              <a:gdLst/>
              <a:ahLst/>
              <a:cxnLst/>
              <a:rect l="l" t="t" r="r" b="b"/>
              <a:pathLst>
                <a:path w="965200" h="762000">
                  <a:moveTo>
                    <a:pt x="962384" y="0"/>
                  </a:moveTo>
                  <a:lnTo>
                    <a:pt x="1534" y="0"/>
                  </a:lnTo>
                  <a:lnTo>
                    <a:pt x="0" y="2299"/>
                  </a:lnTo>
                  <a:lnTo>
                    <a:pt x="0" y="759574"/>
                  </a:lnTo>
                  <a:lnTo>
                    <a:pt x="1536" y="761873"/>
                  </a:lnTo>
                  <a:lnTo>
                    <a:pt x="4608" y="761873"/>
                  </a:lnTo>
                  <a:lnTo>
                    <a:pt x="4608" y="9964"/>
                  </a:lnTo>
                  <a:lnTo>
                    <a:pt x="9216" y="5365"/>
                  </a:lnTo>
                  <a:lnTo>
                    <a:pt x="9216" y="9964"/>
                  </a:lnTo>
                  <a:lnTo>
                    <a:pt x="954703" y="9964"/>
                  </a:lnTo>
                  <a:lnTo>
                    <a:pt x="954704" y="5365"/>
                  </a:lnTo>
                  <a:lnTo>
                    <a:pt x="960080" y="9964"/>
                  </a:lnTo>
                  <a:lnTo>
                    <a:pt x="960080" y="761873"/>
                  </a:lnTo>
                  <a:lnTo>
                    <a:pt x="962384" y="761873"/>
                  </a:lnTo>
                  <a:lnTo>
                    <a:pt x="964689" y="759574"/>
                  </a:lnTo>
                  <a:lnTo>
                    <a:pt x="964689" y="2299"/>
                  </a:lnTo>
                  <a:lnTo>
                    <a:pt x="962384" y="0"/>
                  </a:lnTo>
                  <a:close/>
                </a:path>
              </a:pathLst>
            </a:custGeom>
            <a:solidFill>
              <a:srgbClr val="000000"/>
            </a:solidFill>
          </p:spPr>
          <p:txBody>
            <a:bodyPr wrap="square" lIns="0" tIns="0" rIns="0" bIns="0" rtlCol="0"/>
            <a:lstStyle/>
            <a:p>
              <a:endParaRPr/>
            </a:p>
          </p:txBody>
        </p:sp>
      </p:grpSp>
      <p:graphicFrame>
        <p:nvGraphicFramePr>
          <p:cNvPr id="15" name="object 15"/>
          <p:cNvGraphicFramePr>
            <a:graphicFrameLocks noGrp="1"/>
          </p:cNvGraphicFramePr>
          <p:nvPr/>
        </p:nvGraphicFramePr>
        <p:xfrm>
          <a:off x="8090462" y="4348765"/>
          <a:ext cx="950594" cy="758321"/>
        </p:xfrm>
        <a:graphic>
          <a:graphicData uri="http://schemas.openxmlformats.org/drawingml/2006/table">
            <a:tbl>
              <a:tblPr firstRow="1" bandRow="1">
                <a:tableStyleId>{2D5ABB26-0587-4C30-8999-92F81FD0307C}</a:tableStyleId>
              </a:tblPr>
              <a:tblGrid>
                <a:gridCol w="950594">
                  <a:extLst>
                    <a:ext uri="{9D8B030D-6E8A-4147-A177-3AD203B41FA5}">
                      <a16:colId xmlns:a16="http://schemas.microsoft.com/office/drawing/2014/main" val="20000"/>
                    </a:ext>
                  </a:extLst>
                </a:gridCol>
              </a:tblGrid>
              <a:tr h="420084">
                <a:tc>
                  <a:txBody>
                    <a:bodyPr/>
                    <a:lstStyle/>
                    <a:p>
                      <a:pPr marL="172085">
                        <a:lnSpc>
                          <a:spcPct val="100000"/>
                        </a:lnSpc>
                        <a:spcBef>
                          <a:spcPts val="470"/>
                        </a:spcBef>
                      </a:pPr>
                      <a:r>
                        <a:rPr sz="1900" spc="15" dirty="0">
                          <a:latin typeface="Arial MT"/>
                          <a:cs typeface="Arial MT"/>
                        </a:rPr>
                        <a:t>Horse</a:t>
                      </a:r>
                      <a:endParaRPr sz="1900">
                        <a:latin typeface="Arial MT"/>
                        <a:cs typeface="Arial MT"/>
                      </a:endParaRPr>
                    </a:p>
                  </a:txBody>
                  <a:tcPr marL="0" marR="0" marT="59690"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127000">
                <a:tc>
                  <a:txBody>
                    <a:bodyPr/>
                    <a:lstStyle/>
                    <a:p>
                      <a:pPr>
                        <a:lnSpc>
                          <a:spcPct val="100000"/>
                        </a:lnSpc>
                      </a:pPr>
                      <a:endParaRPr sz="6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1123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16" name="object 16"/>
          <p:cNvGrpSpPr/>
          <p:nvPr/>
        </p:nvGrpSpPr>
        <p:grpSpPr>
          <a:xfrm>
            <a:off x="6426200" y="4343400"/>
            <a:ext cx="977900" cy="787400"/>
            <a:chOff x="6426200" y="4343400"/>
            <a:chExt cx="977900" cy="787400"/>
          </a:xfrm>
        </p:grpSpPr>
        <p:pic>
          <p:nvPicPr>
            <p:cNvPr id="17" name="object 17"/>
            <p:cNvPicPr/>
            <p:nvPr/>
          </p:nvPicPr>
          <p:blipFill>
            <a:blip r:embed="rId5" cstate="print"/>
            <a:stretch>
              <a:fillRect/>
            </a:stretch>
          </p:blipFill>
          <p:spPr>
            <a:xfrm>
              <a:off x="6426200" y="4343400"/>
              <a:ext cx="977900" cy="774700"/>
            </a:xfrm>
            <a:prstGeom prst="rect">
              <a:avLst/>
            </a:prstGeom>
          </p:spPr>
        </p:pic>
        <p:sp>
          <p:nvSpPr>
            <p:cNvPr id="18" name="object 18"/>
            <p:cNvSpPr/>
            <p:nvPr/>
          </p:nvSpPr>
          <p:spPr>
            <a:xfrm>
              <a:off x="6426200" y="4343400"/>
              <a:ext cx="977900" cy="787400"/>
            </a:xfrm>
            <a:custGeom>
              <a:avLst/>
              <a:gdLst/>
              <a:ahLst/>
              <a:cxnLst/>
              <a:rect l="l" t="t" r="r" b="b"/>
              <a:pathLst>
                <a:path w="977900" h="787400">
                  <a:moveTo>
                    <a:pt x="975987" y="0"/>
                  </a:moveTo>
                  <a:lnTo>
                    <a:pt x="2296" y="0"/>
                  </a:lnTo>
                  <a:lnTo>
                    <a:pt x="0" y="2317"/>
                  </a:lnTo>
                  <a:lnTo>
                    <a:pt x="0" y="784953"/>
                  </a:lnTo>
                  <a:lnTo>
                    <a:pt x="2296" y="787271"/>
                  </a:lnTo>
                  <a:lnTo>
                    <a:pt x="5358" y="787271"/>
                  </a:lnTo>
                  <a:lnTo>
                    <a:pt x="5358" y="10043"/>
                  </a:lnTo>
                  <a:lnTo>
                    <a:pt x="9951" y="5407"/>
                  </a:lnTo>
                  <a:lnTo>
                    <a:pt x="9951" y="10043"/>
                  </a:lnTo>
                  <a:lnTo>
                    <a:pt x="968331" y="10043"/>
                  </a:lnTo>
                  <a:lnTo>
                    <a:pt x="968331" y="5407"/>
                  </a:lnTo>
                  <a:lnTo>
                    <a:pt x="972925" y="10043"/>
                  </a:lnTo>
                  <a:lnTo>
                    <a:pt x="972925" y="787271"/>
                  </a:lnTo>
                  <a:lnTo>
                    <a:pt x="975987" y="787271"/>
                  </a:lnTo>
                  <a:lnTo>
                    <a:pt x="977519" y="784953"/>
                  </a:lnTo>
                  <a:lnTo>
                    <a:pt x="977519" y="2317"/>
                  </a:lnTo>
                  <a:lnTo>
                    <a:pt x="975987" y="0"/>
                  </a:lnTo>
                  <a:close/>
                </a:path>
              </a:pathLst>
            </a:custGeom>
            <a:solidFill>
              <a:srgbClr val="000000"/>
            </a:solidFill>
          </p:spPr>
          <p:txBody>
            <a:bodyPr wrap="square" lIns="0" tIns="0" rIns="0" bIns="0" rtlCol="0"/>
            <a:lstStyle/>
            <a:p>
              <a:endParaRPr/>
            </a:p>
          </p:txBody>
        </p:sp>
      </p:grpSp>
      <p:graphicFrame>
        <p:nvGraphicFramePr>
          <p:cNvPr id="19" name="object 19"/>
          <p:cNvGraphicFramePr>
            <a:graphicFrameLocks noGrp="1"/>
          </p:cNvGraphicFramePr>
          <p:nvPr/>
        </p:nvGraphicFramePr>
        <p:xfrm>
          <a:off x="6427504" y="4348807"/>
          <a:ext cx="962660" cy="775642"/>
        </p:xfrm>
        <a:graphic>
          <a:graphicData uri="http://schemas.openxmlformats.org/drawingml/2006/table">
            <a:tbl>
              <a:tblPr firstRow="1" bandRow="1">
                <a:tableStyleId>{2D5ABB26-0587-4C30-8999-92F81FD0307C}</a:tableStyleId>
              </a:tblPr>
              <a:tblGrid>
                <a:gridCol w="962660">
                  <a:extLst>
                    <a:ext uri="{9D8B030D-6E8A-4147-A177-3AD203B41FA5}">
                      <a16:colId xmlns:a16="http://schemas.microsoft.com/office/drawing/2014/main" val="20000"/>
                    </a:ext>
                  </a:extLst>
                </a:gridCol>
              </a:tblGrid>
              <a:tr h="420042">
                <a:tc>
                  <a:txBody>
                    <a:bodyPr/>
                    <a:lstStyle/>
                    <a:p>
                      <a:pPr marL="229870">
                        <a:lnSpc>
                          <a:spcPct val="100000"/>
                        </a:lnSpc>
                        <a:spcBef>
                          <a:spcPts val="470"/>
                        </a:spcBef>
                      </a:pPr>
                      <a:r>
                        <a:rPr sz="1900" spc="5" dirty="0">
                          <a:latin typeface="Arial MT"/>
                          <a:cs typeface="Arial MT"/>
                        </a:rPr>
                        <a:t>Wolf</a:t>
                      </a:r>
                      <a:endParaRPr sz="1900">
                        <a:latin typeface="Arial MT"/>
                        <a:cs typeface="Arial MT"/>
                      </a:endParaRPr>
                    </a:p>
                  </a:txBody>
                  <a:tcPr marL="0" marR="0" marT="59690"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152400">
                <a:tc>
                  <a:txBody>
                    <a:bodyPr/>
                    <a:lstStyle/>
                    <a:p>
                      <a:pPr>
                        <a:lnSpc>
                          <a:spcPct val="100000"/>
                        </a:lnSpc>
                      </a:pPr>
                      <a:endParaRPr sz="800">
                        <a:latin typeface="Times New Roman"/>
                        <a:cs typeface="Times New Roman"/>
                      </a:endParaRPr>
                    </a:p>
                  </a:txBody>
                  <a:tcPr marL="0" marR="0" marT="0" marB="0">
                    <a:lnL w="19050">
                      <a:solidFill>
                        <a:srgbClr val="000000"/>
                      </a:solidFill>
                      <a:prstDash val="solid"/>
                    </a:lnL>
                    <a:lnR w="63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0320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63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20" name="object 20"/>
          <p:cNvGrpSpPr/>
          <p:nvPr/>
        </p:nvGrpSpPr>
        <p:grpSpPr>
          <a:xfrm>
            <a:off x="4902200" y="4343400"/>
            <a:ext cx="977900" cy="762000"/>
            <a:chOff x="4902200" y="4343400"/>
            <a:chExt cx="977900" cy="762000"/>
          </a:xfrm>
        </p:grpSpPr>
        <p:pic>
          <p:nvPicPr>
            <p:cNvPr id="21" name="object 21"/>
            <p:cNvPicPr/>
            <p:nvPr/>
          </p:nvPicPr>
          <p:blipFill>
            <a:blip r:embed="rId6" cstate="print"/>
            <a:stretch>
              <a:fillRect/>
            </a:stretch>
          </p:blipFill>
          <p:spPr>
            <a:xfrm>
              <a:off x="4902200" y="4343400"/>
              <a:ext cx="977900" cy="762000"/>
            </a:xfrm>
            <a:prstGeom prst="rect">
              <a:avLst/>
            </a:prstGeom>
          </p:spPr>
        </p:pic>
        <p:sp>
          <p:nvSpPr>
            <p:cNvPr id="22" name="object 22"/>
            <p:cNvSpPr/>
            <p:nvPr/>
          </p:nvSpPr>
          <p:spPr>
            <a:xfrm>
              <a:off x="4902200" y="4343399"/>
              <a:ext cx="977900" cy="762000"/>
            </a:xfrm>
            <a:custGeom>
              <a:avLst/>
              <a:gdLst/>
              <a:ahLst/>
              <a:cxnLst/>
              <a:rect l="l" t="t" r="r" b="b"/>
              <a:pathLst>
                <a:path w="977900" h="762000">
                  <a:moveTo>
                    <a:pt x="977760" y="2311"/>
                  </a:moveTo>
                  <a:lnTo>
                    <a:pt x="975474" y="0"/>
                  </a:lnTo>
                  <a:lnTo>
                    <a:pt x="968590" y="0"/>
                  </a:lnTo>
                  <a:lnTo>
                    <a:pt x="968590" y="9969"/>
                  </a:lnTo>
                  <a:lnTo>
                    <a:pt x="968590" y="752678"/>
                  </a:lnTo>
                  <a:lnTo>
                    <a:pt x="9931" y="752678"/>
                  </a:lnTo>
                  <a:lnTo>
                    <a:pt x="9931" y="9969"/>
                  </a:lnTo>
                  <a:lnTo>
                    <a:pt x="968590" y="9969"/>
                  </a:lnTo>
                  <a:lnTo>
                    <a:pt x="968590" y="0"/>
                  </a:lnTo>
                  <a:lnTo>
                    <a:pt x="2286" y="0"/>
                  </a:lnTo>
                  <a:lnTo>
                    <a:pt x="0" y="2311"/>
                  </a:lnTo>
                  <a:lnTo>
                    <a:pt x="0" y="759574"/>
                  </a:lnTo>
                  <a:lnTo>
                    <a:pt x="2286" y="761873"/>
                  </a:lnTo>
                  <a:lnTo>
                    <a:pt x="4584" y="761873"/>
                  </a:lnTo>
                  <a:lnTo>
                    <a:pt x="9931" y="761873"/>
                  </a:lnTo>
                  <a:lnTo>
                    <a:pt x="968590" y="761873"/>
                  </a:lnTo>
                  <a:lnTo>
                    <a:pt x="973175" y="761873"/>
                  </a:lnTo>
                  <a:lnTo>
                    <a:pt x="975474" y="761873"/>
                  </a:lnTo>
                  <a:lnTo>
                    <a:pt x="977760" y="759574"/>
                  </a:lnTo>
                  <a:lnTo>
                    <a:pt x="977760" y="2311"/>
                  </a:lnTo>
                  <a:close/>
                </a:path>
              </a:pathLst>
            </a:custGeom>
            <a:solidFill>
              <a:srgbClr val="000000"/>
            </a:solidFill>
          </p:spPr>
          <p:txBody>
            <a:bodyPr wrap="square" lIns="0" tIns="0" rIns="0" bIns="0" rtlCol="0"/>
            <a:lstStyle/>
            <a:p>
              <a:endParaRPr/>
            </a:p>
          </p:txBody>
        </p:sp>
      </p:grpSp>
      <p:sp>
        <p:nvSpPr>
          <p:cNvPr id="23" name="object 23"/>
          <p:cNvSpPr txBox="1"/>
          <p:nvPr/>
        </p:nvSpPr>
        <p:spPr>
          <a:xfrm>
            <a:off x="5193157" y="4395978"/>
            <a:ext cx="452120" cy="314960"/>
          </a:xfrm>
          <a:prstGeom prst="rect">
            <a:avLst/>
          </a:prstGeom>
        </p:spPr>
        <p:txBody>
          <a:bodyPr vert="horz" wrap="square" lIns="0" tIns="12700" rIns="0" bIns="0" rtlCol="0">
            <a:spAutoFit/>
          </a:bodyPr>
          <a:lstStyle/>
          <a:p>
            <a:pPr marL="12700">
              <a:lnSpc>
                <a:spcPct val="100000"/>
              </a:lnSpc>
              <a:spcBef>
                <a:spcPts val="100"/>
              </a:spcBef>
            </a:pPr>
            <a:r>
              <a:rPr sz="1900" spc="30" dirty="0">
                <a:latin typeface="Arial MT"/>
                <a:cs typeface="Arial MT"/>
              </a:rPr>
              <a:t>B</a:t>
            </a:r>
            <a:r>
              <a:rPr sz="1900" spc="-25" dirty="0">
                <a:latin typeface="Arial MT"/>
                <a:cs typeface="Arial MT"/>
              </a:rPr>
              <a:t>i</a:t>
            </a:r>
            <a:r>
              <a:rPr sz="1900" spc="-35" dirty="0">
                <a:latin typeface="Arial MT"/>
                <a:cs typeface="Arial MT"/>
              </a:rPr>
              <a:t>r</a:t>
            </a:r>
            <a:r>
              <a:rPr sz="1900" dirty="0">
                <a:latin typeface="Arial MT"/>
                <a:cs typeface="Arial MT"/>
              </a:rPr>
              <a:t>d</a:t>
            </a:r>
            <a:endParaRPr sz="1900">
              <a:latin typeface="Arial MT"/>
              <a:cs typeface="Arial MT"/>
            </a:endParaRPr>
          </a:p>
        </p:txBody>
      </p:sp>
      <p:grpSp>
        <p:nvGrpSpPr>
          <p:cNvPr id="24" name="object 24"/>
          <p:cNvGrpSpPr/>
          <p:nvPr/>
        </p:nvGrpSpPr>
        <p:grpSpPr>
          <a:xfrm>
            <a:off x="3251200" y="4343400"/>
            <a:ext cx="2628900" cy="774700"/>
            <a:chOff x="3251200" y="4343400"/>
            <a:chExt cx="2628900" cy="774700"/>
          </a:xfrm>
        </p:grpSpPr>
        <p:pic>
          <p:nvPicPr>
            <p:cNvPr id="25" name="object 25"/>
            <p:cNvPicPr/>
            <p:nvPr/>
          </p:nvPicPr>
          <p:blipFill>
            <a:blip r:embed="rId7" cstate="print"/>
            <a:stretch>
              <a:fillRect/>
            </a:stretch>
          </p:blipFill>
          <p:spPr>
            <a:xfrm>
              <a:off x="4902200" y="4762500"/>
              <a:ext cx="977900" cy="342900"/>
            </a:xfrm>
            <a:prstGeom prst="rect">
              <a:avLst/>
            </a:prstGeom>
          </p:spPr>
        </p:pic>
        <p:sp>
          <p:nvSpPr>
            <p:cNvPr id="26" name="object 26"/>
            <p:cNvSpPr/>
            <p:nvPr/>
          </p:nvSpPr>
          <p:spPr>
            <a:xfrm>
              <a:off x="4902200" y="4762499"/>
              <a:ext cx="977900" cy="342900"/>
            </a:xfrm>
            <a:custGeom>
              <a:avLst/>
              <a:gdLst/>
              <a:ahLst/>
              <a:cxnLst/>
              <a:rect l="l" t="t" r="r" b="b"/>
              <a:pathLst>
                <a:path w="977900" h="342900">
                  <a:moveTo>
                    <a:pt x="977760" y="2273"/>
                  </a:moveTo>
                  <a:lnTo>
                    <a:pt x="975474" y="0"/>
                  </a:lnTo>
                  <a:lnTo>
                    <a:pt x="968590" y="0"/>
                  </a:lnTo>
                  <a:lnTo>
                    <a:pt x="968590" y="9067"/>
                  </a:lnTo>
                  <a:lnTo>
                    <a:pt x="968590" y="333717"/>
                  </a:lnTo>
                  <a:lnTo>
                    <a:pt x="9931" y="333717"/>
                  </a:lnTo>
                  <a:lnTo>
                    <a:pt x="9931" y="9067"/>
                  </a:lnTo>
                  <a:lnTo>
                    <a:pt x="968590" y="9067"/>
                  </a:lnTo>
                  <a:lnTo>
                    <a:pt x="968590" y="0"/>
                  </a:lnTo>
                  <a:lnTo>
                    <a:pt x="2286" y="0"/>
                  </a:lnTo>
                  <a:lnTo>
                    <a:pt x="0" y="2273"/>
                  </a:lnTo>
                  <a:lnTo>
                    <a:pt x="0" y="340512"/>
                  </a:lnTo>
                  <a:lnTo>
                    <a:pt x="2286" y="342785"/>
                  </a:lnTo>
                  <a:lnTo>
                    <a:pt x="4584" y="342785"/>
                  </a:lnTo>
                  <a:lnTo>
                    <a:pt x="9931" y="342785"/>
                  </a:lnTo>
                  <a:lnTo>
                    <a:pt x="968590" y="342785"/>
                  </a:lnTo>
                  <a:lnTo>
                    <a:pt x="973175" y="342785"/>
                  </a:lnTo>
                  <a:lnTo>
                    <a:pt x="975474" y="342785"/>
                  </a:lnTo>
                  <a:lnTo>
                    <a:pt x="977760" y="340512"/>
                  </a:lnTo>
                  <a:lnTo>
                    <a:pt x="977760" y="2273"/>
                  </a:lnTo>
                  <a:close/>
                </a:path>
              </a:pathLst>
            </a:custGeom>
            <a:solidFill>
              <a:srgbClr val="000000"/>
            </a:solidFill>
          </p:spPr>
          <p:txBody>
            <a:bodyPr wrap="square" lIns="0" tIns="0" rIns="0" bIns="0" rtlCol="0"/>
            <a:lstStyle/>
            <a:p>
              <a:endParaRPr/>
            </a:p>
          </p:txBody>
        </p:sp>
        <p:sp>
          <p:nvSpPr>
            <p:cNvPr id="27" name="object 27"/>
            <p:cNvSpPr/>
            <p:nvPr/>
          </p:nvSpPr>
          <p:spPr>
            <a:xfrm>
              <a:off x="4908550" y="4895850"/>
              <a:ext cx="965200" cy="215900"/>
            </a:xfrm>
            <a:custGeom>
              <a:avLst/>
              <a:gdLst/>
              <a:ahLst/>
              <a:cxnLst/>
              <a:rect l="l" t="t" r="r" b="b"/>
              <a:pathLst>
                <a:path w="965200" h="215900">
                  <a:moveTo>
                    <a:pt x="0" y="0"/>
                  </a:moveTo>
                  <a:lnTo>
                    <a:pt x="964818" y="0"/>
                  </a:lnTo>
                </a:path>
                <a:path w="965200" h="215900">
                  <a:moveTo>
                    <a:pt x="0" y="0"/>
                  </a:moveTo>
                  <a:lnTo>
                    <a:pt x="0" y="215766"/>
                  </a:lnTo>
                </a:path>
              </a:pathLst>
            </a:custGeom>
            <a:ln w="12700">
              <a:solidFill>
                <a:srgbClr val="000000"/>
              </a:solidFill>
            </a:ln>
          </p:spPr>
          <p:txBody>
            <a:bodyPr wrap="square" lIns="0" tIns="0" rIns="0" bIns="0" rtlCol="0"/>
            <a:lstStyle/>
            <a:p>
              <a:endParaRPr/>
            </a:p>
          </p:txBody>
        </p:sp>
        <p:sp>
          <p:nvSpPr>
            <p:cNvPr id="28" name="object 28"/>
            <p:cNvSpPr/>
            <p:nvPr/>
          </p:nvSpPr>
          <p:spPr>
            <a:xfrm>
              <a:off x="4908550" y="5111750"/>
              <a:ext cx="965200" cy="0"/>
            </a:xfrm>
            <a:custGeom>
              <a:avLst/>
              <a:gdLst/>
              <a:ahLst/>
              <a:cxnLst/>
              <a:rect l="l" t="t" r="r" b="b"/>
              <a:pathLst>
                <a:path w="965200">
                  <a:moveTo>
                    <a:pt x="0" y="0"/>
                  </a:moveTo>
                  <a:lnTo>
                    <a:pt x="964818" y="0"/>
                  </a:lnTo>
                </a:path>
              </a:pathLst>
            </a:custGeom>
            <a:ln w="12700">
              <a:solidFill>
                <a:srgbClr val="000000"/>
              </a:solidFill>
            </a:ln>
          </p:spPr>
          <p:txBody>
            <a:bodyPr wrap="square" lIns="0" tIns="0" rIns="0" bIns="0" rtlCol="0"/>
            <a:lstStyle/>
            <a:p>
              <a:endParaRPr/>
            </a:p>
          </p:txBody>
        </p:sp>
        <p:sp>
          <p:nvSpPr>
            <p:cNvPr id="29" name="object 29"/>
            <p:cNvSpPr/>
            <p:nvPr/>
          </p:nvSpPr>
          <p:spPr>
            <a:xfrm>
              <a:off x="5873750" y="4895850"/>
              <a:ext cx="0" cy="215900"/>
            </a:xfrm>
            <a:custGeom>
              <a:avLst/>
              <a:gdLst/>
              <a:ahLst/>
              <a:cxnLst/>
              <a:rect l="l" t="t" r="r" b="b"/>
              <a:pathLst>
                <a:path h="215900">
                  <a:moveTo>
                    <a:pt x="0" y="0"/>
                  </a:moveTo>
                  <a:lnTo>
                    <a:pt x="0" y="215766"/>
                  </a:lnTo>
                </a:path>
              </a:pathLst>
            </a:custGeom>
            <a:ln w="12700">
              <a:solidFill>
                <a:srgbClr val="000000"/>
              </a:solidFill>
            </a:ln>
          </p:spPr>
          <p:txBody>
            <a:bodyPr wrap="square" lIns="0" tIns="0" rIns="0" bIns="0" rtlCol="0"/>
            <a:lstStyle/>
            <a:p>
              <a:endParaRPr/>
            </a:p>
          </p:txBody>
        </p:sp>
        <p:pic>
          <p:nvPicPr>
            <p:cNvPr id="30" name="object 30"/>
            <p:cNvPicPr/>
            <p:nvPr/>
          </p:nvPicPr>
          <p:blipFill>
            <a:blip r:embed="rId8" cstate="print"/>
            <a:stretch>
              <a:fillRect/>
            </a:stretch>
          </p:blipFill>
          <p:spPr>
            <a:xfrm>
              <a:off x="3251200" y="4343400"/>
              <a:ext cx="1231900" cy="762000"/>
            </a:xfrm>
            <a:prstGeom prst="rect">
              <a:avLst/>
            </a:prstGeom>
          </p:spPr>
        </p:pic>
        <p:sp>
          <p:nvSpPr>
            <p:cNvPr id="31" name="object 31"/>
            <p:cNvSpPr/>
            <p:nvPr/>
          </p:nvSpPr>
          <p:spPr>
            <a:xfrm>
              <a:off x="3251200" y="4343400"/>
              <a:ext cx="1231900" cy="762000"/>
            </a:xfrm>
            <a:custGeom>
              <a:avLst/>
              <a:gdLst/>
              <a:ahLst/>
              <a:cxnLst/>
              <a:rect l="l" t="t" r="r" b="b"/>
              <a:pathLst>
                <a:path w="1231900" h="762000">
                  <a:moveTo>
                    <a:pt x="1229467" y="0"/>
                  </a:moveTo>
                  <a:lnTo>
                    <a:pt x="2302" y="0"/>
                  </a:lnTo>
                  <a:lnTo>
                    <a:pt x="0" y="2299"/>
                  </a:lnTo>
                  <a:lnTo>
                    <a:pt x="0" y="759574"/>
                  </a:lnTo>
                  <a:lnTo>
                    <a:pt x="2303" y="761873"/>
                  </a:lnTo>
                  <a:lnTo>
                    <a:pt x="4607" y="761873"/>
                  </a:lnTo>
                  <a:lnTo>
                    <a:pt x="4607" y="9964"/>
                  </a:lnTo>
                  <a:lnTo>
                    <a:pt x="9215" y="5365"/>
                  </a:lnTo>
                  <a:lnTo>
                    <a:pt x="9213" y="9964"/>
                  </a:lnTo>
                  <a:lnTo>
                    <a:pt x="1221789" y="9964"/>
                  </a:lnTo>
                  <a:lnTo>
                    <a:pt x="1221789" y="5365"/>
                  </a:lnTo>
                  <a:lnTo>
                    <a:pt x="1227164" y="9964"/>
                  </a:lnTo>
                  <a:lnTo>
                    <a:pt x="1227164" y="761873"/>
                  </a:lnTo>
                  <a:lnTo>
                    <a:pt x="1229467" y="761873"/>
                  </a:lnTo>
                  <a:lnTo>
                    <a:pt x="1231771" y="759574"/>
                  </a:lnTo>
                  <a:lnTo>
                    <a:pt x="1231771" y="2299"/>
                  </a:lnTo>
                  <a:lnTo>
                    <a:pt x="1229467" y="0"/>
                  </a:lnTo>
                  <a:close/>
                </a:path>
              </a:pathLst>
            </a:custGeom>
            <a:solidFill>
              <a:srgbClr val="000000"/>
            </a:solidFill>
          </p:spPr>
          <p:txBody>
            <a:bodyPr wrap="square" lIns="0" tIns="0" rIns="0" bIns="0" rtlCol="0"/>
            <a:lstStyle/>
            <a:p>
              <a:endParaRPr/>
            </a:p>
          </p:txBody>
        </p:sp>
      </p:grpSp>
      <p:graphicFrame>
        <p:nvGraphicFramePr>
          <p:cNvPr id="32" name="object 32"/>
          <p:cNvGraphicFramePr>
            <a:graphicFrameLocks noGrp="1"/>
          </p:cNvGraphicFramePr>
          <p:nvPr/>
        </p:nvGraphicFramePr>
        <p:xfrm>
          <a:off x="3251761" y="4348765"/>
          <a:ext cx="1217295" cy="758321"/>
        </p:xfrm>
        <a:graphic>
          <a:graphicData uri="http://schemas.openxmlformats.org/drawingml/2006/table">
            <a:tbl>
              <a:tblPr firstRow="1" bandRow="1">
                <a:tableStyleId>{2D5ABB26-0587-4C30-8999-92F81FD0307C}</a:tableStyleId>
              </a:tblPr>
              <a:tblGrid>
                <a:gridCol w="1217295">
                  <a:extLst>
                    <a:ext uri="{9D8B030D-6E8A-4147-A177-3AD203B41FA5}">
                      <a16:colId xmlns:a16="http://schemas.microsoft.com/office/drawing/2014/main" val="20000"/>
                    </a:ext>
                  </a:extLst>
                </a:gridCol>
              </a:tblGrid>
              <a:tr h="420084">
                <a:tc>
                  <a:txBody>
                    <a:bodyPr/>
                    <a:lstStyle/>
                    <a:p>
                      <a:pPr marL="80645">
                        <a:lnSpc>
                          <a:spcPct val="100000"/>
                        </a:lnSpc>
                        <a:spcBef>
                          <a:spcPts val="470"/>
                        </a:spcBef>
                      </a:pPr>
                      <a:r>
                        <a:rPr sz="1900" spc="15" dirty="0">
                          <a:latin typeface="Arial MT"/>
                          <a:cs typeface="Arial MT"/>
                        </a:rPr>
                        <a:t>Helicopter</a:t>
                      </a:r>
                      <a:endParaRPr sz="1900">
                        <a:latin typeface="Arial MT"/>
                        <a:cs typeface="Arial MT"/>
                      </a:endParaRPr>
                    </a:p>
                  </a:txBody>
                  <a:tcPr marL="0" marR="0" marT="59690"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127000">
                <a:tc>
                  <a:txBody>
                    <a:bodyPr/>
                    <a:lstStyle/>
                    <a:p>
                      <a:pPr>
                        <a:lnSpc>
                          <a:spcPct val="100000"/>
                        </a:lnSpc>
                      </a:pPr>
                      <a:endParaRPr sz="6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1123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33" name="object 33"/>
          <p:cNvGrpSpPr/>
          <p:nvPr/>
        </p:nvGrpSpPr>
        <p:grpSpPr>
          <a:xfrm>
            <a:off x="1625600" y="4343400"/>
            <a:ext cx="1079500" cy="762000"/>
            <a:chOff x="1625600" y="4343400"/>
            <a:chExt cx="1079500" cy="762000"/>
          </a:xfrm>
        </p:grpSpPr>
        <p:pic>
          <p:nvPicPr>
            <p:cNvPr id="34" name="object 34"/>
            <p:cNvPicPr/>
            <p:nvPr/>
          </p:nvPicPr>
          <p:blipFill>
            <a:blip r:embed="rId9" cstate="print"/>
            <a:stretch>
              <a:fillRect/>
            </a:stretch>
          </p:blipFill>
          <p:spPr>
            <a:xfrm>
              <a:off x="1625600" y="4343400"/>
              <a:ext cx="1079500" cy="762000"/>
            </a:xfrm>
            <a:prstGeom prst="rect">
              <a:avLst/>
            </a:prstGeom>
          </p:spPr>
        </p:pic>
        <p:sp>
          <p:nvSpPr>
            <p:cNvPr id="35" name="object 35"/>
            <p:cNvSpPr/>
            <p:nvPr/>
          </p:nvSpPr>
          <p:spPr>
            <a:xfrm>
              <a:off x="1625600" y="4343400"/>
              <a:ext cx="1079500" cy="762000"/>
            </a:xfrm>
            <a:custGeom>
              <a:avLst/>
              <a:gdLst/>
              <a:ahLst/>
              <a:cxnLst/>
              <a:rect l="l" t="t" r="r" b="b"/>
              <a:pathLst>
                <a:path w="1079500" h="762000">
                  <a:moveTo>
                    <a:pt x="1076697" y="0"/>
                  </a:moveTo>
                  <a:lnTo>
                    <a:pt x="2293" y="0"/>
                  </a:lnTo>
                  <a:lnTo>
                    <a:pt x="0" y="2299"/>
                  </a:lnTo>
                  <a:lnTo>
                    <a:pt x="0" y="759574"/>
                  </a:lnTo>
                  <a:lnTo>
                    <a:pt x="2293" y="761873"/>
                  </a:lnTo>
                  <a:lnTo>
                    <a:pt x="4587" y="761873"/>
                  </a:lnTo>
                  <a:lnTo>
                    <a:pt x="4588" y="9964"/>
                  </a:lnTo>
                  <a:lnTo>
                    <a:pt x="9941" y="5365"/>
                  </a:lnTo>
                  <a:lnTo>
                    <a:pt x="9941" y="9964"/>
                  </a:lnTo>
                  <a:lnTo>
                    <a:pt x="1069050" y="9964"/>
                  </a:lnTo>
                  <a:lnTo>
                    <a:pt x="1069050" y="5365"/>
                  </a:lnTo>
                  <a:lnTo>
                    <a:pt x="1073638" y="9964"/>
                  </a:lnTo>
                  <a:lnTo>
                    <a:pt x="1073638" y="761873"/>
                  </a:lnTo>
                  <a:lnTo>
                    <a:pt x="1076697" y="761873"/>
                  </a:lnTo>
                  <a:lnTo>
                    <a:pt x="1078990" y="759574"/>
                  </a:lnTo>
                  <a:lnTo>
                    <a:pt x="1078990" y="2299"/>
                  </a:lnTo>
                  <a:lnTo>
                    <a:pt x="1076697" y="0"/>
                  </a:lnTo>
                  <a:close/>
                </a:path>
              </a:pathLst>
            </a:custGeom>
            <a:solidFill>
              <a:srgbClr val="000000"/>
            </a:solidFill>
          </p:spPr>
          <p:txBody>
            <a:bodyPr wrap="square" lIns="0" tIns="0" rIns="0" bIns="0" rtlCol="0"/>
            <a:lstStyle/>
            <a:p>
              <a:endParaRPr/>
            </a:p>
          </p:txBody>
        </p:sp>
      </p:grpSp>
      <p:graphicFrame>
        <p:nvGraphicFramePr>
          <p:cNvPr id="36" name="object 36"/>
          <p:cNvGraphicFramePr>
            <a:graphicFrameLocks noGrp="1"/>
          </p:cNvGraphicFramePr>
          <p:nvPr/>
        </p:nvGraphicFramePr>
        <p:xfrm>
          <a:off x="1626514" y="4348765"/>
          <a:ext cx="1064260" cy="758321"/>
        </p:xfrm>
        <a:graphic>
          <a:graphicData uri="http://schemas.openxmlformats.org/drawingml/2006/table">
            <a:tbl>
              <a:tblPr firstRow="1" bandRow="1">
                <a:tableStyleId>{2D5ABB26-0587-4C30-8999-92F81FD0307C}</a:tableStyleId>
              </a:tblPr>
              <a:tblGrid>
                <a:gridCol w="1064260">
                  <a:extLst>
                    <a:ext uri="{9D8B030D-6E8A-4147-A177-3AD203B41FA5}">
                      <a16:colId xmlns:a16="http://schemas.microsoft.com/office/drawing/2014/main" val="20000"/>
                    </a:ext>
                  </a:extLst>
                </a:gridCol>
              </a:tblGrid>
              <a:tr h="420084">
                <a:tc>
                  <a:txBody>
                    <a:bodyPr/>
                    <a:lstStyle/>
                    <a:p>
                      <a:pPr marL="130810">
                        <a:lnSpc>
                          <a:spcPct val="100000"/>
                        </a:lnSpc>
                        <a:spcBef>
                          <a:spcPts val="470"/>
                        </a:spcBef>
                      </a:pPr>
                      <a:r>
                        <a:rPr sz="1900" spc="5" dirty="0">
                          <a:latin typeface="Arial MT"/>
                          <a:cs typeface="Arial MT"/>
                        </a:rPr>
                        <a:t>Airplane</a:t>
                      </a:r>
                      <a:endParaRPr sz="1900">
                        <a:latin typeface="Arial MT"/>
                        <a:cs typeface="Arial MT"/>
                      </a:endParaRPr>
                    </a:p>
                  </a:txBody>
                  <a:tcPr marL="0" marR="0" marT="59690" marB="0">
                    <a:lnL w="6350">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127000">
                <a:tc>
                  <a:txBody>
                    <a:bodyPr/>
                    <a:lstStyle/>
                    <a:p>
                      <a:pPr>
                        <a:lnSpc>
                          <a:spcPct val="100000"/>
                        </a:lnSpc>
                      </a:pPr>
                      <a:endParaRPr sz="600">
                        <a:latin typeface="Times New Roman"/>
                        <a:cs typeface="Times New Roman"/>
                      </a:endParaRPr>
                    </a:p>
                  </a:txBody>
                  <a:tcPr marL="0" marR="0" marT="0" marB="0">
                    <a:lnL w="19050">
                      <a:solidFill>
                        <a:srgbClr val="000000"/>
                      </a:solidFill>
                      <a:prstDash val="solid"/>
                    </a:lnL>
                    <a:lnR w="63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1123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635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
        <p:nvSpPr>
          <p:cNvPr id="37" name="object 37"/>
          <p:cNvSpPr/>
          <p:nvPr/>
        </p:nvSpPr>
        <p:spPr>
          <a:xfrm>
            <a:off x="7746873" y="3399269"/>
            <a:ext cx="11430" cy="35560"/>
          </a:xfrm>
          <a:custGeom>
            <a:avLst/>
            <a:gdLst/>
            <a:ahLst/>
            <a:cxnLst/>
            <a:rect l="l" t="t" r="r" b="b"/>
            <a:pathLst>
              <a:path w="11429" h="35560">
                <a:moveTo>
                  <a:pt x="5638" y="17411"/>
                </a:moveTo>
                <a:lnTo>
                  <a:pt x="0" y="0"/>
                </a:lnTo>
                <a:lnTo>
                  <a:pt x="0" y="35064"/>
                </a:lnTo>
                <a:lnTo>
                  <a:pt x="5638" y="17411"/>
                </a:lnTo>
                <a:close/>
              </a:path>
              <a:path w="11429" h="35560">
                <a:moveTo>
                  <a:pt x="11201" y="0"/>
                </a:moveTo>
                <a:lnTo>
                  <a:pt x="5638" y="17411"/>
                </a:lnTo>
                <a:lnTo>
                  <a:pt x="11201" y="34607"/>
                </a:lnTo>
                <a:lnTo>
                  <a:pt x="11201" y="0"/>
                </a:lnTo>
                <a:close/>
              </a:path>
            </a:pathLst>
          </a:custGeom>
          <a:solidFill>
            <a:srgbClr val="000000"/>
          </a:solidFill>
        </p:spPr>
        <p:txBody>
          <a:bodyPr wrap="square" lIns="0" tIns="0" rIns="0" bIns="0" rtlCol="0"/>
          <a:lstStyle/>
          <a:p>
            <a:endParaRPr/>
          </a:p>
        </p:txBody>
      </p:sp>
      <p:grpSp>
        <p:nvGrpSpPr>
          <p:cNvPr id="38" name="object 38"/>
          <p:cNvGrpSpPr/>
          <p:nvPr/>
        </p:nvGrpSpPr>
        <p:grpSpPr>
          <a:xfrm>
            <a:off x="2159000" y="3352800"/>
            <a:ext cx="6413500" cy="1447800"/>
            <a:chOff x="2159000" y="3352800"/>
            <a:chExt cx="6413500" cy="1447800"/>
          </a:xfrm>
        </p:grpSpPr>
        <p:sp>
          <p:nvSpPr>
            <p:cNvPr id="39" name="object 39"/>
            <p:cNvSpPr/>
            <p:nvPr/>
          </p:nvSpPr>
          <p:spPr>
            <a:xfrm>
              <a:off x="3016250" y="3778250"/>
              <a:ext cx="0" cy="165100"/>
            </a:xfrm>
            <a:custGeom>
              <a:avLst/>
              <a:gdLst/>
              <a:ahLst/>
              <a:cxnLst/>
              <a:rect l="l" t="t" r="r" b="b"/>
              <a:pathLst>
                <a:path h="165100">
                  <a:moveTo>
                    <a:pt x="0" y="0"/>
                  </a:moveTo>
                  <a:lnTo>
                    <a:pt x="0" y="164853"/>
                  </a:lnTo>
                </a:path>
              </a:pathLst>
            </a:custGeom>
            <a:ln w="12700">
              <a:solidFill>
                <a:srgbClr val="000000"/>
              </a:solidFill>
            </a:ln>
          </p:spPr>
          <p:txBody>
            <a:bodyPr wrap="square" lIns="0" tIns="0" rIns="0" bIns="0" rtlCol="0"/>
            <a:lstStyle/>
            <a:p>
              <a:endParaRPr/>
            </a:p>
          </p:txBody>
        </p:sp>
        <p:sp>
          <p:nvSpPr>
            <p:cNvPr id="40" name="object 40"/>
            <p:cNvSpPr/>
            <p:nvPr/>
          </p:nvSpPr>
          <p:spPr>
            <a:xfrm>
              <a:off x="2882900" y="3390899"/>
              <a:ext cx="977900" cy="368300"/>
            </a:xfrm>
            <a:custGeom>
              <a:avLst/>
              <a:gdLst/>
              <a:ahLst/>
              <a:cxnLst/>
              <a:rect l="l" t="t" r="r" b="b"/>
              <a:pathLst>
                <a:path w="977900" h="368300">
                  <a:moveTo>
                    <a:pt x="253860" y="361327"/>
                  </a:moveTo>
                  <a:lnTo>
                    <a:pt x="253085" y="359816"/>
                  </a:lnTo>
                  <a:lnTo>
                    <a:pt x="246811" y="341109"/>
                  </a:lnTo>
                  <a:lnTo>
                    <a:pt x="246811" y="355244"/>
                  </a:lnTo>
                  <a:lnTo>
                    <a:pt x="246811" y="355600"/>
                  </a:lnTo>
                  <a:lnTo>
                    <a:pt x="246545" y="355600"/>
                  </a:lnTo>
                  <a:lnTo>
                    <a:pt x="246811" y="355244"/>
                  </a:lnTo>
                  <a:lnTo>
                    <a:pt x="246811" y="341109"/>
                  </a:lnTo>
                  <a:lnTo>
                    <a:pt x="243687" y="331800"/>
                  </a:lnTo>
                  <a:lnTo>
                    <a:pt x="243687" y="359422"/>
                  </a:lnTo>
                  <a:lnTo>
                    <a:pt x="243687" y="363220"/>
                  </a:lnTo>
                  <a:lnTo>
                    <a:pt x="240830" y="363220"/>
                  </a:lnTo>
                  <a:lnTo>
                    <a:pt x="243687" y="359422"/>
                  </a:lnTo>
                  <a:lnTo>
                    <a:pt x="243687" y="331800"/>
                  </a:lnTo>
                  <a:lnTo>
                    <a:pt x="240398" y="321983"/>
                  </a:lnTo>
                  <a:lnTo>
                    <a:pt x="240398" y="363220"/>
                  </a:lnTo>
                  <a:lnTo>
                    <a:pt x="239141" y="363220"/>
                  </a:lnTo>
                  <a:lnTo>
                    <a:pt x="239141" y="359435"/>
                  </a:lnTo>
                  <a:lnTo>
                    <a:pt x="240398" y="363220"/>
                  </a:lnTo>
                  <a:lnTo>
                    <a:pt x="240398" y="321983"/>
                  </a:lnTo>
                  <a:lnTo>
                    <a:pt x="237858" y="314413"/>
                  </a:lnTo>
                  <a:lnTo>
                    <a:pt x="237858" y="355600"/>
                  </a:lnTo>
                  <a:lnTo>
                    <a:pt x="16027" y="355600"/>
                  </a:lnTo>
                  <a:lnTo>
                    <a:pt x="16154" y="355244"/>
                  </a:lnTo>
                  <a:lnTo>
                    <a:pt x="121450" y="45275"/>
                  </a:lnTo>
                  <a:lnTo>
                    <a:pt x="127673" y="26949"/>
                  </a:lnTo>
                  <a:lnTo>
                    <a:pt x="121450" y="8369"/>
                  </a:lnTo>
                  <a:lnTo>
                    <a:pt x="133985" y="8369"/>
                  </a:lnTo>
                  <a:lnTo>
                    <a:pt x="127673" y="26949"/>
                  </a:lnTo>
                  <a:lnTo>
                    <a:pt x="133985" y="45770"/>
                  </a:lnTo>
                  <a:lnTo>
                    <a:pt x="237744" y="355244"/>
                  </a:lnTo>
                  <a:lnTo>
                    <a:pt x="237858" y="355600"/>
                  </a:lnTo>
                  <a:lnTo>
                    <a:pt x="237858" y="314413"/>
                  </a:lnTo>
                  <a:lnTo>
                    <a:pt x="133197" y="2286"/>
                  </a:lnTo>
                  <a:lnTo>
                    <a:pt x="130848" y="0"/>
                  </a:lnTo>
                  <a:lnTo>
                    <a:pt x="124574" y="0"/>
                  </a:lnTo>
                  <a:lnTo>
                    <a:pt x="122224" y="2286"/>
                  </a:lnTo>
                  <a:lnTo>
                    <a:pt x="14744" y="318693"/>
                  </a:lnTo>
                  <a:lnTo>
                    <a:pt x="14744" y="359384"/>
                  </a:lnTo>
                  <a:lnTo>
                    <a:pt x="14744" y="363220"/>
                  </a:lnTo>
                  <a:lnTo>
                    <a:pt x="13436" y="363220"/>
                  </a:lnTo>
                  <a:lnTo>
                    <a:pt x="14744" y="359384"/>
                  </a:lnTo>
                  <a:lnTo>
                    <a:pt x="14744" y="318693"/>
                  </a:lnTo>
                  <a:lnTo>
                    <a:pt x="13004" y="323824"/>
                  </a:lnTo>
                  <a:lnTo>
                    <a:pt x="13004" y="363220"/>
                  </a:lnTo>
                  <a:lnTo>
                    <a:pt x="10172" y="363220"/>
                  </a:lnTo>
                  <a:lnTo>
                    <a:pt x="10172" y="359435"/>
                  </a:lnTo>
                  <a:lnTo>
                    <a:pt x="13004" y="363220"/>
                  </a:lnTo>
                  <a:lnTo>
                    <a:pt x="13004" y="323824"/>
                  </a:lnTo>
                  <a:lnTo>
                    <a:pt x="7302" y="340601"/>
                  </a:lnTo>
                  <a:lnTo>
                    <a:pt x="7302" y="355600"/>
                  </a:lnTo>
                  <a:lnTo>
                    <a:pt x="7048" y="355600"/>
                  </a:lnTo>
                  <a:lnTo>
                    <a:pt x="7048" y="355244"/>
                  </a:lnTo>
                  <a:lnTo>
                    <a:pt x="7302" y="355600"/>
                  </a:lnTo>
                  <a:lnTo>
                    <a:pt x="7302" y="340601"/>
                  </a:lnTo>
                  <a:lnTo>
                    <a:pt x="774" y="359816"/>
                  </a:lnTo>
                  <a:lnTo>
                    <a:pt x="0" y="361327"/>
                  </a:lnTo>
                  <a:lnTo>
                    <a:pt x="0" y="363613"/>
                  </a:lnTo>
                  <a:lnTo>
                    <a:pt x="4699" y="368173"/>
                  </a:lnTo>
                  <a:lnTo>
                    <a:pt x="7048" y="368173"/>
                  </a:lnTo>
                  <a:lnTo>
                    <a:pt x="7048" y="368300"/>
                  </a:lnTo>
                  <a:lnTo>
                    <a:pt x="246811" y="368300"/>
                  </a:lnTo>
                  <a:lnTo>
                    <a:pt x="246811" y="368173"/>
                  </a:lnTo>
                  <a:lnTo>
                    <a:pt x="249161" y="368173"/>
                  </a:lnTo>
                  <a:lnTo>
                    <a:pt x="252298" y="365137"/>
                  </a:lnTo>
                  <a:lnTo>
                    <a:pt x="253085" y="363613"/>
                  </a:lnTo>
                  <a:lnTo>
                    <a:pt x="253860" y="361327"/>
                  </a:lnTo>
                  <a:close/>
                </a:path>
                <a:path w="977900" h="368300">
                  <a:moveTo>
                    <a:pt x="977900" y="81483"/>
                  </a:moveTo>
                  <a:lnTo>
                    <a:pt x="976388" y="78371"/>
                  </a:lnTo>
                  <a:lnTo>
                    <a:pt x="974877" y="76822"/>
                  </a:lnTo>
                  <a:lnTo>
                    <a:pt x="972616" y="76047"/>
                  </a:lnTo>
                  <a:lnTo>
                    <a:pt x="640270" y="0"/>
                  </a:lnTo>
                  <a:lnTo>
                    <a:pt x="638009" y="774"/>
                  </a:lnTo>
                  <a:lnTo>
                    <a:pt x="635000" y="5435"/>
                  </a:lnTo>
                  <a:lnTo>
                    <a:pt x="635000" y="8534"/>
                  </a:lnTo>
                  <a:lnTo>
                    <a:pt x="640270" y="16230"/>
                  </a:lnTo>
                  <a:lnTo>
                    <a:pt x="640270" y="13195"/>
                  </a:lnTo>
                  <a:lnTo>
                    <a:pt x="647052" y="3111"/>
                  </a:lnTo>
                  <a:lnTo>
                    <a:pt x="656818" y="17005"/>
                  </a:lnTo>
                  <a:lnTo>
                    <a:pt x="962063" y="87325"/>
                  </a:lnTo>
                  <a:lnTo>
                    <a:pt x="965835" y="79933"/>
                  </a:lnTo>
                  <a:lnTo>
                    <a:pt x="970356" y="89242"/>
                  </a:lnTo>
                  <a:lnTo>
                    <a:pt x="970356" y="98691"/>
                  </a:lnTo>
                  <a:lnTo>
                    <a:pt x="977900" y="83807"/>
                  </a:lnTo>
                  <a:lnTo>
                    <a:pt x="977900" y="81483"/>
                  </a:lnTo>
                  <a:close/>
                </a:path>
              </a:pathLst>
            </a:custGeom>
            <a:solidFill>
              <a:srgbClr val="000000"/>
            </a:solidFill>
          </p:spPr>
          <p:txBody>
            <a:bodyPr wrap="square" lIns="0" tIns="0" rIns="0" bIns="0" rtlCol="0"/>
            <a:lstStyle/>
            <a:p>
              <a:endParaRPr/>
            </a:p>
          </p:txBody>
        </p:sp>
        <p:sp>
          <p:nvSpPr>
            <p:cNvPr id="41" name="object 41"/>
            <p:cNvSpPr/>
            <p:nvPr/>
          </p:nvSpPr>
          <p:spPr>
            <a:xfrm>
              <a:off x="3854450" y="3943350"/>
              <a:ext cx="0" cy="419100"/>
            </a:xfrm>
            <a:custGeom>
              <a:avLst/>
              <a:gdLst/>
              <a:ahLst/>
              <a:cxnLst/>
              <a:rect l="l" t="t" r="r" b="b"/>
              <a:pathLst>
                <a:path h="419100">
                  <a:moveTo>
                    <a:pt x="0" y="0"/>
                  </a:moveTo>
                  <a:lnTo>
                    <a:pt x="0" y="419100"/>
                  </a:lnTo>
                </a:path>
              </a:pathLst>
            </a:custGeom>
            <a:ln w="12700">
              <a:solidFill>
                <a:srgbClr val="000000"/>
              </a:solidFill>
            </a:ln>
          </p:spPr>
          <p:txBody>
            <a:bodyPr wrap="square" lIns="0" tIns="0" rIns="0" bIns="0" rtlCol="0"/>
            <a:lstStyle/>
            <a:p>
              <a:endParaRPr/>
            </a:p>
          </p:txBody>
        </p:sp>
        <p:sp>
          <p:nvSpPr>
            <p:cNvPr id="42" name="object 42"/>
            <p:cNvSpPr/>
            <p:nvPr/>
          </p:nvSpPr>
          <p:spPr>
            <a:xfrm>
              <a:off x="3523170" y="3404095"/>
              <a:ext cx="1391920" cy="977265"/>
            </a:xfrm>
            <a:custGeom>
              <a:avLst/>
              <a:gdLst/>
              <a:ahLst/>
              <a:cxnLst/>
              <a:rect l="l" t="t" r="r" b="b"/>
              <a:pathLst>
                <a:path w="1391920" h="977264">
                  <a:moveTo>
                    <a:pt x="214172" y="284949"/>
                  </a:moveTo>
                  <a:lnTo>
                    <a:pt x="16548" y="3810"/>
                  </a:lnTo>
                  <a:lnTo>
                    <a:pt x="0" y="0"/>
                  </a:lnTo>
                  <a:lnTo>
                    <a:pt x="0" y="3035"/>
                  </a:lnTo>
                  <a:lnTo>
                    <a:pt x="209511" y="301078"/>
                  </a:lnTo>
                  <a:lnTo>
                    <a:pt x="209511" y="294093"/>
                  </a:lnTo>
                  <a:lnTo>
                    <a:pt x="214172" y="284949"/>
                  </a:lnTo>
                  <a:close/>
                </a:path>
                <a:path w="1391920" h="977264">
                  <a:moveTo>
                    <a:pt x="1391335" y="966927"/>
                  </a:moveTo>
                  <a:lnTo>
                    <a:pt x="281025" y="190004"/>
                  </a:lnTo>
                  <a:lnTo>
                    <a:pt x="274129" y="200748"/>
                  </a:lnTo>
                  <a:lnTo>
                    <a:pt x="1384439" y="976896"/>
                  </a:lnTo>
                  <a:lnTo>
                    <a:pt x="1391335" y="966927"/>
                  </a:lnTo>
                  <a:close/>
                </a:path>
              </a:pathLst>
            </a:custGeom>
            <a:solidFill>
              <a:srgbClr val="000000"/>
            </a:solidFill>
          </p:spPr>
          <p:txBody>
            <a:bodyPr wrap="square" lIns="0" tIns="0" rIns="0" bIns="0" rtlCol="0"/>
            <a:lstStyle/>
            <a:p>
              <a:endParaRPr/>
            </a:p>
          </p:txBody>
        </p:sp>
        <p:pic>
          <p:nvPicPr>
            <p:cNvPr id="43" name="object 43"/>
            <p:cNvPicPr/>
            <p:nvPr/>
          </p:nvPicPr>
          <p:blipFill>
            <a:blip r:embed="rId10" cstate="print"/>
            <a:stretch>
              <a:fillRect/>
            </a:stretch>
          </p:blipFill>
          <p:spPr>
            <a:xfrm>
              <a:off x="3732683" y="3470823"/>
              <a:ext cx="120580" cy="237445"/>
            </a:xfrm>
            <a:prstGeom prst="rect">
              <a:avLst/>
            </a:prstGeom>
          </p:spPr>
        </p:pic>
        <p:sp>
          <p:nvSpPr>
            <p:cNvPr id="44" name="object 44"/>
            <p:cNvSpPr/>
            <p:nvPr/>
          </p:nvSpPr>
          <p:spPr>
            <a:xfrm>
              <a:off x="5867400" y="3352799"/>
              <a:ext cx="1511300" cy="1041400"/>
            </a:xfrm>
            <a:custGeom>
              <a:avLst/>
              <a:gdLst/>
              <a:ahLst/>
              <a:cxnLst/>
              <a:rect l="l" t="t" r="r" b="b"/>
              <a:pathLst>
                <a:path w="1511300" h="1041400">
                  <a:moveTo>
                    <a:pt x="1231900" y="201218"/>
                  </a:moveTo>
                  <a:lnTo>
                    <a:pt x="1224241" y="190500"/>
                  </a:lnTo>
                  <a:lnTo>
                    <a:pt x="0" y="1030312"/>
                  </a:lnTo>
                  <a:lnTo>
                    <a:pt x="7645" y="1041019"/>
                  </a:lnTo>
                  <a:lnTo>
                    <a:pt x="1231900" y="201218"/>
                  </a:lnTo>
                  <a:close/>
                </a:path>
                <a:path w="1511300" h="1041400">
                  <a:moveTo>
                    <a:pt x="1511033" y="5435"/>
                  </a:moveTo>
                  <a:lnTo>
                    <a:pt x="1509458" y="3111"/>
                  </a:lnTo>
                  <a:lnTo>
                    <a:pt x="1508683" y="787"/>
                  </a:lnTo>
                  <a:lnTo>
                    <a:pt x="1505546" y="0"/>
                  </a:lnTo>
                  <a:lnTo>
                    <a:pt x="1503184" y="787"/>
                  </a:lnTo>
                  <a:lnTo>
                    <a:pt x="1161186" y="76822"/>
                  </a:lnTo>
                  <a:lnTo>
                    <a:pt x="1159611" y="76822"/>
                  </a:lnTo>
                  <a:lnTo>
                    <a:pt x="1156474" y="79933"/>
                  </a:lnTo>
                  <a:lnTo>
                    <a:pt x="1155700" y="81483"/>
                  </a:lnTo>
                  <a:lnTo>
                    <a:pt x="1155700" y="83807"/>
                  </a:lnTo>
                  <a:lnTo>
                    <a:pt x="1157262" y="85356"/>
                  </a:lnTo>
                  <a:lnTo>
                    <a:pt x="1164323" y="98869"/>
                  </a:lnTo>
                  <a:lnTo>
                    <a:pt x="1164323" y="89242"/>
                  </a:lnTo>
                  <a:lnTo>
                    <a:pt x="1168247" y="79933"/>
                  </a:lnTo>
                  <a:lnTo>
                    <a:pt x="1172222" y="87477"/>
                  </a:lnTo>
                  <a:lnTo>
                    <a:pt x="1489176" y="16840"/>
                  </a:lnTo>
                  <a:lnTo>
                    <a:pt x="1499260" y="3111"/>
                  </a:lnTo>
                  <a:lnTo>
                    <a:pt x="1505546" y="13195"/>
                  </a:lnTo>
                  <a:lnTo>
                    <a:pt x="1505546" y="16230"/>
                  </a:lnTo>
                  <a:lnTo>
                    <a:pt x="1511033" y="8547"/>
                  </a:lnTo>
                  <a:lnTo>
                    <a:pt x="1511033" y="5435"/>
                  </a:lnTo>
                  <a:close/>
                </a:path>
              </a:pathLst>
            </a:custGeom>
            <a:solidFill>
              <a:srgbClr val="000000"/>
            </a:solidFill>
          </p:spPr>
          <p:txBody>
            <a:bodyPr wrap="square" lIns="0" tIns="0" rIns="0" bIns="0" rtlCol="0"/>
            <a:lstStyle/>
            <a:p>
              <a:endParaRPr/>
            </a:p>
          </p:txBody>
        </p:sp>
        <p:pic>
          <p:nvPicPr>
            <p:cNvPr id="45" name="object 45"/>
            <p:cNvPicPr/>
            <p:nvPr/>
          </p:nvPicPr>
          <p:blipFill>
            <a:blip r:embed="rId11" cstate="print"/>
            <a:stretch>
              <a:fillRect/>
            </a:stretch>
          </p:blipFill>
          <p:spPr>
            <a:xfrm>
              <a:off x="7031728" y="3432724"/>
              <a:ext cx="123936" cy="237445"/>
            </a:xfrm>
            <a:prstGeom prst="rect">
              <a:avLst/>
            </a:prstGeom>
          </p:spPr>
        </p:pic>
        <p:sp>
          <p:nvSpPr>
            <p:cNvPr id="46" name="object 46"/>
            <p:cNvSpPr/>
            <p:nvPr/>
          </p:nvSpPr>
          <p:spPr>
            <a:xfrm>
              <a:off x="7150277" y="3365991"/>
              <a:ext cx="222885" cy="300355"/>
            </a:xfrm>
            <a:custGeom>
              <a:avLst/>
              <a:gdLst/>
              <a:ahLst/>
              <a:cxnLst/>
              <a:rect l="l" t="t" r="r" b="b"/>
              <a:pathLst>
                <a:path w="222884" h="300354">
                  <a:moveTo>
                    <a:pt x="222670" y="0"/>
                  </a:moveTo>
                  <a:lnTo>
                    <a:pt x="206310" y="3644"/>
                  </a:lnTo>
                  <a:lnTo>
                    <a:pt x="0" y="284627"/>
                  </a:lnTo>
                  <a:lnTo>
                    <a:pt x="5387" y="294867"/>
                  </a:lnTo>
                  <a:lnTo>
                    <a:pt x="5387" y="300003"/>
                  </a:lnTo>
                  <a:lnTo>
                    <a:pt x="222670" y="3031"/>
                  </a:lnTo>
                  <a:lnTo>
                    <a:pt x="222670" y="0"/>
                  </a:lnTo>
                  <a:close/>
                </a:path>
              </a:pathLst>
            </a:custGeom>
            <a:solidFill>
              <a:srgbClr val="000000"/>
            </a:solidFill>
          </p:spPr>
          <p:txBody>
            <a:bodyPr wrap="square" lIns="0" tIns="0" rIns="0" bIns="0" rtlCol="0"/>
            <a:lstStyle/>
            <a:p>
              <a:endParaRPr/>
            </a:p>
          </p:txBody>
        </p:sp>
        <p:sp>
          <p:nvSpPr>
            <p:cNvPr id="47" name="object 47"/>
            <p:cNvSpPr/>
            <p:nvPr/>
          </p:nvSpPr>
          <p:spPr>
            <a:xfrm>
              <a:off x="7080250" y="3943350"/>
              <a:ext cx="0" cy="419100"/>
            </a:xfrm>
            <a:custGeom>
              <a:avLst/>
              <a:gdLst/>
              <a:ahLst/>
              <a:cxnLst/>
              <a:rect l="l" t="t" r="r" b="b"/>
              <a:pathLst>
                <a:path h="419100">
                  <a:moveTo>
                    <a:pt x="0" y="0"/>
                  </a:moveTo>
                  <a:lnTo>
                    <a:pt x="0" y="419100"/>
                  </a:lnTo>
                </a:path>
              </a:pathLst>
            </a:custGeom>
            <a:ln w="12700">
              <a:solidFill>
                <a:srgbClr val="000000"/>
              </a:solidFill>
            </a:ln>
          </p:spPr>
          <p:txBody>
            <a:bodyPr wrap="square" lIns="0" tIns="0" rIns="0" bIns="0" rtlCol="0"/>
            <a:lstStyle/>
            <a:p>
              <a:endParaRPr/>
            </a:p>
          </p:txBody>
        </p:sp>
        <p:sp>
          <p:nvSpPr>
            <p:cNvPr id="48" name="object 48"/>
            <p:cNvSpPr/>
            <p:nvPr/>
          </p:nvSpPr>
          <p:spPr>
            <a:xfrm>
              <a:off x="7753350" y="3765550"/>
              <a:ext cx="0" cy="177800"/>
            </a:xfrm>
            <a:custGeom>
              <a:avLst/>
              <a:gdLst/>
              <a:ahLst/>
              <a:cxnLst/>
              <a:rect l="l" t="t" r="r" b="b"/>
              <a:pathLst>
                <a:path h="177800">
                  <a:moveTo>
                    <a:pt x="0" y="0"/>
                  </a:moveTo>
                  <a:lnTo>
                    <a:pt x="0" y="177800"/>
                  </a:lnTo>
                </a:path>
              </a:pathLst>
            </a:custGeom>
            <a:ln w="12700">
              <a:solidFill>
                <a:srgbClr val="000000"/>
              </a:solidFill>
            </a:ln>
          </p:spPr>
          <p:txBody>
            <a:bodyPr wrap="square" lIns="0" tIns="0" rIns="0" bIns="0" rtlCol="0"/>
            <a:lstStyle/>
            <a:p>
              <a:endParaRPr/>
            </a:p>
          </p:txBody>
        </p:sp>
        <p:sp>
          <p:nvSpPr>
            <p:cNvPr id="49" name="object 49"/>
            <p:cNvSpPr/>
            <p:nvPr/>
          </p:nvSpPr>
          <p:spPr>
            <a:xfrm>
              <a:off x="7632700" y="3390899"/>
              <a:ext cx="241300" cy="368300"/>
            </a:xfrm>
            <a:custGeom>
              <a:avLst/>
              <a:gdLst/>
              <a:ahLst/>
              <a:cxnLst/>
              <a:rect l="l" t="t" r="r" b="b"/>
              <a:pathLst>
                <a:path w="241300" h="368300">
                  <a:moveTo>
                    <a:pt x="241046" y="359816"/>
                  </a:moveTo>
                  <a:lnTo>
                    <a:pt x="235077" y="341490"/>
                  </a:lnTo>
                  <a:lnTo>
                    <a:pt x="235077" y="355244"/>
                  </a:lnTo>
                  <a:lnTo>
                    <a:pt x="235077" y="355600"/>
                  </a:lnTo>
                  <a:lnTo>
                    <a:pt x="234823" y="355600"/>
                  </a:lnTo>
                  <a:lnTo>
                    <a:pt x="235077" y="355244"/>
                  </a:lnTo>
                  <a:lnTo>
                    <a:pt x="235077" y="341490"/>
                  </a:lnTo>
                  <a:lnTo>
                    <a:pt x="232105" y="332371"/>
                  </a:lnTo>
                  <a:lnTo>
                    <a:pt x="232105" y="359422"/>
                  </a:lnTo>
                  <a:lnTo>
                    <a:pt x="232105" y="363220"/>
                  </a:lnTo>
                  <a:lnTo>
                    <a:pt x="229387" y="363220"/>
                  </a:lnTo>
                  <a:lnTo>
                    <a:pt x="232105" y="359422"/>
                  </a:lnTo>
                  <a:lnTo>
                    <a:pt x="232105" y="332371"/>
                  </a:lnTo>
                  <a:lnTo>
                    <a:pt x="228968" y="322732"/>
                  </a:lnTo>
                  <a:lnTo>
                    <a:pt x="228968" y="363220"/>
                  </a:lnTo>
                  <a:lnTo>
                    <a:pt x="227749" y="363220"/>
                  </a:lnTo>
                  <a:lnTo>
                    <a:pt x="227749" y="359410"/>
                  </a:lnTo>
                  <a:lnTo>
                    <a:pt x="228968" y="363220"/>
                  </a:lnTo>
                  <a:lnTo>
                    <a:pt x="228968" y="322732"/>
                  </a:lnTo>
                  <a:lnTo>
                    <a:pt x="226517" y="315201"/>
                  </a:lnTo>
                  <a:lnTo>
                    <a:pt x="226517" y="355600"/>
                  </a:lnTo>
                  <a:lnTo>
                    <a:pt x="14490" y="355600"/>
                  </a:lnTo>
                  <a:lnTo>
                    <a:pt x="14605" y="355244"/>
                  </a:lnTo>
                  <a:lnTo>
                    <a:pt x="114173" y="43434"/>
                  </a:lnTo>
                  <a:lnTo>
                    <a:pt x="114173" y="8369"/>
                  </a:lnTo>
                  <a:lnTo>
                    <a:pt x="125374" y="8369"/>
                  </a:lnTo>
                  <a:lnTo>
                    <a:pt x="125374" y="42976"/>
                  </a:lnTo>
                  <a:lnTo>
                    <a:pt x="226402" y="355244"/>
                  </a:lnTo>
                  <a:lnTo>
                    <a:pt x="226517" y="355600"/>
                  </a:lnTo>
                  <a:lnTo>
                    <a:pt x="226517" y="315201"/>
                  </a:lnTo>
                  <a:lnTo>
                    <a:pt x="124625" y="2286"/>
                  </a:lnTo>
                  <a:lnTo>
                    <a:pt x="122389" y="0"/>
                  </a:lnTo>
                  <a:lnTo>
                    <a:pt x="117157" y="0"/>
                  </a:lnTo>
                  <a:lnTo>
                    <a:pt x="114922" y="2286"/>
                  </a:lnTo>
                  <a:lnTo>
                    <a:pt x="13271" y="320573"/>
                  </a:lnTo>
                  <a:lnTo>
                    <a:pt x="13271" y="359422"/>
                  </a:lnTo>
                  <a:lnTo>
                    <a:pt x="13271" y="363220"/>
                  </a:lnTo>
                  <a:lnTo>
                    <a:pt x="12052" y="363220"/>
                  </a:lnTo>
                  <a:lnTo>
                    <a:pt x="13271" y="359422"/>
                  </a:lnTo>
                  <a:lnTo>
                    <a:pt x="13271" y="320573"/>
                  </a:lnTo>
                  <a:lnTo>
                    <a:pt x="11645" y="325666"/>
                  </a:lnTo>
                  <a:lnTo>
                    <a:pt x="11645" y="363220"/>
                  </a:lnTo>
                  <a:lnTo>
                    <a:pt x="8940" y="363220"/>
                  </a:lnTo>
                  <a:lnTo>
                    <a:pt x="8940" y="359422"/>
                  </a:lnTo>
                  <a:lnTo>
                    <a:pt x="11645" y="363220"/>
                  </a:lnTo>
                  <a:lnTo>
                    <a:pt x="11645" y="325666"/>
                  </a:lnTo>
                  <a:lnTo>
                    <a:pt x="6210" y="342684"/>
                  </a:lnTo>
                  <a:lnTo>
                    <a:pt x="6210" y="355600"/>
                  </a:lnTo>
                  <a:lnTo>
                    <a:pt x="5969" y="355600"/>
                  </a:lnTo>
                  <a:lnTo>
                    <a:pt x="5969" y="355244"/>
                  </a:lnTo>
                  <a:lnTo>
                    <a:pt x="6210" y="355600"/>
                  </a:lnTo>
                  <a:lnTo>
                    <a:pt x="6210" y="342684"/>
                  </a:lnTo>
                  <a:lnTo>
                    <a:pt x="736" y="359816"/>
                  </a:lnTo>
                  <a:lnTo>
                    <a:pt x="0" y="361327"/>
                  </a:lnTo>
                  <a:lnTo>
                    <a:pt x="0" y="363613"/>
                  </a:lnTo>
                  <a:lnTo>
                    <a:pt x="1485" y="365137"/>
                  </a:lnTo>
                  <a:lnTo>
                    <a:pt x="2235" y="366661"/>
                  </a:lnTo>
                  <a:lnTo>
                    <a:pt x="4470" y="368173"/>
                  </a:lnTo>
                  <a:lnTo>
                    <a:pt x="5969" y="368173"/>
                  </a:lnTo>
                  <a:lnTo>
                    <a:pt x="5969" y="368300"/>
                  </a:lnTo>
                  <a:lnTo>
                    <a:pt x="235077" y="368300"/>
                  </a:lnTo>
                  <a:lnTo>
                    <a:pt x="235077" y="368173"/>
                  </a:lnTo>
                  <a:lnTo>
                    <a:pt x="236562" y="368173"/>
                  </a:lnTo>
                  <a:lnTo>
                    <a:pt x="238810" y="366661"/>
                  </a:lnTo>
                  <a:lnTo>
                    <a:pt x="239547" y="365137"/>
                  </a:lnTo>
                  <a:lnTo>
                    <a:pt x="241046" y="363613"/>
                  </a:lnTo>
                  <a:lnTo>
                    <a:pt x="241046" y="359816"/>
                  </a:lnTo>
                  <a:close/>
                </a:path>
              </a:pathLst>
            </a:custGeom>
            <a:solidFill>
              <a:srgbClr val="000000"/>
            </a:solidFill>
          </p:spPr>
          <p:txBody>
            <a:bodyPr wrap="square" lIns="0" tIns="0" rIns="0" bIns="0" rtlCol="0"/>
            <a:lstStyle/>
            <a:p>
              <a:endParaRPr/>
            </a:p>
          </p:txBody>
        </p:sp>
        <p:sp>
          <p:nvSpPr>
            <p:cNvPr id="50" name="object 50"/>
            <p:cNvSpPr/>
            <p:nvPr/>
          </p:nvSpPr>
          <p:spPr>
            <a:xfrm>
              <a:off x="4762500" y="4267199"/>
              <a:ext cx="1244600" cy="533400"/>
            </a:xfrm>
            <a:custGeom>
              <a:avLst/>
              <a:gdLst/>
              <a:ahLst/>
              <a:cxnLst/>
              <a:rect l="l" t="t" r="r" b="b"/>
              <a:pathLst>
                <a:path w="1244600" h="533400">
                  <a:moveTo>
                    <a:pt x="1244473" y="258660"/>
                  </a:moveTo>
                  <a:lnTo>
                    <a:pt x="1243711" y="250939"/>
                  </a:lnTo>
                  <a:lnTo>
                    <a:pt x="1229652" y="207911"/>
                  </a:lnTo>
                  <a:lnTo>
                    <a:pt x="1216456" y="187591"/>
                  </a:lnTo>
                  <a:lnTo>
                    <a:pt x="1216456" y="267157"/>
                  </a:lnTo>
                  <a:lnTo>
                    <a:pt x="1215707" y="272554"/>
                  </a:lnTo>
                  <a:lnTo>
                    <a:pt x="1215707" y="277964"/>
                  </a:lnTo>
                  <a:lnTo>
                    <a:pt x="1202791" y="314718"/>
                  </a:lnTo>
                  <a:lnTo>
                    <a:pt x="1179106" y="347687"/>
                  </a:lnTo>
                  <a:lnTo>
                    <a:pt x="1146340" y="377012"/>
                  </a:lnTo>
                  <a:lnTo>
                    <a:pt x="1106131" y="402856"/>
                  </a:lnTo>
                  <a:lnTo>
                    <a:pt x="1060132" y="425361"/>
                  </a:lnTo>
                  <a:lnTo>
                    <a:pt x="1010031" y="444665"/>
                  </a:lnTo>
                  <a:lnTo>
                    <a:pt x="957478" y="460921"/>
                  </a:lnTo>
                  <a:lnTo>
                    <a:pt x="904125" y="474281"/>
                  </a:lnTo>
                  <a:lnTo>
                    <a:pt x="851636" y="484873"/>
                  </a:lnTo>
                  <a:lnTo>
                    <a:pt x="801674" y="492874"/>
                  </a:lnTo>
                  <a:lnTo>
                    <a:pt x="755891" y="498398"/>
                  </a:lnTo>
                  <a:lnTo>
                    <a:pt x="715962" y="501611"/>
                  </a:lnTo>
                  <a:lnTo>
                    <a:pt x="654024" y="503402"/>
                  </a:lnTo>
                  <a:lnTo>
                    <a:pt x="621182" y="503440"/>
                  </a:lnTo>
                  <a:lnTo>
                    <a:pt x="588899" y="503948"/>
                  </a:lnTo>
                  <a:lnTo>
                    <a:pt x="548868" y="502640"/>
                  </a:lnTo>
                  <a:lnTo>
                    <a:pt x="503402" y="499313"/>
                  </a:lnTo>
                  <a:lnTo>
                    <a:pt x="454050" y="493864"/>
                  </a:lnTo>
                  <a:lnTo>
                    <a:pt x="401929" y="486105"/>
                  </a:lnTo>
                  <a:lnTo>
                    <a:pt x="348437" y="475907"/>
                  </a:lnTo>
                  <a:lnTo>
                    <a:pt x="294906" y="463092"/>
                  </a:lnTo>
                  <a:lnTo>
                    <a:pt x="242671" y="447548"/>
                  </a:lnTo>
                  <a:lnTo>
                    <a:pt x="193065" y="429082"/>
                  </a:lnTo>
                  <a:lnTo>
                    <a:pt x="147421" y="407581"/>
                  </a:lnTo>
                  <a:lnTo>
                    <a:pt x="107061" y="382866"/>
                  </a:lnTo>
                  <a:lnTo>
                    <a:pt x="73317" y="354799"/>
                  </a:lnTo>
                  <a:lnTo>
                    <a:pt x="47536" y="323227"/>
                  </a:lnTo>
                  <a:lnTo>
                    <a:pt x="31026" y="287997"/>
                  </a:lnTo>
                  <a:lnTo>
                    <a:pt x="28765" y="271792"/>
                  </a:lnTo>
                  <a:lnTo>
                    <a:pt x="28765" y="260210"/>
                  </a:lnTo>
                  <a:lnTo>
                    <a:pt x="45300" y="213296"/>
                  </a:lnTo>
                  <a:lnTo>
                    <a:pt x="70142" y="180975"/>
                  </a:lnTo>
                  <a:lnTo>
                    <a:pt x="103378" y="152273"/>
                  </a:lnTo>
                  <a:lnTo>
                    <a:pt x="143624" y="127025"/>
                  </a:lnTo>
                  <a:lnTo>
                    <a:pt x="189458" y="105079"/>
                  </a:lnTo>
                  <a:lnTo>
                    <a:pt x="239496" y="86258"/>
                  </a:lnTo>
                  <a:lnTo>
                    <a:pt x="292315" y="70396"/>
                  </a:lnTo>
                  <a:lnTo>
                    <a:pt x="346519" y="57340"/>
                  </a:lnTo>
                  <a:lnTo>
                    <a:pt x="400697" y="46913"/>
                  </a:lnTo>
                  <a:lnTo>
                    <a:pt x="453466" y="38963"/>
                  </a:lnTo>
                  <a:lnTo>
                    <a:pt x="503466" y="33312"/>
                  </a:lnTo>
                  <a:lnTo>
                    <a:pt x="549109" y="29806"/>
                  </a:lnTo>
                  <a:lnTo>
                    <a:pt x="590435" y="28295"/>
                  </a:lnTo>
                  <a:lnTo>
                    <a:pt x="622236" y="28575"/>
                  </a:lnTo>
                  <a:lnTo>
                    <a:pt x="685736" y="30162"/>
                  </a:lnTo>
                  <a:lnTo>
                    <a:pt x="756564" y="34417"/>
                  </a:lnTo>
                  <a:lnTo>
                    <a:pt x="802322" y="39966"/>
                  </a:lnTo>
                  <a:lnTo>
                    <a:pt x="852284" y="47993"/>
                  </a:lnTo>
                  <a:lnTo>
                    <a:pt x="904760" y="58623"/>
                  </a:lnTo>
                  <a:lnTo>
                    <a:pt x="958113" y="72021"/>
                  </a:lnTo>
                  <a:lnTo>
                    <a:pt x="1010653" y="88328"/>
                  </a:lnTo>
                  <a:lnTo>
                    <a:pt x="1060729" y="107696"/>
                  </a:lnTo>
                  <a:lnTo>
                    <a:pt x="1106665" y="130263"/>
                  </a:lnTo>
                  <a:lnTo>
                    <a:pt x="1146797" y="156197"/>
                  </a:lnTo>
                  <a:lnTo>
                    <a:pt x="1179461" y="185623"/>
                  </a:lnTo>
                  <a:lnTo>
                    <a:pt x="1202982" y="218694"/>
                  </a:lnTo>
                  <a:lnTo>
                    <a:pt x="1215707" y="255574"/>
                  </a:lnTo>
                  <a:lnTo>
                    <a:pt x="1215707" y="260985"/>
                  </a:lnTo>
                  <a:lnTo>
                    <a:pt x="1216456" y="267157"/>
                  </a:lnTo>
                  <a:lnTo>
                    <a:pt x="1216456" y="187591"/>
                  </a:lnTo>
                  <a:lnTo>
                    <a:pt x="1179626" y="145783"/>
                  </a:lnTo>
                  <a:lnTo>
                    <a:pt x="1144397" y="119481"/>
                  </a:lnTo>
                  <a:lnTo>
                    <a:pt x="1103845" y="96177"/>
                  </a:lnTo>
                  <a:lnTo>
                    <a:pt x="1059103" y="75768"/>
                  </a:lnTo>
                  <a:lnTo>
                    <a:pt x="1011313" y="58102"/>
                  </a:lnTo>
                  <a:lnTo>
                    <a:pt x="961580" y="43065"/>
                  </a:lnTo>
                  <a:lnTo>
                    <a:pt x="911047" y="30530"/>
                  </a:lnTo>
                  <a:lnTo>
                    <a:pt x="860831" y="20370"/>
                  </a:lnTo>
                  <a:lnTo>
                    <a:pt x="812076" y="12458"/>
                  </a:lnTo>
                  <a:lnTo>
                    <a:pt x="765886" y="6667"/>
                  </a:lnTo>
                  <a:lnTo>
                    <a:pt x="723392" y="2882"/>
                  </a:lnTo>
                  <a:lnTo>
                    <a:pt x="654024" y="774"/>
                  </a:lnTo>
                  <a:lnTo>
                    <a:pt x="622236" y="0"/>
                  </a:lnTo>
                  <a:lnTo>
                    <a:pt x="558088" y="635"/>
                  </a:lnTo>
                  <a:lnTo>
                    <a:pt x="477431" y="6807"/>
                  </a:lnTo>
                  <a:lnTo>
                    <a:pt x="431292" y="12661"/>
                  </a:lnTo>
                  <a:lnTo>
                    <a:pt x="382727" y="20561"/>
                  </a:lnTo>
                  <a:lnTo>
                    <a:pt x="332828" y="30645"/>
                  </a:lnTo>
                  <a:lnTo>
                    <a:pt x="282651" y="43078"/>
                  </a:lnTo>
                  <a:lnTo>
                    <a:pt x="233324" y="58000"/>
                  </a:lnTo>
                  <a:lnTo>
                    <a:pt x="185889" y="75552"/>
                  </a:lnTo>
                  <a:lnTo>
                    <a:pt x="141465" y="95910"/>
                  </a:lnTo>
                  <a:lnTo>
                    <a:pt x="101117" y="119202"/>
                  </a:lnTo>
                  <a:lnTo>
                    <a:pt x="65938" y="145580"/>
                  </a:lnTo>
                  <a:lnTo>
                    <a:pt x="37020" y="175209"/>
                  </a:lnTo>
                  <a:lnTo>
                    <a:pt x="15430" y="208216"/>
                  </a:lnTo>
                  <a:lnTo>
                    <a:pt x="2260" y="244767"/>
                  </a:lnTo>
                  <a:lnTo>
                    <a:pt x="0" y="267157"/>
                  </a:lnTo>
                  <a:lnTo>
                    <a:pt x="2260" y="288772"/>
                  </a:lnTo>
                  <a:lnTo>
                    <a:pt x="19177" y="331444"/>
                  </a:lnTo>
                  <a:lnTo>
                    <a:pt x="72339" y="392595"/>
                  </a:lnTo>
                  <a:lnTo>
                    <a:pt x="108216" y="418325"/>
                  </a:lnTo>
                  <a:lnTo>
                    <a:pt x="149034" y="441007"/>
                  </a:lnTo>
                  <a:lnTo>
                    <a:pt x="193852" y="460806"/>
                  </a:lnTo>
                  <a:lnTo>
                    <a:pt x="241719" y="477862"/>
                  </a:lnTo>
                  <a:lnTo>
                    <a:pt x="291680" y="492315"/>
                  </a:lnTo>
                  <a:lnTo>
                    <a:pt x="342823" y="504317"/>
                  </a:lnTo>
                  <a:lnTo>
                    <a:pt x="394182" y="514007"/>
                  </a:lnTo>
                  <a:lnTo>
                    <a:pt x="444804" y="521550"/>
                  </a:lnTo>
                  <a:lnTo>
                    <a:pt x="493763" y="527075"/>
                  </a:lnTo>
                  <a:lnTo>
                    <a:pt x="540105" y="530733"/>
                  </a:lnTo>
                  <a:lnTo>
                    <a:pt x="582904" y="532676"/>
                  </a:lnTo>
                  <a:lnTo>
                    <a:pt x="621182" y="533044"/>
                  </a:lnTo>
                  <a:lnTo>
                    <a:pt x="683552" y="531253"/>
                  </a:lnTo>
                  <a:lnTo>
                    <a:pt x="748169" y="527710"/>
                  </a:lnTo>
                  <a:lnTo>
                    <a:pt x="786358" y="523849"/>
                  </a:lnTo>
                  <a:lnTo>
                    <a:pt x="829373" y="517944"/>
                  </a:lnTo>
                  <a:lnTo>
                    <a:pt x="875893" y="509828"/>
                  </a:lnTo>
                  <a:lnTo>
                    <a:pt x="924598" y="499364"/>
                  </a:lnTo>
                  <a:lnTo>
                    <a:pt x="974166" y="486384"/>
                  </a:lnTo>
                  <a:lnTo>
                    <a:pt x="1023302" y="470738"/>
                  </a:lnTo>
                  <a:lnTo>
                    <a:pt x="1070686" y="452259"/>
                  </a:lnTo>
                  <a:lnTo>
                    <a:pt x="1114983" y="430796"/>
                  </a:lnTo>
                  <a:lnTo>
                    <a:pt x="1154912" y="406196"/>
                  </a:lnTo>
                  <a:lnTo>
                    <a:pt x="1189139" y="378307"/>
                  </a:lnTo>
                  <a:lnTo>
                    <a:pt x="1216456" y="346760"/>
                  </a:lnTo>
                  <a:lnTo>
                    <a:pt x="1235227" y="312039"/>
                  </a:lnTo>
                  <a:lnTo>
                    <a:pt x="1244473" y="273329"/>
                  </a:lnTo>
                  <a:lnTo>
                    <a:pt x="1244473" y="258660"/>
                  </a:lnTo>
                  <a:close/>
                </a:path>
              </a:pathLst>
            </a:custGeom>
            <a:solidFill>
              <a:srgbClr val="1F497D"/>
            </a:solidFill>
          </p:spPr>
          <p:txBody>
            <a:bodyPr wrap="square" lIns="0" tIns="0" rIns="0" bIns="0" rtlCol="0"/>
            <a:lstStyle/>
            <a:p>
              <a:endParaRPr/>
            </a:p>
          </p:txBody>
        </p:sp>
        <p:sp>
          <p:nvSpPr>
            <p:cNvPr id="51" name="object 51"/>
            <p:cNvSpPr/>
            <p:nvPr/>
          </p:nvSpPr>
          <p:spPr>
            <a:xfrm>
              <a:off x="2165350" y="3943350"/>
              <a:ext cx="0" cy="419100"/>
            </a:xfrm>
            <a:custGeom>
              <a:avLst/>
              <a:gdLst/>
              <a:ahLst/>
              <a:cxnLst/>
              <a:rect l="l" t="t" r="r" b="b"/>
              <a:pathLst>
                <a:path h="419100">
                  <a:moveTo>
                    <a:pt x="0" y="0"/>
                  </a:moveTo>
                  <a:lnTo>
                    <a:pt x="0" y="419100"/>
                  </a:lnTo>
                </a:path>
              </a:pathLst>
            </a:custGeom>
            <a:ln w="12700">
              <a:solidFill>
                <a:srgbClr val="000000"/>
              </a:solidFill>
            </a:ln>
          </p:spPr>
          <p:txBody>
            <a:bodyPr wrap="square" lIns="0" tIns="0" rIns="0" bIns="0" rtlCol="0"/>
            <a:lstStyle/>
            <a:p>
              <a:endParaRPr/>
            </a:p>
          </p:txBody>
        </p:sp>
        <p:sp>
          <p:nvSpPr>
            <p:cNvPr id="52" name="object 52"/>
            <p:cNvSpPr/>
            <p:nvPr/>
          </p:nvSpPr>
          <p:spPr>
            <a:xfrm>
              <a:off x="8566150" y="3943350"/>
              <a:ext cx="0" cy="419100"/>
            </a:xfrm>
            <a:custGeom>
              <a:avLst/>
              <a:gdLst/>
              <a:ahLst/>
              <a:cxnLst/>
              <a:rect l="l" t="t" r="r" b="b"/>
              <a:pathLst>
                <a:path h="419100">
                  <a:moveTo>
                    <a:pt x="0" y="0"/>
                  </a:moveTo>
                  <a:lnTo>
                    <a:pt x="0" y="419100"/>
                  </a:lnTo>
                </a:path>
              </a:pathLst>
            </a:custGeom>
            <a:ln w="12700">
              <a:solidFill>
                <a:srgbClr val="000000"/>
              </a:solidFill>
            </a:ln>
          </p:spPr>
          <p:txBody>
            <a:bodyPr wrap="square" lIns="0" tIns="0" rIns="0" bIns="0" rtlCol="0"/>
            <a:lstStyle/>
            <a:p>
              <a:endParaRPr/>
            </a:p>
          </p:txBody>
        </p:sp>
      </p:grpSp>
      <p:sp>
        <p:nvSpPr>
          <p:cNvPr id="53" name="object 53"/>
          <p:cNvSpPr txBox="1"/>
          <p:nvPr/>
        </p:nvSpPr>
        <p:spPr>
          <a:xfrm>
            <a:off x="4441825" y="3215132"/>
            <a:ext cx="1739900" cy="299720"/>
          </a:xfrm>
          <a:prstGeom prst="rect">
            <a:avLst/>
          </a:prstGeom>
        </p:spPr>
        <p:txBody>
          <a:bodyPr vert="horz" wrap="square" lIns="0" tIns="12700" rIns="0" bIns="0" rtlCol="0">
            <a:spAutoFit/>
          </a:bodyPr>
          <a:lstStyle/>
          <a:p>
            <a:pPr marL="12700">
              <a:lnSpc>
                <a:spcPct val="100000"/>
              </a:lnSpc>
              <a:spcBef>
                <a:spcPts val="100"/>
              </a:spcBef>
            </a:pPr>
            <a:r>
              <a:rPr sz="1800" i="1" spc="-5" dirty="0">
                <a:solidFill>
                  <a:srgbClr val="1F497C"/>
                </a:solidFill>
                <a:latin typeface="Arial"/>
                <a:cs typeface="Arial"/>
              </a:rPr>
              <a:t>Héritage</a:t>
            </a:r>
            <a:r>
              <a:rPr sz="1800" i="1" spc="-45" dirty="0">
                <a:solidFill>
                  <a:srgbClr val="1F497C"/>
                </a:solidFill>
                <a:latin typeface="Arial"/>
                <a:cs typeface="Arial"/>
              </a:rPr>
              <a:t> </a:t>
            </a:r>
            <a:r>
              <a:rPr sz="1800" i="1" spc="-5" dirty="0">
                <a:solidFill>
                  <a:srgbClr val="1F497C"/>
                </a:solidFill>
                <a:latin typeface="Arial"/>
                <a:cs typeface="Arial"/>
              </a:rPr>
              <a:t>Multiple</a:t>
            </a:r>
            <a:endParaRPr sz="1800">
              <a:latin typeface="Arial"/>
              <a:cs typeface="Arial"/>
            </a:endParaRPr>
          </a:p>
        </p:txBody>
      </p:sp>
      <p:grpSp>
        <p:nvGrpSpPr>
          <p:cNvPr id="54" name="object 54"/>
          <p:cNvGrpSpPr/>
          <p:nvPr/>
        </p:nvGrpSpPr>
        <p:grpSpPr>
          <a:xfrm>
            <a:off x="2165350" y="3543300"/>
            <a:ext cx="6400800" cy="736600"/>
            <a:chOff x="2165350" y="3543300"/>
            <a:chExt cx="6400800" cy="736600"/>
          </a:xfrm>
        </p:grpSpPr>
        <p:pic>
          <p:nvPicPr>
            <p:cNvPr id="55" name="object 55"/>
            <p:cNvPicPr/>
            <p:nvPr/>
          </p:nvPicPr>
          <p:blipFill>
            <a:blip r:embed="rId12" cstate="print"/>
            <a:stretch>
              <a:fillRect/>
            </a:stretch>
          </p:blipFill>
          <p:spPr>
            <a:xfrm>
              <a:off x="5359400" y="4166130"/>
              <a:ext cx="114300" cy="75679"/>
            </a:xfrm>
            <a:prstGeom prst="rect">
              <a:avLst/>
            </a:prstGeom>
          </p:spPr>
        </p:pic>
        <p:sp>
          <p:nvSpPr>
            <p:cNvPr id="56" name="object 56"/>
            <p:cNvSpPr/>
            <p:nvPr/>
          </p:nvSpPr>
          <p:spPr>
            <a:xfrm>
              <a:off x="5397500" y="3543300"/>
              <a:ext cx="38100" cy="622935"/>
            </a:xfrm>
            <a:custGeom>
              <a:avLst/>
              <a:gdLst/>
              <a:ahLst/>
              <a:cxnLst/>
              <a:rect l="l" t="t" r="r" b="b"/>
              <a:pathLst>
                <a:path w="38100" h="622935">
                  <a:moveTo>
                    <a:pt x="38100" y="0"/>
                  </a:moveTo>
                  <a:lnTo>
                    <a:pt x="0" y="0"/>
                  </a:lnTo>
                  <a:lnTo>
                    <a:pt x="0" y="622830"/>
                  </a:lnTo>
                  <a:lnTo>
                    <a:pt x="38100" y="622830"/>
                  </a:lnTo>
                  <a:lnTo>
                    <a:pt x="38100" y="0"/>
                  </a:lnTo>
                  <a:close/>
                </a:path>
              </a:pathLst>
            </a:custGeom>
            <a:solidFill>
              <a:srgbClr val="4F81BD"/>
            </a:solidFill>
          </p:spPr>
          <p:txBody>
            <a:bodyPr wrap="square" lIns="0" tIns="0" rIns="0" bIns="0" rtlCol="0"/>
            <a:lstStyle/>
            <a:p>
              <a:endParaRPr/>
            </a:p>
          </p:txBody>
        </p:sp>
        <p:pic>
          <p:nvPicPr>
            <p:cNvPr id="57" name="object 57"/>
            <p:cNvPicPr/>
            <p:nvPr/>
          </p:nvPicPr>
          <p:blipFill>
            <a:blip r:embed="rId13" cstate="print"/>
            <a:stretch>
              <a:fillRect/>
            </a:stretch>
          </p:blipFill>
          <p:spPr>
            <a:xfrm>
              <a:off x="5359400" y="4166130"/>
              <a:ext cx="114300" cy="113517"/>
            </a:xfrm>
            <a:prstGeom prst="rect">
              <a:avLst/>
            </a:prstGeom>
          </p:spPr>
        </p:pic>
        <p:sp>
          <p:nvSpPr>
            <p:cNvPr id="58" name="object 58"/>
            <p:cNvSpPr/>
            <p:nvPr/>
          </p:nvSpPr>
          <p:spPr>
            <a:xfrm>
              <a:off x="5397500" y="3543299"/>
              <a:ext cx="38100" cy="736600"/>
            </a:xfrm>
            <a:custGeom>
              <a:avLst/>
              <a:gdLst/>
              <a:ahLst/>
              <a:cxnLst/>
              <a:rect l="l" t="t" r="r" b="b"/>
              <a:pathLst>
                <a:path w="38100" h="736600">
                  <a:moveTo>
                    <a:pt x="38100" y="641756"/>
                  </a:moveTo>
                  <a:lnTo>
                    <a:pt x="0" y="641756"/>
                  </a:lnTo>
                  <a:lnTo>
                    <a:pt x="0" y="698512"/>
                  </a:lnTo>
                  <a:lnTo>
                    <a:pt x="19050" y="736358"/>
                  </a:lnTo>
                  <a:lnTo>
                    <a:pt x="38100" y="698512"/>
                  </a:lnTo>
                  <a:lnTo>
                    <a:pt x="38100" y="641756"/>
                  </a:lnTo>
                  <a:close/>
                </a:path>
                <a:path w="38100" h="736600">
                  <a:moveTo>
                    <a:pt x="38100" y="0"/>
                  </a:moveTo>
                  <a:lnTo>
                    <a:pt x="0" y="0"/>
                  </a:lnTo>
                  <a:lnTo>
                    <a:pt x="0" y="622833"/>
                  </a:lnTo>
                  <a:lnTo>
                    <a:pt x="38100" y="622833"/>
                  </a:lnTo>
                  <a:lnTo>
                    <a:pt x="38100" y="0"/>
                  </a:lnTo>
                  <a:close/>
                </a:path>
              </a:pathLst>
            </a:custGeom>
            <a:solidFill>
              <a:srgbClr val="4F81BD"/>
            </a:solidFill>
          </p:spPr>
          <p:txBody>
            <a:bodyPr wrap="square" lIns="0" tIns="0" rIns="0" bIns="0" rtlCol="0"/>
            <a:lstStyle/>
            <a:p>
              <a:endParaRPr/>
            </a:p>
          </p:txBody>
        </p:sp>
        <p:sp>
          <p:nvSpPr>
            <p:cNvPr id="59" name="object 59"/>
            <p:cNvSpPr/>
            <p:nvPr/>
          </p:nvSpPr>
          <p:spPr>
            <a:xfrm>
              <a:off x="2165350" y="3943350"/>
              <a:ext cx="1689100" cy="0"/>
            </a:xfrm>
            <a:custGeom>
              <a:avLst/>
              <a:gdLst/>
              <a:ahLst/>
              <a:cxnLst/>
              <a:rect l="l" t="t" r="r" b="b"/>
              <a:pathLst>
                <a:path w="1689100">
                  <a:moveTo>
                    <a:pt x="0" y="0"/>
                  </a:moveTo>
                  <a:lnTo>
                    <a:pt x="1689099" y="0"/>
                  </a:lnTo>
                </a:path>
              </a:pathLst>
            </a:custGeom>
            <a:ln w="12700">
              <a:solidFill>
                <a:srgbClr val="000000"/>
              </a:solidFill>
            </a:ln>
          </p:spPr>
          <p:txBody>
            <a:bodyPr wrap="square" lIns="0" tIns="0" rIns="0" bIns="0" rtlCol="0"/>
            <a:lstStyle/>
            <a:p>
              <a:endParaRPr/>
            </a:p>
          </p:txBody>
        </p:sp>
        <p:sp>
          <p:nvSpPr>
            <p:cNvPr id="60" name="object 60"/>
            <p:cNvSpPr/>
            <p:nvPr/>
          </p:nvSpPr>
          <p:spPr>
            <a:xfrm>
              <a:off x="7080250" y="3943350"/>
              <a:ext cx="1485900" cy="0"/>
            </a:xfrm>
            <a:custGeom>
              <a:avLst/>
              <a:gdLst/>
              <a:ahLst/>
              <a:cxnLst/>
              <a:rect l="l" t="t" r="r" b="b"/>
              <a:pathLst>
                <a:path w="1485900">
                  <a:moveTo>
                    <a:pt x="0" y="0"/>
                  </a:moveTo>
                  <a:lnTo>
                    <a:pt x="1485900" y="0"/>
                  </a:lnTo>
                </a:path>
              </a:pathLst>
            </a:custGeom>
            <a:ln w="12700">
              <a:solidFill>
                <a:srgbClr val="000000"/>
              </a:solidFill>
            </a:ln>
          </p:spPr>
          <p:txBody>
            <a:bodyPr wrap="square" lIns="0" tIns="0" rIns="0" bIns="0" rtlCol="0"/>
            <a:lstStyle/>
            <a:p>
              <a:endParaRPr/>
            </a:p>
          </p:txBody>
        </p:sp>
      </p:grpSp>
      <p:sp>
        <p:nvSpPr>
          <p:cNvPr id="61" name="object 61"/>
          <p:cNvSpPr txBox="1"/>
          <p:nvPr/>
        </p:nvSpPr>
        <p:spPr>
          <a:xfrm>
            <a:off x="1088834" y="5452161"/>
            <a:ext cx="8208645" cy="566420"/>
          </a:xfrm>
          <a:prstGeom prst="rect">
            <a:avLst/>
          </a:prstGeom>
        </p:spPr>
        <p:txBody>
          <a:bodyPr vert="horz" wrap="square" lIns="0" tIns="12700" rIns="0" bIns="0" rtlCol="0">
            <a:spAutoFit/>
          </a:bodyPr>
          <a:lstStyle/>
          <a:p>
            <a:pPr marL="304800" indent="-292100">
              <a:lnSpc>
                <a:spcPts val="2130"/>
              </a:lnSpc>
              <a:spcBef>
                <a:spcPts val="100"/>
              </a:spcBef>
              <a:buFont typeface="Wingdings"/>
              <a:buChar char=""/>
              <a:tabLst>
                <a:tab pos="304800" algn="l"/>
              </a:tabLst>
            </a:pPr>
            <a:r>
              <a:rPr sz="1800" spc="-25" dirty="0">
                <a:latin typeface="Calibri"/>
                <a:cs typeface="Calibri"/>
              </a:rPr>
              <a:t>L’héritage</a:t>
            </a:r>
            <a:r>
              <a:rPr sz="1800" spc="95" dirty="0">
                <a:latin typeface="Calibri"/>
                <a:cs typeface="Calibri"/>
              </a:rPr>
              <a:t> </a:t>
            </a:r>
            <a:r>
              <a:rPr sz="1800" spc="-25" dirty="0">
                <a:latin typeface="Calibri"/>
                <a:cs typeface="Calibri"/>
              </a:rPr>
              <a:t>multiple</a:t>
            </a:r>
            <a:r>
              <a:rPr sz="1800" spc="95" dirty="0">
                <a:latin typeface="Calibri"/>
                <a:cs typeface="Calibri"/>
              </a:rPr>
              <a:t> </a:t>
            </a:r>
            <a:r>
              <a:rPr sz="1800" spc="-5" dirty="0">
                <a:latin typeface="Calibri"/>
                <a:cs typeface="Calibri"/>
              </a:rPr>
              <a:t>est</a:t>
            </a:r>
            <a:r>
              <a:rPr sz="1800" spc="-15" dirty="0">
                <a:latin typeface="Calibri"/>
                <a:cs typeface="Calibri"/>
              </a:rPr>
              <a:t> </a:t>
            </a:r>
            <a:r>
              <a:rPr sz="1800" dirty="0">
                <a:latin typeface="Calibri"/>
                <a:cs typeface="Calibri"/>
              </a:rPr>
              <a:t>à</a:t>
            </a:r>
            <a:r>
              <a:rPr sz="1800" spc="30" dirty="0">
                <a:latin typeface="Calibri"/>
                <a:cs typeface="Calibri"/>
              </a:rPr>
              <a:t> </a:t>
            </a:r>
            <a:r>
              <a:rPr sz="1800" spc="-15" dirty="0">
                <a:latin typeface="Calibri"/>
                <a:cs typeface="Calibri"/>
              </a:rPr>
              <a:t>utiliser</a:t>
            </a:r>
            <a:r>
              <a:rPr sz="1800" spc="65" dirty="0">
                <a:latin typeface="Calibri"/>
                <a:cs typeface="Calibri"/>
              </a:rPr>
              <a:t> </a:t>
            </a:r>
            <a:r>
              <a:rPr sz="1800" spc="5" dirty="0">
                <a:latin typeface="Calibri"/>
                <a:cs typeface="Calibri"/>
              </a:rPr>
              <a:t>avec</a:t>
            </a:r>
            <a:r>
              <a:rPr sz="1800" spc="-70" dirty="0">
                <a:latin typeface="Calibri"/>
                <a:cs typeface="Calibri"/>
              </a:rPr>
              <a:t> </a:t>
            </a:r>
            <a:r>
              <a:rPr sz="1800" spc="-25" dirty="0">
                <a:latin typeface="Calibri"/>
                <a:cs typeface="Calibri"/>
              </a:rPr>
              <a:t>modération,</a:t>
            </a:r>
            <a:r>
              <a:rPr sz="1800" spc="245" dirty="0">
                <a:latin typeface="Calibri"/>
                <a:cs typeface="Calibri"/>
              </a:rPr>
              <a:t> </a:t>
            </a:r>
            <a:r>
              <a:rPr sz="1800" spc="-35" dirty="0">
                <a:latin typeface="Calibri"/>
                <a:cs typeface="Calibri"/>
              </a:rPr>
              <a:t>que</a:t>
            </a:r>
            <a:r>
              <a:rPr sz="1800" spc="95" dirty="0">
                <a:latin typeface="Calibri"/>
                <a:cs typeface="Calibri"/>
              </a:rPr>
              <a:t> </a:t>
            </a:r>
            <a:r>
              <a:rPr sz="1800" spc="-5" dirty="0">
                <a:latin typeface="Calibri"/>
                <a:cs typeface="Calibri"/>
              </a:rPr>
              <a:t>si</a:t>
            </a:r>
            <a:r>
              <a:rPr sz="1800" spc="-25" dirty="0">
                <a:latin typeface="Calibri"/>
                <a:cs typeface="Calibri"/>
              </a:rPr>
              <a:t> c’est</a:t>
            </a:r>
            <a:r>
              <a:rPr sz="1800" spc="-15" dirty="0">
                <a:latin typeface="Calibri"/>
                <a:cs typeface="Calibri"/>
              </a:rPr>
              <a:t> vraiment</a:t>
            </a:r>
            <a:r>
              <a:rPr sz="1800" spc="85" dirty="0">
                <a:latin typeface="Calibri"/>
                <a:cs typeface="Calibri"/>
              </a:rPr>
              <a:t> </a:t>
            </a:r>
            <a:r>
              <a:rPr sz="1800" spc="-20" dirty="0">
                <a:latin typeface="Calibri"/>
                <a:cs typeface="Calibri"/>
              </a:rPr>
              <a:t>indispensable.</a:t>
            </a:r>
            <a:endParaRPr sz="1800" dirty="0">
              <a:latin typeface="Calibri"/>
              <a:cs typeface="Calibri"/>
            </a:endParaRPr>
          </a:p>
          <a:p>
            <a:pPr marL="304800" indent="-292100">
              <a:lnSpc>
                <a:spcPts val="2130"/>
              </a:lnSpc>
              <a:buFont typeface="Wingdings"/>
              <a:buChar char=""/>
              <a:tabLst>
                <a:tab pos="304800" algn="l"/>
              </a:tabLst>
            </a:pPr>
            <a:r>
              <a:rPr sz="1800" spc="-25" dirty="0">
                <a:latin typeface="Calibri"/>
                <a:cs typeface="Calibri"/>
              </a:rPr>
              <a:t>N’est</a:t>
            </a:r>
            <a:r>
              <a:rPr sz="1800" spc="-20" dirty="0">
                <a:latin typeface="Calibri"/>
                <a:cs typeface="Calibri"/>
              </a:rPr>
              <a:t> </a:t>
            </a:r>
            <a:r>
              <a:rPr sz="1800" spc="-5" dirty="0">
                <a:latin typeface="Calibri"/>
                <a:cs typeface="Calibri"/>
              </a:rPr>
              <a:t>pas</a:t>
            </a:r>
            <a:r>
              <a:rPr sz="1800" spc="-15" dirty="0">
                <a:latin typeface="Calibri"/>
                <a:cs typeface="Calibri"/>
              </a:rPr>
              <a:t> </a:t>
            </a:r>
            <a:r>
              <a:rPr sz="1800" spc="-30" dirty="0">
                <a:latin typeface="Calibri"/>
                <a:cs typeface="Calibri"/>
              </a:rPr>
              <a:t>supporté</a:t>
            </a:r>
            <a:r>
              <a:rPr sz="1800" spc="195" dirty="0">
                <a:latin typeface="Calibri"/>
                <a:cs typeface="Calibri"/>
              </a:rPr>
              <a:t> </a:t>
            </a:r>
            <a:r>
              <a:rPr sz="1800" spc="-5" dirty="0">
                <a:latin typeface="Calibri"/>
                <a:cs typeface="Calibri"/>
              </a:rPr>
              <a:t>par</a:t>
            </a:r>
            <a:r>
              <a:rPr sz="1800" spc="65" dirty="0">
                <a:latin typeface="Calibri"/>
                <a:cs typeface="Calibri"/>
              </a:rPr>
              <a:t> </a:t>
            </a:r>
            <a:r>
              <a:rPr sz="1800" spc="-10" dirty="0">
                <a:latin typeface="Calibri"/>
                <a:cs typeface="Calibri"/>
              </a:rPr>
              <a:t>la</a:t>
            </a:r>
            <a:r>
              <a:rPr sz="1800" spc="25" dirty="0">
                <a:latin typeface="Calibri"/>
                <a:cs typeface="Calibri"/>
              </a:rPr>
              <a:t> </a:t>
            </a:r>
            <a:r>
              <a:rPr sz="1800" spc="-25" dirty="0">
                <a:latin typeface="Calibri"/>
                <a:cs typeface="Calibri"/>
              </a:rPr>
              <a:t>plupart</a:t>
            </a:r>
            <a:r>
              <a:rPr sz="1800" spc="85" dirty="0">
                <a:latin typeface="Calibri"/>
                <a:cs typeface="Calibri"/>
              </a:rPr>
              <a:t> </a:t>
            </a:r>
            <a:r>
              <a:rPr sz="1800" spc="-20" dirty="0">
                <a:latin typeface="Calibri"/>
                <a:cs typeface="Calibri"/>
              </a:rPr>
              <a:t>des</a:t>
            </a:r>
            <a:r>
              <a:rPr sz="1800" spc="85" dirty="0">
                <a:latin typeface="Calibri"/>
                <a:cs typeface="Calibri"/>
              </a:rPr>
              <a:t> </a:t>
            </a:r>
            <a:r>
              <a:rPr sz="1800" spc="-15" dirty="0">
                <a:latin typeface="Calibri"/>
                <a:cs typeface="Calibri"/>
              </a:rPr>
              <a:t>langages </a:t>
            </a:r>
            <a:r>
              <a:rPr sz="1800" dirty="0">
                <a:latin typeface="Calibri"/>
                <a:cs typeface="Calibri"/>
              </a:rPr>
              <a:t>OO </a:t>
            </a:r>
            <a:r>
              <a:rPr sz="1800" spc="-10" dirty="0">
                <a:latin typeface="Calibri"/>
                <a:cs typeface="Calibri"/>
              </a:rPr>
              <a:t>(ex.</a:t>
            </a:r>
            <a:r>
              <a:rPr sz="1800" spc="35" dirty="0">
                <a:latin typeface="Calibri"/>
                <a:cs typeface="Calibri"/>
              </a:rPr>
              <a:t> </a:t>
            </a:r>
            <a:r>
              <a:rPr sz="1800" spc="20" dirty="0">
                <a:latin typeface="Calibri"/>
                <a:cs typeface="Calibri"/>
              </a:rPr>
              <a:t>Java)</a:t>
            </a:r>
            <a:endParaRPr sz="1800"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6344920" cy="756920"/>
          </a:xfrm>
          <a:prstGeom prst="rect">
            <a:avLst/>
          </a:prstGeom>
        </p:spPr>
        <p:txBody>
          <a:bodyPr vert="horz" wrap="square" lIns="0" tIns="12700" rIns="0" bIns="0" rtlCol="0">
            <a:spAutoFit/>
          </a:bodyPr>
          <a:lstStyle/>
          <a:p>
            <a:pPr marL="12700">
              <a:lnSpc>
                <a:spcPct val="100000"/>
              </a:lnSpc>
              <a:spcBef>
                <a:spcPts val="100"/>
              </a:spcBef>
            </a:pPr>
            <a:r>
              <a:rPr spc="-80" dirty="0"/>
              <a:t>Associations</a:t>
            </a:r>
            <a:r>
              <a:rPr spc="229" dirty="0"/>
              <a:t> </a:t>
            </a:r>
            <a:r>
              <a:rPr dirty="0"/>
              <a:t>/</a:t>
            </a:r>
            <a:r>
              <a:rPr spc="-140" dirty="0"/>
              <a:t> </a:t>
            </a:r>
            <a:r>
              <a:rPr spc="-75" dirty="0"/>
              <a:t>Multiplicités</a:t>
            </a:r>
          </a:p>
        </p:txBody>
      </p:sp>
      <p:sp>
        <p:nvSpPr>
          <p:cNvPr id="3" name="object 3"/>
          <p:cNvSpPr txBox="1"/>
          <p:nvPr/>
        </p:nvSpPr>
        <p:spPr>
          <a:xfrm>
            <a:off x="1084580" y="1281379"/>
            <a:ext cx="9791700" cy="1684020"/>
          </a:xfrm>
          <a:prstGeom prst="rect">
            <a:avLst/>
          </a:prstGeom>
        </p:spPr>
        <p:txBody>
          <a:bodyPr vert="horz" wrap="square" lIns="0" tIns="43180" rIns="0" bIns="0" rtlCol="0">
            <a:spAutoFit/>
          </a:bodyPr>
          <a:lstStyle/>
          <a:p>
            <a:pPr marL="101600" marR="5080" indent="-88900">
              <a:lnSpc>
                <a:spcPts val="2200"/>
              </a:lnSpc>
              <a:spcBef>
                <a:spcPts val="340"/>
              </a:spcBef>
              <a:buClr>
                <a:srgbClr val="E48312"/>
              </a:buClr>
              <a:buSzPct val="95000"/>
              <a:buFont typeface="Wingdings"/>
              <a:buChar char=""/>
              <a:tabLst>
                <a:tab pos="241300" algn="l"/>
              </a:tabLst>
            </a:pPr>
            <a:r>
              <a:rPr sz="2000" spc="15" dirty="0">
                <a:solidFill>
                  <a:srgbClr val="404040"/>
                </a:solidFill>
                <a:latin typeface="Calibri"/>
                <a:cs typeface="Calibri"/>
              </a:rPr>
              <a:t>Nombre</a:t>
            </a:r>
            <a:r>
              <a:rPr sz="2000" spc="-145" dirty="0">
                <a:solidFill>
                  <a:srgbClr val="404040"/>
                </a:solidFill>
                <a:latin typeface="Calibri"/>
                <a:cs typeface="Calibri"/>
              </a:rPr>
              <a:t> </a:t>
            </a:r>
            <a:r>
              <a:rPr sz="2000" spc="15" dirty="0">
                <a:solidFill>
                  <a:srgbClr val="404040"/>
                </a:solidFill>
                <a:latin typeface="Calibri"/>
                <a:cs typeface="Calibri"/>
              </a:rPr>
              <a:t>d’instances</a:t>
            </a:r>
            <a:r>
              <a:rPr sz="2000" spc="-125" dirty="0">
                <a:solidFill>
                  <a:srgbClr val="404040"/>
                </a:solidFill>
                <a:latin typeface="Calibri"/>
                <a:cs typeface="Calibri"/>
              </a:rPr>
              <a:t> </a:t>
            </a:r>
            <a:r>
              <a:rPr sz="2000" spc="25" dirty="0">
                <a:solidFill>
                  <a:srgbClr val="404040"/>
                </a:solidFill>
                <a:latin typeface="Calibri"/>
                <a:cs typeface="Calibri"/>
              </a:rPr>
              <a:t>d’une</a:t>
            </a:r>
            <a:r>
              <a:rPr sz="2000" spc="-145" dirty="0">
                <a:solidFill>
                  <a:srgbClr val="404040"/>
                </a:solidFill>
                <a:latin typeface="Calibri"/>
                <a:cs typeface="Calibri"/>
              </a:rPr>
              <a:t> </a:t>
            </a:r>
            <a:r>
              <a:rPr sz="2000" spc="10" dirty="0">
                <a:solidFill>
                  <a:srgbClr val="404040"/>
                </a:solidFill>
                <a:latin typeface="Calibri"/>
                <a:cs typeface="Calibri"/>
              </a:rPr>
              <a:t>classe</a:t>
            </a:r>
            <a:r>
              <a:rPr sz="2000" spc="-140" dirty="0">
                <a:solidFill>
                  <a:srgbClr val="404040"/>
                </a:solidFill>
                <a:latin typeface="Calibri"/>
                <a:cs typeface="Calibri"/>
              </a:rPr>
              <a:t> </a:t>
            </a:r>
            <a:r>
              <a:rPr sz="2000" spc="30" dirty="0">
                <a:solidFill>
                  <a:srgbClr val="404040"/>
                </a:solidFill>
                <a:latin typeface="Calibri"/>
                <a:cs typeface="Calibri"/>
              </a:rPr>
              <a:t>pouvant</a:t>
            </a:r>
            <a:r>
              <a:rPr sz="2000" spc="-225" dirty="0">
                <a:solidFill>
                  <a:srgbClr val="404040"/>
                </a:solidFill>
                <a:latin typeface="Calibri"/>
                <a:cs typeface="Calibri"/>
              </a:rPr>
              <a:t> </a:t>
            </a:r>
            <a:r>
              <a:rPr sz="2000" spc="5" dirty="0">
                <a:solidFill>
                  <a:srgbClr val="404040"/>
                </a:solidFill>
                <a:latin typeface="Calibri"/>
                <a:cs typeface="Calibri"/>
              </a:rPr>
              <a:t>être</a:t>
            </a:r>
            <a:r>
              <a:rPr sz="2000" spc="-145" dirty="0">
                <a:solidFill>
                  <a:srgbClr val="404040"/>
                </a:solidFill>
                <a:latin typeface="Calibri"/>
                <a:cs typeface="Calibri"/>
              </a:rPr>
              <a:t> </a:t>
            </a:r>
            <a:r>
              <a:rPr sz="2000" spc="10" dirty="0">
                <a:solidFill>
                  <a:srgbClr val="404040"/>
                </a:solidFill>
                <a:latin typeface="Calibri"/>
                <a:cs typeface="Calibri"/>
              </a:rPr>
              <a:t>mis</a:t>
            </a:r>
            <a:r>
              <a:rPr sz="2000" spc="-25" dirty="0">
                <a:solidFill>
                  <a:srgbClr val="404040"/>
                </a:solidFill>
                <a:latin typeface="Calibri"/>
                <a:cs typeface="Calibri"/>
              </a:rPr>
              <a:t> </a:t>
            </a:r>
            <a:r>
              <a:rPr sz="2000" dirty="0">
                <a:solidFill>
                  <a:srgbClr val="404040"/>
                </a:solidFill>
                <a:latin typeface="Calibri"/>
                <a:cs typeface="Calibri"/>
              </a:rPr>
              <a:t>en</a:t>
            </a:r>
            <a:r>
              <a:rPr sz="2000" spc="5" dirty="0">
                <a:solidFill>
                  <a:srgbClr val="404040"/>
                </a:solidFill>
                <a:latin typeface="Calibri"/>
                <a:cs typeface="Calibri"/>
              </a:rPr>
              <a:t> </a:t>
            </a:r>
            <a:r>
              <a:rPr sz="2000" spc="20" dirty="0">
                <a:solidFill>
                  <a:srgbClr val="404040"/>
                </a:solidFill>
                <a:latin typeface="Calibri"/>
                <a:cs typeface="Calibri"/>
              </a:rPr>
              <a:t>relation</a:t>
            </a:r>
            <a:r>
              <a:rPr sz="2000" spc="-95" dirty="0">
                <a:solidFill>
                  <a:srgbClr val="404040"/>
                </a:solidFill>
                <a:latin typeface="Calibri"/>
                <a:cs typeface="Calibri"/>
              </a:rPr>
              <a:t> </a:t>
            </a:r>
            <a:r>
              <a:rPr sz="2000" spc="5" dirty="0">
                <a:solidFill>
                  <a:srgbClr val="404040"/>
                </a:solidFill>
                <a:latin typeface="Calibri"/>
                <a:cs typeface="Calibri"/>
              </a:rPr>
              <a:t>avec</a:t>
            </a:r>
            <a:r>
              <a:rPr sz="2000" spc="-195" dirty="0">
                <a:solidFill>
                  <a:srgbClr val="404040"/>
                </a:solidFill>
                <a:latin typeface="Calibri"/>
                <a:cs typeface="Calibri"/>
              </a:rPr>
              <a:t> </a:t>
            </a:r>
            <a:r>
              <a:rPr sz="2000" spc="10" dirty="0">
                <a:solidFill>
                  <a:srgbClr val="404040"/>
                </a:solidFill>
                <a:latin typeface="Calibri"/>
                <a:cs typeface="Calibri"/>
              </a:rPr>
              <a:t>les</a:t>
            </a:r>
            <a:r>
              <a:rPr sz="2000" spc="-25" dirty="0">
                <a:solidFill>
                  <a:srgbClr val="404040"/>
                </a:solidFill>
                <a:latin typeface="Calibri"/>
                <a:cs typeface="Calibri"/>
              </a:rPr>
              <a:t> </a:t>
            </a:r>
            <a:r>
              <a:rPr sz="2000" spc="15" dirty="0">
                <a:solidFill>
                  <a:srgbClr val="404040"/>
                </a:solidFill>
                <a:latin typeface="Calibri"/>
                <a:cs typeface="Calibri"/>
              </a:rPr>
              <a:t>instances</a:t>
            </a:r>
            <a:r>
              <a:rPr sz="2000" spc="-125" dirty="0">
                <a:solidFill>
                  <a:srgbClr val="404040"/>
                </a:solidFill>
                <a:latin typeface="Calibri"/>
                <a:cs typeface="Calibri"/>
              </a:rPr>
              <a:t> </a:t>
            </a:r>
            <a:r>
              <a:rPr sz="2000" spc="25" dirty="0">
                <a:solidFill>
                  <a:srgbClr val="404040"/>
                </a:solidFill>
                <a:latin typeface="Calibri"/>
                <a:cs typeface="Calibri"/>
              </a:rPr>
              <a:t>d’une</a:t>
            </a:r>
            <a:r>
              <a:rPr sz="2000" spc="-145" dirty="0">
                <a:solidFill>
                  <a:srgbClr val="404040"/>
                </a:solidFill>
                <a:latin typeface="Calibri"/>
                <a:cs typeface="Calibri"/>
              </a:rPr>
              <a:t> </a:t>
            </a:r>
            <a:r>
              <a:rPr sz="2000" spc="20" dirty="0">
                <a:solidFill>
                  <a:srgbClr val="404040"/>
                </a:solidFill>
                <a:latin typeface="Calibri"/>
                <a:cs typeface="Calibri"/>
              </a:rPr>
              <a:t>autre </a:t>
            </a:r>
            <a:r>
              <a:rPr sz="2000" spc="-434" dirty="0">
                <a:solidFill>
                  <a:srgbClr val="404040"/>
                </a:solidFill>
                <a:latin typeface="Calibri"/>
                <a:cs typeface="Calibri"/>
              </a:rPr>
              <a:t> </a:t>
            </a:r>
            <a:r>
              <a:rPr sz="2000" spc="5" dirty="0">
                <a:solidFill>
                  <a:srgbClr val="404040"/>
                </a:solidFill>
                <a:latin typeface="Calibri"/>
                <a:cs typeface="Calibri"/>
              </a:rPr>
              <a:t>classe.</a:t>
            </a:r>
            <a:endParaRPr sz="2000" dirty="0">
              <a:latin typeface="Calibri"/>
              <a:cs typeface="Calibri"/>
            </a:endParaRPr>
          </a:p>
          <a:p>
            <a:pPr marL="241300" indent="-228600">
              <a:lnSpc>
                <a:spcPct val="100000"/>
              </a:lnSpc>
              <a:spcBef>
                <a:spcPts val="1160"/>
              </a:spcBef>
              <a:buClr>
                <a:srgbClr val="E48312"/>
              </a:buClr>
              <a:buSzPct val="95000"/>
              <a:buFont typeface="Wingdings"/>
              <a:buChar char=""/>
              <a:tabLst>
                <a:tab pos="241300" algn="l"/>
              </a:tabLst>
            </a:pPr>
            <a:r>
              <a:rPr sz="2000" spc="10" dirty="0">
                <a:solidFill>
                  <a:srgbClr val="404040"/>
                </a:solidFill>
                <a:latin typeface="Calibri"/>
                <a:cs typeface="Calibri"/>
              </a:rPr>
              <a:t>Pour</a:t>
            </a:r>
            <a:r>
              <a:rPr sz="2000" spc="-150" dirty="0">
                <a:solidFill>
                  <a:srgbClr val="404040"/>
                </a:solidFill>
                <a:latin typeface="Calibri"/>
                <a:cs typeface="Calibri"/>
              </a:rPr>
              <a:t> </a:t>
            </a:r>
            <a:r>
              <a:rPr sz="2000" spc="20" dirty="0">
                <a:solidFill>
                  <a:srgbClr val="404040"/>
                </a:solidFill>
                <a:latin typeface="Calibri"/>
                <a:cs typeface="Calibri"/>
              </a:rPr>
              <a:t>chaque</a:t>
            </a:r>
            <a:r>
              <a:rPr sz="2000" spc="-40" dirty="0">
                <a:solidFill>
                  <a:srgbClr val="404040"/>
                </a:solidFill>
                <a:latin typeface="Calibri"/>
                <a:cs typeface="Calibri"/>
              </a:rPr>
              <a:t> </a:t>
            </a:r>
            <a:r>
              <a:rPr sz="2000" spc="25" dirty="0">
                <a:solidFill>
                  <a:srgbClr val="404040"/>
                </a:solidFill>
                <a:latin typeface="Calibri"/>
                <a:cs typeface="Calibri"/>
              </a:rPr>
              <a:t>relation,</a:t>
            </a:r>
            <a:r>
              <a:rPr sz="2000" spc="-150" dirty="0">
                <a:solidFill>
                  <a:srgbClr val="404040"/>
                </a:solidFill>
                <a:latin typeface="Calibri"/>
                <a:cs typeface="Calibri"/>
              </a:rPr>
              <a:t> </a:t>
            </a:r>
            <a:r>
              <a:rPr sz="2000" spc="20" dirty="0">
                <a:solidFill>
                  <a:srgbClr val="404040"/>
                </a:solidFill>
                <a:latin typeface="Calibri"/>
                <a:cs typeface="Calibri"/>
              </a:rPr>
              <a:t>deux</a:t>
            </a:r>
            <a:r>
              <a:rPr sz="2000" spc="-114" dirty="0">
                <a:solidFill>
                  <a:srgbClr val="404040"/>
                </a:solidFill>
                <a:latin typeface="Calibri"/>
                <a:cs typeface="Calibri"/>
              </a:rPr>
              <a:t> </a:t>
            </a:r>
            <a:r>
              <a:rPr sz="2000" spc="5" dirty="0">
                <a:solidFill>
                  <a:srgbClr val="404040"/>
                </a:solidFill>
                <a:latin typeface="Calibri"/>
                <a:cs typeface="Calibri"/>
              </a:rPr>
              <a:t>multiplicités</a:t>
            </a:r>
            <a:r>
              <a:rPr sz="2000" spc="-130" dirty="0">
                <a:solidFill>
                  <a:srgbClr val="404040"/>
                </a:solidFill>
                <a:latin typeface="Calibri"/>
                <a:cs typeface="Calibri"/>
              </a:rPr>
              <a:t> </a:t>
            </a:r>
            <a:r>
              <a:rPr sz="2000" spc="25" dirty="0">
                <a:solidFill>
                  <a:srgbClr val="404040"/>
                </a:solidFill>
                <a:latin typeface="Calibri"/>
                <a:cs typeface="Calibri"/>
              </a:rPr>
              <a:t>sont</a:t>
            </a:r>
            <a:r>
              <a:rPr sz="2000" spc="-120" dirty="0">
                <a:solidFill>
                  <a:srgbClr val="404040"/>
                </a:solidFill>
                <a:latin typeface="Calibri"/>
                <a:cs typeface="Calibri"/>
              </a:rPr>
              <a:t> </a:t>
            </a:r>
            <a:r>
              <a:rPr sz="2000" dirty="0">
                <a:solidFill>
                  <a:srgbClr val="404040"/>
                </a:solidFill>
                <a:latin typeface="Calibri"/>
                <a:cs typeface="Calibri"/>
              </a:rPr>
              <a:t>à</a:t>
            </a:r>
            <a:r>
              <a:rPr sz="2000" spc="-110" dirty="0">
                <a:solidFill>
                  <a:srgbClr val="404040"/>
                </a:solidFill>
                <a:latin typeface="Calibri"/>
                <a:cs typeface="Calibri"/>
              </a:rPr>
              <a:t> </a:t>
            </a:r>
            <a:r>
              <a:rPr sz="2000" spc="-10" dirty="0">
                <a:solidFill>
                  <a:srgbClr val="404040"/>
                </a:solidFill>
                <a:latin typeface="Calibri"/>
                <a:cs typeface="Calibri"/>
              </a:rPr>
              <a:t>définir,</a:t>
            </a:r>
            <a:r>
              <a:rPr sz="2000" spc="-150" dirty="0">
                <a:solidFill>
                  <a:srgbClr val="404040"/>
                </a:solidFill>
                <a:latin typeface="Calibri"/>
                <a:cs typeface="Calibri"/>
              </a:rPr>
              <a:t> </a:t>
            </a:r>
            <a:r>
              <a:rPr sz="2000" spc="25" dirty="0">
                <a:solidFill>
                  <a:srgbClr val="404040"/>
                </a:solidFill>
                <a:latin typeface="Calibri"/>
                <a:cs typeface="Calibri"/>
              </a:rPr>
              <a:t>l’une</a:t>
            </a:r>
            <a:r>
              <a:rPr sz="2000" spc="-145" dirty="0">
                <a:solidFill>
                  <a:srgbClr val="404040"/>
                </a:solidFill>
                <a:latin typeface="Calibri"/>
                <a:cs typeface="Calibri"/>
              </a:rPr>
              <a:t> </a:t>
            </a:r>
            <a:r>
              <a:rPr sz="2000" spc="20" dirty="0">
                <a:solidFill>
                  <a:srgbClr val="404040"/>
                </a:solidFill>
                <a:latin typeface="Calibri"/>
                <a:cs typeface="Calibri"/>
              </a:rPr>
              <a:t>de</a:t>
            </a:r>
            <a:r>
              <a:rPr sz="2000" spc="-45" dirty="0">
                <a:solidFill>
                  <a:srgbClr val="404040"/>
                </a:solidFill>
                <a:latin typeface="Calibri"/>
                <a:cs typeface="Calibri"/>
              </a:rPr>
              <a:t> </a:t>
            </a:r>
            <a:r>
              <a:rPr sz="2000" spc="20" dirty="0">
                <a:solidFill>
                  <a:srgbClr val="404040"/>
                </a:solidFill>
                <a:latin typeface="Calibri"/>
                <a:cs typeface="Calibri"/>
              </a:rPr>
              <a:t>chaque</a:t>
            </a:r>
            <a:r>
              <a:rPr sz="2000" spc="-145" dirty="0">
                <a:solidFill>
                  <a:srgbClr val="404040"/>
                </a:solidFill>
                <a:latin typeface="Calibri"/>
                <a:cs typeface="Calibri"/>
              </a:rPr>
              <a:t> </a:t>
            </a:r>
            <a:r>
              <a:rPr sz="2000" spc="5" dirty="0">
                <a:solidFill>
                  <a:srgbClr val="404040"/>
                </a:solidFill>
                <a:latin typeface="Calibri"/>
                <a:cs typeface="Calibri"/>
              </a:rPr>
              <a:t>côté</a:t>
            </a:r>
            <a:r>
              <a:rPr sz="2000" spc="-45" dirty="0">
                <a:solidFill>
                  <a:srgbClr val="404040"/>
                </a:solidFill>
                <a:latin typeface="Calibri"/>
                <a:cs typeface="Calibri"/>
              </a:rPr>
              <a:t> </a:t>
            </a:r>
            <a:r>
              <a:rPr sz="2000" spc="20" dirty="0">
                <a:solidFill>
                  <a:srgbClr val="404040"/>
                </a:solidFill>
                <a:latin typeface="Calibri"/>
                <a:cs typeface="Calibri"/>
              </a:rPr>
              <a:t>de</a:t>
            </a:r>
            <a:r>
              <a:rPr sz="2000" spc="-45" dirty="0">
                <a:solidFill>
                  <a:srgbClr val="404040"/>
                </a:solidFill>
                <a:latin typeface="Calibri"/>
                <a:cs typeface="Calibri"/>
              </a:rPr>
              <a:t> </a:t>
            </a:r>
            <a:r>
              <a:rPr sz="2000" spc="5" dirty="0">
                <a:solidFill>
                  <a:srgbClr val="404040"/>
                </a:solidFill>
                <a:latin typeface="Calibri"/>
                <a:cs typeface="Calibri"/>
              </a:rPr>
              <a:t>l’association</a:t>
            </a:r>
            <a:endParaRPr sz="2000" dirty="0">
              <a:latin typeface="Calibri"/>
              <a:cs typeface="Calibri"/>
            </a:endParaRPr>
          </a:p>
          <a:p>
            <a:pPr marL="419734" lvl="1" indent="-204470">
              <a:lnSpc>
                <a:spcPct val="100000"/>
              </a:lnSpc>
              <a:spcBef>
                <a:spcPts val="100"/>
              </a:spcBef>
              <a:buClr>
                <a:srgbClr val="E48312"/>
              </a:buClr>
              <a:buSzPct val="94444"/>
              <a:buFont typeface="Wingdings"/>
              <a:buChar char=""/>
              <a:tabLst>
                <a:tab pos="420370" algn="l"/>
              </a:tabLst>
            </a:pPr>
            <a:r>
              <a:rPr sz="1800" spc="20" dirty="0">
                <a:solidFill>
                  <a:srgbClr val="404040"/>
                </a:solidFill>
                <a:latin typeface="Calibri"/>
                <a:cs typeface="Calibri"/>
              </a:rPr>
              <a:t>Un</a:t>
            </a:r>
            <a:r>
              <a:rPr sz="1800" spc="-65" dirty="0">
                <a:solidFill>
                  <a:srgbClr val="404040"/>
                </a:solidFill>
                <a:latin typeface="Calibri"/>
                <a:cs typeface="Calibri"/>
              </a:rPr>
              <a:t> </a:t>
            </a:r>
            <a:r>
              <a:rPr sz="1800" spc="-25" dirty="0">
                <a:solidFill>
                  <a:srgbClr val="404040"/>
                </a:solidFill>
                <a:latin typeface="Calibri"/>
                <a:cs typeface="Calibri"/>
              </a:rPr>
              <a:t>professeur</a:t>
            </a:r>
            <a:r>
              <a:rPr sz="1800" spc="155" dirty="0">
                <a:solidFill>
                  <a:srgbClr val="404040"/>
                </a:solidFill>
                <a:latin typeface="Calibri"/>
                <a:cs typeface="Calibri"/>
              </a:rPr>
              <a:t> </a:t>
            </a:r>
            <a:r>
              <a:rPr sz="1800" spc="-25" dirty="0">
                <a:solidFill>
                  <a:srgbClr val="404040"/>
                </a:solidFill>
                <a:latin typeface="Calibri"/>
                <a:cs typeface="Calibri"/>
              </a:rPr>
              <a:t>peut</a:t>
            </a:r>
            <a:r>
              <a:rPr sz="1800" spc="80" dirty="0">
                <a:solidFill>
                  <a:srgbClr val="404040"/>
                </a:solidFill>
                <a:latin typeface="Calibri"/>
                <a:cs typeface="Calibri"/>
              </a:rPr>
              <a:t> </a:t>
            </a:r>
            <a:r>
              <a:rPr sz="1800" spc="-20" dirty="0">
                <a:solidFill>
                  <a:srgbClr val="404040"/>
                </a:solidFill>
                <a:latin typeface="Calibri"/>
                <a:cs typeface="Calibri"/>
              </a:rPr>
              <a:t>enseigner</a:t>
            </a:r>
            <a:r>
              <a:rPr sz="1800" spc="155" dirty="0">
                <a:solidFill>
                  <a:srgbClr val="404040"/>
                </a:solidFill>
                <a:latin typeface="Calibri"/>
                <a:cs typeface="Calibri"/>
              </a:rPr>
              <a:t> </a:t>
            </a:r>
            <a:r>
              <a:rPr sz="1800" spc="-25" dirty="0">
                <a:solidFill>
                  <a:srgbClr val="404040"/>
                </a:solidFill>
                <a:latin typeface="Calibri"/>
                <a:cs typeface="Calibri"/>
              </a:rPr>
              <a:t>plusieurs</a:t>
            </a:r>
            <a:r>
              <a:rPr sz="1800" spc="175" dirty="0">
                <a:solidFill>
                  <a:srgbClr val="404040"/>
                </a:solidFill>
                <a:latin typeface="Calibri"/>
                <a:cs typeface="Calibri"/>
              </a:rPr>
              <a:t> </a:t>
            </a:r>
            <a:r>
              <a:rPr sz="1800" spc="-20" dirty="0">
                <a:solidFill>
                  <a:srgbClr val="404040"/>
                </a:solidFill>
                <a:latin typeface="Calibri"/>
                <a:cs typeface="Calibri"/>
              </a:rPr>
              <a:t>cours</a:t>
            </a:r>
            <a:endParaRPr sz="1800" dirty="0">
              <a:latin typeface="Calibri"/>
              <a:cs typeface="Calibri"/>
            </a:endParaRPr>
          </a:p>
          <a:p>
            <a:pPr marL="419734" lvl="1" indent="-204470">
              <a:lnSpc>
                <a:spcPct val="100000"/>
              </a:lnSpc>
              <a:spcBef>
                <a:spcPts val="439"/>
              </a:spcBef>
              <a:buClr>
                <a:srgbClr val="E48312"/>
              </a:buClr>
              <a:buSzPct val="94444"/>
              <a:buFont typeface="Wingdings"/>
              <a:buChar char=""/>
              <a:tabLst>
                <a:tab pos="420370" algn="l"/>
              </a:tabLst>
            </a:pPr>
            <a:r>
              <a:rPr sz="1800" spc="20" dirty="0">
                <a:solidFill>
                  <a:srgbClr val="404040"/>
                </a:solidFill>
                <a:latin typeface="Calibri"/>
                <a:cs typeface="Calibri"/>
              </a:rPr>
              <a:t>Un</a:t>
            </a:r>
            <a:r>
              <a:rPr sz="1800" spc="-60" dirty="0">
                <a:solidFill>
                  <a:srgbClr val="404040"/>
                </a:solidFill>
                <a:latin typeface="Calibri"/>
                <a:cs typeface="Calibri"/>
              </a:rPr>
              <a:t> </a:t>
            </a:r>
            <a:r>
              <a:rPr sz="1800" spc="-20" dirty="0">
                <a:solidFill>
                  <a:srgbClr val="404040"/>
                </a:solidFill>
                <a:latin typeface="Calibri"/>
                <a:cs typeface="Calibri"/>
              </a:rPr>
              <a:t>cours</a:t>
            </a:r>
            <a:r>
              <a:rPr sz="1800" spc="80" dirty="0">
                <a:solidFill>
                  <a:srgbClr val="404040"/>
                </a:solidFill>
                <a:latin typeface="Calibri"/>
                <a:cs typeface="Calibri"/>
              </a:rPr>
              <a:t> </a:t>
            </a:r>
            <a:r>
              <a:rPr sz="1800" spc="-25" dirty="0">
                <a:solidFill>
                  <a:srgbClr val="404040"/>
                </a:solidFill>
                <a:latin typeface="Calibri"/>
                <a:cs typeface="Calibri"/>
              </a:rPr>
              <a:t>peut</a:t>
            </a:r>
            <a:r>
              <a:rPr sz="1800" spc="90" dirty="0">
                <a:solidFill>
                  <a:srgbClr val="404040"/>
                </a:solidFill>
                <a:latin typeface="Calibri"/>
                <a:cs typeface="Calibri"/>
              </a:rPr>
              <a:t> </a:t>
            </a:r>
            <a:r>
              <a:rPr sz="1800" spc="-10" dirty="0">
                <a:solidFill>
                  <a:srgbClr val="404040"/>
                </a:solidFill>
                <a:latin typeface="Calibri"/>
                <a:cs typeface="Calibri"/>
              </a:rPr>
              <a:t>être </a:t>
            </a:r>
            <a:r>
              <a:rPr sz="1800" spc="-25" dirty="0">
                <a:solidFill>
                  <a:srgbClr val="404040"/>
                </a:solidFill>
                <a:latin typeface="Calibri"/>
                <a:cs typeface="Calibri"/>
              </a:rPr>
              <a:t>dispensé</a:t>
            </a:r>
            <a:r>
              <a:rPr sz="1800" spc="190" dirty="0">
                <a:solidFill>
                  <a:srgbClr val="404040"/>
                </a:solidFill>
                <a:latin typeface="Calibri"/>
                <a:cs typeface="Calibri"/>
              </a:rPr>
              <a:t> </a:t>
            </a:r>
            <a:r>
              <a:rPr sz="1800" spc="-5" dirty="0">
                <a:solidFill>
                  <a:srgbClr val="404040"/>
                </a:solidFill>
                <a:latin typeface="Calibri"/>
                <a:cs typeface="Calibri"/>
              </a:rPr>
              <a:t>par</a:t>
            </a:r>
            <a:r>
              <a:rPr sz="1800" spc="-40" dirty="0">
                <a:solidFill>
                  <a:srgbClr val="404040"/>
                </a:solidFill>
                <a:latin typeface="Calibri"/>
                <a:cs typeface="Calibri"/>
              </a:rPr>
              <a:t> </a:t>
            </a:r>
            <a:r>
              <a:rPr sz="1800" dirty="0">
                <a:solidFill>
                  <a:srgbClr val="404040"/>
                </a:solidFill>
                <a:latin typeface="Calibri"/>
                <a:cs typeface="Calibri"/>
              </a:rPr>
              <a:t>0</a:t>
            </a:r>
            <a:r>
              <a:rPr sz="1800" spc="-25" dirty="0">
                <a:solidFill>
                  <a:srgbClr val="404040"/>
                </a:solidFill>
                <a:latin typeface="Calibri"/>
                <a:cs typeface="Calibri"/>
              </a:rPr>
              <a:t> ou</a:t>
            </a:r>
            <a:r>
              <a:rPr sz="1800" spc="40" dirty="0">
                <a:solidFill>
                  <a:srgbClr val="404040"/>
                </a:solidFill>
                <a:latin typeface="Calibri"/>
                <a:cs typeface="Calibri"/>
              </a:rPr>
              <a:t> </a:t>
            </a:r>
            <a:r>
              <a:rPr sz="1800" spc="-25" dirty="0">
                <a:solidFill>
                  <a:srgbClr val="404040"/>
                </a:solidFill>
                <a:latin typeface="Calibri"/>
                <a:cs typeface="Calibri"/>
              </a:rPr>
              <a:t>un</a:t>
            </a:r>
            <a:r>
              <a:rPr sz="1800" spc="140" dirty="0">
                <a:solidFill>
                  <a:srgbClr val="404040"/>
                </a:solidFill>
                <a:latin typeface="Calibri"/>
                <a:cs typeface="Calibri"/>
              </a:rPr>
              <a:t> </a:t>
            </a:r>
            <a:r>
              <a:rPr sz="1800" spc="-45" dirty="0">
                <a:solidFill>
                  <a:srgbClr val="404040"/>
                </a:solidFill>
                <a:latin typeface="Calibri"/>
                <a:cs typeface="Calibri"/>
              </a:rPr>
              <a:t>professeur.</a:t>
            </a:r>
            <a:endParaRPr sz="1800" dirty="0">
              <a:latin typeface="Calibri"/>
              <a:cs typeface="Calibri"/>
            </a:endParaRPr>
          </a:p>
        </p:txBody>
      </p:sp>
      <p:graphicFrame>
        <p:nvGraphicFramePr>
          <p:cNvPr id="4" name="object 4"/>
          <p:cNvGraphicFramePr>
            <a:graphicFrameLocks noGrp="1"/>
          </p:cNvGraphicFramePr>
          <p:nvPr/>
        </p:nvGraphicFramePr>
        <p:xfrm>
          <a:off x="3164982" y="3607217"/>
          <a:ext cx="6741795" cy="1080880"/>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3572510">
                  <a:extLst>
                    <a:ext uri="{9D8B030D-6E8A-4147-A177-3AD203B41FA5}">
                      <a16:colId xmlns:a16="http://schemas.microsoft.com/office/drawing/2014/main" val="20001"/>
                    </a:ext>
                  </a:extLst>
                </a:gridCol>
                <a:gridCol w="1890395">
                  <a:extLst>
                    <a:ext uri="{9D8B030D-6E8A-4147-A177-3AD203B41FA5}">
                      <a16:colId xmlns:a16="http://schemas.microsoft.com/office/drawing/2014/main" val="20002"/>
                    </a:ext>
                  </a:extLst>
                </a:gridCol>
              </a:tblGrid>
              <a:tr h="598666">
                <a:tc rowSpan="2">
                  <a:txBody>
                    <a:bodyPr/>
                    <a:lstStyle/>
                    <a:p>
                      <a:pPr>
                        <a:lnSpc>
                          <a:spcPct val="100000"/>
                        </a:lnSpc>
                        <a:spcBef>
                          <a:spcPts val="40"/>
                        </a:spcBef>
                      </a:pPr>
                      <a:endParaRPr sz="2100">
                        <a:latin typeface="Times New Roman"/>
                        <a:cs typeface="Times New Roman"/>
                      </a:endParaRPr>
                    </a:p>
                    <a:p>
                      <a:pPr marL="150495">
                        <a:lnSpc>
                          <a:spcPct val="100000"/>
                        </a:lnSpc>
                        <a:spcBef>
                          <a:spcPts val="5"/>
                        </a:spcBef>
                      </a:pPr>
                      <a:r>
                        <a:rPr sz="1800" spc="-5" dirty="0">
                          <a:latin typeface="Arial MT"/>
                          <a:cs typeface="Arial MT"/>
                        </a:rPr>
                        <a:t>Professor</a:t>
                      </a:r>
                      <a:endParaRPr sz="1800">
                        <a:latin typeface="Arial MT"/>
                        <a:cs typeface="Arial MT"/>
                      </a:endParaRPr>
                    </a:p>
                  </a:txBody>
                  <a:tcPr marL="0" marR="0" marT="5080" marB="0">
                    <a:lnL w="9525">
                      <a:solidFill>
                        <a:srgbClr val="000000"/>
                      </a:solidFill>
                      <a:prstDash val="solid"/>
                    </a:lnL>
                    <a:lnR w="9525">
                      <a:solidFill>
                        <a:srgbClr val="000000"/>
                      </a:solidFill>
                      <a:prstDash val="solid"/>
                    </a:lnR>
                    <a:lnB w="19050">
                      <a:solidFill>
                        <a:srgbClr val="000000"/>
                      </a:solidFill>
                      <a:prstDash val="solid"/>
                    </a:lnB>
                  </a:tcPr>
                </a:tc>
                <a:tc>
                  <a:txBody>
                    <a:bodyPr/>
                    <a:lstStyle/>
                    <a:p>
                      <a:pPr marL="55244">
                        <a:lnSpc>
                          <a:spcPct val="100000"/>
                        </a:lnSpc>
                        <a:spcBef>
                          <a:spcPts val="1220"/>
                        </a:spcBef>
                      </a:pPr>
                      <a:r>
                        <a:rPr sz="1900" spc="25" dirty="0">
                          <a:solidFill>
                            <a:srgbClr val="1F497C"/>
                          </a:solidFill>
                          <a:latin typeface="Arial MT"/>
                          <a:cs typeface="Arial MT"/>
                        </a:rPr>
                        <a:t>dispense</a:t>
                      </a:r>
                      <a:endParaRPr sz="1900" dirty="0">
                        <a:latin typeface="Arial MT"/>
                        <a:cs typeface="Arial MT"/>
                      </a:endParaRPr>
                    </a:p>
                  </a:txBody>
                  <a:tcPr marL="0" marR="0" marT="154940" marB="0">
                    <a:lnL w="9525" cap="flat" cmpd="sng" algn="ctr">
                      <a:solidFill>
                        <a:srgbClr val="000000"/>
                      </a:solidFill>
                      <a:prstDash val="solid"/>
                      <a:round/>
                      <a:headEnd type="none" w="med" len="med"/>
                      <a:tailEnd type="none" w="med" len="med"/>
                    </a:lnL>
                    <a:lnR w="6350">
                      <a:solidFill>
                        <a:srgbClr val="000000"/>
                      </a:solidFill>
                      <a:prstDash val="solid"/>
                    </a:lnR>
                    <a:lnB w="19050">
                      <a:solidFill>
                        <a:srgbClr val="000000"/>
                      </a:solidFill>
                      <a:prstDash val="solid"/>
                    </a:lnB>
                  </a:tcPr>
                </a:tc>
                <a:tc rowSpan="2">
                  <a:txBody>
                    <a:bodyPr/>
                    <a:lstStyle/>
                    <a:p>
                      <a:pPr>
                        <a:lnSpc>
                          <a:spcPct val="100000"/>
                        </a:lnSpc>
                        <a:spcBef>
                          <a:spcPts val="40"/>
                        </a:spcBef>
                      </a:pPr>
                      <a:endParaRPr sz="2100">
                        <a:latin typeface="Times New Roman"/>
                        <a:cs typeface="Times New Roman"/>
                      </a:endParaRPr>
                    </a:p>
                    <a:p>
                      <a:pPr marL="182245">
                        <a:lnSpc>
                          <a:spcPct val="100000"/>
                        </a:lnSpc>
                        <a:spcBef>
                          <a:spcPts val="5"/>
                        </a:spcBef>
                      </a:pPr>
                      <a:r>
                        <a:rPr sz="1800" spc="-5" dirty="0">
                          <a:latin typeface="Arial MT"/>
                          <a:cs typeface="Arial MT"/>
                        </a:rPr>
                        <a:t>CourseOffering</a:t>
                      </a:r>
                      <a:endParaRPr sz="1800">
                        <a:latin typeface="Arial MT"/>
                        <a:cs typeface="Arial MT"/>
                      </a:endParaRPr>
                    </a:p>
                  </a:txBody>
                  <a:tcPr marL="0" marR="0" marT="5080" marB="0">
                    <a:lnL w="6350" cap="flat" cmpd="sng" algn="ctr">
                      <a:solidFill>
                        <a:srgbClr val="000000"/>
                      </a:solidFill>
                      <a:prstDash val="solid"/>
                      <a:round/>
                      <a:headEnd type="none" w="med" len="med"/>
                      <a:tailEnd type="none" w="med" len="me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0"/>
                  </a:ext>
                </a:extLst>
              </a:tr>
              <a:tr h="482214">
                <a:tc vMerge="1">
                  <a:txBody>
                    <a:bodyPr/>
                    <a:lstStyle/>
                    <a:p>
                      <a:endParaRPr/>
                    </a:p>
                  </a:txBody>
                  <a:tcPr marL="0" marR="0" marT="5080" marB="0">
                    <a:lnL w="9525">
                      <a:solidFill>
                        <a:srgbClr val="000000"/>
                      </a:solidFill>
                      <a:prstDash val="solid"/>
                    </a:lnL>
                    <a:lnR w="9525">
                      <a:solidFill>
                        <a:srgbClr val="000000"/>
                      </a:solidFill>
                      <a:prstDash val="solid"/>
                    </a:lnR>
                    <a:lnB w="19050">
                      <a:solidFill>
                        <a:srgbClr val="000000"/>
                      </a:solidFill>
                      <a:prstDash val="solid"/>
                    </a:lnB>
                  </a:tcPr>
                </a:tc>
                <a:tc>
                  <a:txBody>
                    <a:bodyPr/>
                    <a:lstStyle/>
                    <a:p>
                      <a:pPr marL="71755">
                        <a:lnSpc>
                          <a:spcPct val="100000"/>
                        </a:lnSpc>
                        <a:spcBef>
                          <a:spcPts val="120"/>
                        </a:spcBef>
                        <a:tabLst>
                          <a:tab pos="3117850" algn="l"/>
                        </a:tabLst>
                      </a:pPr>
                      <a:r>
                        <a:rPr sz="1900" spc="-5" dirty="0">
                          <a:solidFill>
                            <a:srgbClr val="1F497C"/>
                          </a:solidFill>
                          <a:latin typeface="Arial MT"/>
                          <a:cs typeface="Arial MT"/>
                        </a:rPr>
                        <a:t>0..1	0..*</a:t>
                      </a:r>
                      <a:endParaRPr sz="1900" dirty="0">
                        <a:latin typeface="Arial MT"/>
                        <a:cs typeface="Arial MT"/>
                      </a:endParaRPr>
                    </a:p>
                  </a:txBody>
                  <a:tcPr marL="0" marR="0" marT="15240" marB="0">
                    <a:lnL w="9525">
                      <a:solidFill>
                        <a:srgbClr val="000000"/>
                      </a:solidFill>
                      <a:prstDash val="solid"/>
                    </a:lnL>
                    <a:lnR w="9525">
                      <a:solidFill>
                        <a:srgbClr val="000000"/>
                      </a:solidFill>
                      <a:prstDash val="solid"/>
                    </a:lnR>
                    <a:lnT w="19050">
                      <a:solidFill>
                        <a:srgbClr val="000000"/>
                      </a:solidFill>
                      <a:prstDash val="solid"/>
                    </a:lnT>
                  </a:tcPr>
                </a:tc>
                <a:tc vMerge="1">
                  <a:txBody>
                    <a:bodyPr/>
                    <a:lstStyle/>
                    <a:p>
                      <a:endParaRPr/>
                    </a:p>
                  </a:txBody>
                  <a:tcPr marL="0" marR="0" marT="5080" marB="0">
                    <a:lnL w="9525">
                      <a:solidFill>
                        <a:srgbClr val="000000"/>
                      </a:solidFill>
                      <a:prstDash val="solid"/>
                    </a:lnL>
                    <a:lnR w="6350">
                      <a:solidFill>
                        <a:srgbClr val="000000"/>
                      </a:solidFill>
                      <a:prstDash val="solid"/>
                    </a:lnR>
                    <a:lnB w="19050">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5" name="object 5"/>
          <p:cNvGrpSpPr/>
          <p:nvPr/>
        </p:nvGrpSpPr>
        <p:grpSpPr>
          <a:xfrm>
            <a:off x="3162300" y="3632200"/>
            <a:ext cx="1295400" cy="1079500"/>
            <a:chOff x="3162300" y="3632200"/>
            <a:chExt cx="1295400" cy="1079500"/>
          </a:xfrm>
        </p:grpSpPr>
        <p:pic>
          <p:nvPicPr>
            <p:cNvPr id="6" name="object 6"/>
            <p:cNvPicPr/>
            <p:nvPr/>
          </p:nvPicPr>
          <p:blipFill>
            <a:blip r:embed="rId2" cstate="print"/>
            <a:stretch>
              <a:fillRect/>
            </a:stretch>
          </p:blipFill>
          <p:spPr>
            <a:xfrm>
              <a:off x="3162300" y="3632200"/>
              <a:ext cx="1295400" cy="1066800"/>
            </a:xfrm>
            <a:prstGeom prst="rect">
              <a:avLst/>
            </a:prstGeom>
          </p:spPr>
        </p:pic>
        <p:sp>
          <p:nvSpPr>
            <p:cNvPr id="7" name="object 7"/>
            <p:cNvSpPr/>
            <p:nvPr/>
          </p:nvSpPr>
          <p:spPr>
            <a:xfrm>
              <a:off x="3162300" y="3632199"/>
              <a:ext cx="1295400" cy="1079500"/>
            </a:xfrm>
            <a:custGeom>
              <a:avLst/>
              <a:gdLst/>
              <a:ahLst/>
              <a:cxnLst/>
              <a:rect l="l" t="t" r="r" b="b"/>
              <a:pathLst>
                <a:path w="1295400" h="1079500">
                  <a:moveTo>
                    <a:pt x="1295019" y="2298"/>
                  </a:moveTo>
                  <a:lnTo>
                    <a:pt x="1292733" y="0"/>
                  </a:lnTo>
                  <a:lnTo>
                    <a:pt x="1289685" y="0"/>
                  </a:lnTo>
                  <a:lnTo>
                    <a:pt x="1289685" y="9931"/>
                  </a:lnTo>
                  <a:lnTo>
                    <a:pt x="1289685" y="685800"/>
                  </a:lnTo>
                  <a:lnTo>
                    <a:pt x="1288186" y="685800"/>
                  </a:lnTo>
                  <a:lnTo>
                    <a:pt x="1288186" y="698588"/>
                  </a:lnTo>
                  <a:lnTo>
                    <a:pt x="1288186" y="825500"/>
                  </a:lnTo>
                  <a:lnTo>
                    <a:pt x="6819" y="825500"/>
                  </a:lnTo>
                  <a:lnTo>
                    <a:pt x="6819" y="698588"/>
                  </a:lnTo>
                  <a:lnTo>
                    <a:pt x="12890" y="691819"/>
                  </a:lnTo>
                  <a:lnTo>
                    <a:pt x="12890" y="698588"/>
                  </a:lnTo>
                  <a:lnTo>
                    <a:pt x="1282115" y="698588"/>
                  </a:lnTo>
                  <a:lnTo>
                    <a:pt x="1282115" y="691819"/>
                  </a:lnTo>
                  <a:lnTo>
                    <a:pt x="1288186" y="698588"/>
                  </a:lnTo>
                  <a:lnTo>
                    <a:pt x="1288186" y="685800"/>
                  </a:lnTo>
                  <a:lnTo>
                    <a:pt x="4559" y="685800"/>
                  </a:lnTo>
                  <a:lnTo>
                    <a:pt x="4559" y="9931"/>
                  </a:lnTo>
                  <a:lnTo>
                    <a:pt x="9118" y="5346"/>
                  </a:lnTo>
                  <a:lnTo>
                    <a:pt x="9118" y="9931"/>
                  </a:lnTo>
                  <a:lnTo>
                    <a:pt x="1285125" y="9931"/>
                  </a:lnTo>
                  <a:lnTo>
                    <a:pt x="1285125" y="5346"/>
                  </a:lnTo>
                  <a:lnTo>
                    <a:pt x="1289685" y="9931"/>
                  </a:lnTo>
                  <a:lnTo>
                    <a:pt x="1289685" y="0"/>
                  </a:lnTo>
                  <a:lnTo>
                    <a:pt x="1511" y="0"/>
                  </a:lnTo>
                  <a:lnTo>
                    <a:pt x="0" y="2298"/>
                  </a:lnTo>
                  <a:lnTo>
                    <a:pt x="0" y="685800"/>
                  </a:lnTo>
                  <a:lnTo>
                    <a:pt x="0" y="825500"/>
                  </a:lnTo>
                  <a:lnTo>
                    <a:pt x="0" y="1076960"/>
                  </a:lnTo>
                  <a:lnTo>
                    <a:pt x="0" y="1079258"/>
                  </a:lnTo>
                  <a:lnTo>
                    <a:pt x="6819" y="1079373"/>
                  </a:lnTo>
                  <a:lnTo>
                    <a:pt x="6819" y="837857"/>
                  </a:lnTo>
                  <a:lnTo>
                    <a:pt x="12890" y="831684"/>
                  </a:lnTo>
                  <a:lnTo>
                    <a:pt x="12890" y="837857"/>
                  </a:lnTo>
                  <a:lnTo>
                    <a:pt x="1282115" y="837857"/>
                  </a:lnTo>
                  <a:lnTo>
                    <a:pt x="1282115" y="831684"/>
                  </a:lnTo>
                  <a:lnTo>
                    <a:pt x="1288186" y="837857"/>
                  </a:lnTo>
                  <a:lnTo>
                    <a:pt x="1288186" y="1079258"/>
                  </a:lnTo>
                  <a:lnTo>
                    <a:pt x="1295019" y="1079373"/>
                  </a:lnTo>
                  <a:lnTo>
                    <a:pt x="1295019" y="1076960"/>
                  </a:lnTo>
                  <a:lnTo>
                    <a:pt x="1295019" y="825500"/>
                  </a:lnTo>
                  <a:lnTo>
                    <a:pt x="1295019" y="685800"/>
                  </a:lnTo>
                  <a:lnTo>
                    <a:pt x="1295019" y="2298"/>
                  </a:lnTo>
                  <a:close/>
                </a:path>
              </a:pathLst>
            </a:custGeom>
            <a:solidFill>
              <a:srgbClr val="000000"/>
            </a:solidFill>
          </p:spPr>
          <p:txBody>
            <a:bodyPr wrap="square" lIns="0" tIns="0" rIns="0" bIns="0" rtlCol="0"/>
            <a:lstStyle/>
            <a:p>
              <a:endParaRPr/>
            </a:p>
          </p:txBody>
        </p:sp>
      </p:grpSp>
      <p:grpSp>
        <p:nvGrpSpPr>
          <p:cNvPr id="8" name="object 8"/>
          <p:cNvGrpSpPr/>
          <p:nvPr/>
        </p:nvGrpSpPr>
        <p:grpSpPr>
          <a:xfrm>
            <a:off x="8013700" y="3606800"/>
            <a:ext cx="1917700" cy="1079500"/>
            <a:chOff x="8013700" y="3606800"/>
            <a:chExt cx="1917700" cy="1079500"/>
          </a:xfrm>
        </p:grpSpPr>
        <p:pic>
          <p:nvPicPr>
            <p:cNvPr id="9" name="object 9"/>
            <p:cNvPicPr/>
            <p:nvPr/>
          </p:nvPicPr>
          <p:blipFill>
            <a:blip r:embed="rId3" cstate="print"/>
            <a:stretch>
              <a:fillRect/>
            </a:stretch>
          </p:blipFill>
          <p:spPr>
            <a:xfrm>
              <a:off x="8013700" y="3606800"/>
              <a:ext cx="1905000" cy="1079500"/>
            </a:xfrm>
            <a:prstGeom prst="rect">
              <a:avLst/>
            </a:prstGeom>
          </p:spPr>
        </p:pic>
        <p:sp>
          <p:nvSpPr>
            <p:cNvPr id="10" name="object 10"/>
            <p:cNvSpPr/>
            <p:nvPr/>
          </p:nvSpPr>
          <p:spPr>
            <a:xfrm>
              <a:off x="8013700" y="3606799"/>
              <a:ext cx="1917700" cy="1079500"/>
            </a:xfrm>
            <a:custGeom>
              <a:avLst/>
              <a:gdLst/>
              <a:ahLst/>
              <a:cxnLst/>
              <a:rect l="l" t="t" r="r" b="b"/>
              <a:pathLst>
                <a:path w="1917700" h="1079500">
                  <a:moveTo>
                    <a:pt x="1917319" y="685800"/>
                  </a:moveTo>
                  <a:lnTo>
                    <a:pt x="1910448" y="685800"/>
                  </a:lnTo>
                  <a:lnTo>
                    <a:pt x="1910448" y="698741"/>
                  </a:lnTo>
                  <a:lnTo>
                    <a:pt x="1910448" y="838200"/>
                  </a:lnTo>
                  <a:lnTo>
                    <a:pt x="1904492" y="838200"/>
                  </a:lnTo>
                  <a:lnTo>
                    <a:pt x="1904492" y="692048"/>
                  </a:lnTo>
                  <a:lnTo>
                    <a:pt x="1910448" y="698741"/>
                  </a:lnTo>
                  <a:lnTo>
                    <a:pt x="1910448" y="685800"/>
                  </a:lnTo>
                  <a:lnTo>
                    <a:pt x="1904492" y="685800"/>
                  </a:lnTo>
                  <a:lnTo>
                    <a:pt x="1904492" y="2298"/>
                  </a:lnTo>
                  <a:lnTo>
                    <a:pt x="1902968" y="0"/>
                  </a:lnTo>
                  <a:lnTo>
                    <a:pt x="1899932" y="0"/>
                  </a:lnTo>
                  <a:lnTo>
                    <a:pt x="1899932" y="9931"/>
                  </a:lnTo>
                  <a:lnTo>
                    <a:pt x="1899932" y="685800"/>
                  </a:lnTo>
                  <a:lnTo>
                    <a:pt x="1899932" y="698741"/>
                  </a:lnTo>
                  <a:lnTo>
                    <a:pt x="1899932" y="838200"/>
                  </a:lnTo>
                  <a:lnTo>
                    <a:pt x="6070" y="838200"/>
                  </a:lnTo>
                  <a:lnTo>
                    <a:pt x="6070" y="698741"/>
                  </a:lnTo>
                  <a:lnTo>
                    <a:pt x="12928" y="691896"/>
                  </a:lnTo>
                  <a:lnTo>
                    <a:pt x="12928" y="698741"/>
                  </a:lnTo>
                  <a:lnTo>
                    <a:pt x="1899932" y="698741"/>
                  </a:lnTo>
                  <a:lnTo>
                    <a:pt x="1899932" y="685800"/>
                  </a:lnTo>
                  <a:lnTo>
                    <a:pt x="4559" y="685800"/>
                  </a:lnTo>
                  <a:lnTo>
                    <a:pt x="4559" y="9931"/>
                  </a:lnTo>
                  <a:lnTo>
                    <a:pt x="9880" y="4584"/>
                  </a:lnTo>
                  <a:lnTo>
                    <a:pt x="9880" y="9931"/>
                  </a:lnTo>
                  <a:lnTo>
                    <a:pt x="1895373" y="9931"/>
                  </a:lnTo>
                  <a:lnTo>
                    <a:pt x="1895373" y="4584"/>
                  </a:lnTo>
                  <a:lnTo>
                    <a:pt x="1899932" y="9931"/>
                  </a:lnTo>
                  <a:lnTo>
                    <a:pt x="1899932" y="0"/>
                  </a:lnTo>
                  <a:lnTo>
                    <a:pt x="2273" y="0"/>
                  </a:lnTo>
                  <a:lnTo>
                    <a:pt x="0" y="2298"/>
                  </a:lnTo>
                  <a:lnTo>
                    <a:pt x="0" y="685800"/>
                  </a:lnTo>
                  <a:lnTo>
                    <a:pt x="0" y="838200"/>
                  </a:lnTo>
                  <a:lnTo>
                    <a:pt x="0" y="1076960"/>
                  </a:lnTo>
                  <a:lnTo>
                    <a:pt x="0" y="1079119"/>
                  </a:lnTo>
                  <a:lnTo>
                    <a:pt x="2146" y="1079119"/>
                  </a:lnTo>
                  <a:lnTo>
                    <a:pt x="2273" y="1079246"/>
                  </a:lnTo>
                  <a:lnTo>
                    <a:pt x="4559" y="1079246"/>
                  </a:lnTo>
                  <a:lnTo>
                    <a:pt x="4559" y="1079119"/>
                  </a:lnTo>
                  <a:lnTo>
                    <a:pt x="6070" y="1079119"/>
                  </a:lnTo>
                  <a:lnTo>
                    <a:pt x="6070" y="851128"/>
                  </a:lnTo>
                  <a:lnTo>
                    <a:pt x="12928" y="844283"/>
                  </a:lnTo>
                  <a:lnTo>
                    <a:pt x="12928" y="851128"/>
                  </a:lnTo>
                  <a:lnTo>
                    <a:pt x="1899932" y="851128"/>
                  </a:lnTo>
                  <a:lnTo>
                    <a:pt x="1899932" y="1079246"/>
                  </a:lnTo>
                  <a:lnTo>
                    <a:pt x="1902968" y="1079246"/>
                  </a:lnTo>
                  <a:lnTo>
                    <a:pt x="1904492" y="1076960"/>
                  </a:lnTo>
                  <a:lnTo>
                    <a:pt x="1904492" y="844435"/>
                  </a:lnTo>
                  <a:lnTo>
                    <a:pt x="1910448" y="851128"/>
                  </a:lnTo>
                  <a:lnTo>
                    <a:pt x="1910448" y="1079119"/>
                  </a:lnTo>
                  <a:lnTo>
                    <a:pt x="1917319" y="1079119"/>
                  </a:lnTo>
                  <a:lnTo>
                    <a:pt x="1917319" y="838200"/>
                  </a:lnTo>
                  <a:lnTo>
                    <a:pt x="1917319" y="68580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8376284" cy="756920"/>
          </a:xfrm>
          <a:prstGeom prst="rect">
            <a:avLst/>
          </a:prstGeom>
        </p:spPr>
        <p:txBody>
          <a:bodyPr vert="horz" wrap="square" lIns="0" tIns="12700" rIns="0" bIns="0" rtlCol="0">
            <a:spAutoFit/>
          </a:bodyPr>
          <a:lstStyle/>
          <a:p>
            <a:pPr marL="12700">
              <a:lnSpc>
                <a:spcPct val="100000"/>
              </a:lnSpc>
              <a:spcBef>
                <a:spcPts val="100"/>
              </a:spcBef>
            </a:pPr>
            <a:r>
              <a:rPr spc="-65" dirty="0"/>
              <a:t>Les</a:t>
            </a:r>
            <a:r>
              <a:rPr spc="-55" dirty="0"/>
              <a:t> </a:t>
            </a:r>
            <a:r>
              <a:rPr spc="-114" dirty="0"/>
              <a:t>différents</a:t>
            </a:r>
            <a:r>
              <a:rPr spc="240" dirty="0"/>
              <a:t> </a:t>
            </a:r>
            <a:r>
              <a:rPr spc="-75" dirty="0"/>
              <a:t>types</a:t>
            </a:r>
            <a:r>
              <a:rPr spc="45" dirty="0"/>
              <a:t> </a:t>
            </a:r>
            <a:r>
              <a:rPr spc="-50" dirty="0"/>
              <a:t>de</a:t>
            </a:r>
            <a:r>
              <a:rPr spc="30" dirty="0"/>
              <a:t> </a:t>
            </a:r>
            <a:r>
              <a:rPr spc="-75" dirty="0"/>
              <a:t>multiplicités</a:t>
            </a:r>
          </a:p>
        </p:txBody>
      </p:sp>
      <p:graphicFrame>
        <p:nvGraphicFramePr>
          <p:cNvPr id="3" name="object 3"/>
          <p:cNvGraphicFramePr>
            <a:graphicFrameLocks noGrp="1"/>
          </p:cNvGraphicFramePr>
          <p:nvPr>
            <p:extLst>
              <p:ext uri="{D42A27DB-BD31-4B8C-83A1-F6EECF244321}">
                <p14:modId xmlns:p14="http://schemas.microsoft.com/office/powerpoint/2010/main" val="2602409834"/>
              </p:ext>
            </p:extLst>
          </p:nvPr>
        </p:nvGraphicFramePr>
        <p:xfrm>
          <a:off x="1165133" y="2057400"/>
          <a:ext cx="10058400" cy="2595879"/>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370840">
                <a:tc>
                  <a:txBody>
                    <a:bodyPr/>
                    <a:lstStyle/>
                    <a:p>
                      <a:pPr marL="91440">
                        <a:lnSpc>
                          <a:spcPct val="100000"/>
                        </a:lnSpc>
                        <a:spcBef>
                          <a:spcPts val="260"/>
                        </a:spcBef>
                      </a:pPr>
                      <a:r>
                        <a:rPr sz="1800" b="1" spc="5" dirty="0">
                          <a:solidFill>
                            <a:srgbClr val="FFFFFF"/>
                          </a:solidFill>
                          <a:latin typeface="Calibri"/>
                          <a:cs typeface="Calibri"/>
                        </a:rPr>
                        <a:t>Indicateur</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E48312"/>
                    </a:solidFill>
                  </a:tcPr>
                </a:tc>
                <a:tc>
                  <a:txBody>
                    <a:bodyPr/>
                    <a:lstStyle/>
                    <a:p>
                      <a:pPr marL="90805">
                        <a:lnSpc>
                          <a:spcPct val="100000"/>
                        </a:lnSpc>
                        <a:spcBef>
                          <a:spcPts val="260"/>
                        </a:spcBef>
                      </a:pPr>
                      <a:r>
                        <a:rPr sz="1800" b="1" dirty="0">
                          <a:solidFill>
                            <a:srgbClr val="FFFFFF"/>
                          </a:solidFill>
                          <a:latin typeface="Calibri"/>
                          <a:cs typeface="Calibri"/>
                        </a:rPr>
                        <a:t>Signification</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E48312"/>
                    </a:solidFill>
                  </a:tcPr>
                </a:tc>
                <a:extLst>
                  <a:ext uri="{0D108BD9-81ED-4DB2-BD59-A6C34878D82A}">
                    <a16:rowId xmlns:a16="http://schemas.microsoft.com/office/drawing/2014/main" val="10000"/>
                  </a:ext>
                </a:extLst>
              </a:tr>
              <a:tr h="370839">
                <a:tc>
                  <a:txBody>
                    <a:bodyPr/>
                    <a:lstStyle/>
                    <a:p>
                      <a:pPr marL="91440">
                        <a:lnSpc>
                          <a:spcPct val="100000"/>
                        </a:lnSpc>
                        <a:spcBef>
                          <a:spcPts val="259"/>
                        </a:spcBef>
                      </a:pPr>
                      <a:r>
                        <a:rPr sz="1800" spc="-35" dirty="0">
                          <a:latin typeface="Calibri"/>
                          <a:cs typeface="Calibri"/>
                        </a:rPr>
                        <a:t>0…1</a:t>
                      </a:r>
                      <a:endParaRPr sz="1800">
                        <a:latin typeface="Calibri"/>
                        <a:cs typeface="Calibri"/>
                      </a:endParaRPr>
                    </a:p>
                  </a:txBody>
                  <a:tcPr marL="0" marR="0" marT="33019"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F5D9CC"/>
                    </a:solidFill>
                  </a:tcPr>
                </a:tc>
                <a:tc>
                  <a:txBody>
                    <a:bodyPr/>
                    <a:lstStyle/>
                    <a:p>
                      <a:pPr marL="90805">
                        <a:lnSpc>
                          <a:spcPct val="100000"/>
                        </a:lnSpc>
                        <a:spcBef>
                          <a:spcPts val="259"/>
                        </a:spcBef>
                      </a:pPr>
                      <a:r>
                        <a:rPr sz="1800" dirty="0">
                          <a:latin typeface="Calibri"/>
                          <a:cs typeface="Calibri"/>
                        </a:rPr>
                        <a:t>0</a:t>
                      </a:r>
                      <a:r>
                        <a:rPr sz="1800" spc="-50" dirty="0">
                          <a:latin typeface="Calibri"/>
                          <a:cs typeface="Calibri"/>
                        </a:rPr>
                        <a:t> </a:t>
                      </a:r>
                      <a:r>
                        <a:rPr sz="1800" spc="-25" dirty="0">
                          <a:latin typeface="Calibri"/>
                          <a:cs typeface="Calibri"/>
                        </a:rPr>
                        <a:t>ou</a:t>
                      </a:r>
                      <a:r>
                        <a:rPr sz="1800" spc="15" dirty="0">
                          <a:latin typeface="Calibri"/>
                          <a:cs typeface="Calibri"/>
                        </a:rPr>
                        <a:t> </a:t>
                      </a:r>
                      <a:r>
                        <a:rPr sz="1800" dirty="0">
                          <a:latin typeface="Calibri"/>
                          <a:cs typeface="Calibri"/>
                        </a:rPr>
                        <a:t>1</a:t>
                      </a:r>
                      <a:endParaRPr sz="1800">
                        <a:latin typeface="Calibri"/>
                        <a:cs typeface="Calibri"/>
                      </a:endParaRPr>
                    </a:p>
                  </a:txBody>
                  <a:tcPr marL="0" marR="0" marT="33019"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F5D9CC"/>
                    </a:solidFill>
                  </a:tcPr>
                </a:tc>
                <a:extLst>
                  <a:ext uri="{0D108BD9-81ED-4DB2-BD59-A6C34878D82A}">
                    <a16:rowId xmlns:a16="http://schemas.microsoft.com/office/drawing/2014/main" val="10001"/>
                  </a:ext>
                </a:extLst>
              </a:tr>
              <a:tr h="370840">
                <a:tc>
                  <a:txBody>
                    <a:bodyPr/>
                    <a:lstStyle/>
                    <a:p>
                      <a:pPr marL="91440">
                        <a:lnSpc>
                          <a:spcPct val="100000"/>
                        </a:lnSpc>
                        <a:spcBef>
                          <a:spcPts val="260"/>
                        </a:spcBef>
                      </a:pPr>
                      <a:r>
                        <a:rPr sz="1800" dirty="0">
                          <a:latin typeface="Calibri"/>
                          <a:cs typeface="Calibri"/>
                        </a:rPr>
                        <a:t>n</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AEDE7"/>
                    </a:solidFill>
                  </a:tcPr>
                </a:tc>
                <a:tc>
                  <a:txBody>
                    <a:bodyPr/>
                    <a:lstStyle/>
                    <a:p>
                      <a:pPr marL="90805">
                        <a:lnSpc>
                          <a:spcPct val="100000"/>
                        </a:lnSpc>
                        <a:spcBef>
                          <a:spcPts val="260"/>
                        </a:spcBef>
                      </a:pPr>
                      <a:r>
                        <a:rPr sz="1800" spc="-25" dirty="0">
                          <a:latin typeface="Calibri"/>
                          <a:cs typeface="Calibri"/>
                        </a:rPr>
                        <a:t>Uniquement</a:t>
                      </a:r>
                      <a:r>
                        <a:rPr sz="1800" spc="190" dirty="0">
                          <a:latin typeface="Calibri"/>
                          <a:cs typeface="Calibri"/>
                        </a:rPr>
                        <a:t> </a:t>
                      </a:r>
                      <a:r>
                        <a:rPr sz="1800" dirty="0">
                          <a:latin typeface="Calibri"/>
                          <a:cs typeface="Calibri"/>
                        </a:rPr>
                        <a:t>n</a:t>
                      </a:r>
                      <a:r>
                        <a:rPr sz="1800" spc="45" dirty="0">
                          <a:latin typeface="Calibri"/>
                          <a:cs typeface="Calibri"/>
                        </a:rPr>
                        <a:t> </a:t>
                      </a:r>
                      <a:r>
                        <a:rPr sz="1800" spc="-20" dirty="0">
                          <a:latin typeface="Calibri"/>
                          <a:cs typeface="Calibri"/>
                        </a:rPr>
                        <a:t>(ex</a:t>
                      </a:r>
                      <a:r>
                        <a:rPr sz="1800" spc="10" dirty="0">
                          <a:latin typeface="Calibri"/>
                          <a:cs typeface="Calibri"/>
                        </a:rPr>
                        <a:t> </a:t>
                      </a:r>
                      <a:r>
                        <a:rPr sz="1800" spc="-5" dirty="0">
                          <a:latin typeface="Calibri"/>
                          <a:cs typeface="Calibri"/>
                        </a:rPr>
                        <a:t>1</a:t>
                      </a:r>
                      <a:r>
                        <a:rPr sz="1800" spc="-5" dirty="0">
                          <a:latin typeface="Wingdings"/>
                          <a:cs typeface="Wingdings"/>
                        </a:rPr>
                        <a:t></a:t>
                      </a:r>
                      <a:r>
                        <a:rPr sz="1800" spc="-75" dirty="0">
                          <a:latin typeface="Times New Roman"/>
                          <a:cs typeface="Times New Roman"/>
                        </a:rPr>
                        <a:t> </a:t>
                      </a:r>
                      <a:r>
                        <a:rPr sz="1800" spc="-35" dirty="0">
                          <a:latin typeface="Calibri"/>
                          <a:cs typeface="Calibri"/>
                        </a:rPr>
                        <a:t>uniquement</a:t>
                      </a:r>
                      <a:r>
                        <a:rPr sz="1800" spc="290" dirty="0">
                          <a:latin typeface="Calibri"/>
                          <a:cs typeface="Calibri"/>
                        </a:rPr>
                        <a:t> </a:t>
                      </a:r>
                      <a:r>
                        <a:rPr sz="1800" spc="-10" dirty="0">
                          <a:latin typeface="Calibri"/>
                          <a:cs typeface="Calibri"/>
                        </a:rPr>
                        <a:t>1)</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AEDE7"/>
                    </a:solidFill>
                  </a:tcPr>
                </a:tc>
                <a:extLst>
                  <a:ext uri="{0D108BD9-81ED-4DB2-BD59-A6C34878D82A}">
                    <a16:rowId xmlns:a16="http://schemas.microsoft.com/office/drawing/2014/main" val="10002"/>
                  </a:ext>
                </a:extLst>
              </a:tr>
              <a:tr h="370840">
                <a:tc>
                  <a:txBody>
                    <a:bodyPr/>
                    <a:lstStyle/>
                    <a:p>
                      <a:pPr marL="91440">
                        <a:lnSpc>
                          <a:spcPct val="100000"/>
                        </a:lnSpc>
                        <a:spcBef>
                          <a:spcPts val="260"/>
                        </a:spcBef>
                      </a:pPr>
                      <a:r>
                        <a:rPr sz="1800" spc="15" dirty="0">
                          <a:latin typeface="Calibri"/>
                          <a:cs typeface="Calibri"/>
                        </a:rPr>
                        <a:t>0..*</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5D9CC"/>
                    </a:solidFill>
                  </a:tcPr>
                </a:tc>
                <a:tc>
                  <a:txBody>
                    <a:bodyPr/>
                    <a:lstStyle/>
                    <a:p>
                      <a:pPr marL="90805">
                        <a:lnSpc>
                          <a:spcPct val="100000"/>
                        </a:lnSpc>
                        <a:spcBef>
                          <a:spcPts val="260"/>
                        </a:spcBef>
                      </a:pPr>
                      <a:r>
                        <a:rPr sz="1800" dirty="0">
                          <a:latin typeface="Calibri"/>
                          <a:cs typeface="Calibri"/>
                        </a:rPr>
                        <a:t>0</a:t>
                      </a:r>
                      <a:r>
                        <a:rPr sz="1800" spc="-45" dirty="0">
                          <a:latin typeface="Calibri"/>
                          <a:cs typeface="Calibri"/>
                        </a:rPr>
                        <a:t> </a:t>
                      </a:r>
                      <a:r>
                        <a:rPr sz="1800" spc="-25" dirty="0">
                          <a:latin typeface="Calibri"/>
                          <a:cs typeface="Calibri"/>
                        </a:rPr>
                        <a:t>ou</a:t>
                      </a:r>
                      <a:r>
                        <a:rPr sz="1800" spc="15" dirty="0">
                          <a:latin typeface="Calibri"/>
                          <a:cs typeface="Calibri"/>
                        </a:rPr>
                        <a:t> </a:t>
                      </a:r>
                      <a:r>
                        <a:rPr sz="1800" spc="-25" dirty="0">
                          <a:latin typeface="Calibri"/>
                          <a:cs typeface="Calibri"/>
                        </a:rPr>
                        <a:t>plusieurs</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5D9CC"/>
                    </a:solidFill>
                  </a:tcPr>
                </a:tc>
                <a:extLst>
                  <a:ext uri="{0D108BD9-81ED-4DB2-BD59-A6C34878D82A}">
                    <a16:rowId xmlns:a16="http://schemas.microsoft.com/office/drawing/2014/main" val="10003"/>
                  </a:ext>
                </a:extLst>
              </a:tr>
              <a:tr h="370840">
                <a:tc>
                  <a:txBody>
                    <a:bodyPr/>
                    <a:lstStyle/>
                    <a:p>
                      <a:pPr marL="91440">
                        <a:lnSpc>
                          <a:spcPct val="100000"/>
                        </a:lnSpc>
                        <a:spcBef>
                          <a:spcPts val="259"/>
                        </a:spcBef>
                      </a:pPr>
                      <a:r>
                        <a:rPr sz="1800" dirty="0">
                          <a:latin typeface="Calibri"/>
                          <a:cs typeface="Calibri"/>
                        </a:rPr>
                        <a:t>*</a:t>
                      </a:r>
                      <a:endParaRPr sz="1800">
                        <a:latin typeface="Calibri"/>
                        <a:cs typeface="Calibri"/>
                      </a:endParaRPr>
                    </a:p>
                  </a:txBody>
                  <a:tcPr marL="0" marR="0" marT="33019"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AEDE7"/>
                    </a:solidFill>
                  </a:tcPr>
                </a:tc>
                <a:tc>
                  <a:txBody>
                    <a:bodyPr/>
                    <a:lstStyle/>
                    <a:p>
                      <a:pPr marL="90805">
                        <a:lnSpc>
                          <a:spcPct val="100000"/>
                        </a:lnSpc>
                        <a:spcBef>
                          <a:spcPts val="259"/>
                        </a:spcBef>
                      </a:pPr>
                      <a:r>
                        <a:rPr sz="1800" dirty="0">
                          <a:latin typeface="Calibri"/>
                          <a:cs typeface="Calibri"/>
                        </a:rPr>
                        <a:t>0</a:t>
                      </a:r>
                      <a:r>
                        <a:rPr sz="1800" spc="-45" dirty="0">
                          <a:latin typeface="Calibri"/>
                          <a:cs typeface="Calibri"/>
                        </a:rPr>
                        <a:t> </a:t>
                      </a:r>
                      <a:r>
                        <a:rPr sz="1800" spc="-25" dirty="0">
                          <a:latin typeface="Calibri"/>
                          <a:cs typeface="Calibri"/>
                        </a:rPr>
                        <a:t>ou</a:t>
                      </a:r>
                      <a:r>
                        <a:rPr sz="1800" spc="15" dirty="0">
                          <a:latin typeface="Calibri"/>
                          <a:cs typeface="Calibri"/>
                        </a:rPr>
                        <a:t> </a:t>
                      </a:r>
                      <a:r>
                        <a:rPr sz="1800" spc="-25" dirty="0">
                          <a:latin typeface="Calibri"/>
                          <a:cs typeface="Calibri"/>
                        </a:rPr>
                        <a:t>plusieurs</a:t>
                      </a:r>
                      <a:endParaRPr sz="1800">
                        <a:latin typeface="Calibri"/>
                        <a:cs typeface="Calibri"/>
                      </a:endParaRPr>
                    </a:p>
                  </a:txBody>
                  <a:tcPr marL="0" marR="0" marT="33019"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AEDE7"/>
                    </a:solidFill>
                  </a:tcPr>
                </a:tc>
                <a:extLst>
                  <a:ext uri="{0D108BD9-81ED-4DB2-BD59-A6C34878D82A}">
                    <a16:rowId xmlns:a16="http://schemas.microsoft.com/office/drawing/2014/main" val="10004"/>
                  </a:ext>
                </a:extLst>
              </a:tr>
              <a:tr h="370840">
                <a:tc>
                  <a:txBody>
                    <a:bodyPr/>
                    <a:lstStyle/>
                    <a:p>
                      <a:pPr marL="91440">
                        <a:lnSpc>
                          <a:spcPct val="100000"/>
                        </a:lnSpc>
                        <a:spcBef>
                          <a:spcPts val="260"/>
                        </a:spcBef>
                      </a:pPr>
                      <a:r>
                        <a:rPr sz="1800" spc="20" dirty="0">
                          <a:latin typeface="Calibri"/>
                          <a:cs typeface="Calibri"/>
                        </a:rPr>
                        <a:t>1...*</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5D9CC"/>
                    </a:solidFill>
                  </a:tcPr>
                </a:tc>
                <a:tc>
                  <a:txBody>
                    <a:bodyPr/>
                    <a:lstStyle/>
                    <a:p>
                      <a:pPr marL="90805">
                        <a:lnSpc>
                          <a:spcPct val="100000"/>
                        </a:lnSpc>
                        <a:spcBef>
                          <a:spcPts val="260"/>
                        </a:spcBef>
                      </a:pPr>
                      <a:r>
                        <a:rPr sz="1800" dirty="0">
                          <a:latin typeface="Calibri"/>
                          <a:cs typeface="Calibri"/>
                        </a:rPr>
                        <a:t>1</a:t>
                      </a:r>
                      <a:r>
                        <a:rPr sz="1800" spc="-45" dirty="0">
                          <a:latin typeface="Calibri"/>
                          <a:cs typeface="Calibri"/>
                        </a:rPr>
                        <a:t> </a:t>
                      </a:r>
                      <a:r>
                        <a:rPr sz="1800" spc="-25" dirty="0">
                          <a:latin typeface="Calibri"/>
                          <a:cs typeface="Calibri"/>
                        </a:rPr>
                        <a:t>ou</a:t>
                      </a:r>
                      <a:r>
                        <a:rPr sz="1800" spc="15" dirty="0">
                          <a:latin typeface="Calibri"/>
                          <a:cs typeface="Calibri"/>
                        </a:rPr>
                        <a:t> </a:t>
                      </a:r>
                      <a:r>
                        <a:rPr sz="1800" spc="-25" dirty="0">
                          <a:latin typeface="Calibri"/>
                          <a:cs typeface="Calibri"/>
                        </a:rPr>
                        <a:t>plusieurs</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5D9CC"/>
                    </a:solidFill>
                  </a:tcPr>
                </a:tc>
                <a:extLst>
                  <a:ext uri="{0D108BD9-81ED-4DB2-BD59-A6C34878D82A}">
                    <a16:rowId xmlns:a16="http://schemas.microsoft.com/office/drawing/2014/main" val="10005"/>
                  </a:ext>
                </a:extLst>
              </a:tr>
              <a:tr h="370840">
                <a:tc>
                  <a:txBody>
                    <a:bodyPr/>
                    <a:lstStyle/>
                    <a:p>
                      <a:pPr marL="91440">
                        <a:lnSpc>
                          <a:spcPct val="100000"/>
                        </a:lnSpc>
                        <a:spcBef>
                          <a:spcPts val="260"/>
                        </a:spcBef>
                      </a:pPr>
                      <a:r>
                        <a:rPr sz="1800" spc="15" dirty="0">
                          <a:latin typeface="Calibri"/>
                          <a:cs typeface="Calibri"/>
                        </a:rPr>
                        <a:t>0..n</a:t>
                      </a:r>
                      <a:endParaRPr sz="180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AEDE7"/>
                    </a:solidFill>
                  </a:tcPr>
                </a:tc>
                <a:tc>
                  <a:txBody>
                    <a:bodyPr/>
                    <a:lstStyle/>
                    <a:p>
                      <a:pPr marL="90805">
                        <a:lnSpc>
                          <a:spcPct val="100000"/>
                        </a:lnSpc>
                        <a:spcBef>
                          <a:spcPts val="260"/>
                        </a:spcBef>
                      </a:pPr>
                      <a:r>
                        <a:rPr sz="1800" dirty="0">
                          <a:latin typeface="Calibri"/>
                          <a:cs typeface="Calibri"/>
                        </a:rPr>
                        <a:t>0</a:t>
                      </a:r>
                      <a:r>
                        <a:rPr sz="1800" spc="-30" dirty="0">
                          <a:latin typeface="Calibri"/>
                          <a:cs typeface="Calibri"/>
                        </a:rPr>
                        <a:t> </a:t>
                      </a:r>
                      <a:r>
                        <a:rPr sz="1800" dirty="0">
                          <a:latin typeface="Calibri"/>
                          <a:cs typeface="Calibri"/>
                        </a:rPr>
                        <a:t>à</a:t>
                      </a:r>
                      <a:r>
                        <a:rPr sz="1800" spc="20" dirty="0">
                          <a:latin typeface="Calibri"/>
                          <a:cs typeface="Calibri"/>
                        </a:rPr>
                        <a:t> </a:t>
                      </a:r>
                      <a:r>
                        <a:rPr sz="1800" dirty="0">
                          <a:latin typeface="Calibri"/>
                          <a:cs typeface="Calibri"/>
                        </a:rPr>
                        <a:t>n</a:t>
                      </a:r>
                      <a:r>
                        <a:rPr sz="1800" spc="35" dirty="0">
                          <a:latin typeface="Calibri"/>
                          <a:cs typeface="Calibri"/>
                        </a:rPr>
                        <a:t> </a:t>
                      </a:r>
                      <a:r>
                        <a:rPr sz="1800" spc="-10" dirty="0">
                          <a:latin typeface="Calibri"/>
                          <a:cs typeface="Calibri"/>
                        </a:rPr>
                        <a:t>(ex.</a:t>
                      </a:r>
                      <a:r>
                        <a:rPr sz="1800" spc="-70" dirty="0">
                          <a:latin typeface="Calibri"/>
                          <a:cs typeface="Calibri"/>
                        </a:rPr>
                        <a:t> </a:t>
                      </a:r>
                      <a:r>
                        <a:rPr sz="1800" spc="15" dirty="0">
                          <a:latin typeface="Calibri"/>
                          <a:cs typeface="Calibri"/>
                        </a:rPr>
                        <a:t>0..5</a:t>
                      </a:r>
                      <a:r>
                        <a:rPr sz="1800" spc="-30" dirty="0">
                          <a:latin typeface="Calibri"/>
                          <a:cs typeface="Calibri"/>
                        </a:rPr>
                        <a:t> </a:t>
                      </a:r>
                      <a:r>
                        <a:rPr sz="1800" dirty="0">
                          <a:latin typeface="Wingdings"/>
                          <a:cs typeface="Wingdings"/>
                        </a:rPr>
                        <a:t></a:t>
                      </a:r>
                      <a:r>
                        <a:rPr sz="1800" spc="-85" dirty="0">
                          <a:latin typeface="Times New Roman"/>
                          <a:cs typeface="Times New Roman"/>
                        </a:rPr>
                        <a:t> </a:t>
                      </a:r>
                      <a:r>
                        <a:rPr sz="1800" dirty="0">
                          <a:latin typeface="Calibri"/>
                          <a:cs typeface="Calibri"/>
                        </a:rPr>
                        <a:t>0</a:t>
                      </a:r>
                      <a:r>
                        <a:rPr sz="1800" spc="-25" dirty="0">
                          <a:latin typeface="Calibri"/>
                          <a:cs typeface="Calibri"/>
                        </a:rPr>
                        <a:t> </a:t>
                      </a:r>
                      <a:r>
                        <a:rPr sz="1800" dirty="0">
                          <a:latin typeface="Calibri"/>
                          <a:cs typeface="Calibri"/>
                        </a:rPr>
                        <a:t>à</a:t>
                      </a:r>
                      <a:r>
                        <a:rPr sz="1800" spc="20" dirty="0">
                          <a:latin typeface="Calibri"/>
                          <a:cs typeface="Calibri"/>
                        </a:rPr>
                        <a:t> </a:t>
                      </a:r>
                      <a:r>
                        <a:rPr sz="1800" spc="-15" dirty="0">
                          <a:latin typeface="Calibri"/>
                          <a:cs typeface="Calibri"/>
                        </a:rPr>
                        <a:t>5)</a:t>
                      </a:r>
                      <a:endParaRPr sz="1800" dirty="0">
                        <a:latin typeface="Calibri"/>
                        <a:cs typeface="Calibri"/>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AEDE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5301615" cy="756920"/>
          </a:xfrm>
          <a:prstGeom prst="rect">
            <a:avLst/>
          </a:prstGeom>
        </p:spPr>
        <p:txBody>
          <a:bodyPr vert="horz" wrap="square" lIns="0" tIns="12700" rIns="0" bIns="0" rtlCol="0">
            <a:spAutoFit/>
          </a:bodyPr>
          <a:lstStyle/>
          <a:p>
            <a:pPr marL="12700">
              <a:lnSpc>
                <a:spcPct val="100000"/>
              </a:lnSpc>
              <a:spcBef>
                <a:spcPts val="100"/>
              </a:spcBef>
            </a:pPr>
            <a:r>
              <a:rPr spc="-80" dirty="0"/>
              <a:t>Associations</a:t>
            </a:r>
            <a:r>
              <a:rPr spc="210" dirty="0"/>
              <a:t> </a:t>
            </a:r>
            <a:r>
              <a:rPr spc="-100" dirty="0"/>
              <a:t>réflexives</a:t>
            </a:r>
          </a:p>
        </p:txBody>
      </p:sp>
      <p:sp>
        <p:nvSpPr>
          <p:cNvPr id="3" name="object 3"/>
          <p:cNvSpPr txBox="1"/>
          <p:nvPr/>
        </p:nvSpPr>
        <p:spPr>
          <a:xfrm>
            <a:off x="1084580" y="1128979"/>
            <a:ext cx="8890635" cy="1397000"/>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sz="2000" spc="15" dirty="0">
                <a:solidFill>
                  <a:srgbClr val="404040"/>
                </a:solidFill>
                <a:latin typeface="Calibri"/>
                <a:cs typeface="Calibri"/>
              </a:rPr>
              <a:t>U</a:t>
            </a:r>
            <a:r>
              <a:rPr sz="2000" spc="50" dirty="0">
                <a:solidFill>
                  <a:srgbClr val="404040"/>
                </a:solidFill>
                <a:latin typeface="Calibri"/>
                <a:cs typeface="Calibri"/>
              </a:rPr>
              <a:t>n</a:t>
            </a:r>
            <a:r>
              <a:rPr sz="2000" dirty="0">
                <a:solidFill>
                  <a:srgbClr val="404040"/>
                </a:solidFill>
                <a:latin typeface="Calibri"/>
                <a:cs typeface="Calibri"/>
              </a:rPr>
              <a:t>e</a:t>
            </a:r>
            <a:r>
              <a:rPr sz="2000" spc="-50" dirty="0">
                <a:solidFill>
                  <a:srgbClr val="404040"/>
                </a:solidFill>
                <a:latin typeface="Calibri"/>
                <a:cs typeface="Calibri"/>
              </a:rPr>
              <a:t> c</a:t>
            </a:r>
            <a:r>
              <a:rPr sz="2000" spc="40" dirty="0">
                <a:solidFill>
                  <a:srgbClr val="404040"/>
                </a:solidFill>
                <a:latin typeface="Calibri"/>
                <a:cs typeface="Calibri"/>
              </a:rPr>
              <a:t>la</a:t>
            </a:r>
            <a:r>
              <a:rPr sz="2000" spc="15" dirty="0">
                <a:solidFill>
                  <a:srgbClr val="404040"/>
                </a:solidFill>
                <a:latin typeface="Calibri"/>
                <a:cs typeface="Calibri"/>
              </a:rPr>
              <a:t>ss</a:t>
            </a:r>
            <a:r>
              <a:rPr sz="2000" dirty="0">
                <a:solidFill>
                  <a:srgbClr val="404040"/>
                </a:solidFill>
                <a:latin typeface="Calibri"/>
                <a:cs typeface="Calibri"/>
              </a:rPr>
              <a:t>e</a:t>
            </a:r>
            <a:r>
              <a:rPr sz="2000" spc="-50" dirty="0">
                <a:solidFill>
                  <a:srgbClr val="404040"/>
                </a:solidFill>
                <a:latin typeface="Calibri"/>
                <a:cs typeface="Calibri"/>
              </a:rPr>
              <a:t> </a:t>
            </a:r>
            <a:r>
              <a:rPr sz="2000" spc="45" dirty="0">
                <a:solidFill>
                  <a:srgbClr val="404040"/>
                </a:solidFill>
                <a:latin typeface="Calibri"/>
                <a:cs typeface="Calibri"/>
              </a:rPr>
              <a:t>p</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t</a:t>
            </a:r>
            <a:r>
              <a:rPr sz="2000" spc="-125" dirty="0">
                <a:solidFill>
                  <a:srgbClr val="404040"/>
                </a:solidFill>
                <a:latin typeface="Calibri"/>
                <a:cs typeface="Calibri"/>
              </a:rPr>
              <a:t> </a:t>
            </a:r>
            <a:r>
              <a:rPr sz="2000" spc="15" dirty="0">
                <a:solidFill>
                  <a:srgbClr val="404040"/>
                </a:solidFill>
                <a:latin typeface="Calibri"/>
                <a:cs typeface="Calibri"/>
              </a:rPr>
              <a:t>s</a:t>
            </a:r>
            <a:r>
              <a:rPr sz="2000" spc="-100" dirty="0">
                <a:solidFill>
                  <a:srgbClr val="404040"/>
                </a:solidFill>
                <a:latin typeface="Calibri"/>
                <a:cs typeface="Calibri"/>
              </a:rPr>
              <a:t>’</a:t>
            </a:r>
            <a:r>
              <a:rPr sz="2000" spc="40" dirty="0">
                <a:solidFill>
                  <a:srgbClr val="404040"/>
                </a:solidFill>
                <a:latin typeface="Calibri"/>
                <a:cs typeface="Calibri"/>
              </a:rPr>
              <a:t>a</a:t>
            </a:r>
            <a:r>
              <a:rPr sz="2000" spc="15" dirty="0">
                <a:solidFill>
                  <a:srgbClr val="404040"/>
                </a:solidFill>
                <a:latin typeface="Calibri"/>
                <a:cs typeface="Calibri"/>
              </a:rPr>
              <a:t>ss</a:t>
            </a:r>
            <a:r>
              <a:rPr sz="2000" spc="45" dirty="0">
                <a:solidFill>
                  <a:srgbClr val="404040"/>
                </a:solidFill>
                <a:latin typeface="Calibri"/>
                <a:cs typeface="Calibri"/>
              </a:rPr>
              <a:t>o</a:t>
            </a:r>
            <a:r>
              <a:rPr sz="2000" spc="-50" dirty="0">
                <a:solidFill>
                  <a:srgbClr val="404040"/>
                </a:solidFill>
                <a:latin typeface="Calibri"/>
                <a:cs typeface="Calibri"/>
              </a:rPr>
              <a:t>c</a:t>
            </a:r>
            <a:r>
              <a:rPr sz="2000" spc="40" dirty="0">
                <a:solidFill>
                  <a:srgbClr val="404040"/>
                </a:solidFill>
                <a:latin typeface="Calibri"/>
                <a:cs typeface="Calibri"/>
              </a:rPr>
              <a:t>i</a:t>
            </a:r>
            <a:r>
              <a:rPr sz="2000" dirty="0">
                <a:solidFill>
                  <a:srgbClr val="404040"/>
                </a:solidFill>
                <a:latin typeface="Calibri"/>
                <a:cs typeface="Calibri"/>
              </a:rPr>
              <a:t>er</a:t>
            </a:r>
            <a:r>
              <a:rPr sz="2000" spc="-150" dirty="0">
                <a:solidFill>
                  <a:srgbClr val="404040"/>
                </a:solidFill>
                <a:latin typeface="Calibri"/>
                <a:cs typeface="Calibri"/>
              </a:rPr>
              <a:t> </a:t>
            </a:r>
            <a:r>
              <a:rPr sz="2000" dirty="0">
                <a:solidFill>
                  <a:srgbClr val="404040"/>
                </a:solidFill>
                <a:latin typeface="Calibri"/>
                <a:cs typeface="Calibri"/>
              </a:rPr>
              <a:t>à</a:t>
            </a:r>
            <a:r>
              <a:rPr sz="2000" spc="-15" dirty="0">
                <a:solidFill>
                  <a:srgbClr val="404040"/>
                </a:solidFill>
                <a:latin typeface="Calibri"/>
                <a:cs typeface="Calibri"/>
              </a:rPr>
              <a:t> </a:t>
            </a:r>
            <a:r>
              <a:rPr sz="2000" dirty="0">
                <a:solidFill>
                  <a:srgbClr val="404040"/>
                </a:solidFill>
                <a:latin typeface="Calibri"/>
                <a:cs typeface="Calibri"/>
              </a:rPr>
              <a:t>e</a:t>
            </a:r>
            <a:r>
              <a:rPr sz="2000" spc="40" dirty="0">
                <a:solidFill>
                  <a:srgbClr val="404040"/>
                </a:solidFill>
                <a:latin typeface="Calibri"/>
                <a:cs typeface="Calibri"/>
              </a:rPr>
              <a:t>ll</a:t>
            </a:r>
            <a:r>
              <a:rPr sz="2000" dirty="0">
                <a:solidFill>
                  <a:srgbClr val="404040"/>
                </a:solidFill>
                <a:latin typeface="Calibri"/>
                <a:cs typeface="Calibri"/>
              </a:rPr>
              <a:t>e</a:t>
            </a:r>
            <a:r>
              <a:rPr sz="2000" spc="-15" dirty="0">
                <a:solidFill>
                  <a:srgbClr val="404040"/>
                </a:solidFill>
                <a:latin typeface="Calibri"/>
                <a:cs typeface="Calibri"/>
              </a:rPr>
              <a:t>-</a:t>
            </a:r>
            <a:r>
              <a:rPr sz="2000" dirty="0">
                <a:solidFill>
                  <a:srgbClr val="404040"/>
                </a:solidFill>
                <a:latin typeface="Calibri"/>
                <a:cs typeface="Calibri"/>
              </a:rPr>
              <a:t>même</a:t>
            </a:r>
            <a:endParaRPr sz="200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15" dirty="0">
                <a:solidFill>
                  <a:srgbClr val="404040"/>
                </a:solidFill>
                <a:latin typeface="Calibri"/>
                <a:cs typeface="Calibri"/>
              </a:rPr>
              <a:t>Cela</a:t>
            </a:r>
            <a:r>
              <a:rPr sz="2000" spc="-114" dirty="0">
                <a:solidFill>
                  <a:srgbClr val="404040"/>
                </a:solidFill>
                <a:latin typeface="Calibri"/>
                <a:cs typeface="Calibri"/>
              </a:rPr>
              <a:t> </a:t>
            </a:r>
            <a:r>
              <a:rPr sz="2000" spc="20" dirty="0">
                <a:solidFill>
                  <a:srgbClr val="404040"/>
                </a:solidFill>
                <a:latin typeface="Calibri"/>
                <a:cs typeface="Calibri"/>
              </a:rPr>
              <a:t>ne</a:t>
            </a:r>
            <a:r>
              <a:rPr sz="2000" spc="-45" dirty="0">
                <a:solidFill>
                  <a:srgbClr val="404040"/>
                </a:solidFill>
                <a:latin typeface="Calibri"/>
                <a:cs typeface="Calibri"/>
              </a:rPr>
              <a:t> </a:t>
            </a:r>
            <a:r>
              <a:rPr sz="2000" spc="15" dirty="0">
                <a:solidFill>
                  <a:srgbClr val="404040"/>
                </a:solidFill>
                <a:latin typeface="Calibri"/>
                <a:cs typeface="Calibri"/>
              </a:rPr>
              <a:t>signifie</a:t>
            </a:r>
            <a:r>
              <a:rPr sz="2000" spc="-50" dirty="0">
                <a:solidFill>
                  <a:srgbClr val="404040"/>
                </a:solidFill>
                <a:latin typeface="Calibri"/>
                <a:cs typeface="Calibri"/>
              </a:rPr>
              <a:t> </a:t>
            </a:r>
            <a:r>
              <a:rPr sz="2000" spc="25" dirty="0">
                <a:solidFill>
                  <a:srgbClr val="404040"/>
                </a:solidFill>
                <a:latin typeface="Calibri"/>
                <a:cs typeface="Calibri"/>
              </a:rPr>
              <a:t>pas</a:t>
            </a:r>
            <a:r>
              <a:rPr sz="2000" spc="-130" dirty="0">
                <a:solidFill>
                  <a:srgbClr val="404040"/>
                </a:solidFill>
                <a:latin typeface="Calibri"/>
                <a:cs typeface="Calibri"/>
              </a:rPr>
              <a:t> </a:t>
            </a:r>
            <a:r>
              <a:rPr sz="2000" spc="30" dirty="0">
                <a:solidFill>
                  <a:srgbClr val="404040"/>
                </a:solidFill>
                <a:latin typeface="Calibri"/>
                <a:cs typeface="Calibri"/>
              </a:rPr>
              <a:t>que</a:t>
            </a:r>
            <a:r>
              <a:rPr sz="2000" spc="-50" dirty="0">
                <a:solidFill>
                  <a:srgbClr val="404040"/>
                </a:solidFill>
                <a:latin typeface="Calibri"/>
                <a:cs typeface="Calibri"/>
              </a:rPr>
              <a:t> </a:t>
            </a:r>
            <a:r>
              <a:rPr sz="2000" spc="10" dirty="0">
                <a:solidFill>
                  <a:srgbClr val="404040"/>
                </a:solidFill>
                <a:latin typeface="Calibri"/>
                <a:cs typeface="Calibri"/>
              </a:rPr>
              <a:t>les</a:t>
            </a:r>
            <a:r>
              <a:rPr sz="2000" spc="-30" dirty="0">
                <a:solidFill>
                  <a:srgbClr val="404040"/>
                </a:solidFill>
                <a:latin typeface="Calibri"/>
                <a:cs typeface="Calibri"/>
              </a:rPr>
              <a:t> </a:t>
            </a:r>
            <a:r>
              <a:rPr sz="2000" spc="15" dirty="0">
                <a:solidFill>
                  <a:srgbClr val="404040"/>
                </a:solidFill>
                <a:latin typeface="Calibri"/>
                <a:cs typeface="Calibri"/>
              </a:rPr>
              <a:t>instances</a:t>
            </a:r>
            <a:r>
              <a:rPr sz="2000" spc="-135" dirty="0">
                <a:solidFill>
                  <a:srgbClr val="404040"/>
                </a:solidFill>
                <a:latin typeface="Calibri"/>
                <a:cs typeface="Calibri"/>
              </a:rPr>
              <a:t> </a:t>
            </a:r>
            <a:r>
              <a:rPr sz="2000" spc="25" dirty="0">
                <a:solidFill>
                  <a:srgbClr val="404040"/>
                </a:solidFill>
                <a:latin typeface="Calibri"/>
                <a:cs typeface="Calibri"/>
              </a:rPr>
              <a:t>d’une</a:t>
            </a:r>
            <a:r>
              <a:rPr sz="2000" spc="-145" dirty="0">
                <a:solidFill>
                  <a:srgbClr val="404040"/>
                </a:solidFill>
                <a:latin typeface="Calibri"/>
                <a:cs typeface="Calibri"/>
              </a:rPr>
              <a:t> </a:t>
            </a:r>
            <a:r>
              <a:rPr sz="2000" spc="10" dirty="0">
                <a:solidFill>
                  <a:srgbClr val="404040"/>
                </a:solidFill>
                <a:latin typeface="Calibri"/>
                <a:cs typeface="Calibri"/>
              </a:rPr>
              <a:t>classe</a:t>
            </a:r>
            <a:r>
              <a:rPr sz="2000" spc="-150" dirty="0">
                <a:solidFill>
                  <a:srgbClr val="404040"/>
                </a:solidFill>
                <a:latin typeface="Calibri"/>
                <a:cs typeface="Calibri"/>
              </a:rPr>
              <a:t> </a:t>
            </a:r>
            <a:r>
              <a:rPr sz="2000" spc="25" dirty="0">
                <a:solidFill>
                  <a:srgbClr val="404040"/>
                </a:solidFill>
                <a:latin typeface="Calibri"/>
                <a:cs typeface="Calibri"/>
              </a:rPr>
              <a:t>sont</a:t>
            </a:r>
            <a:r>
              <a:rPr sz="2000" spc="-125" dirty="0">
                <a:solidFill>
                  <a:srgbClr val="404040"/>
                </a:solidFill>
                <a:latin typeface="Calibri"/>
                <a:cs typeface="Calibri"/>
              </a:rPr>
              <a:t> </a:t>
            </a:r>
            <a:r>
              <a:rPr sz="2000" spc="10" dirty="0">
                <a:solidFill>
                  <a:srgbClr val="404040"/>
                </a:solidFill>
                <a:latin typeface="Calibri"/>
                <a:cs typeface="Calibri"/>
              </a:rPr>
              <a:t>associées</a:t>
            </a:r>
            <a:r>
              <a:rPr sz="2000" spc="-130" dirty="0">
                <a:solidFill>
                  <a:srgbClr val="404040"/>
                </a:solidFill>
                <a:latin typeface="Calibri"/>
                <a:cs typeface="Calibri"/>
              </a:rPr>
              <a:t> </a:t>
            </a:r>
            <a:r>
              <a:rPr sz="2000" dirty="0">
                <a:solidFill>
                  <a:srgbClr val="404040"/>
                </a:solidFill>
                <a:latin typeface="Calibri"/>
                <a:cs typeface="Calibri"/>
              </a:rPr>
              <a:t>à</a:t>
            </a:r>
            <a:r>
              <a:rPr sz="2000" spc="-10" dirty="0">
                <a:solidFill>
                  <a:srgbClr val="404040"/>
                </a:solidFill>
                <a:latin typeface="Calibri"/>
                <a:cs typeface="Calibri"/>
              </a:rPr>
              <a:t> </a:t>
            </a:r>
            <a:r>
              <a:rPr sz="2000" spc="5" dirty="0">
                <a:solidFill>
                  <a:srgbClr val="404040"/>
                </a:solidFill>
                <a:latin typeface="Calibri"/>
                <a:cs typeface="Calibri"/>
              </a:rPr>
              <a:t>elles-mêmes;</a:t>
            </a:r>
            <a:endParaRPr sz="200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15" dirty="0">
                <a:solidFill>
                  <a:srgbClr val="404040"/>
                </a:solidFill>
                <a:latin typeface="Calibri"/>
                <a:cs typeface="Calibri"/>
              </a:rPr>
              <a:t>Les</a:t>
            </a:r>
            <a:r>
              <a:rPr sz="2000" spc="70" dirty="0">
                <a:solidFill>
                  <a:srgbClr val="404040"/>
                </a:solidFill>
                <a:latin typeface="Calibri"/>
                <a:cs typeface="Calibri"/>
              </a:rPr>
              <a:t> </a:t>
            </a:r>
            <a:r>
              <a:rPr sz="2000" spc="15" dirty="0">
                <a:solidFill>
                  <a:srgbClr val="404040"/>
                </a:solidFill>
                <a:latin typeface="Calibri"/>
                <a:cs typeface="Calibri"/>
              </a:rPr>
              <a:t>instances</a:t>
            </a:r>
            <a:r>
              <a:rPr sz="2000" spc="-130" dirty="0">
                <a:solidFill>
                  <a:srgbClr val="404040"/>
                </a:solidFill>
                <a:latin typeface="Calibri"/>
                <a:cs typeface="Calibri"/>
              </a:rPr>
              <a:t> </a:t>
            </a:r>
            <a:r>
              <a:rPr sz="2000" spc="20" dirty="0">
                <a:solidFill>
                  <a:srgbClr val="404040"/>
                </a:solidFill>
                <a:latin typeface="Calibri"/>
                <a:cs typeface="Calibri"/>
              </a:rPr>
              <a:t>de</a:t>
            </a:r>
            <a:r>
              <a:rPr sz="2000" spc="-150" dirty="0">
                <a:solidFill>
                  <a:srgbClr val="404040"/>
                </a:solidFill>
                <a:latin typeface="Calibri"/>
                <a:cs typeface="Calibri"/>
              </a:rPr>
              <a:t> </a:t>
            </a:r>
            <a:r>
              <a:rPr sz="2000" spc="20" dirty="0">
                <a:solidFill>
                  <a:srgbClr val="404040"/>
                </a:solidFill>
                <a:latin typeface="Calibri"/>
                <a:cs typeface="Calibri"/>
              </a:rPr>
              <a:t>la</a:t>
            </a:r>
            <a:r>
              <a:rPr sz="2000" spc="-10" dirty="0">
                <a:solidFill>
                  <a:srgbClr val="404040"/>
                </a:solidFill>
                <a:latin typeface="Calibri"/>
                <a:cs typeface="Calibri"/>
              </a:rPr>
              <a:t> </a:t>
            </a:r>
            <a:r>
              <a:rPr sz="2000" spc="10" dirty="0">
                <a:solidFill>
                  <a:srgbClr val="404040"/>
                </a:solidFill>
                <a:latin typeface="Calibri"/>
                <a:cs typeface="Calibri"/>
              </a:rPr>
              <a:t>classe</a:t>
            </a:r>
            <a:r>
              <a:rPr sz="2000" spc="-45" dirty="0">
                <a:solidFill>
                  <a:srgbClr val="404040"/>
                </a:solidFill>
                <a:latin typeface="Calibri"/>
                <a:cs typeface="Calibri"/>
              </a:rPr>
              <a:t> </a:t>
            </a:r>
            <a:r>
              <a:rPr sz="2000" spc="15" dirty="0">
                <a:solidFill>
                  <a:srgbClr val="404040"/>
                </a:solidFill>
                <a:latin typeface="Calibri"/>
                <a:cs typeface="Calibri"/>
              </a:rPr>
              <a:t>peuvent</a:t>
            </a:r>
            <a:r>
              <a:rPr sz="2000" spc="-120" dirty="0">
                <a:solidFill>
                  <a:srgbClr val="404040"/>
                </a:solidFill>
                <a:latin typeface="Calibri"/>
                <a:cs typeface="Calibri"/>
              </a:rPr>
              <a:t> </a:t>
            </a:r>
            <a:r>
              <a:rPr sz="2000" dirty="0">
                <a:solidFill>
                  <a:srgbClr val="404040"/>
                </a:solidFill>
                <a:latin typeface="Calibri"/>
                <a:cs typeface="Calibri"/>
              </a:rPr>
              <a:t>s’associer</a:t>
            </a:r>
            <a:r>
              <a:rPr sz="2000" spc="-145" dirty="0">
                <a:solidFill>
                  <a:srgbClr val="404040"/>
                </a:solidFill>
                <a:latin typeface="Calibri"/>
                <a:cs typeface="Calibri"/>
              </a:rPr>
              <a:t> </a:t>
            </a:r>
            <a:r>
              <a:rPr sz="2000" dirty="0">
                <a:solidFill>
                  <a:srgbClr val="404040"/>
                </a:solidFill>
                <a:latin typeface="Calibri"/>
                <a:cs typeface="Calibri"/>
              </a:rPr>
              <a:t>à</a:t>
            </a:r>
            <a:r>
              <a:rPr sz="2000" spc="-110" dirty="0">
                <a:solidFill>
                  <a:srgbClr val="404040"/>
                </a:solidFill>
                <a:latin typeface="Calibri"/>
                <a:cs typeface="Calibri"/>
              </a:rPr>
              <a:t> </a:t>
            </a:r>
            <a:r>
              <a:rPr sz="2000" spc="5" dirty="0">
                <a:solidFill>
                  <a:srgbClr val="404040"/>
                </a:solidFill>
                <a:latin typeface="Calibri"/>
                <a:cs typeface="Calibri"/>
              </a:rPr>
              <a:t>d’autres</a:t>
            </a:r>
            <a:r>
              <a:rPr sz="2000" spc="-135" dirty="0">
                <a:solidFill>
                  <a:srgbClr val="404040"/>
                </a:solidFill>
                <a:latin typeface="Calibri"/>
                <a:cs typeface="Calibri"/>
              </a:rPr>
              <a:t> </a:t>
            </a:r>
            <a:r>
              <a:rPr sz="2000" spc="15" dirty="0">
                <a:solidFill>
                  <a:srgbClr val="404040"/>
                </a:solidFill>
                <a:latin typeface="Calibri"/>
                <a:cs typeface="Calibri"/>
              </a:rPr>
              <a:t>instances</a:t>
            </a:r>
            <a:r>
              <a:rPr sz="2000" spc="-130" dirty="0">
                <a:solidFill>
                  <a:srgbClr val="404040"/>
                </a:solidFill>
                <a:latin typeface="Calibri"/>
                <a:cs typeface="Calibri"/>
              </a:rPr>
              <a:t> </a:t>
            </a:r>
            <a:r>
              <a:rPr sz="2000" spc="20" dirty="0">
                <a:solidFill>
                  <a:srgbClr val="404040"/>
                </a:solidFill>
                <a:latin typeface="Calibri"/>
                <a:cs typeface="Calibri"/>
              </a:rPr>
              <a:t>de</a:t>
            </a:r>
            <a:r>
              <a:rPr sz="2000" spc="-145" dirty="0">
                <a:solidFill>
                  <a:srgbClr val="404040"/>
                </a:solidFill>
                <a:latin typeface="Calibri"/>
                <a:cs typeface="Calibri"/>
              </a:rPr>
              <a:t> </a:t>
            </a:r>
            <a:r>
              <a:rPr sz="2000" spc="20" dirty="0">
                <a:solidFill>
                  <a:srgbClr val="404040"/>
                </a:solidFill>
                <a:latin typeface="Calibri"/>
                <a:cs typeface="Calibri"/>
              </a:rPr>
              <a:t>la</a:t>
            </a:r>
            <a:r>
              <a:rPr sz="2000" spc="-110" dirty="0">
                <a:solidFill>
                  <a:srgbClr val="404040"/>
                </a:solidFill>
                <a:latin typeface="Calibri"/>
                <a:cs typeface="Calibri"/>
              </a:rPr>
              <a:t> </a:t>
            </a:r>
            <a:r>
              <a:rPr sz="2000" dirty="0">
                <a:solidFill>
                  <a:srgbClr val="404040"/>
                </a:solidFill>
                <a:latin typeface="Calibri"/>
                <a:cs typeface="Calibri"/>
              </a:rPr>
              <a:t>même</a:t>
            </a:r>
            <a:r>
              <a:rPr sz="2000" spc="55" dirty="0">
                <a:solidFill>
                  <a:srgbClr val="404040"/>
                </a:solidFill>
                <a:latin typeface="Calibri"/>
                <a:cs typeface="Calibri"/>
              </a:rPr>
              <a:t> </a:t>
            </a:r>
            <a:r>
              <a:rPr sz="2000" spc="5" dirty="0">
                <a:solidFill>
                  <a:srgbClr val="404040"/>
                </a:solidFill>
                <a:latin typeface="Calibri"/>
                <a:cs typeface="Calibri"/>
              </a:rPr>
              <a:t>classe.</a:t>
            </a:r>
            <a:endParaRPr sz="2000">
              <a:latin typeface="Calibri"/>
              <a:cs typeface="Calibri"/>
            </a:endParaRPr>
          </a:p>
        </p:txBody>
      </p:sp>
      <p:sp>
        <p:nvSpPr>
          <p:cNvPr id="4" name="object 4"/>
          <p:cNvSpPr txBox="1"/>
          <p:nvPr/>
        </p:nvSpPr>
        <p:spPr>
          <a:xfrm>
            <a:off x="1084580" y="4267200"/>
            <a:ext cx="9450070" cy="939800"/>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sz="2000" spc="10" dirty="0">
                <a:solidFill>
                  <a:srgbClr val="404040"/>
                </a:solidFill>
                <a:latin typeface="Calibri"/>
                <a:cs typeface="Calibri"/>
              </a:rPr>
              <a:t>Dans</a:t>
            </a:r>
            <a:r>
              <a:rPr sz="2000" spc="-35" dirty="0">
                <a:solidFill>
                  <a:srgbClr val="404040"/>
                </a:solidFill>
                <a:latin typeface="Calibri"/>
                <a:cs typeface="Calibri"/>
              </a:rPr>
              <a:t> </a:t>
            </a:r>
            <a:r>
              <a:rPr sz="2000" spc="-20" dirty="0">
                <a:solidFill>
                  <a:srgbClr val="404040"/>
                </a:solidFill>
                <a:latin typeface="Calibri"/>
                <a:cs typeface="Calibri"/>
              </a:rPr>
              <a:t>cet </a:t>
            </a:r>
            <a:r>
              <a:rPr sz="2000" dirty="0">
                <a:solidFill>
                  <a:srgbClr val="404040"/>
                </a:solidFill>
                <a:latin typeface="Calibri"/>
                <a:cs typeface="Calibri"/>
              </a:rPr>
              <a:t>exemple,</a:t>
            </a:r>
            <a:r>
              <a:rPr sz="2000" spc="-50" dirty="0">
                <a:solidFill>
                  <a:srgbClr val="404040"/>
                </a:solidFill>
                <a:latin typeface="Calibri"/>
                <a:cs typeface="Calibri"/>
              </a:rPr>
              <a:t> </a:t>
            </a:r>
            <a:r>
              <a:rPr sz="2000" spc="20" dirty="0">
                <a:solidFill>
                  <a:srgbClr val="404040"/>
                </a:solidFill>
                <a:latin typeface="Calibri"/>
                <a:cs typeface="Calibri"/>
              </a:rPr>
              <a:t>un</a:t>
            </a:r>
            <a:r>
              <a:rPr sz="2000" spc="-105" dirty="0">
                <a:solidFill>
                  <a:srgbClr val="404040"/>
                </a:solidFill>
                <a:latin typeface="Calibri"/>
                <a:cs typeface="Calibri"/>
              </a:rPr>
              <a:t> </a:t>
            </a:r>
            <a:r>
              <a:rPr sz="2000" spc="15" dirty="0">
                <a:solidFill>
                  <a:srgbClr val="404040"/>
                </a:solidFill>
                <a:latin typeface="Calibri"/>
                <a:cs typeface="Calibri"/>
              </a:rPr>
              <a:t>employé</a:t>
            </a:r>
            <a:r>
              <a:rPr sz="2000" spc="-145" dirty="0">
                <a:solidFill>
                  <a:srgbClr val="404040"/>
                </a:solidFill>
                <a:latin typeface="Calibri"/>
                <a:cs typeface="Calibri"/>
              </a:rPr>
              <a:t> </a:t>
            </a:r>
            <a:r>
              <a:rPr sz="2000" spc="20" dirty="0">
                <a:solidFill>
                  <a:srgbClr val="404040"/>
                </a:solidFill>
                <a:latin typeface="Calibri"/>
                <a:cs typeface="Calibri"/>
              </a:rPr>
              <a:t>peut</a:t>
            </a:r>
            <a:r>
              <a:rPr sz="2000" spc="-125" dirty="0">
                <a:solidFill>
                  <a:srgbClr val="404040"/>
                </a:solidFill>
                <a:latin typeface="Calibri"/>
                <a:cs typeface="Calibri"/>
              </a:rPr>
              <a:t> </a:t>
            </a:r>
            <a:r>
              <a:rPr sz="2000" spc="5" dirty="0">
                <a:solidFill>
                  <a:srgbClr val="404040"/>
                </a:solidFill>
                <a:latin typeface="Calibri"/>
                <a:cs typeface="Calibri"/>
              </a:rPr>
              <a:t>être</a:t>
            </a:r>
            <a:r>
              <a:rPr sz="2000" spc="-45" dirty="0">
                <a:solidFill>
                  <a:srgbClr val="404040"/>
                </a:solidFill>
                <a:latin typeface="Calibri"/>
                <a:cs typeface="Calibri"/>
              </a:rPr>
              <a:t> </a:t>
            </a:r>
            <a:r>
              <a:rPr sz="2000" spc="20" dirty="0">
                <a:solidFill>
                  <a:srgbClr val="404040"/>
                </a:solidFill>
                <a:latin typeface="Calibri"/>
                <a:cs typeface="Calibri"/>
              </a:rPr>
              <a:t>le</a:t>
            </a:r>
            <a:r>
              <a:rPr sz="2000" spc="-45" dirty="0">
                <a:solidFill>
                  <a:srgbClr val="404040"/>
                </a:solidFill>
                <a:latin typeface="Calibri"/>
                <a:cs typeface="Calibri"/>
              </a:rPr>
              <a:t> </a:t>
            </a:r>
            <a:r>
              <a:rPr sz="2000" spc="10" dirty="0">
                <a:solidFill>
                  <a:srgbClr val="404040"/>
                </a:solidFill>
                <a:latin typeface="Calibri"/>
                <a:cs typeface="Calibri"/>
              </a:rPr>
              <a:t>manager</a:t>
            </a:r>
            <a:r>
              <a:rPr sz="2000" spc="-45" dirty="0">
                <a:solidFill>
                  <a:srgbClr val="404040"/>
                </a:solidFill>
                <a:latin typeface="Calibri"/>
                <a:cs typeface="Calibri"/>
              </a:rPr>
              <a:t> </a:t>
            </a:r>
            <a:r>
              <a:rPr sz="2000" spc="20" dirty="0">
                <a:solidFill>
                  <a:srgbClr val="404040"/>
                </a:solidFill>
                <a:latin typeface="Calibri"/>
                <a:cs typeface="Calibri"/>
              </a:rPr>
              <a:t>de</a:t>
            </a:r>
            <a:r>
              <a:rPr sz="2000" spc="-50" dirty="0">
                <a:solidFill>
                  <a:srgbClr val="404040"/>
                </a:solidFill>
                <a:latin typeface="Calibri"/>
                <a:cs typeface="Calibri"/>
              </a:rPr>
              <a:t> </a:t>
            </a:r>
            <a:r>
              <a:rPr sz="2000" dirty="0">
                <a:solidFill>
                  <a:srgbClr val="404040"/>
                </a:solidFill>
                <a:latin typeface="Calibri"/>
                <a:cs typeface="Calibri"/>
              </a:rPr>
              <a:t>0</a:t>
            </a:r>
            <a:r>
              <a:rPr sz="2000" spc="-65" dirty="0">
                <a:solidFill>
                  <a:srgbClr val="404040"/>
                </a:solidFill>
                <a:latin typeface="Calibri"/>
                <a:cs typeface="Calibri"/>
              </a:rPr>
              <a:t> </a:t>
            </a:r>
            <a:r>
              <a:rPr sz="2000" spc="20" dirty="0" err="1">
                <a:solidFill>
                  <a:srgbClr val="404040"/>
                </a:solidFill>
                <a:latin typeface="Calibri"/>
                <a:cs typeface="Calibri"/>
              </a:rPr>
              <a:t>ou</a:t>
            </a:r>
            <a:r>
              <a:rPr sz="2000" dirty="0">
                <a:solidFill>
                  <a:srgbClr val="404040"/>
                </a:solidFill>
                <a:latin typeface="Calibri"/>
                <a:cs typeface="Calibri"/>
              </a:rPr>
              <a:t> </a:t>
            </a:r>
            <a:r>
              <a:rPr sz="2000" spc="20" dirty="0" err="1">
                <a:solidFill>
                  <a:srgbClr val="404040"/>
                </a:solidFill>
                <a:latin typeface="Calibri"/>
                <a:cs typeface="Calibri"/>
              </a:rPr>
              <a:t>plusieurs</a:t>
            </a:r>
            <a:r>
              <a:rPr sz="2000" spc="-135" dirty="0">
                <a:solidFill>
                  <a:srgbClr val="404040"/>
                </a:solidFill>
                <a:latin typeface="Calibri"/>
                <a:cs typeface="Calibri"/>
              </a:rPr>
              <a:t> </a:t>
            </a:r>
            <a:r>
              <a:rPr sz="2000" spc="15" dirty="0">
                <a:solidFill>
                  <a:srgbClr val="404040"/>
                </a:solidFill>
                <a:latin typeface="Calibri"/>
                <a:cs typeface="Calibri"/>
              </a:rPr>
              <a:t>autres</a:t>
            </a:r>
            <a:r>
              <a:rPr sz="2000" spc="-130" dirty="0">
                <a:solidFill>
                  <a:srgbClr val="404040"/>
                </a:solidFill>
                <a:latin typeface="Calibri"/>
                <a:cs typeface="Calibri"/>
              </a:rPr>
              <a:t> </a:t>
            </a:r>
            <a:r>
              <a:rPr sz="2000" spc="15" dirty="0">
                <a:solidFill>
                  <a:srgbClr val="404040"/>
                </a:solidFill>
                <a:latin typeface="Calibri"/>
                <a:cs typeface="Calibri"/>
              </a:rPr>
              <a:t>employés.</a:t>
            </a:r>
            <a:endParaRPr sz="2000" dirty="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25" dirty="0">
                <a:solidFill>
                  <a:srgbClr val="404040"/>
                </a:solidFill>
                <a:latin typeface="Calibri"/>
                <a:cs typeface="Calibri"/>
              </a:rPr>
              <a:t>Tout</a:t>
            </a:r>
            <a:r>
              <a:rPr sz="2000" spc="-125" dirty="0">
                <a:solidFill>
                  <a:srgbClr val="404040"/>
                </a:solidFill>
                <a:latin typeface="Calibri"/>
                <a:cs typeface="Calibri"/>
              </a:rPr>
              <a:t> </a:t>
            </a:r>
            <a:r>
              <a:rPr sz="2000" spc="15" dirty="0">
                <a:solidFill>
                  <a:srgbClr val="404040"/>
                </a:solidFill>
                <a:latin typeface="Calibri"/>
                <a:cs typeface="Calibri"/>
              </a:rPr>
              <a:t>employé</a:t>
            </a:r>
            <a:r>
              <a:rPr sz="2000" spc="-150" dirty="0">
                <a:solidFill>
                  <a:srgbClr val="404040"/>
                </a:solidFill>
                <a:latin typeface="Calibri"/>
                <a:cs typeface="Calibri"/>
              </a:rPr>
              <a:t> </a:t>
            </a:r>
            <a:r>
              <a:rPr sz="2000" spc="5" dirty="0">
                <a:solidFill>
                  <a:srgbClr val="404040"/>
                </a:solidFill>
                <a:latin typeface="Calibri"/>
                <a:cs typeface="Calibri"/>
              </a:rPr>
              <a:t>est</a:t>
            </a:r>
            <a:r>
              <a:rPr sz="2000" spc="-20" dirty="0">
                <a:solidFill>
                  <a:srgbClr val="404040"/>
                </a:solidFill>
                <a:latin typeface="Calibri"/>
                <a:cs typeface="Calibri"/>
              </a:rPr>
              <a:t> </a:t>
            </a:r>
            <a:r>
              <a:rPr sz="2000" spc="-15" dirty="0">
                <a:solidFill>
                  <a:srgbClr val="404040"/>
                </a:solidFill>
                <a:latin typeface="Calibri"/>
                <a:cs typeface="Calibri"/>
              </a:rPr>
              <a:t>géré</a:t>
            </a:r>
            <a:r>
              <a:rPr sz="2000" spc="-50" dirty="0">
                <a:solidFill>
                  <a:srgbClr val="404040"/>
                </a:solidFill>
                <a:latin typeface="Calibri"/>
                <a:cs typeface="Calibri"/>
              </a:rPr>
              <a:t> </a:t>
            </a:r>
            <a:r>
              <a:rPr sz="2000" spc="25" dirty="0">
                <a:solidFill>
                  <a:srgbClr val="404040"/>
                </a:solidFill>
                <a:latin typeface="Calibri"/>
                <a:cs typeface="Calibri"/>
              </a:rPr>
              <a:t>par</a:t>
            </a:r>
            <a:r>
              <a:rPr sz="2000" spc="-45" dirty="0">
                <a:solidFill>
                  <a:srgbClr val="404040"/>
                </a:solidFill>
                <a:latin typeface="Calibri"/>
                <a:cs typeface="Calibri"/>
              </a:rPr>
              <a:t> </a:t>
            </a:r>
            <a:r>
              <a:rPr sz="2000" spc="5" dirty="0">
                <a:solidFill>
                  <a:srgbClr val="404040"/>
                </a:solidFill>
                <a:latin typeface="Calibri"/>
                <a:cs typeface="Calibri"/>
              </a:rPr>
              <a:t>exactement</a:t>
            </a:r>
            <a:r>
              <a:rPr sz="2000" spc="-125" dirty="0">
                <a:solidFill>
                  <a:srgbClr val="404040"/>
                </a:solidFill>
                <a:latin typeface="Calibri"/>
                <a:cs typeface="Calibri"/>
              </a:rPr>
              <a:t> </a:t>
            </a:r>
            <a:r>
              <a:rPr sz="2000" dirty="0">
                <a:solidFill>
                  <a:srgbClr val="404040"/>
                </a:solidFill>
                <a:latin typeface="Calibri"/>
                <a:cs typeface="Calibri"/>
              </a:rPr>
              <a:t>1</a:t>
            </a:r>
            <a:r>
              <a:rPr sz="2000" spc="-65" dirty="0">
                <a:solidFill>
                  <a:srgbClr val="404040"/>
                </a:solidFill>
                <a:latin typeface="Calibri"/>
                <a:cs typeface="Calibri"/>
              </a:rPr>
              <a:t> </a:t>
            </a:r>
            <a:r>
              <a:rPr sz="2000" spc="10" dirty="0">
                <a:solidFill>
                  <a:srgbClr val="404040"/>
                </a:solidFill>
                <a:latin typeface="Calibri"/>
                <a:cs typeface="Calibri"/>
              </a:rPr>
              <a:t>manager</a:t>
            </a:r>
            <a:r>
              <a:rPr sz="2000" spc="-150" dirty="0">
                <a:solidFill>
                  <a:srgbClr val="404040"/>
                </a:solidFill>
                <a:latin typeface="Calibri"/>
                <a:cs typeface="Calibri"/>
              </a:rPr>
              <a:t> </a:t>
            </a:r>
            <a:r>
              <a:rPr sz="2000" spc="20" dirty="0">
                <a:solidFill>
                  <a:srgbClr val="404040"/>
                </a:solidFill>
                <a:latin typeface="Calibri"/>
                <a:cs typeface="Calibri"/>
              </a:rPr>
              <a:t>(qui</a:t>
            </a:r>
            <a:r>
              <a:rPr sz="2000" spc="-15" dirty="0">
                <a:solidFill>
                  <a:srgbClr val="404040"/>
                </a:solidFill>
                <a:latin typeface="Calibri"/>
                <a:cs typeface="Calibri"/>
              </a:rPr>
              <a:t> </a:t>
            </a:r>
            <a:r>
              <a:rPr sz="2000" spc="5" dirty="0">
                <a:solidFill>
                  <a:srgbClr val="404040"/>
                </a:solidFill>
                <a:latin typeface="Calibri"/>
                <a:cs typeface="Calibri"/>
              </a:rPr>
              <a:t>est</a:t>
            </a:r>
            <a:r>
              <a:rPr sz="2000" spc="-120" dirty="0">
                <a:solidFill>
                  <a:srgbClr val="404040"/>
                </a:solidFill>
                <a:latin typeface="Calibri"/>
                <a:cs typeface="Calibri"/>
              </a:rPr>
              <a:t> </a:t>
            </a:r>
            <a:r>
              <a:rPr sz="2000" spc="20" dirty="0">
                <a:solidFill>
                  <a:srgbClr val="404040"/>
                </a:solidFill>
                <a:latin typeface="Calibri"/>
                <a:cs typeface="Calibri"/>
              </a:rPr>
              <a:t>aussi</a:t>
            </a:r>
            <a:r>
              <a:rPr sz="2000" spc="-114" dirty="0">
                <a:solidFill>
                  <a:srgbClr val="404040"/>
                </a:solidFill>
                <a:latin typeface="Calibri"/>
                <a:cs typeface="Calibri"/>
              </a:rPr>
              <a:t> </a:t>
            </a:r>
            <a:r>
              <a:rPr sz="2000" spc="20" dirty="0">
                <a:solidFill>
                  <a:srgbClr val="404040"/>
                </a:solidFill>
                <a:latin typeface="Calibri"/>
                <a:cs typeface="Calibri"/>
              </a:rPr>
              <a:t>un</a:t>
            </a:r>
            <a:r>
              <a:rPr sz="2000" dirty="0">
                <a:solidFill>
                  <a:srgbClr val="404040"/>
                </a:solidFill>
                <a:latin typeface="Calibri"/>
                <a:cs typeface="Calibri"/>
              </a:rPr>
              <a:t> </a:t>
            </a:r>
            <a:r>
              <a:rPr sz="2000" spc="15" dirty="0">
                <a:solidFill>
                  <a:srgbClr val="404040"/>
                </a:solidFill>
                <a:latin typeface="Calibri"/>
                <a:cs typeface="Calibri"/>
              </a:rPr>
              <a:t>employé)</a:t>
            </a:r>
            <a:endParaRPr sz="2000" dirty="0">
              <a:latin typeface="Calibri"/>
              <a:cs typeface="Calibri"/>
            </a:endParaRPr>
          </a:p>
        </p:txBody>
      </p:sp>
      <p:pic>
        <p:nvPicPr>
          <p:cNvPr id="5" name="object 5"/>
          <p:cNvPicPr/>
          <p:nvPr/>
        </p:nvPicPr>
        <p:blipFill>
          <a:blip r:embed="rId2" cstate="print"/>
          <a:stretch>
            <a:fillRect/>
          </a:stretch>
        </p:blipFill>
        <p:spPr>
          <a:xfrm>
            <a:off x="5277484" y="2649003"/>
            <a:ext cx="2400300" cy="1371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249035"/>
            <a:ext cx="9875520" cy="1992630"/>
          </a:xfrm>
          <a:prstGeom prst="rect">
            <a:avLst/>
          </a:prstGeom>
        </p:spPr>
        <p:txBody>
          <a:bodyPr vert="horz" wrap="square" lIns="0" tIns="12700" rIns="0" bIns="0" rtlCol="0">
            <a:spAutoFit/>
          </a:bodyPr>
          <a:lstStyle/>
          <a:p>
            <a:pPr marL="12700">
              <a:lnSpc>
                <a:spcPct val="100000"/>
              </a:lnSpc>
              <a:spcBef>
                <a:spcPts val="100"/>
              </a:spcBef>
              <a:buSzPct val="97916"/>
              <a:tabLst>
                <a:tab pos="558800" algn="l"/>
              </a:tabLst>
            </a:pPr>
            <a:r>
              <a:rPr sz="4800" spc="-80" dirty="0">
                <a:solidFill>
                  <a:srgbClr val="404040"/>
                </a:solidFill>
                <a:latin typeface="Calibri Light"/>
                <a:cs typeface="Calibri Light"/>
              </a:rPr>
              <a:t>Associations</a:t>
            </a:r>
            <a:r>
              <a:rPr sz="4800" spc="229" dirty="0">
                <a:solidFill>
                  <a:srgbClr val="404040"/>
                </a:solidFill>
                <a:latin typeface="Calibri Light"/>
                <a:cs typeface="Calibri Light"/>
              </a:rPr>
              <a:t> </a:t>
            </a:r>
            <a:r>
              <a:rPr sz="4800" spc="-85" dirty="0">
                <a:solidFill>
                  <a:srgbClr val="404040"/>
                </a:solidFill>
                <a:latin typeface="Calibri Light"/>
                <a:cs typeface="Calibri Light"/>
              </a:rPr>
              <a:t>bidirectionnelles</a:t>
            </a:r>
            <a:endParaRPr sz="4800" dirty="0">
              <a:latin typeface="Calibri Light"/>
              <a:cs typeface="Calibri Light"/>
            </a:endParaRPr>
          </a:p>
          <a:p>
            <a:pPr marL="328295" lvl="1" indent="-204470">
              <a:lnSpc>
                <a:spcPct val="100000"/>
              </a:lnSpc>
              <a:spcBef>
                <a:spcPts val="2465"/>
              </a:spcBef>
              <a:buClr>
                <a:srgbClr val="E48312"/>
              </a:buClr>
              <a:buSzPct val="94444"/>
              <a:buFont typeface="Wingdings"/>
              <a:buChar char=""/>
              <a:tabLst>
                <a:tab pos="328930" algn="l"/>
              </a:tabLst>
            </a:pPr>
            <a:r>
              <a:rPr sz="1800" spc="-10" dirty="0">
                <a:solidFill>
                  <a:srgbClr val="404040"/>
                </a:solidFill>
                <a:latin typeface="Calibri"/>
                <a:cs typeface="Calibri"/>
              </a:rPr>
              <a:t>Cardinalité</a:t>
            </a:r>
            <a:r>
              <a:rPr sz="1800" spc="-5" dirty="0">
                <a:solidFill>
                  <a:srgbClr val="404040"/>
                </a:solidFill>
                <a:latin typeface="Calibri"/>
                <a:cs typeface="Calibri"/>
              </a:rPr>
              <a:t> </a:t>
            </a:r>
            <a:r>
              <a:rPr sz="1800" spc="-20" dirty="0">
                <a:solidFill>
                  <a:srgbClr val="404040"/>
                </a:solidFill>
                <a:latin typeface="Calibri"/>
                <a:cs typeface="Calibri"/>
              </a:rPr>
              <a:t>renseignée</a:t>
            </a:r>
            <a:r>
              <a:rPr sz="1800" spc="195" dirty="0">
                <a:solidFill>
                  <a:srgbClr val="404040"/>
                </a:solidFill>
                <a:latin typeface="Calibri"/>
                <a:cs typeface="Calibri"/>
              </a:rPr>
              <a:t> </a:t>
            </a:r>
            <a:r>
              <a:rPr sz="1800" spc="-25" dirty="0">
                <a:solidFill>
                  <a:srgbClr val="404040"/>
                </a:solidFill>
                <a:latin typeface="Calibri"/>
                <a:cs typeface="Calibri"/>
              </a:rPr>
              <a:t>de</a:t>
            </a:r>
            <a:r>
              <a:rPr sz="1800" spc="95" dirty="0">
                <a:solidFill>
                  <a:srgbClr val="404040"/>
                </a:solidFill>
                <a:latin typeface="Calibri"/>
                <a:cs typeface="Calibri"/>
              </a:rPr>
              <a:t> </a:t>
            </a:r>
            <a:r>
              <a:rPr sz="1800" spc="-15" dirty="0">
                <a:solidFill>
                  <a:srgbClr val="404040"/>
                </a:solidFill>
                <a:latin typeface="Calibri"/>
                <a:cs typeface="Calibri"/>
              </a:rPr>
              <a:t>chaque</a:t>
            </a:r>
            <a:r>
              <a:rPr sz="1800" spc="-5" dirty="0">
                <a:solidFill>
                  <a:srgbClr val="404040"/>
                </a:solidFill>
                <a:latin typeface="Calibri"/>
                <a:cs typeface="Calibri"/>
              </a:rPr>
              <a:t> côté</a:t>
            </a:r>
            <a:r>
              <a:rPr sz="1800" dirty="0">
                <a:solidFill>
                  <a:srgbClr val="404040"/>
                </a:solidFill>
                <a:latin typeface="Calibri"/>
                <a:cs typeface="Calibri"/>
              </a:rPr>
              <a:t> </a:t>
            </a:r>
            <a:r>
              <a:rPr sz="1800" spc="-25" dirty="0">
                <a:solidFill>
                  <a:srgbClr val="404040"/>
                </a:solidFill>
                <a:latin typeface="Calibri"/>
                <a:cs typeface="Calibri"/>
              </a:rPr>
              <a:t>de</a:t>
            </a:r>
            <a:r>
              <a:rPr sz="1800" spc="95" dirty="0">
                <a:solidFill>
                  <a:srgbClr val="404040"/>
                </a:solidFill>
                <a:latin typeface="Calibri"/>
                <a:cs typeface="Calibri"/>
              </a:rPr>
              <a:t> </a:t>
            </a:r>
            <a:r>
              <a:rPr sz="1800" spc="-20" dirty="0">
                <a:solidFill>
                  <a:srgbClr val="404040"/>
                </a:solidFill>
                <a:latin typeface="Calibri"/>
                <a:cs typeface="Calibri"/>
              </a:rPr>
              <a:t>l’association</a:t>
            </a:r>
            <a:endParaRPr sz="1800" dirty="0">
              <a:latin typeface="Calibri"/>
              <a:cs typeface="Calibri"/>
            </a:endParaRPr>
          </a:p>
          <a:p>
            <a:pPr marL="328295" lvl="1" indent="-204470">
              <a:lnSpc>
                <a:spcPct val="100000"/>
              </a:lnSpc>
              <a:spcBef>
                <a:spcPts val="340"/>
              </a:spcBef>
              <a:buClr>
                <a:srgbClr val="E48312"/>
              </a:buClr>
              <a:buSzPct val="94444"/>
              <a:buFont typeface="Wingdings"/>
              <a:buChar char=""/>
              <a:tabLst>
                <a:tab pos="328930" algn="l"/>
              </a:tabLst>
            </a:pPr>
            <a:r>
              <a:rPr sz="1800" spc="-25" dirty="0">
                <a:solidFill>
                  <a:srgbClr val="404040"/>
                </a:solidFill>
                <a:latin typeface="Calibri"/>
                <a:cs typeface="Calibri"/>
              </a:rPr>
              <a:t>Comportement</a:t>
            </a:r>
            <a:r>
              <a:rPr sz="1800" spc="165" dirty="0">
                <a:solidFill>
                  <a:srgbClr val="404040"/>
                </a:solidFill>
                <a:latin typeface="Calibri"/>
                <a:cs typeface="Calibri"/>
              </a:rPr>
              <a:t> </a:t>
            </a:r>
            <a:r>
              <a:rPr sz="1800" spc="-5" dirty="0">
                <a:solidFill>
                  <a:srgbClr val="404040"/>
                </a:solidFill>
                <a:latin typeface="Calibri"/>
                <a:cs typeface="Calibri"/>
              </a:rPr>
              <a:t>par</a:t>
            </a:r>
            <a:r>
              <a:rPr sz="1800" spc="45" dirty="0">
                <a:solidFill>
                  <a:srgbClr val="404040"/>
                </a:solidFill>
                <a:latin typeface="Calibri"/>
                <a:cs typeface="Calibri"/>
              </a:rPr>
              <a:t> </a:t>
            </a:r>
            <a:r>
              <a:rPr sz="1800" spc="-20" dirty="0">
                <a:solidFill>
                  <a:srgbClr val="404040"/>
                </a:solidFill>
                <a:latin typeface="Calibri"/>
                <a:cs typeface="Calibri"/>
              </a:rPr>
              <a:t>défaut</a:t>
            </a:r>
            <a:endParaRPr sz="1800" dirty="0">
              <a:latin typeface="Calibri"/>
              <a:cs typeface="Calibri"/>
            </a:endParaRPr>
          </a:p>
          <a:p>
            <a:pPr marL="328295" lvl="1" indent="-204470">
              <a:lnSpc>
                <a:spcPct val="100000"/>
              </a:lnSpc>
              <a:spcBef>
                <a:spcPts val="440"/>
              </a:spcBef>
              <a:buClr>
                <a:srgbClr val="E48312"/>
              </a:buClr>
              <a:buSzPct val="94444"/>
              <a:buFont typeface="Wingdings"/>
              <a:buChar char=""/>
              <a:tabLst>
                <a:tab pos="328930" algn="l"/>
              </a:tabLst>
            </a:pPr>
            <a:r>
              <a:rPr sz="1800" spc="-15" dirty="0">
                <a:solidFill>
                  <a:srgbClr val="404040"/>
                </a:solidFill>
                <a:latin typeface="Calibri"/>
                <a:cs typeface="Calibri"/>
              </a:rPr>
              <a:t>Chaque</a:t>
            </a:r>
            <a:r>
              <a:rPr sz="1800" spc="100" dirty="0">
                <a:solidFill>
                  <a:srgbClr val="404040"/>
                </a:solidFill>
                <a:latin typeface="Calibri"/>
                <a:cs typeface="Calibri"/>
              </a:rPr>
              <a:t> </a:t>
            </a:r>
            <a:r>
              <a:rPr sz="1800" spc="5" dirty="0">
                <a:solidFill>
                  <a:srgbClr val="404040"/>
                </a:solidFill>
                <a:latin typeface="Calibri"/>
                <a:cs typeface="Calibri"/>
              </a:rPr>
              <a:t>classe</a:t>
            </a:r>
            <a:r>
              <a:rPr sz="1800" spc="-100" dirty="0">
                <a:solidFill>
                  <a:srgbClr val="404040"/>
                </a:solidFill>
                <a:latin typeface="Calibri"/>
                <a:cs typeface="Calibri"/>
              </a:rPr>
              <a:t> </a:t>
            </a:r>
            <a:r>
              <a:rPr sz="1800" spc="-10" dirty="0">
                <a:solidFill>
                  <a:srgbClr val="404040"/>
                </a:solidFill>
                <a:latin typeface="Calibri"/>
                <a:cs typeface="Calibri"/>
              </a:rPr>
              <a:t>participant</a:t>
            </a:r>
            <a:r>
              <a:rPr sz="1800" spc="100" dirty="0">
                <a:solidFill>
                  <a:srgbClr val="404040"/>
                </a:solidFill>
                <a:latin typeface="Calibri"/>
                <a:cs typeface="Calibri"/>
              </a:rPr>
              <a:t> </a:t>
            </a:r>
            <a:r>
              <a:rPr sz="1800" dirty="0">
                <a:solidFill>
                  <a:srgbClr val="404040"/>
                </a:solidFill>
                <a:latin typeface="Calibri"/>
                <a:cs typeface="Calibri"/>
              </a:rPr>
              <a:t>à</a:t>
            </a:r>
            <a:r>
              <a:rPr sz="1800" spc="35" dirty="0">
                <a:solidFill>
                  <a:srgbClr val="404040"/>
                </a:solidFill>
                <a:latin typeface="Calibri"/>
                <a:cs typeface="Calibri"/>
              </a:rPr>
              <a:t> </a:t>
            </a:r>
            <a:r>
              <a:rPr sz="1800" spc="-20" dirty="0">
                <a:solidFill>
                  <a:srgbClr val="404040"/>
                </a:solidFill>
                <a:latin typeface="Calibri"/>
                <a:cs typeface="Calibri"/>
              </a:rPr>
              <a:t>l’association</a:t>
            </a:r>
            <a:r>
              <a:rPr sz="1800" spc="55" dirty="0">
                <a:solidFill>
                  <a:srgbClr val="404040"/>
                </a:solidFill>
                <a:latin typeface="Calibri"/>
                <a:cs typeface="Calibri"/>
              </a:rPr>
              <a:t> </a:t>
            </a:r>
            <a:r>
              <a:rPr sz="1800" spc="-15" dirty="0">
                <a:solidFill>
                  <a:srgbClr val="404040"/>
                </a:solidFill>
                <a:latin typeface="Calibri"/>
                <a:cs typeface="Calibri"/>
              </a:rPr>
              <a:t>connaît</a:t>
            </a:r>
            <a:r>
              <a:rPr sz="1800" spc="95" dirty="0">
                <a:solidFill>
                  <a:srgbClr val="404040"/>
                </a:solidFill>
                <a:latin typeface="Calibri"/>
                <a:cs typeface="Calibri"/>
              </a:rPr>
              <a:t> </a:t>
            </a:r>
            <a:r>
              <a:rPr sz="1800" spc="-10" dirty="0">
                <a:solidFill>
                  <a:srgbClr val="404040"/>
                </a:solidFill>
                <a:latin typeface="Calibri"/>
                <a:cs typeface="Calibri"/>
              </a:rPr>
              <a:t>le</a:t>
            </a:r>
            <a:r>
              <a:rPr sz="1800" spc="5" dirty="0">
                <a:solidFill>
                  <a:srgbClr val="404040"/>
                </a:solidFill>
                <a:latin typeface="Calibri"/>
                <a:cs typeface="Calibri"/>
              </a:rPr>
              <a:t> </a:t>
            </a:r>
            <a:r>
              <a:rPr sz="1800" spc="-40" dirty="0">
                <a:solidFill>
                  <a:srgbClr val="404040"/>
                </a:solidFill>
                <a:latin typeface="Calibri"/>
                <a:cs typeface="Calibri"/>
              </a:rPr>
              <a:t>nombre</a:t>
            </a:r>
            <a:r>
              <a:rPr sz="1800" spc="200" dirty="0">
                <a:solidFill>
                  <a:srgbClr val="404040"/>
                </a:solidFill>
                <a:latin typeface="Calibri"/>
                <a:cs typeface="Calibri"/>
              </a:rPr>
              <a:t> </a:t>
            </a:r>
            <a:r>
              <a:rPr sz="1800" spc="-15" dirty="0">
                <a:solidFill>
                  <a:srgbClr val="404040"/>
                </a:solidFill>
                <a:latin typeface="Calibri"/>
                <a:cs typeface="Calibri"/>
              </a:rPr>
              <a:t>d’instances</a:t>
            </a:r>
            <a:r>
              <a:rPr sz="1800" spc="95" dirty="0">
                <a:solidFill>
                  <a:srgbClr val="404040"/>
                </a:solidFill>
                <a:latin typeface="Calibri"/>
                <a:cs typeface="Calibri"/>
              </a:rPr>
              <a:t> </a:t>
            </a:r>
            <a:r>
              <a:rPr sz="1800" spc="-35" dirty="0">
                <a:solidFill>
                  <a:srgbClr val="404040"/>
                </a:solidFill>
                <a:latin typeface="Calibri"/>
                <a:cs typeface="Calibri"/>
              </a:rPr>
              <a:t>que</a:t>
            </a:r>
            <a:r>
              <a:rPr sz="1800" spc="105" dirty="0">
                <a:solidFill>
                  <a:srgbClr val="404040"/>
                </a:solidFill>
                <a:latin typeface="Calibri"/>
                <a:cs typeface="Calibri"/>
              </a:rPr>
              <a:t> </a:t>
            </a:r>
            <a:r>
              <a:rPr sz="1800" spc="-25" dirty="0">
                <a:solidFill>
                  <a:srgbClr val="404040"/>
                </a:solidFill>
                <a:latin typeface="Calibri"/>
                <a:cs typeface="Calibri"/>
              </a:rPr>
              <a:t>peut</a:t>
            </a:r>
            <a:r>
              <a:rPr sz="1800" spc="95" dirty="0">
                <a:solidFill>
                  <a:srgbClr val="404040"/>
                </a:solidFill>
                <a:latin typeface="Calibri"/>
                <a:cs typeface="Calibri"/>
              </a:rPr>
              <a:t> </a:t>
            </a:r>
            <a:r>
              <a:rPr sz="1800" spc="-20" dirty="0">
                <a:solidFill>
                  <a:srgbClr val="404040"/>
                </a:solidFill>
                <a:latin typeface="Calibri"/>
                <a:cs typeface="Calibri"/>
              </a:rPr>
              <a:t>contenir</a:t>
            </a:r>
            <a:r>
              <a:rPr sz="1800" spc="175" dirty="0">
                <a:solidFill>
                  <a:srgbClr val="404040"/>
                </a:solidFill>
                <a:latin typeface="Calibri"/>
                <a:cs typeface="Calibri"/>
              </a:rPr>
              <a:t> </a:t>
            </a:r>
            <a:r>
              <a:rPr sz="1800" spc="-35" dirty="0">
                <a:solidFill>
                  <a:srgbClr val="404040"/>
                </a:solidFill>
                <a:latin typeface="Calibri"/>
                <a:cs typeface="Calibri"/>
              </a:rPr>
              <a:t>l’autre</a:t>
            </a:r>
            <a:r>
              <a:rPr sz="1800" dirty="0">
                <a:solidFill>
                  <a:srgbClr val="404040"/>
                </a:solidFill>
                <a:latin typeface="Calibri"/>
                <a:cs typeface="Calibri"/>
              </a:rPr>
              <a:t> </a:t>
            </a:r>
            <a:r>
              <a:rPr sz="1800" spc="5" dirty="0">
                <a:solidFill>
                  <a:srgbClr val="404040"/>
                </a:solidFill>
                <a:latin typeface="Calibri"/>
                <a:cs typeface="Calibri"/>
              </a:rPr>
              <a:t>classe</a:t>
            </a:r>
            <a:endParaRPr sz="1800" dirty="0">
              <a:latin typeface="Calibri"/>
              <a:cs typeface="Calibri"/>
            </a:endParaRPr>
          </a:p>
        </p:txBody>
      </p:sp>
      <p:sp>
        <p:nvSpPr>
          <p:cNvPr id="3" name="object 3"/>
          <p:cNvSpPr txBox="1"/>
          <p:nvPr/>
        </p:nvSpPr>
        <p:spPr>
          <a:xfrm>
            <a:off x="1176019" y="5282363"/>
            <a:ext cx="5143500" cy="674544"/>
          </a:xfrm>
          <a:prstGeom prst="rect">
            <a:avLst/>
          </a:prstGeom>
        </p:spPr>
        <p:txBody>
          <a:bodyPr vert="horz" wrap="square" lIns="0" tIns="68580" rIns="0" bIns="0" rtlCol="0">
            <a:spAutoFit/>
          </a:bodyPr>
          <a:lstStyle/>
          <a:p>
            <a:pPr marL="216535" indent="-204470">
              <a:lnSpc>
                <a:spcPct val="100000"/>
              </a:lnSpc>
              <a:spcBef>
                <a:spcPts val="540"/>
              </a:spcBef>
              <a:buClr>
                <a:srgbClr val="E48312"/>
              </a:buClr>
              <a:buSzPct val="94444"/>
              <a:buFont typeface="Wingdings"/>
              <a:buChar char=""/>
              <a:tabLst>
                <a:tab pos="217170" algn="l"/>
              </a:tabLst>
            </a:pPr>
            <a:r>
              <a:rPr sz="1800" spc="20" dirty="0">
                <a:solidFill>
                  <a:srgbClr val="404040"/>
                </a:solidFill>
                <a:latin typeface="Calibri"/>
                <a:cs typeface="Calibri"/>
              </a:rPr>
              <a:t>Un</a:t>
            </a:r>
            <a:r>
              <a:rPr lang="fr-FR" sz="1800" spc="20" dirty="0">
                <a:solidFill>
                  <a:srgbClr val="404040"/>
                </a:solidFill>
                <a:latin typeface="Calibri"/>
                <a:cs typeface="Calibri"/>
              </a:rPr>
              <a:t> avion</a:t>
            </a:r>
            <a:r>
              <a:rPr sz="1800" spc="-60" dirty="0">
                <a:solidFill>
                  <a:srgbClr val="404040"/>
                </a:solidFill>
                <a:latin typeface="Calibri"/>
                <a:cs typeface="Calibri"/>
              </a:rPr>
              <a:t> </a:t>
            </a:r>
            <a:r>
              <a:rPr sz="1800" spc="-25" dirty="0" err="1">
                <a:solidFill>
                  <a:srgbClr val="404040"/>
                </a:solidFill>
                <a:latin typeface="Calibri"/>
                <a:cs typeface="Calibri"/>
              </a:rPr>
              <a:t>peut</a:t>
            </a:r>
            <a:r>
              <a:rPr sz="1800" spc="90" dirty="0">
                <a:solidFill>
                  <a:srgbClr val="404040"/>
                </a:solidFill>
                <a:latin typeface="Calibri"/>
                <a:cs typeface="Calibri"/>
              </a:rPr>
              <a:t> </a:t>
            </a:r>
            <a:r>
              <a:rPr sz="1800" spc="-10" dirty="0" err="1">
                <a:solidFill>
                  <a:srgbClr val="404040"/>
                </a:solidFill>
                <a:latin typeface="Calibri"/>
                <a:cs typeface="Calibri"/>
              </a:rPr>
              <a:t>être</a:t>
            </a:r>
            <a:r>
              <a:rPr sz="1800" spc="-10" dirty="0">
                <a:solidFill>
                  <a:srgbClr val="404040"/>
                </a:solidFill>
                <a:latin typeface="Calibri"/>
                <a:cs typeface="Calibri"/>
              </a:rPr>
              <a:t> </a:t>
            </a:r>
            <a:r>
              <a:rPr sz="1800" spc="-15" dirty="0" err="1">
                <a:solidFill>
                  <a:srgbClr val="404040"/>
                </a:solidFill>
                <a:latin typeface="Calibri"/>
                <a:cs typeface="Calibri"/>
              </a:rPr>
              <a:t>assigné</a:t>
            </a:r>
            <a:r>
              <a:rPr sz="1800" spc="95" dirty="0">
                <a:solidFill>
                  <a:srgbClr val="404040"/>
                </a:solidFill>
                <a:latin typeface="Calibri"/>
                <a:cs typeface="Calibri"/>
              </a:rPr>
              <a:t> </a:t>
            </a:r>
            <a:r>
              <a:rPr sz="1800" dirty="0">
                <a:solidFill>
                  <a:srgbClr val="404040"/>
                </a:solidFill>
                <a:latin typeface="Calibri"/>
                <a:cs typeface="Calibri"/>
              </a:rPr>
              <a:t>à</a:t>
            </a:r>
            <a:r>
              <a:rPr sz="1800" spc="20" dirty="0">
                <a:solidFill>
                  <a:srgbClr val="404040"/>
                </a:solidFill>
                <a:latin typeface="Calibri"/>
                <a:cs typeface="Calibri"/>
              </a:rPr>
              <a:t> </a:t>
            </a:r>
            <a:r>
              <a:rPr sz="1800" dirty="0">
                <a:solidFill>
                  <a:srgbClr val="404040"/>
                </a:solidFill>
                <a:latin typeface="Calibri"/>
                <a:cs typeface="Calibri"/>
              </a:rPr>
              <a:t>0</a:t>
            </a:r>
            <a:r>
              <a:rPr sz="1800" spc="-25" dirty="0">
                <a:solidFill>
                  <a:srgbClr val="404040"/>
                </a:solidFill>
                <a:latin typeface="Calibri"/>
                <a:cs typeface="Calibri"/>
              </a:rPr>
              <a:t> </a:t>
            </a:r>
            <a:r>
              <a:rPr sz="1800" spc="-25" dirty="0" err="1">
                <a:solidFill>
                  <a:srgbClr val="404040"/>
                </a:solidFill>
                <a:latin typeface="Calibri"/>
                <a:cs typeface="Calibri"/>
              </a:rPr>
              <a:t>ou</a:t>
            </a:r>
            <a:r>
              <a:rPr sz="1800" spc="40" dirty="0">
                <a:solidFill>
                  <a:srgbClr val="404040"/>
                </a:solidFill>
                <a:latin typeface="Calibri"/>
                <a:cs typeface="Calibri"/>
              </a:rPr>
              <a:t> </a:t>
            </a:r>
            <a:r>
              <a:rPr sz="1800" spc="-25" dirty="0" err="1">
                <a:solidFill>
                  <a:srgbClr val="404040"/>
                </a:solidFill>
                <a:latin typeface="Calibri"/>
                <a:cs typeface="Calibri"/>
              </a:rPr>
              <a:t>plusieurs</a:t>
            </a:r>
            <a:r>
              <a:rPr sz="1800" spc="180" dirty="0">
                <a:solidFill>
                  <a:srgbClr val="404040"/>
                </a:solidFill>
                <a:latin typeface="Calibri"/>
                <a:cs typeface="Calibri"/>
              </a:rPr>
              <a:t> </a:t>
            </a:r>
            <a:r>
              <a:rPr lang="fr-FR" sz="1800" spc="-20" dirty="0">
                <a:solidFill>
                  <a:srgbClr val="404040"/>
                </a:solidFill>
                <a:latin typeface="Calibri"/>
                <a:cs typeface="Calibri"/>
              </a:rPr>
              <a:t>vols</a:t>
            </a:r>
            <a:endParaRPr sz="1800" dirty="0">
              <a:latin typeface="Calibri"/>
              <a:cs typeface="Calibri"/>
            </a:endParaRPr>
          </a:p>
          <a:p>
            <a:pPr marL="216535" indent="-204470">
              <a:lnSpc>
                <a:spcPct val="100000"/>
              </a:lnSpc>
              <a:spcBef>
                <a:spcPts val="440"/>
              </a:spcBef>
              <a:buClr>
                <a:srgbClr val="E48312"/>
              </a:buClr>
              <a:buSzPct val="94444"/>
              <a:buFont typeface="Wingdings"/>
              <a:buChar char=""/>
              <a:tabLst>
                <a:tab pos="217170" algn="l"/>
              </a:tabLst>
            </a:pPr>
            <a:r>
              <a:rPr lang="fr-FR" spc="-25" dirty="0">
                <a:solidFill>
                  <a:srgbClr val="404040"/>
                </a:solidFill>
                <a:latin typeface="Calibri"/>
                <a:cs typeface="Calibri"/>
              </a:rPr>
              <a:t>U</a:t>
            </a:r>
            <a:r>
              <a:rPr sz="1800" spc="-25" dirty="0">
                <a:solidFill>
                  <a:srgbClr val="404040"/>
                </a:solidFill>
                <a:latin typeface="Calibri"/>
                <a:cs typeface="Calibri"/>
              </a:rPr>
              <a:t>n</a:t>
            </a:r>
            <a:r>
              <a:rPr sz="1800" spc="45" dirty="0">
                <a:solidFill>
                  <a:srgbClr val="404040"/>
                </a:solidFill>
                <a:latin typeface="Calibri"/>
                <a:cs typeface="Calibri"/>
              </a:rPr>
              <a:t> </a:t>
            </a:r>
            <a:r>
              <a:rPr lang="fr-FR" sz="1800" spc="-10" dirty="0">
                <a:solidFill>
                  <a:srgbClr val="404040"/>
                </a:solidFill>
                <a:latin typeface="Calibri"/>
                <a:cs typeface="Calibri"/>
              </a:rPr>
              <a:t>vol</a:t>
            </a:r>
            <a:r>
              <a:rPr sz="1800" spc="45" dirty="0">
                <a:solidFill>
                  <a:srgbClr val="404040"/>
                </a:solidFill>
                <a:latin typeface="Calibri"/>
                <a:cs typeface="Calibri"/>
              </a:rPr>
              <a:t> </a:t>
            </a:r>
            <a:r>
              <a:rPr sz="1800" spc="-45" dirty="0">
                <a:solidFill>
                  <a:srgbClr val="404040"/>
                </a:solidFill>
                <a:latin typeface="Calibri"/>
                <a:cs typeface="Calibri"/>
              </a:rPr>
              <a:t>est</a:t>
            </a:r>
            <a:r>
              <a:rPr sz="1800" spc="90" dirty="0">
                <a:solidFill>
                  <a:srgbClr val="404040"/>
                </a:solidFill>
                <a:latin typeface="Calibri"/>
                <a:cs typeface="Calibri"/>
              </a:rPr>
              <a:t> </a:t>
            </a:r>
            <a:r>
              <a:rPr sz="1800" spc="-15" dirty="0" err="1">
                <a:solidFill>
                  <a:srgbClr val="404040"/>
                </a:solidFill>
                <a:latin typeface="Calibri"/>
                <a:cs typeface="Calibri"/>
              </a:rPr>
              <a:t>assigné</a:t>
            </a:r>
            <a:r>
              <a:rPr sz="1800" spc="95" dirty="0">
                <a:solidFill>
                  <a:srgbClr val="404040"/>
                </a:solidFill>
                <a:latin typeface="Calibri"/>
                <a:cs typeface="Calibri"/>
              </a:rPr>
              <a:t> </a:t>
            </a:r>
            <a:r>
              <a:rPr sz="1800" spc="-65" dirty="0">
                <a:solidFill>
                  <a:srgbClr val="404040"/>
                </a:solidFill>
                <a:latin typeface="Calibri"/>
                <a:cs typeface="Calibri"/>
              </a:rPr>
              <a:t>à</a:t>
            </a:r>
            <a:r>
              <a:rPr sz="1800" spc="125" dirty="0">
                <a:solidFill>
                  <a:srgbClr val="404040"/>
                </a:solidFill>
                <a:latin typeface="Calibri"/>
                <a:cs typeface="Calibri"/>
              </a:rPr>
              <a:t> </a:t>
            </a:r>
            <a:r>
              <a:rPr sz="1800" dirty="0">
                <a:solidFill>
                  <a:srgbClr val="404040"/>
                </a:solidFill>
                <a:latin typeface="Calibri"/>
                <a:cs typeface="Calibri"/>
              </a:rPr>
              <a:t>0</a:t>
            </a:r>
            <a:r>
              <a:rPr sz="1800" spc="-20" dirty="0">
                <a:solidFill>
                  <a:srgbClr val="404040"/>
                </a:solidFill>
                <a:latin typeface="Calibri"/>
                <a:cs typeface="Calibri"/>
              </a:rPr>
              <a:t> </a:t>
            </a:r>
            <a:r>
              <a:rPr sz="1800" spc="-25" dirty="0" err="1">
                <a:solidFill>
                  <a:srgbClr val="404040"/>
                </a:solidFill>
                <a:latin typeface="Calibri"/>
                <a:cs typeface="Calibri"/>
              </a:rPr>
              <a:t>ou</a:t>
            </a:r>
            <a:r>
              <a:rPr sz="1800" spc="45" dirty="0">
                <a:solidFill>
                  <a:srgbClr val="404040"/>
                </a:solidFill>
                <a:latin typeface="Calibri"/>
                <a:cs typeface="Calibri"/>
              </a:rPr>
              <a:t> </a:t>
            </a:r>
            <a:r>
              <a:rPr sz="1800" spc="-25" dirty="0">
                <a:solidFill>
                  <a:srgbClr val="404040"/>
                </a:solidFill>
                <a:latin typeface="Calibri"/>
                <a:cs typeface="Calibri"/>
              </a:rPr>
              <a:t>un</a:t>
            </a:r>
            <a:r>
              <a:rPr sz="1800" spc="45" dirty="0">
                <a:solidFill>
                  <a:srgbClr val="404040"/>
                </a:solidFill>
                <a:latin typeface="Calibri"/>
                <a:cs typeface="Calibri"/>
              </a:rPr>
              <a:t> </a:t>
            </a:r>
            <a:r>
              <a:rPr lang="fr-FR" spc="-25" dirty="0">
                <a:solidFill>
                  <a:srgbClr val="404040"/>
                </a:solidFill>
                <a:latin typeface="Calibri"/>
                <a:cs typeface="Calibri"/>
              </a:rPr>
              <a:t>avion</a:t>
            </a:r>
            <a:endParaRPr sz="1800" dirty="0">
              <a:latin typeface="Calibri"/>
              <a:cs typeface="Calibri"/>
            </a:endParaRPr>
          </a:p>
        </p:txBody>
      </p:sp>
      <p:pic>
        <p:nvPicPr>
          <p:cNvPr id="4" name="object 4"/>
          <p:cNvPicPr/>
          <p:nvPr/>
        </p:nvPicPr>
        <p:blipFill>
          <a:blip r:embed="rId3" cstate="print"/>
          <a:stretch>
            <a:fillRect/>
          </a:stretch>
        </p:blipFill>
        <p:spPr>
          <a:xfrm>
            <a:off x="3213100" y="2679700"/>
            <a:ext cx="8140700" cy="2501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249035"/>
            <a:ext cx="9875520" cy="2764859"/>
          </a:xfrm>
          <a:prstGeom prst="rect">
            <a:avLst/>
          </a:prstGeom>
        </p:spPr>
        <p:txBody>
          <a:bodyPr vert="horz" wrap="square" lIns="0" tIns="12700" rIns="0" bIns="0" rtlCol="0">
            <a:spAutoFit/>
          </a:bodyPr>
          <a:lstStyle/>
          <a:p>
            <a:pPr marL="12700">
              <a:lnSpc>
                <a:spcPct val="100000"/>
              </a:lnSpc>
              <a:spcBef>
                <a:spcPts val="100"/>
              </a:spcBef>
              <a:buSzPct val="97916"/>
              <a:tabLst>
                <a:tab pos="558800" algn="l"/>
              </a:tabLst>
            </a:pPr>
            <a:r>
              <a:rPr sz="4800" spc="-80" dirty="0">
                <a:solidFill>
                  <a:srgbClr val="404040"/>
                </a:solidFill>
                <a:latin typeface="Calibri Light"/>
                <a:cs typeface="Calibri Light"/>
              </a:rPr>
              <a:t>Associations</a:t>
            </a:r>
            <a:r>
              <a:rPr sz="4800" spc="229" dirty="0">
                <a:solidFill>
                  <a:srgbClr val="404040"/>
                </a:solidFill>
                <a:latin typeface="Calibri Light"/>
                <a:cs typeface="Calibri Light"/>
              </a:rPr>
              <a:t> </a:t>
            </a:r>
            <a:r>
              <a:rPr sz="4800" spc="-85" dirty="0">
                <a:solidFill>
                  <a:srgbClr val="404040"/>
                </a:solidFill>
                <a:latin typeface="Calibri Light"/>
                <a:cs typeface="Calibri Light"/>
              </a:rPr>
              <a:t>bidirectionnelles</a:t>
            </a:r>
            <a:endParaRPr sz="4800" dirty="0">
              <a:latin typeface="Calibri Light"/>
              <a:cs typeface="Calibri Light"/>
            </a:endParaRPr>
          </a:p>
          <a:p>
            <a:pPr marL="328295" lvl="1" indent="-204470">
              <a:lnSpc>
                <a:spcPct val="100000"/>
              </a:lnSpc>
              <a:spcBef>
                <a:spcPts val="2465"/>
              </a:spcBef>
              <a:buClr>
                <a:srgbClr val="E48312"/>
              </a:buClr>
              <a:buSzPct val="94444"/>
              <a:buFont typeface="Wingdings"/>
              <a:buChar char=""/>
              <a:tabLst>
                <a:tab pos="328930" algn="l"/>
              </a:tabLst>
            </a:pPr>
            <a:r>
              <a:rPr lang="fr-FR" spc="-10" dirty="0">
                <a:solidFill>
                  <a:srgbClr val="404040"/>
                </a:solidFill>
                <a:cs typeface="Calibri"/>
              </a:rPr>
              <a:t>Sur cet exemple on peut lire les multiplicités suivantes :</a:t>
            </a:r>
          </a:p>
          <a:p>
            <a:pPr marL="785495" lvl="2" indent="-204470">
              <a:spcBef>
                <a:spcPts val="600"/>
              </a:spcBef>
              <a:buClr>
                <a:srgbClr val="E48312"/>
              </a:buClr>
              <a:buSzPct val="94444"/>
              <a:buFont typeface="Wingdings"/>
              <a:buChar char=""/>
              <a:tabLst>
                <a:tab pos="328930" algn="l"/>
              </a:tabLst>
            </a:pPr>
            <a:r>
              <a:rPr lang="fr-FR" spc="-10" dirty="0">
                <a:solidFill>
                  <a:srgbClr val="404040"/>
                </a:solidFill>
                <a:cs typeface="Calibri"/>
              </a:rPr>
              <a:t>Une Université Immatricule zéro ou plusieurs (0.. *)  Personnes.</a:t>
            </a:r>
          </a:p>
          <a:p>
            <a:pPr marL="785495" lvl="2" indent="-204470">
              <a:spcBef>
                <a:spcPts val="600"/>
              </a:spcBef>
              <a:buClr>
                <a:srgbClr val="E48312"/>
              </a:buClr>
              <a:buSzPct val="94444"/>
              <a:buFont typeface="Wingdings"/>
              <a:buChar char=""/>
              <a:tabLst>
                <a:tab pos="328930" algn="l"/>
              </a:tabLst>
            </a:pPr>
            <a:r>
              <a:rPr lang="fr-FR" spc="-10" dirty="0">
                <a:solidFill>
                  <a:srgbClr val="404040"/>
                </a:solidFill>
                <a:cs typeface="Calibri"/>
              </a:rPr>
              <a:t>Une Personne est Immatriculé Par une (1) Université.</a:t>
            </a:r>
          </a:p>
          <a:p>
            <a:pPr marL="785495" lvl="2" indent="-204470">
              <a:spcBef>
                <a:spcPts val="600"/>
              </a:spcBef>
              <a:buClr>
                <a:srgbClr val="E48312"/>
              </a:buClr>
              <a:buSzPct val="94444"/>
              <a:buFont typeface="Wingdings"/>
              <a:buChar char=""/>
              <a:tabLst>
                <a:tab pos="328930" algn="l"/>
              </a:tabLst>
            </a:pPr>
            <a:r>
              <a:rPr lang="fr-FR" spc="-10" dirty="0">
                <a:solidFill>
                  <a:srgbClr val="404040"/>
                </a:solidFill>
                <a:cs typeface="Calibri"/>
              </a:rPr>
              <a:t>Une Université Emploie zéro ou plusieurs (0.. *) Personnes.</a:t>
            </a:r>
          </a:p>
          <a:p>
            <a:pPr marL="785495" lvl="2" indent="-204470">
              <a:spcBef>
                <a:spcPts val="600"/>
              </a:spcBef>
              <a:buClr>
                <a:srgbClr val="E48312"/>
              </a:buClr>
              <a:buSzPct val="94444"/>
              <a:buFont typeface="Wingdings"/>
              <a:buChar char=""/>
              <a:tabLst>
                <a:tab pos="328930" algn="l"/>
              </a:tabLst>
            </a:pPr>
            <a:r>
              <a:rPr lang="fr-FR" spc="-10" dirty="0">
                <a:solidFill>
                  <a:srgbClr val="404040"/>
                </a:solidFill>
                <a:cs typeface="Calibri"/>
              </a:rPr>
              <a:t>Une Personne Enseigne dans au plus une (0..1) Université.</a:t>
            </a:r>
          </a:p>
        </p:txBody>
      </p:sp>
      <p:pic>
        <p:nvPicPr>
          <p:cNvPr id="5" name="object 4"/>
          <p:cNvPicPr/>
          <p:nvPr/>
        </p:nvPicPr>
        <p:blipFill>
          <a:blip r:embed="rId2" cstate="print"/>
          <a:stretch>
            <a:fillRect/>
          </a:stretch>
        </p:blipFill>
        <p:spPr>
          <a:xfrm>
            <a:off x="4343400" y="3733800"/>
            <a:ext cx="5923084" cy="1401922"/>
          </a:xfrm>
          <a:prstGeom prst="rect">
            <a:avLst/>
          </a:prstGeom>
        </p:spPr>
      </p:pic>
    </p:spTree>
    <p:extLst>
      <p:ext uri="{BB962C8B-B14F-4D97-AF65-F5344CB8AC3E}">
        <p14:creationId xmlns:p14="http://schemas.microsoft.com/office/powerpoint/2010/main" val="1437257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7309484" cy="756920"/>
          </a:xfrm>
          <a:prstGeom prst="rect">
            <a:avLst/>
          </a:prstGeom>
        </p:spPr>
        <p:txBody>
          <a:bodyPr vert="horz" wrap="square" lIns="0" tIns="12700" rIns="0" bIns="0" rtlCol="0">
            <a:spAutoFit/>
          </a:bodyPr>
          <a:lstStyle/>
          <a:p>
            <a:pPr marL="12700">
              <a:lnSpc>
                <a:spcPct val="100000"/>
              </a:lnSpc>
              <a:spcBef>
                <a:spcPts val="100"/>
              </a:spcBef>
            </a:pPr>
            <a:r>
              <a:rPr spc="-80" dirty="0"/>
              <a:t>Associations</a:t>
            </a:r>
            <a:r>
              <a:rPr spc="220" dirty="0"/>
              <a:t> </a:t>
            </a:r>
            <a:r>
              <a:rPr spc="-80" dirty="0"/>
              <a:t>unidirectionnelles</a:t>
            </a:r>
          </a:p>
        </p:txBody>
      </p:sp>
      <p:sp>
        <p:nvSpPr>
          <p:cNvPr id="3" name="object 3"/>
          <p:cNvSpPr txBox="1"/>
          <p:nvPr/>
        </p:nvSpPr>
        <p:spPr>
          <a:xfrm>
            <a:off x="1287780" y="1250899"/>
            <a:ext cx="9554845" cy="1267013"/>
          </a:xfrm>
          <a:prstGeom prst="rect">
            <a:avLst/>
          </a:prstGeom>
        </p:spPr>
        <p:txBody>
          <a:bodyPr vert="horz" wrap="square" lIns="0" tIns="55879" rIns="0" bIns="0" rtlCol="0">
            <a:spAutoFit/>
          </a:bodyPr>
          <a:lstStyle/>
          <a:p>
            <a:pPr marL="216535" indent="-204470">
              <a:lnSpc>
                <a:spcPct val="100000"/>
              </a:lnSpc>
              <a:spcBef>
                <a:spcPts val="439"/>
              </a:spcBef>
              <a:buClr>
                <a:srgbClr val="E48312"/>
              </a:buClr>
              <a:buSzPct val="94444"/>
              <a:buFont typeface="Wingdings"/>
              <a:buChar char=""/>
              <a:tabLst>
                <a:tab pos="217170" algn="l"/>
              </a:tabLst>
            </a:pPr>
            <a:r>
              <a:rPr lang="fr-FR" dirty="0"/>
              <a:t>Navigable vers un seul sens: la flèche indique ici que la relation est </a:t>
            </a:r>
            <a:r>
              <a:rPr lang="fr-FR" i="1" dirty="0" err="1"/>
              <a:t>uni-directionnelle</a:t>
            </a:r>
            <a:endParaRPr lang="fr-FR" i="1" dirty="0"/>
          </a:p>
          <a:p>
            <a:pPr marL="216535" indent="-204470">
              <a:spcBef>
                <a:spcPts val="439"/>
              </a:spcBef>
              <a:buClr>
                <a:srgbClr val="E48312"/>
              </a:buClr>
              <a:buSzPct val="94444"/>
              <a:buFont typeface="Wingdings"/>
              <a:buChar char=""/>
              <a:tabLst>
                <a:tab pos="217170" algn="l"/>
              </a:tabLst>
            </a:pPr>
            <a:r>
              <a:rPr lang="fr-FR" spc="-10" dirty="0">
                <a:solidFill>
                  <a:srgbClr val="404040"/>
                </a:solidFill>
                <a:cs typeface="Calibri"/>
              </a:rPr>
              <a:t>Cardinalité </a:t>
            </a:r>
            <a:r>
              <a:rPr lang="fr-FR" spc="-20" dirty="0">
                <a:solidFill>
                  <a:srgbClr val="404040"/>
                </a:solidFill>
                <a:cs typeface="Calibri"/>
              </a:rPr>
              <a:t>renseignée</a:t>
            </a:r>
            <a:r>
              <a:rPr lang="fr-FR" spc="190" dirty="0">
                <a:solidFill>
                  <a:srgbClr val="404040"/>
                </a:solidFill>
                <a:cs typeface="Calibri"/>
              </a:rPr>
              <a:t> </a:t>
            </a:r>
            <a:r>
              <a:rPr lang="fr-FR" spc="-35" dirty="0">
                <a:solidFill>
                  <a:srgbClr val="404040"/>
                </a:solidFill>
                <a:cs typeface="Calibri"/>
              </a:rPr>
              <a:t>que</a:t>
            </a:r>
            <a:r>
              <a:rPr lang="fr-FR" spc="90" dirty="0">
                <a:solidFill>
                  <a:srgbClr val="404040"/>
                </a:solidFill>
                <a:cs typeface="Calibri"/>
              </a:rPr>
              <a:t> </a:t>
            </a:r>
            <a:r>
              <a:rPr lang="fr-FR" spc="-40" dirty="0">
                <a:solidFill>
                  <a:srgbClr val="404040"/>
                </a:solidFill>
                <a:cs typeface="Calibri"/>
              </a:rPr>
              <a:t>d’un</a:t>
            </a:r>
            <a:r>
              <a:rPr lang="fr-FR" spc="140" dirty="0">
                <a:solidFill>
                  <a:srgbClr val="404040"/>
                </a:solidFill>
                <a:cs typeface="Calibri"/>
              </a:rPr>
              <a:t> </a:t>
            </a:r>
            <a:r>
              <a:rPr lang="fr-FR" spc="-5" dirty="0">
                <a:solidFill>
                  <a:srgbClr val="404040"/>
                </a:solidFill>
                <a:cs typeface="Calibri"/>
              </a:rPr>
              <a:t>côté</a:t>
            </a:r>
            <a:r>
              <a:rPr lang="fr-FR" spc="-10" dirty="0">
                <a:solidFill>
                  <a:srgbClr val="404040"/>
                </a:solidFill>
                <a:cs typeface="Calibri"/>
              </a:rPr>
              <a:t> </a:t>
            </a:r>
            <a:r>
              <a:rPr lang="fr-FR" spc="-25" dirty="0">
                <a:solidFill>
                  <a:srgbClr val="404040"/>
                </a:solidFill>
                <a:cs typeface="Calibri"/>
              </a:rPr>
              <a:t>de</a:t>
            </a:r>
            <a:r>
              <a:rPr lang="fr-FR" spc="-5" dirty="0">
                <a:solidFill>
                  <a:srgbClr val="404040"/>
                </a:solidFill>
                <a:cs typeface="Calibri"/>
              </a:rPr>
              <a:t> </a:t>
            </a:r>
            <a:r>
              <a:rPr lang="fr-FR" spc="-20" dirty="0">
                <a:solidFill>
                  <a:srgbClr val="404040"/>
                </a:solidFill>
                <a:cs typeface="Calibri"/>
              </a:rPr>
              <a:t>l’association</a:t>
            </a:r>
            <a:endParaRPr lang="fr-FR" i="1" dirty="0"/>
          </a:p>
          <a:p>
            <a:pPr marL="216535" indent="-204470">
              <a:lnSpc>
                <a:spcPct val="100000"/>
              </a:lnSpc>
              <a:spcBef>
                <a:spcPts val="439"/>
              </a:spcBef>
              <a:buClr>
                <a:srgbClr val="E48312"/>
              </a:buClr>
              <a:buSzPct val="94444"/>
              <a:buFont typeface="Wingdings"/>
              <a:buChar char=""/>
              <a:tabLst>
                <a:tab pos="217170" algn="l"/>
              </a:tabLst>
            </a:pPr>
            <a:r>
              <a:rPr lang="fr-FR" spc="-20" dirty="0">
                <a:solidFill>
                  <a:srgbClr val="404040"/>
                </a:solidFill>
                <a:cs typeface="Calibri"/>
              </a:rPr>
              <a:t>Les objets de classe Article connaissent ceux de la classe Commentaire auxquels ils sont liés, mais pas l’inverse.</a:t>
            </a:r>
            <a:endParaRPr sz="1800" spc="-20" dirty="0">
              <a:solidFill>
                <a:srgbClr val="404040"/>
              </a:solidFill>
              <a:latin typeface="Calibri"/>
              <a:cs typeface="Calibri"/>
            </a:endParaRPr>
          </a:p>
        </p:txBody>
      </p:sp>
      <p:sp>
        <p:nvSpPr>
          <p:cNvPr id="4" name="object 4"/>
          <p:cNvSpPr txBox="1"/>
          <p:nvPr/>
        </p:nvSpPr>
        <p:spPr>
          <a:xfrm>
            <a:off x="1176018" y="5550361"/>
            <a:ext cx="9872981" cy="1002839"/>
          </a:xfrm>
          <a:prstGeom prst="rect">
            <a:avLst/>
          </a:prstGeom>
        </p:spPr>
        <p:txBody>
          <a:bodyPr vert="horz" wrap="square" lIns="0" tIns="68580" rIns="0" bIns="0" rtlCol="0">
            <a:spAutoFit/>
          </a:bodyPr>
          <a:lstStyle/>
          <a:p>
            <a:pPr marL="216535" indent="-204470">
              <a:lnSpc>
                <a:spcPct val="100000"/>
              </a:lnSpc>
              <a:spcBef>
                <a:spcPts val="540"/>
              </a:spcBef>
              <a:buClr>
                <a:srgbClr val="E48312"/>
              </a:buClr>
              <a:buSzPct val="94444"/>
              <a:buFont typeface="Wingdings"/>
              <a:buChar char=""/>
              <a:tabLst>
                <a:tab pos="217170" algn="l"/>
              </a:tabLst>
            </a:pPr>
            <a:r>
              <a:rPr sz="1800" spc="20" dirty="0">
                <a:solidFill>
                  <a:srgbClr val="404040"/>
                </a:solidFill>
                <a:latin typeface="Calibri"/>
                <a:cs typeface="Calibri"/>
              </a:rPr>
              <a:t>Un</a:t>
            </a:r>
            <a:r>
              <a:rPr sz="1800" spc="-60" dirty="0">
                <a:solidFill>
                  <a:srgbClr val="404040"/>
                </a:solidFill>
                <a:latin typeface="Calibri"/>
                <a:cs typeface="Calibri"/>
              </a:rPr>
              <a:t> </a:t>
            </a:r>
            <a:r>
              <a:rPr lang="fr-FR" sz="1800" spc="-60" dirty="0">
                <a:solidFill>
                  <a:srgbClr val="404040"/>
                </a:solidFill>
                <a:latin typeface="Calibri"/>
                <a:cs typeface="Calibri"/>
              </a:rPr>
              <a:t>rapport sur comptes à </a:t>
            </a:r>
            <a:r>
              <a:rPr lang="fr-FR" sz="1800" spc="-60" dirty="0" err="1">
                <a:solidFill>
                  <a:srgbClr val="404040"/>
                </a:solidFill>
                <a:latin typeface="Calibri"/>
                <a:cs typeface="Calibri"/>
              </a:rPr>
              <a:t>decouvert</a:t>
            </a:r>
            <a:r>
              <a:rPr lang="fr-FR" sz="1800" spc="-60" dirty="0">
                <a:solidFill>
                  <a:srgbClr val="404040"/>
                </a:solidFill>
                <a:latin typeface="Calibri"/>
                <a:cs typeface="Calibri"/>
              </a:rPr>
              <a:t> peut être </a:t>
            </a:r>
            <a:r>
              <a:rPr lang="fr-FR" sz="1800" spc="-60" dirty="0" err="1">
                <a:solidFill>
                  <a:srgbClr val="404040"/>
                </a:solidFill>
                <a:latin typeface="Calibri"/>
                <a:cs typeface="Calibri"/>
              </a:rPr>
              <a:t>géneré</a:t>
            </a:r>
            <a:r>
              <a:rPr lang="fr-FR" sz="1800" spc="-60" dirty="0">
                <a:solidFill>
                  <a:srgbClr val="404040"/>
                </a:solidFill>
                <a:latin typeface="Calibri"/>
                <a:cs typeface="Calibri"/>
              </a:rPr>
              <a:t> pour </a:t>
            </a:r>
            <a:r>
              <a:rPr sz="1800" dirty="0">
                <a:solidFill>
                  <a:srgbClr val="404040"/>
                </a:solidFill>
                <a:latin typeface="Calibri"/>
                <a:cs typeface="Calibri"/>
              </a:rPr>
              <a:t>0</a:t>
            </a:r>
            <a:r>
              <a:rPr sz="1800" spc="-30" dirty="0">
                <a:solidFill>
                  <a:srgbClr val="404040"/>
                </a:solidFill>
                <a:latin typeface="Calibri"/>
                <a:cs typeface="Calibri"/>
              </a:rPr>
              <a:t> </a:t>
            </a:r>
            <a:r>
              <a:rPr sz="1800" spc="-25" dirty="0">
                <a:solidFill>
                  <a:srgbClr val="404040"/>
                </a:solidFill>
                <a:latin typeface="Calibri"/>
                <a:cs typeface="Calibri"/>
              </a:rPr>
              <a:t>ou</a:t>
            </a:r>
            <a:r>
              <a:rPr sz="1800" spc="45" dirty="0">
                <a:solidFill>
                  <a:srgbClr val="404040"/>
                </a:solidFill>
                <a:latin typeface="Calibri"/>
                <a:cs typeface="Calibri"/>
              </a:rPr>
              <a:t> </a:t>
            </a:r>
            <a:r>
              <a:rPr sz="1800" spc="-25" dirty="0" err="1">
                <a:solidFill>
                  <a:srgbClr val="404040"/>
                </a:solidFill>
                <a:latin typeface="Calibri"/>
                <a:cs typeface="Calibri"/>
              </a:rPr>
              <a:t>plusieurs</a:t>
            </a:r>
            <a:r>
              <a:rPr sz="1800" spc="180" dirty="0">
                <a:solidFill>
                  <a:srgbClr val="404040"/>
                </a:solidFill>
                <a:latin typeface="Calibri"/>
                <a:cs typeface="Calibri"/>
              </a:rPr>
              <a:t> </a:t>
            </a:r>
            <a:r>
              <a:rPr lang="fr-FR" spc="-20" dirty="0">
                <a:solidFill>
                  <a:srgbClr val="404040"/>
                </a:solidFill>
                <a:cs typeface="Calibri"/>
              </a:rPr>
              <a:t>comptes</a:t>
            </a:r>
            <a:r>
              <a:rPr lang="fr-FR" spc="90" dirty="0">
                <a:solidFill>
                  <a:srgbClr val="404040"/>
                </a:solidFill>
                <a:cs typeface="Calibri"/>
              </a:rPr>
              <a:t> </a:t>
            </a:r>
            <a:r>
              <a:rPr lang="fr-FR" spc="-5" dirty="0">
                <a:solidFill>
                  <a:srgbClr val="404040"/>
                </a:solidFill>
                <a:cs typeface="Calibri"/>
              </a:rPr>
              <a:t>bancaires.</a:t>
            </a:r>
            <a:endParaRPr sz="1800" dirty="0">
              <a:latin typeface="Calibri"/>
              <a:cs typeface="Calibri"/>
            </a:endParaRPr>
          </a:p>
          <a:p>
            <a:pPr marL="216535" indent="-204470">
              <a:lnSpc>
                <a:spcPct val="100000"/>
              </a:lnSpc>
              <a:spcBef>
                <a:spcPts val="440"/>
              </a:spcBef>
              <a:buClr>
                <a:srgbClr val="E48312"/>
              </a:buClr>
              <a:buSzPct val="94444"/>
              <a:buFont typeface="Wingdings"/>
              <a:buChar char=""/>
              <a:tabLst>
                <a:tab pos="217170" algn="l"/>
              </a:tabLst>
            </a:pPr>
            <a:r>
              <a:rPr sz="1800" spc="-5" dirty="0">
                <a:solidFill>
                  <a:srgbClr val="404040"/>
                </a:solidFill>
                <a:latin typeface="Calibri"/>
                <a:cs typeface="Calibri"/>
              </a:rPr>
              <a:t>Mais</a:t>
            </a:r>
            <a:r>
              <a:rPr sz="1800" spc="-15" dirty="0">
                <a:solidFill>
                  <a:srgbClr val="404040"/>
                </a:solidFill>
                <a:latin typeface="Calibri"/>
                <a:cs typeface="Calibri"/>
              </a:rPr>
              <a:t> </a:t>
            </a:r>
            <a:r>
              <a:rPr sz="1800" spc="-40" dirty="0">
                <a:solidFill>
                  <a:srgbClr val="404040"/>
                </a:solidFill>
                <a:latin typeface="Calibri"/>
                <a:cs typeface="Calibri"/>
              </a:rPr>
              <a:t>pour</a:t>
            </a:r>
            <a:r>
              <a:rPr sz="1800" spc="170" dirty="0">
                <a:solidFill>
                  <a:srgbClr val="404040"/>
                </a:solidFill>
                <a:latin typeface="Calibri"/>
                <a:cs typeface="Calibri"/>
              </a:rPr>
              <a:t> </a:t>
            </a:r>
            <a:r>
              <a:rPr sz="1800" spc="-25" dirty="0">
                <a:solidFill>
                  <a:srgbClr val="404040"/>
                </a:solidFill>
                <a:latin typeface="Calibri"/>
                <a:cs typeface="Calibri"/>
              </a:rPr>
              <a:t>un</a:t>
            </a:r>
            <a:r>
              <a:rPr sz="1800" spc="50" dirty="0">
                <a:solidFill>
                  <a:srgbClr val="404040"/>
                </a:solidFill>
                <a:latin typeface="Calibri"/>
                <a:cs typeface="Calibri"/>
              </a:rPr>
              <a:t> </a:t>
            </a:r>
            <a:r>
              <a:rPr lang="fr-FR" sz="1800" spc="-20" dirty="0">
                <a:solidFill>
                  <a:srgbClr val="404040"/>
                </a:solidFill>
                <a:latin typeface="Calibri"/>
                <a:cs typeface="Calibri"/>
              </a:rPr>
              <a:t>compte bancaire</a:t>
            </a:r>
            <a:r>
              <a:rPr sz="1800" spc="-20" dirty="0">
                <a:solidFill>
                  <a:srgbClr val="404040"/>
                </a:solidFill>
                <a:latin typeface="Calibri"/>
                <a:cs typeface="Calibri"/>
              </a:rPr>
              <a:t>,</a:t>
            </a:r>
            <a:r>
              <a:rPr sz="1800" spc="140" dirty="0">
                <a:solidFill>
                  <a:srgbClr val="404040"/>
                </a:solidFill>
                <a:latin typeface="Calibri"/>
                <a:cs typeface="Calibri"/>
              </a:rPr>
              <a:t> </a:t>
            </a:r>
            <a:r>
              <a:rPr sz="1800" spc="-25" dirty="0">
                <a:solidFill>
                  <a:srgbClr val="404040"/>
                </a:solidFill>
                <a:latin typeface="Calibri"/>
                <a:cs typeface="Calibri"/>
              </a:rPr>
              <a:t>on</a:t>
            </a:r>
            <a:r>
              <a:rPr sz="1800" spc="50" dirty="0">
                <a:solidFill>
                  <a:srgbClr val="404040"/>
                </a:solidFill>
                <a:latin typeface="Calibri"/>
                <a:cs typeface="Calibri"/>
              </a:rPr>
              <a:t> </a:t>
            </a:r>
            <a:r>
              <a:rPr sz="1800" spc="-25" dirty="0">
                <a:solidFill>
                  <a:srgbClr val="404040"/>
                </a:solidFill>
                <a:latin typeface="Calibri"/>
                <a:cs typeface="Calibri"/>
              </a:rPr>
              <a:t>ne</a:t>
            </a:r>
            <a:r>
              <a:rPr sz="1800" spc="100" dirty="0">
                <a:solidFill>
                  <a:srgbClr val="404040"/>
                </a:solidFill>
                <a:latin typeface="Calibri"/>
                <a:cs typeface="Calibri"/>
              </a:rPr>
              <a:t> </a:t>
            </a:r>
            <a:r>
              <a:rPr sz="1800" spc="-15" dirty="0">
                <a:solidFill>
                  <a:srgbClr val="404040"/>
                </a:solidFill>
                <a:latin typeface="Calibri"/>
                <a:cs typeface="Calibri"/>
              </a:rPr>
              <a:t>connaît</a:t>
            </a:r>
            <a:r>
              <a:rPr sz="1800" spc="90" dirty="0">
                <a:solidFill>
                  <a:srgbClr val="404040"/>
                </a:solidFill>
                <a:latin typeface="Calibri"/>
                <a:cs typeface="Calibri"/>
              </a:rPr>
              <a:t> </a:t>
            </a:r>
            <a:r>
              <a:rPr sz="1800" spc="-5" dirty="0">
                <a:solidFill>
                  <a:srgbClr val="404040"/>
                </a:solidFill>
                <a:latin typeface="Calibri"/>
                <a:cs typeface="Calibri"/>
              </a:rPr>
              <a:t>pas</a:t>
            </a:r>
            <a:r>
              <a:rPr sz="1800" spc="-10" dirty="0">
                <a:solidFill>
                  <a:srgbClr val="404040"/>
                </a:solidFill>
                <a:latin typeface="Calibri"/>
                <a:cs typeface="Calibri"/>
              </a:rPr>
              <a:t> </a:t>
            </a:r>
            <a:r>
              <a:rPr sz="1800" spc="-20" dirty="0">
                <a:solidFill>
                  <a:srgbClr val="404040"/>
                </a:solidFill>
                <a:latin typeface="Calibri"/>
                <a:cs typeface="Calibri"/>
              </a:rPr>
              <a:t>combien</a:t>
            </a:r>
            <a:r>
              <a:rPr sz="1800" spc="150" dirty="0">
                <a:solidFill>
                  <a:srgbClr val="404040"/>
                </a:solidFill>
                <a:latin typeface="Calibri"/>
                <a:cs typeface="Calibri"/>
              </a:rPr>
              <a:t> </a:t>
            </a:r>
            <a:r>
              <a:rPr sz="1800" spc="-25" dirty="0">
                <a:solidFill>
                  <a:srgbClr val="404040"/>
                </a:solidFill>
                <a:latin typeface="Calibri"/>
                <a:cs typeface="Calibri"/>
              </a:rPr>
              <a:t>de</a:t>
            </a:r>
            <a:r>
              <a:rPr sz="1800" spc="-5" dirty="0">
                <a:solidFill>
                  <a:srgbClr val="404040"/>
                </a:solidFill>
                <a:latin typeface="Calibri"/>
                <a:cs typeface="Calibri"/>
              </a:rPr>
              <a:t> </a:t>
            </a:r>
            <a:r>
              <a:rPr lang="fr-FR" sz="1800" spc="-20" dirty="0">
                <a:solidFill>
                  <a:srgbClr val="404040"/>
                </a:solidFill>
                <a:latin typeface="Calibri"/>
                <a:cs typeface="Calibri"/>
              </a:rPr>
              <a:t>rapport sur comptes </a:t>
            </a:r>
            <a:r>
              <a:rPr sz="1800" spc="-25" dirty="0" err="1">
                <a:solidFill>
                  <a:srgbClr val="404040"/>
                </a:solidFill>
                <a:latin typeface="Calibri"/>
                <a:cs typeface="Calibri"/>
              </a:rPr>
              <a:t>lui</a:t>
            </a:r>
            <a:r>
              <a:rPr sz="1800" spc="80" dirty="0">
                <a:solidFill>
                  <a:srgbClr val="404040"/>
                </a:solidFill>
                <a:latin typeface="Calibri"/>
                <a:cs typeface="Calibri"/>
              </a:rPr>
              <a:t> </a:t>
            </a:r>
            <a:r>
              <a:rPr sz="1800" spc="-30" dirty="0" err="1">
                <a:solidFill>
                  <a:srgbClr val="404040"/>
                </a:solidFill>
                <a:latin typeface="Calibri"/>
                <a:cs typeface="Calibri"/>
              </a:rPr>
              <a:t>sont</a:t>
            </a:r>
            <a:r>
              <a:rPr sz="1800" spc="95" dirty="0">
                <a:solidFill>
                  <a:srgbClr val="404040"/>
                </a:solidFill>
                <a:latin typeface="Calibri"/>
                <a:cs typeface="Calibri"/>
              </a:rPr>
              <a:t> </a:t>
            </a:r>
            <a:r>
              <a:rPr sz="1800" spc="-5" dirty="0" err="1">
                <a:solidFill>
                  <a:srgbClr val="404040"/>
                </a:solidFill>
                <a:latin typeface="Calibri"/>
                <a:cs typeface="Calibri"/>
              </a:rPr>
              <a:t>associés</a:t>
            </a:r>
            <a:r>
              <a:rPr lang="fr-FR" sz="1800" spc="-5" dirty="0">
                <a:solidFill>
                  <a:srgbClr val="404040"/>
                </a:solidFill>
                <a:latin typeface="Calibri"/>
                <a:cs typeface="Calibri"/>
              </a:rPr>
              <a:t>.</a:t>
            </a:r>
          </a:p>
          <a:p>
            <a:pPr marL="216535" indent="-204470">
              <a:lnSpc>
                <a:spcPct val="100000"/>
              </a:lnSpc>
              <a:spcBef>
                <a:spcPts val="440"/>
              </a:spcBef>
              <a:buClr>
                <a:srgbClr val="E48312"/>
              </a:buClr>
              <a:buSzPct val="94444"/>
              <a:buFont typeface="Wingdings"/>
              <a:buChar char=""/>
              <a:tabLst>
                <a:tab pos="217170" algn="l"/>
              </a:tabLst>
            </a:pPr>
            <a:r>
              <a:rPr lang="fr-FR" spc="-25" dirty="0">
                <a:solidFill>
                  <a:srgbClr val="404040"/>
                </a:solidFill>
                <a:latin typeface="Calibri"/>
                <a:cs typeface="Calibri"/>
              </a:rPr>
              <a:t>La classe </a:t>
            </a:r>
            <a:r>
              <a:rPr lang="fr-FR" spc="-25" dirty="0" err="1">
                <a:solidFill>
                  <a:srgbClr val="404040"/>
                </a:solidFill>
                <a:latin typeface="Calibri"/>
                <a:cs typeface="Calibri"/>
              </a:rPr>
              <a:t>CompteBancaire</a:t>
            </a:r>
            <a:r>
              <a:rPr lang="fr-FR" spc="-25" dirty="0">
                <a:solidFill>
                  <a:srgbClr val="404040"/>
                </a:solidFill>
                <a:latin typeface="Calibri"/>
                <a:cs typeface="Calibri"/>
              </a:rPr>
              <a:t> n'a aucune idée qu'elle est associée à la classe </a:t>
            </a:r>
            <a:r>
              <a:rPr lang="fr-FR" spc="-60" dirty="0" err="1">
                <a:solidFill>
                  <a:srgbClr val="404040"/>
                </a:solidFill>
                <a:cs typeface="Calibri"/>
              </a:rPr>
              <a:t>RapportComptesDecouvert</a:t>
            </a:r>
            <a:r>
              <a:rPr lang="fr-FR" spc="-60" dirty="0">
                <a:solidFill>
                  <a:srgbClr val="404040"/>
                </a:solidFill>
                <a:cs typeface="Calibri"/>
              </a:rPr>
              <a:t>. </a:t>
            </a:r>
            <a:endParaRPr spc="-25" dirty="0">
              <a:solidFill>
                <a:srgbClr val="404040"/>
              </a:solidFill>
              <a:latin typeface="Calibri"/>
              <a:cs typeface="Calibri"/>
            </a:endParaRPr>
          </a:p>
        </p:txBody>
      </p:sp>
      <p:pic>
        <p:nvPicPr>
          <p:cNvPr id="11" name="Image 10"/>
          <p:cNvPicPr>
            <a:picLocks noChangeAspect="1"/>
          </p:cNvPicPr>
          <p:nvPr/>
        </p:nvPicPr>
        <p:blipFill>
          <a:blip r:embed="rId3"/>
          <a:stretch>
            <a:fillRect/>
          </a:stretch>
        </p:blipFill>
        <p:spPr>
          <a:xfrm>
            <a:off x="1038225" y="2657475"/>
            <a:ext cx="3305175" cy="1000125"/>
          </a:xfrm>
          <a:prstGeom prst="rect">
            <a:avLst/>
          </a:prstGeom>
        </p:spPr>
      </p:pic>
      <p:grpSp>
        <p:nvGrpSpPr>
          <p:cNvPr id="13" name="Groupe 12"/>
          <p:cNvGrpSpPr/>
          <p:nvPr/>
        </p:nvGrpSpPr>
        <p:grpSpPr>
          <a:xfrm>
            <a:off x="4572000" y="2657114"/>
            <a:ext cx="7391400" cy="2753086"/>
            <a:chOff x="2413000" y="2730500"/>
            <a:chExt cx="7366000" cy="1384300"/>
          </a:xfrm>
        </p:grpSpPr>
        <p:grpSp>
          <p:nvGrpSpPr>
            <p:cNvPr id="14" name="Groupe 13"/>
            <p:cNvGrpSpPr/>
            <p:nvPr/>
          </p:nvGrpSpPr>
          <p:grpSpPr>
            <a:xfrm>
              <a:off x="2413000" y="2730500"/>
              <a:ext cx="7366000" cy="1384300"/>
              <a:chOff x="2413000" y="2730500"/>
              <a:chExt cx="7366000" cy="1384300"/>
            </a:xfrm>
          </p:grpSpPr>
          <p:pic>
            <p:nvPicPr>
              <p:cNvPr id="16" name="object 5"/>
              <p:cNvPicPr/>
              <p:nvPr/>
            </p:nvPicPr>
            <p:blipFill>
              <a:blip r:embed="rId4" cstate="print"/>
              <a:stretch>
                <a:fillRect/>
              </a:stretch>
            </p:blipFill>
            <p:spPr>
              <a:xfrm>
                <a:off x="2413000" y="2730500"/>
                <a:ext cx="7366000" cy="1384300"/>
              </a:xfrm>
              <a:prstGeom prst="rect">
                <a:avLst/>
              </a:prstGeom>
            </p:spPr>
          </p:pic>
          <p:sp>
            <p:nvSpPr>
              <p:cNvPr id="17" name="Rectangle 16"/>
              <p:cNvSpPr/>
              <p:nvPr/>
            </p:nvSpPr>
            <p:spPr>
              <a:xfrm>
                <a:off x="2514600" y="2817536"/>
                <a:ext cx="2325883" cy="225730"/>
              </a:xfrm>
              <a:prstGeom prst="rect">
                <a:avLst/>
              </a:prstGeom>
              <a:solidFill>
                <a:srgbClr val="FFFF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err="1">
                    <a:solidFill>
                      <a:schemeClr val="tx1">
                        <a:lumMod val="65000"/>
                        <a:lumOff val="35000"/>
                      </a:schemeClr>
                    </a:solidFill>
                    <a:latin typeface="Agency FB" panose="020B0503020202020204" pitchFamily="34" charset="0"/>
                  </a:rPr>
                  <a:t>RapportComptesDdécouvert</a:t>
                </a:r>
                <a:endParaRPr lang="fr-FR" sz="1200" b="1" dirty="0">
                  <a:solidFill>
                    <a:schemeClr val="tx1">
                      <a:lumMod val="65000"/>
                      <a:lumOff val="35000"/>
                    </a:schemeClr>
                  </a:solidFill>
                  <a:latin typeface="Agency FB" panose="020B0503020202020204" pitchFamily="34" charset="0"/>
                </a:endParaRPr>
              </a:p>
            </p:txBody>
          </p:sp>
          <p:sp>
            <p:nvSpPr>
              <p:cNvPr id="18" name="Rectangle 17"/>
              <p:cNvSpPr/>
              <p:nvPr/>
            </p:nvSpPr>
            <p:spPr>
              <a:xfrm>
                <a:off x="7239000" y="2817535"/>
                <a:ext cx="2286000" cy="228600"/>
              </a:xfrm>
              <a:prstGeom prst="rect">
                <a:avLst/>
              </a:prstGeom>
              <a:solidFill>
                <a:srgbClr val="FFFF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err="1">
                    <a:solidFill>
                      <a:schemeClr val="tx1">
                        <a:lumMod val="65000"/>
                        <a:lumOff val="35000"/>
                      </a:schemeClr>
                    </a:solidFill>
                    <a:latin typeface="Agency FB" panose="020B0503020202020204" pitchFamily="34" charset="0"/>
                  </a:rPr>
                  <a:t>CompteBancaire</a:t>
                </a:r>
                <a:endParaRPr lang="fr-FR" sz="1400" b="1" dirty="0">
                  <a:solidFill>
                    <a:schemeClr val="tx1">
                      <a:lumMod val="65000"/>
                      <a:lumOff val="35000"/>
                    </a:schemeClr>
                  </a:solidFill>
                  <a:latin typeface="Agency FB" panose="020B0503020202020204" pitchFamily="34" charset="0"/>
                </a:endParaRPr>
              </a:p>
            </p:txBody>
          </p:sp>
        </p:grpSp>
        <p:sp>
          <p:nvSpPr>
            <p:cNvPr id="15" name="Rectangle 14"/>
            <p:cNvSpPr/>
            <p:nvPr/>
          </p:nvSpPr>
          <p:spPr>
            <a:xfrm>
              <a:off x="4992882" y="2972937"/>
              <a:ext cx="2093719" cy="2274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lumMod val="65000"/>
                      <a:lumOff val="35000"/>
                    </a:schemeClr>
                  </a:solidFill>
                  <a:latin typeface="Agency FB" panose="020B0503020202020204" pitchFamily="34" charset="0"/>
                </a:rPr>
                <a:t>Comptes à </a:t>
              </a:r>
              <a:r>
                <a:rPr lang="fr-FR" sz="1400" b="1" dirty="0" err="1">
                  <a:solidFill>
                    <a:schemeClr val="tx1">
                      <a:lumMod val="65000"/>
                      <a:lumOff val="35000"/>
                    </a:schemeClr>
                  </a:solidFill>
                  <a:latin typeface="Agency FB" panose="020B0503020202020204" pitchFamily="34" charset="0"/>
                </a:rPr>
                <a:t>decouvert</a:t>
              </a:r>
              <a:endParaRPr lang="fr-FR" sz="1400" b="1" dirty="0">
                <a:solidFill>
                  <a:schemeClr val="tx1">
                    <a:lumMod val="65000"/>
                    <a:lumOff val="35000"/>
                  </a:schemeClr>
                </a:solidFill>
                <a:latin typeface="Agency FB" panose="020B0503020202020204" pitchFamily="34"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7309484" cy="756920"/>
          </a:xfrm>
          <a:prstGeom prst="rect">
            <a:avLst/>
          </a:prstGeom>
        </p:spPr>
        <p:txBody>
          <a:bodyPr vert="horz" wrap="square" lIns="0" tIns="12700" rIns="0" bIns="0" rtlCol="0">
            <a:spAutoFit/>
          </a:bodyPr>
          <a:lstStyle/>
          <a:p>
            <a:pPr marL="12700">
              <a:lnSpc>
                <a:spcPct val="100000"/>
              </a:lnSpc>
              <a:spcBef>
                <a:spcPts val="100"/>
              </a:spcBef>
            </a:pPr>
            <a:r>
              <a:rPr spc="-80" dirty="0"/>
              <a:t>Associations</a:t>
            </a:r>
            <a:r>
              <a:rPr spc="220" dirty="0"/>
              <a:t> </a:t>
            </a:r>
            <a:r>
              <a:rPr lang="fr-FR" spc="-80" dirty="0" err="1"/>
              <a:t>n-aire</a:t>
            </a:r>
            <a:endParaRPr spc="-80" dirty="0"/>
          </a:p>
        </p:txBody>
      </p:sp>
      <p:sp>
        <p:nvSpPr>
          <p:cNvPr id="3" name="object 3"/>
          <p:cNvSpPr txBox="1"/>
          <p:nvPr/>
        </p:nvSpPr>
        <p:spPr>
          <a:xfrm>
            <a:off x="1287780" y="1250899"/>
            <a:ext cx="9554845" cy="938718"/>
          </a:xfrm>
          <a:prstGeom prst="rect">
            <a:avLst/>
          </a:prstGeom>
        </p:spPr>
        <p:txBody>
          <a:bodyPr vert="horz" wrap="square" lIns="0" tIns="55879" rIns="0" bIns="0" rtlCol="0">
            <a:spAutoFit/>
          </a:bodyPr>
          <a:lstStyle/>
          <a:p>
            <a:pPr marL="216535" indent="-204470">
              <a:lnSpc>
                <a:spcPct val="100000"/>
              </a:lnSpc>
              <a:spcBef>
                <a:spcPts val="439"/>
              </a:spcBef>
              <a:buClr>
                <a:srgbClr val="E48312"/>
              </a:buClr>
              <a:buSzPct val="94444"/>
              <a:buFont typeface="Wingdings"/>
              <a:buChar char=""/>
              <a:tabLst>
                <a:tab pos="217170" algn="l"/>
              </a:tabLst>
            </a:pPr>
            <a:r>
              <a:rPr lang="fr-FR" spc="-10" dirty="0">
                <a:solidFill>
                  <a:srgbClr val="404040"/>
                </a:solidFill>
                <a:cs typeface="Calibri"/>
              </a:rPr>
              <a:t>il s'agit d'une association qui relie plus de deux classes...</a:t>
            </a:r>
          </a:p>
          <a:p>
            <a:pPr marL="216535" indent="-204470">
              <a:lnSpc>
                <a:spcPct val="100000"/>
              </a:lnSpc>
              <a:spcBef>
                <a:spcPts val="439"/>
              </a:spcBef>
              <a:buClr>
                <a:srgbClr val="E48312"/>
              </a:buClr>
              <a:buSzPct val="94444"/>
              <a:buFont typeface="Wingdings"/>
              <a:buChar char=""/>
              <a:tabLst>
                <a:tab pos="217170" algn="l"/>
              </a:tabLst>
            </a:pPr>
            <a:r>
              <a:rPr lang="fr-FR" spc="-10" dirty="0">
                <a:solidFill>
                  <a:srgbClr val="404040"/>
                </a:solidFill>
                <a:cs typeface="Calibri"/>
              </a:rPr>
              <a:t>De telles associations sont difficiles à déchiffrer et peuvent induire en erreur. Il vaut mieux limiter leur utilisation, en définissant de nouvelles catégories d'associations.</a:t>
            </a:r>
            <a:endParaRPr sz="1800" dirty="0">
              <a:latin typeface="Calibri"/>
              <a:cs typeface="Calibri"/>
            </a:endParaRPr>
          </a:p>
        </p:txBody>
      </p:sp>
      <p:sp>
        <p:nvSpPr>
          <p:cNvPr id="4" name="object 4"/>
          <p:cNvSpPr txBox="1"/>
          <p:nvPr/>
        </p:nvSpPr>
        <p:spPr>
          <a:xfrm>
            <a:off x="5471562" y="3062327"/>
            <a:ext cx="2819400" cy="438582"/>
          </a:xfrm>
          <a:prstGeom prst="rect">
            <a:avLst/>
          </a:prstGeom>
        </p:spPr>
        <p:txBody>
          <a:bodyPr vert="horz" wrap="square" lIns="0" tIns="68580" rIns="0" bIns="0" rtlCol="0">
            <a:spAutoFit/>
          </a:bodyPr>
          <a:lstStyle/>
          <a:p>
            <a:pPr marL="12065">
              <a:lnSpc>
                <a:spcPct val="100000"/>
              </a:lnSpc>
              <a:spcBef>
                <a:spcPts val="540"/>
              </a:spcBef>
              <a:buClr>
                <a:srgbClr val="E48312"/>
              </a:buClr>
              <a:buSzPct val="94444"/>
              <a:tabLst>
                <a:tab pos="217170" algn="l"/>
              </a:tabLst>
            </a:pPr>
            <a:r>
              <a:rPr lang="fr-FR" sz="1200" spc="20" dirty="0">
                <a:solidFill>
                  <a:srgbClr val="404040"/>
                </a:solidFill>
                <a:latin typeface="Calibri"/>
                <a:cs typeface="Calibri"/>
              </a:rPr>
              <a:t>Symbole d’association (peut souvent être promu au rang de classe d’association</a:t>
            </a:r>
            <a:endParaRPr sz="1200" dirty="0">
              <a:latin typeface="Calibri"/>
              <a:cs typeface="Calibri"/>
            </a:endParaRPr>
          </a:p>
        </p:txBody>
      </p:sp>
      <p:sp>
        <p:nvSpPr>
          <p:cNvPr id="11" name="Rectangle 10"/>
          <p:cNvSpPr/>
          <p:nvPr/>
        </p:nvSpPr>
        <p:spPr>
          <a:xfrm>
            <a:off x="8620241" y="2121009"/>
            <a:ext cx="1261448" cy="48619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Professeur</a:t>
            </a:r>
          </a:p>
        </p:txBody>
      </p:sp>
      <p:sp>
        <p:nvSpPr>
          <p:cNvPr id="12" name="Rectangle 11"/>
          <p:cNvSpPr/>
          <p:nvPr/>
        </p:nvSpPr>
        <p:spPr>
          <a:xfrm>
            <a:off x="9448800" y="4389325"/>
            <a:ext cx="1261448" cy="48619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Etudiant</a:t>
            </a:r>
          </a:p>
        </p:txBody>
      </p:sp>
      <p:sp>
        <p:nvSpPr>
          <p:cNvPr id="13" name="Rectangle 12"/>
          <p:cNvSpPr/>
          <p:nvPr/>
        </p:nvSpPr>
        <p:spPr>
          <a:xfrm>
            <a:off x="7882552" y="4388134"/>
            <a:ext cx="1261448" cy="48619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Salle</a:t>
            </a:r>
          </a:p>
        </p:txBody>
      </p:sp>
      <p:sp>
        <p:nvSpPr>
          <p:cNvPr id="14" name="Losange 13"/>
          <p:cNvSpPr/>
          <p:nvPr/>
        </p:nvSpPr>
        <p:spPr>
          <a:xfrm>
            <a:off x="9144000" y="3329417"/>
            <a:ext cx="228600" cy="251984"/>
          </a:xfrm>
          <a:prstGeom prst="diamon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cxnSp>
        <p:nvCxnSpPr>
          <p:cNvPr id="16" name="Connecteur droit 15"/>
          <p:cNvCxnSpPr>
            <a:stCxn id="11" idx="2"/>
            <a:endCxn id="14" idx="0"/>
          </p:cNvCxnSpPr>
          <p:nvPr/>
        </p:nvCxnSpPr>
        <p:spPr>
          <a:xfrm>
            <a:off x="9250965" y="2607206"/>
            <a:ext cx="7335" cy="722211"/>
          </a:xfrm>
          <a:prstGeom prst="line">
            <a:avLst/>
          </a:prstGeom>
        </p:spPr>
        <p:style>
          <a:lnRef idx="1">
            <a:schemeClr val="dk1"/>
          </a:lnRef>
          <a:fillRef idx="0">
            <a:schemeClr val="dk1"/>
          </a:fillRef>
          <a:effectRef idx="0">
            <a:schemeClr val="dk1"/>
          </a:effectRef>
          <a:fontRef idx="minor">
            <a:schemeClr val="tx1"/>
          </a:fontRef>
        </p:style>
      </p:cxnSp>
      <p:cxnSp>
        <p:nvCxnSpPr>
          <p:cNvPr id="18" name="Connecteur droit 17"/>
          <p:cNvCxnSpPr>
            <a:stCxn id="14" idx="2"/>
            <a:endCxn id="13" idx="0"/>
          </p:cNvCxnSpPr>
          <p:nvPr/>
        </p:nvCxnSpPr>
        <p:spPr>
          <a:xfrm flipH="1">
            <a:off x="8513276" y="3581401"/>
            <a:ext cx="745024" cy="806733"/>
          </a:xfrm>
          <a:prstGeom prst="line">
            <a:avLst/>
          </a:prstGeom>
        </p:spPr>
        <p:style>
          <a:lnRef idx="1">
            <a:schemeClr val="dk1"/>
          </a:lnRef>
          <a:fillRef idx="0">
            <a:schemeClr val="dk1"/>
          </a:fillRef>
          <a:effectRef idx="0">
            <a:schemeClr val="dk1"/>
          </a:effectRef>
          <a:fontRef idx="minor">
            <a:schemeClr val="tx1"/>
          </a:fontRef>
        </p:style>
      </p:cxnSp>
      <p:cxnSp>
        <p:nvCxnSpPr>
          <p:cNvPr id="20" name="Connecteur droit 19"/>
          <p:cNvCxnSpPr>
            <a:stCxn id="14" idx="2"/>
            <a:endCxn id="12" idx="0"/>
          </p:cNvCxnSpPr>
          <p:nvPr/>
        </p:nvCxnSpPr>
        <p:spPr>
          <a:xfrm>
            <a:off x="9258300" y="3581401"/>
            <a:ext cx="821224" cy="807924"/>
          </a:xfrm>
          <a:prstGeom prst="line">
            <a:avLst/>
          </a:prstGeom>
        </p:spPr>
        <p:style>
          <a:lnRef idx="1">
            <a:schemeClr val="dk1"/>
          </a:lnRef>
          <a:fillRef idx="0">
            <a:schemeClr val="dk1"/>
          </a:fillRef>
          <a:effectRef idx="0">
            <a:schemeClr val="dk1"/>
          </a:effectRef>
          <a:fontRef idx="minor">
            <a:schemeClr val="tx1"/>
          </a:fontRef>
        </p:style>
      </p:cxnSp>
      <p:cxnSp>
        <p:nvCxnSpPr>
          <p:cNvPr id="23" name="Connecteur droit avec flèche 22"/>
          <p:cNvCxnSpPr>
            <a:stCxn id="4" idx="3"/>
            <a:endCxn id="14" idx="1"/>
          </p:cNvCxnSpPr>
          <p:nvPr/>
        </p:nvCxnSpPr>
        <p:spPr>
          <a:xfrm>
            <a:off x="8290962" y="3281618"/>
            <a:ext cx="853038" cy="17379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ZoneTexte 25"/>
          <p:cNvSpPr txBox="1"/>
          <p:nvPr/>
        </p:nvSpPr>
        <p:spPr>
          <a:xfrm>
            <a:off x="9258300" y="2598979"/>
            <a:ext cx="228600" cy="276999"/>
          </a:xfrm>
          <a:prstGeom prst="rect">
            <a:avLst/>
          </a:prstGeom>
          <a:noFill/>
        </p:spPr>
        <p:txBody>
          <a:bodyPr wrap="square" rtlCol="0">
            <a:spAutoFit/>
          </a:bodyPr>
          <a:lstStyle/>
          <a:p>
            <a:r>
              <a:rPr lang="fr-FR" sz="1200" dirty="0"/>
              <a:t>1</a:t>
            </a:r>
          </a:p>
        </p:txBody>
      </p:sp>
      <p:sp>
        <p:nvSpPr>
          <p:cNvPr id="27" name="ZoneTexte 26"/>
          <p:cNvSpPr txBox="1"/>
          <p:nvPr/>
        </p:nvSpPr>
        <p:spPr>
          <a:xfrm>
            <a:off x="8264797" y="4065635"/>
            <a:ext cx="228600" cy="276999"/>
          </a:xfrm>
          <a:prstGeom prst="rect">
            <a:avLst/>
          </a:prstGeom>
          <a:noFill/>
        </p:spPr>
        <p:txBody>
          <a:bodyPr wrap="square" rtlCol="0">
            <a:spAutoFit/>
          </a:bodyPr>
          <a:lstStyle/>
          <a:p>
            <a:r>
              <a:rPr lang="fr-FR" sz="1200" dirty="0"/>
              <a:t>1</a:t>
            </a:r>
          </a:p>
        </p:txBody>
      </p:sp>
      <p:sp>
        <p:nvSpPr>
          <p:cNvPr id="28" name="ZoneTexte 27"/>
          <p:cNvSpPr txBox="1"/>
          <p:nvPr/>
        </p:nvSpPr>
        <p:spPr>
          <a:xfrm>
            <a:off x="10155724" y="4111135"/>
            <a:ext cx="554524" cy="276999"/>
          </a:xfrm>
          <a:prstGeom prst="rect">
            <a:avLst/>
          </a:prstGeom>
          <a:noFill/>
        </p:spPr>
        <p:txBody>
          <a:bodyPr wrap="square" rtlCol="0">
            <a:spAutoFit/>
          </a:bodyPr>
          <a:lstStyle/>
          <a:p>
            <a:r>
              <a:rPr lang="fr-FR" sz="1200" dirty="0"/>
              <a:t>1..n</a:t>
            </a:r>
          </a:p>
        </p:txBody>
      </p:sp>
    </p:spTree>
    <p:extLst>
      <p:ext uri="{BB962C8B-B14F-4D97-AF65-F5344CB8AC3E}">
        <p14:creationId xmlns:p14="http://schemas.microsoft.com/office/powerpoint/2010/main" val="2502241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7309484" cy="756920"/>
          </a:xfrm>
          <a:prstGeom prst="rect">
            <a:avLst/>
          </a:prstGeom>
        </p:spPr>
        <p:txBody>
          <a:bodyPr vert="horz" wrap="square" lIns="0" tIns="12700" rIns="0" bIns="0" rtlCol="0">
            <a:spAutoFit/>
          </a:bodyPr>
          <a:lstStyle/>
          <a:p>
            <a:pPr marL="12700">
              <a:lnSpc>
                <a:spcPct val="100000"/>
              </a:lnSpc>
              <a:spcBef>
                <a:spcPts val="100"/>
              </a:spcBef>
            </a:pPr>
            <a:r>
              <a:rPr spc="-80" dirty="0"/>
              <a:t>Associations</a:t>
            </a:r>
            <a:r>
              <a:rPr spc="220" dirty="0"/>
              <a:t> </a:t>
            </a:r>
            <a:r>
              <a:rPr lang="fr-FR" spc="-80" dirty="0" err="1"/>
              <a:t>n-aire</a:t>
            </a:r>
            <a:endParaRPr spc="-80" dirty="0"/>
          </a:p>
        </p:txBody>
      </p:sp>
      <p:sp>
        <p:nvSpPr>
          <p:cNvPr id="3" name="object 3"/>
          <p:cNvSpPr txBox="1"/>
          <p:nvPr/>
        </p:nvSpPr>
        <p:spPr>
          <a:xfrm>
            <a:off x="1287780" y="1250899"/>
            <a:ext cx="9554845" cy="333424"/>
          </a:xfrm>
          <a:prstGeom prst="rect">
            <a:avLst/>
          </a:prstGeom>
        </p:spPr>
        <p:txBody>
          <a:bodyPr vert="horz" wrap="square" lIns="0" tIns="55879" rIns="0" bIns="0" rtlCol="0">
            <a:spAutoFit/>
          </a:bodyPr>
          <a:lstStyle/>
          <a:p>
            <a:pPr marL="216535" indent="-204470">
              <a:lnSpc>
                <a:spcPct val="100000"/>
              </a:lnSpc>
              <a:spcBef>
                <a:spcPts val="439"/>
              </a:spcBef>
              <a:buClr>
                <a:srgbClr val="E48312"/>
              </a:buClr>
              <a:buSzPct val="94444"/>
              <a:buFont typeface="Wingdings"/>
              <a:buChar char=""/>
              <a:tabLst>
                <a:tab pos="217170" algn="l"/>
              </a:tabLst>
            </a:pPr>
            <a:r>
              <a:rPr lang="fr-FR" spc="-10" dirty="0">
                <a:solidFill>
                  <a:srgbClr val="404040"/>
                </a:solidFill>
                <a:cs typeface="Calibri"/>
              </a:rPr>
              <a:t>il s'agit d'une association qui relie plus de deux classes...</a:t>
            </a:r>
          </a:p>
        </p:txBody>
      </p:sp>
      <p:sp>
        <p:nvSpPr>
          <p:cNvPr id="11" name="Rectangle 10"/>
          <p:cNvSpPr/>
          <p:nvPr/>
        </p:nvSpPr>
        <p:spPr>
          <a:xfrm>
            <a:off x="8620241" y="2121009"/>
            <a:ext cx="1261448" cy="48619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Professeur</a:t>
            </a:r>
          </a:p>
        </p:txBody>
      </p:sp>
      <p:sp>
        <p:nvSpPr>
          <p:cNvPr id="12" name="Rectangle 11"/>
          <p:cNvSpPr/>
          <p:nvPr/>
        </p:nvSpPr>
        <p:spPr>
          <a:xfrm>
            <a:off x="10166286" y="3197796"/>
            <a:ext cx="1261448" cy="48619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Etudiant</a:t>
            </a:r>
          </a:p>
        </p:txBody>
      </p:sp>
      <p:sp>
        <p:nvSpPr>
          <p:cNvPr id="13" name="Rectangle 12"/>
          <p:cNvSpPr/>
          <p:nvPr/>
        </p:nvSpPr>
        <p:spPr>
          <a:xfrm>
            <a:off x="7152567" y="3234216"/>
            <a:ext cx="1261448" cy="48619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Salle</a:t>
            </a:r>
          </a:p>
        </p:txBody>
      </p:sp>
      <p:sp>
        <p:nvSpPr>
          <p:cNvPr id="14" name="Losange 13"/>
          <p:cNvSpPr/>
          <p:nvPr/>
        </p:nvSpPr>
        <p:spPr>
          <a:xfrm>
            <a:off x="9144000" y="3329417"/>
            <a:ext cx="228600" cy="251984"/>
          </a:xfrm>
          <a:prstGeom prst="diamon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cxnSp>
        <p:nvCxnSpPr>
          <p:cNvPr id="16" name="Connecteur droit 15"/>
          <p:cNvCxnSpPr>
            <a:stCxn id="11" idx="2"/>
            <a:endCxn id="14" idx="0"/>
          </p:cNvCxnSpPr>
          <p:nvPr/>
        </p:nvCxnSpPr>
        <p:spPr>
          <a:xfrm>
            <a:off x="9250965" y="2607206"/>
            <a:ext cx="7335" cy="722211"/>
          </a:xfrm>
          <a:prstGeom prst="line">
            <a:avLst/>
          </a:prstGeom>
        </p:spPr>
        <p:style>
          <a:lnRef idx="1">
            <a:schemeClr val="dk1"/>
          </a:lnRef>
          <a:fillRef idx="0">
            <a:schemeClr val="dk1"/>
          </a:fillRef>
          <a:effectRef idx="0">
            <a:schemeClr val="dk1"/>
          </a:effectRef>
          <a:fontRef idx="minor">
            <a:schemeClr val="tx1"/>
          </a:fontRef>
        </p:style>
      </p:cxnSp>
      <p:cxnSp>
        <p:nvCxnSpPr>
          <p:cNvPr id="18" name="Connecteur droit 17"/>
          <p:cNvCxnSpPr>
            <a:stCxn id="14" idx="1"/>
            <a:endCxn id="13" idx="3"/>
          </p:cNvCxnSpPr>
          <p:nvPr/>
        </p:nvCxnSpPr>
        <p:spPr>
          <a:xfrm flipH="1">
            <a:off x="8414015" y="3455409"/>
            <a:ext cx="729985" cy="21906"/>
          </a:xfrm>
          <a:prstGeom prst="line">
            <a:avLst/>
          </a:prstGeom>
        </p:spPr>
        <p:style>
          <a:lnRef idx="1">
            <a:schemeClr val="dk1"/>
          </a:lnRef>
          <a:fillRef idx="0">
            <a:schemeClr val="dk1"/>
          </a:fillRef>
          <a:effectRef idx="0">
            <a:schemeClr val="dk1"/>
          </a:effectRef>
          <a:fontRef idx="minor">
            <a:schemeClr val="tx1"/>
          </a:fontRef>
        </p:style>
      </p:cxnSp>
      <p:cxnSp>
        <p:nvCxnSpPr>
          <p:cNvPr id="20" name="Connecteur droit 19"/>
          <p:cNvCxnSpPr>
            <a:stCxn id="14" idx="3"/>
            <a:endCxn id="12" idx="1"/>
          </p:cNvCxnSpPr>
          <p:nvPr/>
        </p:nvCxnSpPr>
        <p:spPr>
          <a:xfrm flipV="1">
            <a:off x="9372600" y="3440895"/>
            <a:ext cx="793686" cy="14514"/>
          </a:xfrm>
          <a:prstGeom prst="line">
            <a:avLst/>
          </a:prstGeom>
        </p:spPr>
        <p:style>
          <a:lnRef idx="1">
            <a:schemeClr val="dk1"/>
          </a:lnRef>
          <a:fillRef idx="0">
            <a:schemeClr val="dk1"/>
          </a:fillRef>
          <a:effectRef idx="0">
            <a:schemeClr val="dk1"/>
          </a:effectRef>
          <a:fontRef idx="minor">
            <a:schemeClr val="tx1"/>
          </a:fontRef>
        </p:style>
      </p:cxnSp>
      <p:sp>
        <p:nvSpPr>
          <p:cNvPr id="26" name="ZoneTexte 25"/>
          <p:cNvSpPr txBox="1"/>
          <p:nvPr/>
        </p:nvSpPr>
        <p:spPr>
          <a:xfrm>
            <a:off x="9258300" y="2598979"/>
            <a:ext cx="228600" cy="276999"/>
          </a:xfrm>
          <a:prstGeom prst="rect">
            <a:avLst/>
          </a:prstGeom>
          <a:noFill/>
        </p:spPr>
        <p:txBody>
          <a:bodyPr wrap="square" rtlCol="0">
            <a:spAutoFit/>
          </a:bodyPr>
          <a:lstStyle/>
          <a:p>
            <a:r>
              <a:rPr lang="fr-FR" sz="1200" dirty="0"/>
              <a:t>1</a:t>
            </a:r>
          </a:p>
        </p:txBody>
      </p:sp>
      <p:sp>
        <p:nvSpPr>
          <p:cNvPr id="27" name="ZoneTexte 26"/>
          <p:cNvSpPr txBox="1"/>
          <p:nvPr/>
        </p:nvSpPr>
        <p:spPr>
          <a:xfrm>
            <a:off x="8410707" y="3234216"/>
            <a:ext cx="228600" cy="276999"/>
          </a:xfrm>
          <a:prstGeom prst="rect">
            <a:avLst/>
          </a:prstGeom>
          <a:noFill/>
        </p:spPr>
        <p:txBody>
          <a:bodyPr wrap="square" rtlCol="0">
            <a:spAutoFit/>
          </a:bodyPr>
          <a:lstStyle/>
          <a:p>
            <a:r>
              <a:rPr lang="fr-FR" sz="1200" dirty="0"/>
              <a:t>1</a:t>
            </a:r>
          </a:p>
        </p:txBody>
      </p:sp>
      <p:sp>
        <p:nvSpPr>
          <p:cNvPr id="28" name="ZoneTexte 27"/>
          <p:cNvSpPr txBox="1"/>
          <p:nvPr/>
        </p:nvSpPr>
        <p:spPr>
          <a:xfrm>
            <a:off x="9791214" y="3189363"/>
            <a:ext cx="554524" cy="276999"/>
          </a:xfrm>
          <a:prstGeom prst="rect">
            <a:avLst/>
          </a:prstGeom>
          <a:noFill/>
        </p:spPr>
        <p:txBody>
          <a:bodyPr wrap="square" rtlCol="0">
            <a:spAutoFit/>
          </a:bodyPr>
          <a:lstStyle/>
          <a:p>
            <a:r>
              <a:rPr lang="fr-FR" sz="1200" dirty="0"/>
              <a:t>1..*</a:t>
            </a:r>
          </a:p>
        </p:txBody>
      </p:sp>
      <p:graphicFrame>
        <p:nvGraphicFramePr>
          <p:cNvPr id="17" name="Tableau 16"/>
          <p:cNvGraphicFramePr>
            <a:graphicFrameLocks noGrp="1"/>
          </p:cNvGraphicFramePr>
          <p:nvPr>
            <p:extLst>
              <p:ext uri="{D42A27DB-BD31-4B8C-83A1-F6EECF244321}">
                <p14:modId xmlns:p14="http://schemas.microsoft.com/office/powerpoint/2010/main" val="3679445478"/>
              </p:ext>
            </p:extLst>
          </p:nvPr>
        </p:nvGraphicFramePr>
        <p:xfrm>
          <a:off x="8819165" y="4289098"/>
          <a:ext cx="863600" cy="1010920"/>
        </p:xfrm>
        <a:graphic>
          <a:graphicData uri="http://schemas.openxmlformats.org/drawingml/2006/table">
            <a:tbl>
              <a:tblPr firstRow="1" bandRow="1">
                <a:tableStyleId>{5C22544A-7EE6-4342-B048-85BDC9FD1C3A}</a:tableStyleId>
              </a:tblPr>
              <a:tblGrid>
                <a:gridCol w="863600">
                  <a:extLst>
                    <a:ext uri="{9D8B030D-6E8A-4147-A177-3AD203B41FA5}">
                      <a16:colId xmlns:a16="http://schemas.microsoft.com/office/drawing/2014/main" val="3191501316"/>
                    </a:ext>
                  </a:extLst>
                </a:gridCol>
              </a:tblGrid>
              <a:tr h="370840">
                <a:tc>
                  <a:txBody>
                    <a:bodyPr/>
                    <a:lstStyle/>
                    <a:p>
                      <a:pPr algn="ctr"/>
                      <a:r>
                        <a:rPr lang="fr-FR" b="0" dirty="0">
                          <a:solidFill>
                            <a:schemeClr val="tx1">
                              <a:lumMod val="65000"/>
                              <a:lumOff val="35000"/>
                            </a:schemeClr>
                          </a:solidFill>
                          <a:latin typeface="Agency FB" panose="020B0503020202020204" pitchFamily="34" charset="0"/>
                        </a:rPr>
                        <a:t>Cours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D"/>
                    </a:solidFill>
                  </a:tcPr>
                </a:tc>
                <a:extLst>
                  <a:ext uri="{0D108BD9-81ED-4DB2-BD59-A6C34878D82A}">
                    <a16:rowId xmlns:a16="http://schemas.microsoft.com/office/drawing/2014/main" val="2814250330"/>
                  </a:ext>
                </a:extLst>
              </a:tr>
              <a:tr h="370840">
                <a:tc>
                  <a:txBody>
                    <a:bodyPr/>
                    <a:lstStyle/>
                    <a:p>
                      <a:pPr algn="ctr"/>
                      <a:r>
                        <a:rPr lang="fr-FR" b="0" dirty="0">
                          <a:solidFill>
                            <a:schemeClr val="tx1">
                              <a:lumMod val="65000"/>
                              <a:lumOff val="35000"/>
                            </a:schemeClr>
                          </a:solidFill>
                          <a:latin typeface="Agency FB" panose="020B0503020202020204" pitchFamily="34" charset="0"/>
                        </a:rPr>
                        <a:t>Début</a:t>
                      </a:r>
                    </a:p>
                    <a:p>
                      <a:pPr algn="ctr"/>
                      <a:r>
                        <a:rPr lang="fr-FR" b="0" dirty="0">
                          <a:solidFill>
                            <a:schemeClr val="tx1">
                              <a:lumMod val="65000"/>
                              <a:lumOff val="35000"/>
                            </a:schemeClr>
                          </a:solidFill>
                          <a:latin typeface="Agency FB" panose="020B0503020202020204" pitchFamily="34" charset="0"/>
                        </a:rPr>
                        <a:t>Fin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D"/>
                    </a:solidFill>
                  </a:tcPr>
                </a:tc>
                <a:extLst>
                  <a:ext uri="{0D108BD9-81ED-4DB2-BD59-A6C34878D82A}">
                    <a16:rowId xmlns:a16="http://schemas.microsoft.com/office/drawing/2014/main" val="2747516403"/>
                  </a:ext>
                </a:extLst>
              </a:tr>
            </a:tbl>
          </a:graphicData>
        </a:graphic>
      </p:graphicFrame>
      <p:cxnSp>
        <p:nvCxnSpPr>
          <p:cNvPr id="21" name="Connecteur droit 20"/>
          <p:cNvCxnSpPr>
            <a:stCxn id="14" idx="2"/>
            <a:endCxn id="17" idx="0"/>
          </p:cNvCxnSpPr>
          <p:nvPr/>
        </p:nvCxnSpPr>
        <p:spPr>
          <a:xfrm flipH="1">
            <a:off x="9250965" y="3581401"/>
            <a:ext cx="7335" cy="70769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636305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4660900" cy="756920"/>
          </a:xfrm>
          <a:prstGeom prst="rect">
            <a:avLst/>
          </a:prstGeom>
        </p:spPr>
        <p:txBody>
          <a:bodyPr vert="horz" wrap="square" lIns="0" tIns="12700" rIns="0" bIns="0" rtlCol="0">
            <a:spAutoFit/>
          </a:bodyPr>
          <a:lstStyle/>
          <a:p>
            <a:pPr marL="12700">
              <a:lnSpc>
                <a:spcPct val="100000"/>
              </a:lnSpc>
              <a:spcBef>
                <a:spcPts val="100"/>
              </a:spcBef>
            </a:pPr>
            <a:r>
              <a:rPr spc="-55" dirty="0"/>
              <a:t>Classe</a:t>
            </a:r>
            <a:r>
              <a:rPr spc="-135" dirty="0"/>
              <a:t> </a:t>
            </a:r>
            <a:r>
              <a:rPr spc="-105" dirty="0"/>
              <a:t>d’association</a:t>
            </a:r>
          </a:p>
        </p:txBody>
      </p:sp>
      <p:sp>
        <p:nvSpPr>
          <p:cNvPr id="3" name="object 3"/>
          <p:cNvSpPr txBox="1"/>
          <p:nvPr/>
        </p:nvSpPr>
        <p:spPr>
          <a:xfrm>
            <a:off x="1084580" y="1128979"/>
            <a:ext cx="9455150" cy="887422"/>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lang="fr-FR" spc="15" dirty="0">
                <a:solidFill>
                  <a:srgbClr val="404040"/>
                </a:solidFill>
                <a:cs typeface="Calibri"/>
              </a:rPr>
              <a:t>Le lien entre les instances de classe peuvent porter des informations.</a:t>
            </a:r>
          </a:p>
          <a:p>
            <a:pPr marL="241300" indent="-228600">
              <a:lnSpc>
                <a:spcPct val="100000"/>
              </a:lnSpc>
              <a:spcBef>
                <a:spcPts val="1300"/>
              </a:spcBef>
              <a:buClr>
                <a:srgbClr val="E48312"/>
              </a:buClr>
              <a:buSzPct val="95000"/>
              <a:buFont typeface="Wingdings"/>
              <a:buChar char=""/>
              <a:tabLst>
                <a:tab pos="241300" algn="l"/>
              </a:tabLst>
            </a:pPr>
            <a:r>
              <a:rPr lang="fr-FR" spc="15" dirty="0">
                <a:solidFill>
                  <a:srgbClr val="404040"/>
                </a:solidFill>
                <a:cs typeface="Calibri"/>
              </a:rPr>
              <a:t>Dans ce cas, l’association qui décrit de tels liens reçoit le statut de classe.</a:t>
            </a:r>
            <a:endParaRPr lang="fr-FR" spc="15" dirty="0">
              <a:solidFill>
                <a:srgbClr val="404040"/>
              </a:solidFill>
              <a:latin typeface="Calibri"/>
              <a:cs typeface="Calibri"/>
            </a:endParaRPr>
          </a:p>
        </p:txBody>
      </p:sp>
      <p:sp>
        <p:nvSpPr>
          <p:cNvPr id="5" name="Rectangle 4"/>
          <p:cNvSpPr/>
          <p:nvPr/>
        </p:nvSpPr>
        <p:spPr>
          <a:xfrm>
            <a:off x="1150619" y="4114800"/>
            <a:ext cx="9970952" cy="1508105"/>
          </a:xfrm>
          <a:prstGeom prst="rect">
            <a:avLst/>
          </a:prstGeom>
        </p:spPr>
        <p:txBody>
          <a:bodyPr wrap="square">
            <a:spAutoFit/>
          </a:bodyPr>
          <a:lstStyle/>
          <a:p>
            <a:pPr marL="241300" indent="-228600">
              <a:lnSpc>
                <a:spcPct val="100000"/>
              </a:lnSpc>
              <a:spcBef>
                <a:spcPts val="1300"/>
              </a:spcBef>
              <a:buClr>
                <a:srgbClr val="E48312"/>
              </a:buClr>
              <a:buSzPct val="95000"/>
              <a:buFont typeface="Wingdings"/>
              <a:buChar char=""/>
              <a:tabLst>
                <a:tab pos="241300" algn="l"/>
              </a:tabLst>
            </a:pPr>
            <a:r>
              <a:rPr lang="fr-FR" spc="15" dirty="0">
                <a:solidFill>
                  <a:srgbClr val="404040"/>
                </a:solidFill>
                <a:cs typeface="Calibri"/>
              </a:rPr>
              <a:t>U</a:t>
            </a:r>
            <a:r>
              <a:rPr lang="fr-FR" spc="50" dirty="0">
                <a:solidFill>
                  <a:srgbClr val="404040"/>
                </a:solidFill>
                <a:cs typeface="Calibri"/>
              </a:rPr>
              <a:t>n</a:t>
            </a:r>
            <a:r>
              <a:rPr lang="fr-FR" dirty="0">
                <a:solidFill>
                  <a:srgbClr val="404040"/>
                </a:solidFill>
                <a:cs typeface="Calibri"/>
              </a:rPr>
              <a:t>e</a:t>
            </a:r>
            <a:r>
              <a:rPr lang="fr-FR" spc="-50" dirty="0">
                <a:solidFill>
                  <a:srgbClr val="404040"/>
                </a:solidFill>
                <a:cs typeface="Calibri"/>
              </a:rPr>
              <a:t> </a:t>
            </a:r>
            <a:r>
              <a:rPr lang="fr-FR" spc="45" dirty="0">
                <a:solidFill>
                  <a:srgbClr val="404040"/>
                </a:solidFill>
                <a:cs typeface="Calibri"/>
              </a:rPr>
              <a:t>p</a:t>
            </a:r>
            <a:r>
              <a:rPr lang="fr-FR" dirty="0">
                <a:solidFill>
                  <a:srgbClr val="404040"/>
                </a:solidFill>
                <a:cs typeface="Calibri"/>
              </a:rPr>
              <a:t>er</a:t>
            </a:r>
            <a:r>
              <a:rPr lang="fr-FR" spc="15" dirty="0">
                <a:solidFill>
                  <a:srgbClr val="404040"/>
                </a:solidFill>
                <a:cs typeface="Calibri"/>
              </a:rPr>
              <a:t>s</a:t>
            </a:r>
            <a:r>
              <a:rPr lang="fr-FR" spc="45" dirty="0">
                <a:solidFill>
                  <a:srgbClr val="404040"/>
                </a:solidFill>
                <a:cs typeface="Calibri"/>
              </a:rPr>
              <a:t>onn</a:t>
            </a:r>
            <a:r>
              <a:rPr lang="fr-FR" dirty="0">
                <a:solidFill>
                  <a:srgbClr val="404040"/>
                </a:solidFill>
                <a:cs typeface="Calibri"/>
              </a:rPr>
              <a:t>e</a:t>
            </a:r>
            <a:r>
              <a:rPr lang="fr-FR" spc="-150" dirty="0">
                <a:solidFill>
                  <a:srgbClr val="404040"/>
                </a:solidFill>
                <a:cs typeface="Calibri"/>
              </a:rPr>
              <a:t> </a:t>
            </a:r>
            <a:r>
              <a:rPr lang="fr-FR" dirty="0">
                <a:solidFill>
                  <a:srgbClr val="404040"/>
                </a:solidFill>
                <a:cs typeface="Calibri"/>
              </a:rPr>
              <a:t>e</a:t>
            </a:r>
            <a:r>
              <a:rPr lang="fr-FR" spc="15" dirty="0">
                <a:solidFill>
                  <a:srgbClr val="404040"/>
                </a:solidFill>
                <a:cs typeface="Calibri"/>
              </a:rPr>
              <a:t>s</a:t>
            </a:r>
            <a:r>
              <a:rPr lang="fr-FR" dirty="0">
                <a:solidFill>
                  <a:srgbClr val="404040"/>
                </a:solidFill>
                <a:cs typeface="Calibri"/>
              </a:rPr>
              <a:t>t</a:t>
            </a:r>
            <a:r>
              <a:rPr lang="fr-FR" spc="-125" dirty="0">
                <a:solidFill>
                  <a:srgbClr val="404040"/>
                </a:solidFill>
                <a:cs typeface="Calibri"/>
              </a:rPr>
              <a:t> </a:t>
            </a:r>
            <a:r>
              <a:rPr lang="fr-FR" dirty="0">
                <a:solidFill>
                  <a:srgbClr val="404040"/>
                </a:solidFill>
                <a:cs typeface="Calibri"/>
              </a:rPr>
              <a:t>em</a:t>
            </a:r>
            <a:r>
              <a:rPr lang="fr-FR" spc="45" dirty="0">
                <a:solidFill>
                  <a:srgbClr val="404040"/>
                </a:solidFill>
                <a:cs typeface="Calibri"/>
              </a:rPr>
              <a:t>p</a:t>
            </a:r>
            <a:r>
              <a:rPr lang="fr-FR" spc="40" dirty="0">
                <a:solidFill>
                  <a:srgbClr val="404040"/>
                </a:solidFill>
                <a:cs typeface="Calibri"/>
              </a:rPr>
              <a:t>l</a:t>
            </a:r>
            <a:r>
              <a:rPr lang="fr-FR" spc="45" dirty="0">
                <a:solidFill>
                  <a:srgbClr val="404040"/>
                </a:solidFill>
                <a:cs typeface="Calibri"/>
              </a:rPr>
              <a:t>o</a:t>
            </a:r>
            <a:r>
              <a:rPr lang="fr-FR" spc="-10" dirty="0">
                <a:solidFill>
                  <a:srgbClr val="404040"/>
                </a:solidFill>
                <a:cs typeface="Calibri"/>
              </a:rPr>
              <a:t>y</a:t>
            </a:r>
            <a:r>
              <a:rPr lang="fr-FR" dirty="0">
                <a:solidFill>
                  <a:srgbClr val="404040"/>
                </a:solidFill>
                <a:cs typeface="Calibri"/>
              </a:rPr>
              <a:t>é</a:t>
            </a:r>
            <a:r>
              <a:rPr lang="fr-FR" spc="-150" dirty="0">
                <a:solidFill>
                  <a:srgbClr val="404040"/>
                </a:solidFill>
                <a:cs typeface="Calibri"/>
              </a:rPr>
              <a:t> </a:t>
            </a:r>
            <a:r>
              <a:rPr lang="fr-FR" spc="45" dirty="0">
                <a:solidFill>
                  <a:srgbClr val="404040"/>
                </a:solidFill>
                <a:cs typeface="Calibri"/>
              </a:rPr>
              <a:t>d</a:t>
            </a:r>
            <a:r>
              <a:rPr lang="fr-FR" spc="40" dirty="0">
                <a:solidFill>
                  <a:srgbClr val="404040"/>
                </a:solidFill>
                <a:cs typeface="Calibri"/>
              </a:rPr>
              <a:t>a</a:t>
            </a:r>
            <a:r>
              <a:rPr lang="fr-FR" spc="45" dirty="0">
                <a:solidFill>
                  <a:srgbClr val="404040"/>
                </a:solidFill>
                <a:cs typeface="Calibri"/>
              </a:rPr>
              <a:t>n</a:t>
            </a:r>
            <a:r>
              <a:rPr lang="fr-FR" dirty="0">
                <a:solidFill>
                  <a:srgbClr val="404040"/>
                </a:solidFill>
                <a:cs typeface="Calibri"/>
              </a:rPr>
              <a:t>s</a:t>
            </a:r>
            <a:r>
              <a:rPr lang="fr-FR" spc="-135" dirty="0">
                <a:solidFill>
                  <a:srgbClr val="404040"/>
                </a:solidFill>
                <a:cs typeface="Calibri"/>
              </a:rPr>
              <a:t> </a:t>
            </a:r>
            <a:r>
              <a:rPr lang="fr-FR" dirty="0">
                <a:solidFill>
                  <a:srgbClr val="404040"/>
                </a:solidFill>
                <a:cs typeface="Calibri"/>
              </a:rPr>
              <a:t>1</a:t>
            </a:r>
            <a:r>
              <a:rPr lang="fr-FR" spc="-70" dirty="0">
                <a:solidFill>
                  <a:srgbClr val="404040"/>
                </a:solidFill>
                <a:cs typeface="Calibri"/>
              </a:rPr>
              <a:t> </a:t>
            </a:r>
            <a:r>
              <a:rPr lang="fr-FR" spc="45" dirty="0">
                <a:solidFill>
                  <a:srgbClr val="404040"/>
                </a:solidFill>
                <a:cs typeface="Calibri"/>
              </a:rPr>
              <a:t>o</a:t>
            </a:r>
            <a:r>
              <a:rPr lang="fr-FR" dirty="0">
                <a:solidFill>
                  <a:srgbClr val="404040"/>
                </a:solidFill>
                <a:cs typeface="Calibri"/>
              </a:rPr>
              <a:t>u</a:t>
            </a:r>
            <a:r>
              <a:rPr lang="fr-FR" spc="-5" dirty="0">
                <a:solidFill>
                  <a:srgbClr val="404040"/>
                </a:solidFill>
                <a:cs typeface="Calibri"/>
              </a:rPr>
              <a:t> </a:t>
            </a:r>
            <a:r>
              <a:rPr lang="fr-FR" spc="45" dirty="0">
                <a:solidFill>
                  <a:srgbClr val="404040"/>
                </a:solidFill>
                <a:cs typeface="Calibri"/>
              </a:rPr>
              <a:t>p</a:t>
            </a:r>
            <a:r>
              <a:rPr lang="fr-FR" spc="40" dirty="0">
                <a:solidFill>
                  <a:srgbClr val="404040"/>
                </a:solidFill>
                <a:cs typeface="Calibri"/>
              </a:rPr>
              <a:t>l</a:t>
            </a:r>
            <a:r>
              <a:rPr lang="fr-FR" spc="45" dirty="0">
                <a:solidFill>
                  <a:srgbClr val="404040"/>
                </a:solidFill>
                <a:cs typeface="Calibri"/>
              </a:rPr>
              <a:t>u</a:t>
            </a:r>
            <a:r>
              <a:rPr lang="fr-FR" spc="15" dirty="0">
                <a:solidFill>
                  <a:srgbClr val="404040"/>
                </a:solidFill>
                <a:cs typeface="Calibri"/>
              </a:rPr>
              <a:t>s</a:t>
            </a:r>
            <a:r>
              <a:rPr lang="fr-FR" spc="40" dirty="0">
                <a:solidFill>
                  <a:srgbClr val="404040"/>
                </a:solidFill>
                <a:cs typeface="Calibri"/>
              </a:rPr>
              <a:t>i</a:t>
            </a:r>
            <a:r>
              <a:rPr lang="fr-FR" dirty="0">
                <a:solidFill>
                  <a:srgbClr val="404040"/>
                </a:solidFill>
                <a:cs typeface="Calibri"/>
              </a:rPr>
              <a:t>e</a:t>
            </a:r>
            <a:r>
              <a:rPr lang="fr-FR" spc="45" dirty="0">
                <a:solidFill>
                  <a:srgbClr val="404040"/>
                </a:solidFill>
                <a:cs typeface="Calibri"/>
              </a:rPr>
              <a:t>u</a:t>
            </a:r>
            <a:r>
              <a:rPr lang="fr-FR" dirty="0">
                <a:solidFill>
                  <a:srgbClr val="404040"/>
                </a:solidFill>
                <a:cs typeface="Calibri"/>
              </a:rPr>
              <a:t>rs</a:t>
            </a:r>
            <a:r>
              <a:rPr lang="fr-FR" spc="-135" dirty="0">
                <a:solidFill>
                  <a:srgbClr val="404040"/>
                </a:solidFill>
                <a:cs typeface="Calibri"/>
              </a:rPr>
              <a:t> </a:t>
            </a:r>
            <a:r>
              <a:rPr lang="fr-FR" spc="-50" dirty="0">
                <a:solidFill>
                  <a:srgbClr val="404040"/>
                </a:solidFill>
                <a:cs typeface="Calibri"/>
              </a:rPr>
              <a:t>entreprises.</a:t>
            </a:r>
            <a:endParaRPr lang="fr-FR" dirty="0">
              <a:cs typeface="Calibri"/>
            </a:endParaRPr>
          </a:p>
          <a:p>
            <a:pPr marL="241300" indent="-228600">
              <a:lnSpc>
                <a:spcPct val="100000"/>
              </a:lnSpc>
              <a:spcBef>
                <a:spcPts val="1200"/>
              </a:spcBef>
              <a:buClr>
                <a:srgbClr val="E48312"/>
              </a:buClr>
              <a:buSzPct val="95000"/>
              <a:buFont typeface="Wingdings"/>
              <a:buChar char=""/>
              <a:tabLst>
                <a:tab pos="241300" algn="l"/>
              </a:tabLst>
            </a:pPr>
            <a:r>
              <a:rPr lang="fr-FR" spc="15" dirty="0">
                <a:solidFill>
                  <a:srgbClr val="404040"/>
                </a:solidFill>
                <a:cs typeface="Calibri"/>
              </a:rPr>
              <a:t>U</a:t>
            </a:r>
            <a:r>
              <a:rPr lang="fr-FR" spc="50" dirty="0">
                <a:solidFill>
                  <a:srgbClr val="404040"/>
                </a:solidFill>
                <a:cs typeface="Calibri"/>
              </a:rPr>
              <a:t>n</a:t>
            </a:r>
            <a:r>
              <a:rPr lang="fr-FR" dirty="0">
                <a:solidFill>
                  <a:srgbClr val="404040"/>
                </a:solidFill>
                <a:cs typeface="Calibri"/>
              </a:rPr>
              <a:t>e</a:t>
            </a:r>
            <a:r>
              <a:rPr lang="fr-FR" spc="-50" dirty="0">
                <a:solidFill>
                  <a:srgbClr val="404040"/>
                </a:solidFill>
                <a:cs typeface="Calibri"/>
              </a:rPr>
              <a:t> entreprise</a:t>
            </a:r>
            <a:r>
              <a:rPr lang="fr-FR" spc="-150" dirty="0">
                <a:solidFill>
                  <a:srgbClr val="404040"/>
                </a:solidFill>
                <a:cs typeface="Calibri"/>
              </a:rPr>
              <a:t> </a:t>
            </a:r>
            <a:r>
              <a:rPr lang="fr-FR" dirty="0">
                <a:solidFill>
                  <a:srgbClr val="404040"/>
                </a:solidFill>
                <a:cs typeface="Calibri"/>
              </a:rPr>
              <a:t>em</a:t>
            </a:r>
            <a:r>
              <a:rPr lang="fr-FR" spc="45" dirty="0">
                <a:solidFill>
                  <a:srgbClr val="404040"/>
                </a:solidFill>
                <a:cs typeface="Calibri"/>
              </a:rPr>
              <a:t>p</a:t>
            </a:r>
            <a:r>
              <a:rPr lang="fr-FR" spc="40" dirty="0">
                <a:solidFill>
                  <a:srgbClr val="404040"/>
                </a:solidFill>
                <a:cs typeface="Calibri"/>
              </a:rPr>
              <a:t>l</a:t>
            </a:r>
            <a:r>
              <a:rPr lang="fr-FR" spc="45" dirty="0">
                <a:solidFill>
                  <a:srgbClr val="404040"/>
                </a:solidFill>
                <a:cs typeface="Calibri"/>
              </a:rPr>
              <a:t>o</a:t>
            </a:r>
            <a:r>
              <a:rPr lang="fr-FR" spc="40" dirty="0">
                <a:solidFill>
                  <a:srgbClr val="404040"/>
                </a:solidFill>
                <a:cs typeface="Calibri"/>
              </a:rPr>
              <a:t>i</a:t>
            </a:r>
            <a:r>
              <a:rPr lang="fr-FR" dirty="0">
                <a:solidFill>
                  <a:srgbClr val="404040"/>
                </a:solidFill>
                <a:cs typeface="Calibri"/>
              </a:rPr>
              <a:t>e</a:t>
            </a:r>
            <a:r>
              <a:rPr lang="fr-FR" spc="-150" dirty="0">
                <a:solidFill>
                  <a:srgbClr val="404040"/>
                </a:solidFill>
                <a:cs typeface="Calibri"/>
              </a:rPr>
              <a:t> </a:t>
            </a:r>
            <a:r>
              <a:rPr lang="fr-FR" dirty="0">
                <a:solidFill>
                  <a:srgbClr val="404040"/>
                </a:solidFill>
                <a:cs typeface="Calibri"/>
              </a:rPr>
              <a:t>1</a:t>
            </a:r>
            <a:r>
              <a:rPr lang="fr-FR" spc="-70" dirty="0">
                <a:solidFill>
                  <a:srgbClr val="404040"/>
                </a:solidFill>
                <a:cs typeface="Calibri"/>
              </a:rPr>
              <a:t> </a:t>
            </a:r>
            <a:r>
              <a:rPr lang="fr-FR" spc="45" dirty="0">
                <a:solidFill>
                  <a:srgbClr val="404040"/>
                </a:solidFill>
                <a:cs typeface="Calibri"/>
              </a:rPr>
              <a:t>o</a:t>
            </a:r>
            <a:r>
              <a:rPr lang="fr-FR" dirty="0">
                <a:solidFill>
                  <a:srgbClr val="404040"/>
                </a:solidFill>
                <a:cs typeface="Calibri"/>
              </a:rPr>
              <a:t>u</a:t>
            </a:r>
            <a:r>
              <a:rPr lang="fr-FR" spc="-5" dirty="0">
                <a:solidFill>
                  <a:srgbClr val="404040"/>
                </a:solidFill>
                <a:cs typeface="Calibri"/>
              </a:rPr>
              <a:t> </a:t>
            </a:r>
            <a:r>
              <a:rPr lang="fr-FR" spc="45" dirty="0">
                <a:solidFill>
                  <a:srgbClr val="404040"/>
                </a:solidFill>
                <a:cs typeface="Calibri"/>
              </a:rPr>
              <a:t>p</a:t>
            </a:r>
            <a:r>
              <a:rPr lang="fr-FR" spc="40" dirty="0">
                <a:solidFill>
                  <a:srgbClr val="404040"/>
                </a:solidFill>
                <a:cs typeface="Calibri"/>
              </a:rPr>
              <a:t>l</a:t>
            </a:r>
            <a:r>
              <a:rPr lang="fr-FR" spc="45" dirty="0">
                <a:solidFill>
                  <a:srgbClr val="404040"/>
                </a:solidFill>
                <a:cs typeface="Calibri"/>
              </a:rPr>
              <a:t>u</a:t>
            </a:r>
            <a:r>
              <a:rPr lang="fr-FR" spc="15" dirty="0">
                <a:solidFill>
                  <a:srgbClr val="404040"/>
                </a:solidFill>
                <a:cs typeface="Calibri"/>
              </a:rPr>
              <a:t>s</a:t>
            </a:r>
            <a:r>
              <a:rPr lang="fr-FR" spc="40" dirty="0">
                <a:solidFill>
                  <a:srgbClr val="404040"/>
                </a:solidFill>
                <a:cs typeface="Calibri"/>
              </a:rPr>
              <a:t>i</a:t>
            </a:r>
            <a:r>
              <a:rPr lang="fr-FR" dirty="0">
                <a:solidFill>
                  <a:srgbClr val="404040"/>
                </a:solidFill>
                <a:cs typeface="Calibri"/>
              </a:rPr>
              <a:t>e</a:t>
            </a:r>
            <a:r>
              <a:rPr lang="fr-FR" spc="45" dirty="0">
                <a:solidFill>
                  <a:srgbClr val="404040"/>
                </a:solidFill>
                <a:cs typeface="Calibri"/>
              </a:rPr>
              <a:t>u</a:t>
            </a:r>
            <a:r>
              <a:rPr lang="fr-FR" dirty="0">
                <a:solidFill>
                  <a:srgbClr val="404040"/>
                </a:solidFill>
                <a:cs typeface="Calibri"/>
              </a:rPr>
              <a:t>rs</a:t>
            </a:r>
            <a:r>
              <a:rPr lang="fr-FR" spc="-135" dirty="0">
                <a:solidFill>
                  <a:srgbClr val="404040"/>
                </a:solidFill>
                <a:cs typeface="Calibri"/>
              </a:rPr>
              <a:t> </a:t>
            </a:r>
            <a:r>
              <a:rPr lang="fr-FR" spc="45" dirty="0">
                <a:solidFill>
                  <a:srgbClr val="404040"/>
                </a:solidFill>
                <a:cs typeface="Calibri"/>
              </a:rPr>
              <a:t>p</a:t>
            </a:r>
            <a:r>
              <a:rPr lang="fr-FR" dirty="0">
                <a:solidFill>
                  <a:srgbClr val="404040"/>
                </a:solidFill>
                <a:cs typeface="Calibri"/>
              </a:rPr>
              <a:t>er</a:t>
            </a:r>
            <a:r>
              <a:rPr lang="fr-FR" spc="15" dirty="0">
                <a:solidFill>
                  <a:srgbClr val="404040"/>
                </a:solidFill>
                <a:cs typeface="Calibri"/>
              </a:rPr>
              <a:t>s</a:t>
            </a:r>
            <a:r>
              <a:rPr lang="fr-FR" spc="45" dirty="0">
                <a:solidFill>
                  <a:srgbClr val="404040"/>
                </a:solidFill>
                <a:cs typeface="Calibri"/>
              </a:rPr>
              <a:t>o</a:t>
            </a:r>
            <a:r>
              <a:rPr lang="fr-FR" spc="-55" dirty="0">
                <a:solidFill>
                  <a:srgbClr val="404040"/>
                </a:solidFill>
                <a:cs typeface="Calibri"/>
              </a:rPr>
              <a:t>n</a:t>
            </a:r>
            <a:r>
              <a:rPr lang="fr-FR" spc="45" dirty="0">
                <a:solidFill>
                  <a:srgbClr val="404040"/>
                </a:solidFill>
                <a:cs typeface="Calibri"/>
              </a:rPr>
              <a:t>n</a:t>
            </a:r>
            <a:r>
              <a:rPr lang="fr-FR" dirty="0">
                <a:solidFill>
                  <a:srgbClr val="404040"/>
                </a:solidFill>
                <a:cs typeface="Calibri"/>
              </a:rPr>
              <a:t>es.</a:t>
            </a:r>
            <a:endParaRPr lang="fr-FR" dirty="0">
              <a:cs typeface="Calibri"/>
            </a:endParaRPr>
          </a:p>
          <a:p>
            <a:pPr marL="241300" indent="-228600">
              <a:lnSpc>
                <a:spcPct val="100000"/>
              </a:lnSpc>
              <a:spcBef>
                <a:spcPts val="1200"/>
              </a:spcBef>
              <a:buClr>
                <a:srgbClr val="E48312"/>
              </a:buClr>
              <a:buSzPct val="95000"/>
              <a:buFont typeface="Wingdings"/>
              <a:buChar char=""/>
              <a:tabLst>
                <a:tab pos="241300" algn="l"/>
              </a:tabLst>
            </a:pPr>
            <a:r>
              <a:rPr lang="fr-FR" spc="10" dirty="0">
                <a:solidFill>
                  <a:srgbClr val="404040"/>
                </a:solidFill>
                <a:cs typeface="Calibri"/>
              </a:rPr>
              <a:t>Traduit</a:t>
            </a:r>
            <a:r>
              <a:rPr lang="fr-FR" spc="-120" dirty="0">
                <a:solidFill>
                  <a:srgbClr val="404040"/>
                </a:solidFill>
                <a:cs typeface="Calibri"/>
              </a:rPr>
              <a:t> </a:t>
            </a:r>
            <a:r>
              <a:rPr lang="fr-FR" spc="30" dirty="0">
                <a:solidFill>
                  <a:srgbClr val="404040"/>
                </a:solidFill>
                <a:cs typeface="Calibri"/>
              </a:rPr>
              <a:t>une</a:t>
            </a:r>
            <a:r>
              <a:rPr lang="fr-FR" spc="-145" dirty="0">
                <a:solidFill>
                  <a:srgbClr val="404040"/>
                </a:solidFill>
                <a:cs typeface="Calibri"/>
              </a:rPr>
              <a:t> </a:t>
            </a:r>
            <a:r>
              <a:rPr lang="fr-FR" spc="10" dirty="0">
                <a:solidFill>
                  <a:srgbClr val="404040"/>
                </a:solidFill>
                <a:cs typeface="Calibri"/>
              </a:rPr>
              <a:t>classe</a:t>
            </a:r>
            <a:r>
              <a:rPr lang="fr-FR" spc="-150" dirty="0">
                <a:solidFill>
                  <a:srgbClr val="404040"/>
                </a:solidFill>
                <a:cs typeface="Calibri"/>
              </a:rPr>
              <a:t> </a:t>
            </a:r>
            <a:r>
              <a:rPr lang="fr-FR" dirty="0">
                <a:solidFill>
                  <a:srgbClr val="404040"/>
                </a:solidFill>
                <a:cs typeface="Calibri"/>
              </a:rPr>
              <a:t>Emploi</a:t>
            </a:r>
            <a:r>
              <a:rPr lang="fr-FR" spc="5" dirty="0">
                <a:solidFill>
                  <a:srgbClr val="404040"/>
                </a:solidFill>
                <a:cs typeface="Calibri"/>
              </a:rPr>
              <a:t> </a:t>
            </a:r>
            <a:r>
              <a:rPr lang="fr-FR" spc="15" dirty="0">
                <a:solidFill>
                  <a:srgbClr val="404040"/>
                </a:solidFill>
                <a:cs typeface="Calibri"/>
              </a:rPr>
              <a:t>permettant</a:t>
            </a:r>
            <a:r>
              <a:rPr lang="fr-FR" spc="-120" dirty="0">
                <a:solidFill>
                  <a:srgbClr val="404040"/>
                </a:solidFill>
                <a:cs typeface="Calibri"/>
              </a:rPr>
              <a:t> </a:t>
            </a:r>
            <a:r>
              <a:rPr lang="fr-FR" spc="20" dirty="0">
                <a:solidFill>
                  <a:srgbClr val="404040"/>
                </a:solidFill>
                <a:cs typeface="Calibri"/>
              </a:rPr>
              <a:t>de</a:t>
            </a:r>
            <a:r>
              <a:rPr lang="fr-FR" spc="-150" dirty="0">
                <a:solidFill>
                  <a:srgbClr val="404040"/>
                </a:solidFill>
                <a:cs typeface="Calibri"/>
              </a:rPr>
              <a:t> </a:t>
            </a:r>
            <a:r>
              <a:rPr lang="fr-FR" spc="10" dirty="0">
                <a:solidFill>
                  <a:srgbClr val="404040"/>
                </a:solidFill>
                <a:cs typeface="Calibri"/>
              </a:rPr>
              <a:t>représenter</a:t>
            </a:r>
            <a:r>
              <a:rPr lang="fr-FR" spc="-145" dirty="0">
                <a:solidFill>
                  <a:srgbClr val="404040"/>
                </a:solidFill>
                <a:cs typeface="Calibri"/>
              </a:rPr>
              <a:t> </a:t>
            </a:r>
            <a:r>
              <a:rPr lang="fr-FR" spc="10" dirty="0">
                <a:solidFill>
                  <a:srgbClr val="404040"/>
                </a:solidFill>
                <a:cs typeface="Calibri"/>
              </a:rPr>
              <a:t>les</a:t>
            </a:r>
            <a:r>
              <a:rPr lang="fr-FR" spc="-130" dirty="0">
                <a:solidFill>
                  <a:srgbClr val="404040"/>
                </a:solidFill>
                <a:cs typeface="Calibri"/>
              </a:rPr>
              <a:t> </a:t>
            </a:r>
            <a:r>
              <a:rPr lang="fr-FR" spc="15" dirty="0">
                <a:solidFill>
                  <a:srgbClr val="404040"/>
                </a:solidFill>
                <a:cs typeface="Calibri"/>
              </a:rPr>
              <a:t>informations</a:t>
            </a:r>
            <a:r>
              <a:rPr lang="fr-FR" spc="-130" dirty="0">
                <a:solidFill>
                  <a:srgbClr val="404040"/>
                </a:solidFill>
                <a:cs typeface="Calibri"/>
              </a:rPr>
              <a:t> </a:t>
            </a:r>
            <a:r>
              <a:rPr lang="fr-FR" spc="5" dirty="0">
                <a:solidFill>
                  <a:srgbClr val="404040"/>
                </a:solidFill>
                <a:cs typeface="Calibri"/>
              </a:rPr>
              <a:t>spécifiques</a:t>
            </a:r>
            <a:r>
              <a:rPr lang="fr-FR" spc="-130" dirty="0">
                <a:solidFill>
                  <a:srgbClr val="404040"/>
                </a:solidFill>
                <a:cs typeface="Calibri"/>
              </a:rPr>
              <a:t> </a:t>
            </a:r>
            <a:r>
              <a:rPr lang="fr-FR" spc="15" dirty="0">
                <a:solidFill>
                  <a:srgbClr val="404040"/>
                </a:solidFill>
                <a:cs typeface="Calibri"/>
              </a:rPr>
              <a:t>liées</a:t>
            </a:r>
            <a:r>
              <a:rPr lang="fr-FR" spc="-130" dirty="0">
                <a:solidFill>
                  <a:srgbClr val="404040"/>
                </a:solidFill>
                <a:cs typeface="Calibri"/>
              </a:rPr>
              <a:t> </a:t>
            </a:r>
            <a:r>
              <a:rPr lang="fr-FR" spc="20" dirty="0">
                <a:solidFill>
                  <a:srgbClr val="404040"/>
                </a:solidFill>
                <a:cs typeface="Calibri"/>
              </a:rPr>
              <a:t>au </a:t>
            </a:r>
            <a:r>
              <a:rPr lang="fr-FR" spc="-440" dirty="0">
                <a:solidFill>
                  <a:srgbClr val="404040"/>
                </a:solidFill>
                <a:cs typeface="Calibri"/>
              </a:rPr>
              <a:t> </a:t>
            </a:r>
            <a:r>
              <a:rPr lang="fr-FR" spc="20" dirty="0">
                <a:solidFill>
                  <a:srgbClr val="404040"/>
                </a:solidFill>
                <a:cs typeface="Calibri"/>
              </a:rPr>
              <a:t>travail</a:t>
            </a:r>
            <a:r>
              <a:rPr lang="fr-FR" spc="-114" dirty="0">
                <a:solidFill>
                  <a:srgbClr val="404040"/>
                </a:solidFill>
                <a:cs typeface="Calibri"/>
              </a:rPr>
              <a:t> </a:t>
            </a:r>
            <a:r>
              <a:rPr lang="fr-FR" spc="20" dirty="0">
                <a:solidFill>
                  <a:srgbClr val="404040"/>
                </a:solidFill>
                <a:cs typeface="Calibri"/>
              </a:rPr>
              <a:t>d’un</a:t>
            </a:r>
            <a:r>
              <a:rPr lang="fr-FR" spc="-105" dirty="0">
                <a:solidFill>
                  <a:srgbClr val="404040"/>
                </a:solidFill>
                <a:cs typeface="Calibri"/>
              </a:rPr>
              <a:t> </a:t>
            </a:r>
            <a:r>
              <a:rPr lang="fr-FR" spc="15" dirty="0">
                <a:solidFill>
                  <a:srgbClr val="404040"/>
                </a:solidFill>
                <a:cs typeface="Calibri"/>
              </a:rPr>
              <a:t>employé</a:t>
            </a:r>
            <a:r>
              <a:rPr lang="fr-FR" spc="-150" dirty="0">
                <a:solidFill>
                  <a:srgbClr val="404040"/>
                </a:solidFill>
                <a:cs typeface="Calibri"/>
              </a:rPr>
              <a:t> </a:t>
            </a:r>
            <a:r>
              <a:rPr lang="fr-FR" spc="30" dirty="0">
                <a:solidFill>
                  <a:srgbClr val="404040"/>
                </a:solidFill>
                <a:cs typeface="Calibri"/>
              </a:rPr>
              <a:t>dans</a:t>
            </a:r>
            <a:r>
              <a:rPr lang="fr-FR" spc="-135" dirty="0">
                <a:solidFill>
                  <a:srgbClr val="404040"/>
                </a:solidFill>
                <a:cs typeface="Calibri"/>
              </a:rPr>
              <a:t> </a:t>
            </a:r>
            <a:r>
              <a:rPr lang="fr-FR" spc="30" dirty="0">
                <a:solidFill>
                  <a:srgbClr val="404040"/>
                </a:solidFill>
                <a:cs typeface="Calibri"/>
              </a:rPr>
              <a:t>une</a:t>
            </a:r>
            <a:r>
              <a:rPr lang="fr-FR" spc="-150" dirty="0">
                <a:solidFill>
                  <a:srgbClr val="404040"/>
                </a:solidFill>
                <a:cs typeface="Calibri"/>
              </a:rPr>
              <a:t> </a:t>
            </a:r>
            <a:r>
              <a:rPr lang="fr-FR" spc="5" dirty="0">
                <a:solidFill>
                  <a:srgbClr val="404040"/>
                </a:solidFill>
                <a:cs typeface="Calibri"/>
              </a:rPr>
              <a:t>entreprise</a:t>
            </a:r>
            <a:r>
              <a:rPr lang="fr-FR" spc="-150" dirty="0">
                <a:solidFill>
                  <a:srgbClr val="404040"/>
                </a:solidFill>
                <a:cs typeface="Calibri"/>
              </a:rPr>
              <a:t> </a:t>
            </a:r>
            <a:r>
              <a:rPr lang="fr-FR" spc="5" dirty="0">
                <a:solidFill>
                  <a:srgbClr val="404040"/>
                </a:solidFill>
                <a:cs typeface="Calibri"/>
              </a:rPr>
              <a:t>(ex.</a:t>
            </a:r>
            <a:r>
              <a:rPr lang="fr-FR" spc="-160" dirty="0">
                <a:solidFill>
                  <a:srgbClr val="404040"/>
                </a:solidFill>
                <a:cs typeface="Calibri"/>
              </a:rPr>
              <a:t> </a:t>
            </a:r>
            <a:r>
              <a:rPr lang="fr-FR" spc="20" dirty="0">
                <a:solidFill>
                  <a:srgbClr val="404040"/>
                </a:solidFill>
                <a:cs typeface="Calibri"/>
              </a:rPr>
              <a:t>salaire,</a:t>
            </a:r>
            <a:r>
              <a:rPr lang="fr-FR" spc="-155" dirty="0">
                <a:solidFill>
                  <a:srgbClr val="404040"/>
                </a:solidFill>
                <a:cs typeface="Calibri"/>
              </a:rPr>
              <a:t> </a:t>
            </a:r>
            <a:r>
              <a:rPr lang="fr-FR" spc="25" dirty="0">
                <a:solidFill>
                  <a:srgbClr val="404040"/>
                </a:solidFill>
                <a:cs typeface="Calibri"/>
              </a:rPr>
              <a:t>date</a:t>
            </a:r>
            <a:r>
              <a:rPr lang="fr-FR" spc="-145" dirty="0">
                <a:solidFill>
                  <a:srgbClr val="404040"/>
                </a:solidFill>
                <a:cs typeface="Calibri"/>
              </a:rPr>
              <a:t> </a:t>
            </a:r>
            <a:r>
              <a:rPr lang="fr-FR" spc="20" dirty="0">
                <a:solidFill>
                  <a:srgbClr val="404040"/>
                </a:solidFill>
                <a:cs typeface="Calibri"/>
              </a:rPr>
              <a:t>de</a:t>
            </a:r>
            <a:r>
              <a:rPr lang="fr-FR" spc="-150" dirty="0">
                <a:solidFill>
                  <a:srgbClr val="404040"/>
                </a:solidFill>
                <a:cs typeface="Calibri"/>
              </a:rPr>
              <a:t> </a:t>
            </a:r>
            <a:r>
              <a:rPr lang="fr-FR" spc="20" dirty="0">
                <a:solidFill>
                  <a:srgbClr val="404040"/>
                </a:solidFill>
                <a:cs typeface="Calibri"/>
              </a:rPr>
              <a:t>prise</a:t>
            </a:r>
            <a:r>
              <a:rPr lang="fr-FR" spc="-50" dirty="0">
                <a:solidFill>
                  <a:srgbClr val="404040"/>
                </a:solidFill>
                <a:cs typeface="Calibri"/>
              </a:rPr>
              <a:t> </a:t>
            </a:r>
            <a:r>
              <a:rPr lang="fr-FR" spc="20" dirty="0">
                <a:solidFill>
                  <a:srgbClr val="404040"/>
                </a:solidFill>
                <a:cs typeface="Calibri"/>
              </a:rPr>
              <a:t>de</a:t>
            </a:r>
            <a:r>
              <a:rPr lang="fr-FR" spc="-50" dirty="0">
                <a:solidFill>
                  <a:srgbClr val="404040"/>
                </a:solidFill>
                <a:cs typeface="Calibri"/>
              </a:rPr>
              <a:t> </a:t>
            </a:r>
            <a:r>
              <a:rPr lang="fr-FR" spc="20" dirty="0">
                <a:solidFill>
                  <a:srgbClr val="404040"/>
                </a:solidFill>
                <a:cs typeface="Calibri"/>
              </a:rPr>
              <a:t>fonction,</a:t>
            </a:r>
            <a:r>
              <a:rPr lang="fr-FR" spc="-155" dirty="0">
                <a:solidFill>
                  <a:srgbClr val="404040"/>
                </a:solidFill>
                <a:cs typeface="Calibri"/>
              </a:rPr>
              <a:t> </a:t>
            </a:r>
            <a:r>
              <a:rPr lang="fr-FR" dirty="0">
                <a:solidFill>
                  <a:srgbClr val="404040"/>
                </a:solidFill>
                <a:cs typeface="Calibri"/>
              </a:rPr>
              <a:t>…).</a:t>
            </a:r>
            <a:endParaRPr lang="fr-FR" dirty="0">
              <a:cs typeface="Calibri"/>
            </a:endParaRPr>
          </a:p>
        </p:txBody>
      </p:sp>
      <p:sp>
        <p:nvSpPr>
          <p:cNvPr id="7" name="Rectangle 6"/>
          <p:cNvSpPr/>
          <p:nvPr/>
        </p:nvSpPr>
        <p:spPr>
          <a:xfrm>
            <a:off x="10134600" y="2362200"/>
            <a:ext cx="1261448" cy="48619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Entreprise</a:t>
            </a:r>
          </a:p>
        </p:txBody>
      </p:sp>
      <p:sp>
        <p:nvSpPr>
          <p:cNvPr id="8" name="Rectangle 7"/>
          <p:cNvSpPr/>
          <p:nvPr/>
        </p:nvSpPr>
        <p:spPr>
          <a:xfrm>
            <a:off x="7120881" y="2398620"/>
            <a:ext cx="1261448" cy="486197"/>
          </a:xfrm>
          <a:prstGeom prst="rect">
            <a:avLst/>
          </a:prstGeom>
          <a:solidFill>
            <a:srgbClr val="FFFFC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lumMod val="65000"/>
                    <a:lumOff val="35000"/>
                  </a:schemeClr>
                </a:solidFill>
                <a:latin typeface="Agency FB" panose="020B0503020202020204" pitchFamily="34" charset="0"/>
              </a:rPr>
              <a:t>Personne</a:t>
            </a:r>
          </a:p>
        </p:txBody>
      </p:sp>
      <p:cxnSp>
        <p:nvCxnSpPr>
          <p:cNvPr id="12" name="Connecteur droit 11"/>
          <p:cNvCxnSpPr>
            <a:stCxn id="8" idx="3"/>
            <a:endCxn id="7" idx="1"/>
          </p:cNvCxnSpPr>
          <p:nvPr/>
        </p:nvCxnSpPr>
        <p:spPr>
          <a:xfrm flipV="1">
            <a:off x="8382329" y="2605299"/>
            <a:ext cx="1752271" cy="36420"/>
          </a:xfrm>
          <a:prstGeom prst="line">
            <a:avLst/>
          </a:prstGeom>
        </p:spPr>
        <p:style>
          <a:lnRef idx="1">
            <a:schemeClr val="dk1"/>
          </a:lnRef>
          <a:fillRef idx="0">
            <a:schemeClr val="dk1"/>
          </a:fillRef>
          <a:effectRef idx="0">
            <a:schemeClr val="dk1"/>
          </a:effectRef>
          <a:fontRef idx="minor">
            <a:schemeClr val="tx1"/>
          </a:fontRef>
        </p:style>
      </p:cxnSp>
      <p:sp>
        <p:nvSpPr>
          <p:cNvPr id="14" name="ZoneTexte 13"/>
          <p:cNvSpPr txBox="1"/>
          <p:nvPr/>
        </p:nvSpPr>
        <p:spPr>
          <a:xfrm>
            <a:off x="8379021" y="2398620"/>
            <a:ext cx="435108" cy="276999"/>
          </a:xfrm>
          <a:prstGeom prst="rect">
            <a:avLst/>
          </a:prstGeom>
          <a:noFill/>
        </p:spPr>
        <p:txBody>
          <a:bodyPr wrap="square" rtlCol="0">
            <a:spAutoFit/>
          </a:bodyPr>
          <a:lstStyle/>
          <a:p>
            <a:r>
              <a:rPr lang="fr-FR" sz="1200" dirty="0"/>
              <a:t>1..*</a:t>
            </a:r>
          </a:p>
        </p:txBody>
      </p:sp>
      <p:sp>
        <p:nvSpPr>
          <p:cNvPr id="15" name="ZoneTexte 14"/>
          <p:cNvSpPr txBox="1"/>
          <p:nvPr/>
        </p:nvSpPr>
        <p:spPr>
          <a:xfrm>
            <a:off x="9759528" y="2353767"/>
            <a:ext cx="554524" cy="276999"/>
          </a:xfrm>
          <a:prstGeom prst="rect">
            <a:avLst/>
          </a:prstGeom>
          <a:noFill/>
        </p:spPr>
        <p:txBody>
          <a:bodyPr wrap="square" rtlCol="0">
            <a:spAutoFit/>
          </a:bodyPr>
          <a:lstStyle/>
          <a:p>
            <a:r>
              <a:rPr lang="fr-FR" sz="1200" dirty="0"/>
              <a:t>1..*</a:t>
            </a:r>
          </a:p>
        </p:txBody>
      </p:sp>
      <p:graphicFrame>
        <p:nvGraphicFramePr>
          <p:cNvPr id="16" name="Tableau 15"/>
          <p:cNvGraphicFramePr>
            <a:graphicFrameLocks noGrp="1"/>
          </p:cNvGraphicFramePr>
          <p:nvPr>
            <p:extLst>
              <p:ext uri="{D42A27DB-BD31-4B8C-83A1-F6EECF244321}">
                <p14:modId xmlns:p14="http://schemas.microsoft.com/office/powerpoint/2010/main" val="3772229108"/>
              </p:ext>
            </p:extLst>
          </p:nvPr>
        </p:nvGraphicFramePr>
        <p:xfrm>
          <a:off x="8787479" y="3453502"/>
          <a:ext cx="863600" cy="741680"/>
        </p:xfrm>
        <a:graphic>
          <a:graphicData uri="http://schemas.openxmlformats.org/drawingml/2006/table">
            <a:tbl>
              <a:tblPr firstRow="1" bandRow="1">
                <a:tableStyleId>{5C22544A-7EE6-4342-B048-85BDC9FD1C3A}</a:tableStyleId>
              </a:tblPr>
              <a:tblGrid>
                <a:gridCol w="863600">
                  <a:extLst>
                    <a:ext uri="{9D8B030D-6E8A-4147-A177-3AD203B41FA5}">
                      <a16:colId xmlns:a16="http://schemas.microsoft.com/office/drawing/2014/main" val="3191501316"/>
                    </a:ext>
                  </a:extLst>
                </a:gridCol>
              </a:tblGrid>
              <a:tr h="370840">
                <a:tc>
                  <a:txBody>
                    <a:bodyPr/>
                    <a:lstStyle/>
                    <a:p>
                      <a:pPr algn="ctr"/>
                      <a:r>
                        <a:rPr lang="fr-FR" b="0" dirty="0">
                          <a:solidFill>
                            <a:schemeClr val="tx1">
                              <a:lumMod val="65000"/>
                              <a:lumOff val="35000"/>
                            </a:schemeClr>
                          </a:solidFill>
                          <a:latin typeface="Agency FB" panose="020B0503020202020204" pitchFamily="34" charset="0"/>
                        </a:rPr>
                        <a:t>Emploi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D"/>
                    </a:solidFill>
                  </a:tcPr>
                </a:tc>
                <a:extLst>
                  <a:ext uri="{0D108BD9-81ED-4DB2-BD59-A6C34878D82A}">
                    <a16:rowId xmlns:a16="http://schemas.microsoft.com/office/drawing/2014/main" val="2814250330"/>
                  </a:ext>
                </a:extLst>
              </a:tr>
              <a:tr h="370840">
                <a:tc>
                  <a:txBody>
                    <a:bodyPr/>
                    <a:lstStyle/>
                    <a:p>
                      <a:pPr algn="ctr"/>
                      <a:r>
                        <a:rPr lang="fr-FR" b="0" dirty="0">
                          <a:solidFill>
                            <a:schemeClr val="tx1">
                              <a:lumMod val="65000"/>
                              <a:lumOff val="35000"/>
                            </a:schemeClr>
                          </a:solidFill>
                          <a:latin typeface="Agency FB" panose="020B0503020202020204" pitchFamily="34" charset="0"/>
                        </a:rPr>
                        <a:t>Salaire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D"/>
                    </a:solidFill>
                  </a:tcPr>
                </a:tc>
                <a:extLst>
                  <a:ext uri="{0D108BD9-81ED-4DB2-BD59-A6C34878D82A}">
                    <a16:rowId xmlns:a16="http://schemas.microsoft.com/office/drawing/2014/main" val="2747516403"/>
                  </a:ext>
                </a:extLst>
              </a:tr>
            </a:tbl>
          </a:graphicData>
        </a:graphic>
      </p:graphicFrame>
      <p:cxnSp>
        <p:nvCxnSpPr>
          <p:cNvPr id="17" name="Connecteur droit 16"/>
          <p:cNvCxnSpPr>
            <a:endCxn id="16" idx="0"/>
          </p:cNvCxnSpPr>
          <p:nvPr/>
        </p:nvCxnSpPr>
        <p:spPr>
          <a:xfrm flipH="1">
            <a:off x="9219279" y="2630766"/>
            <a:ext cx="921" cy="82273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2590165" cy="756920"/>
          </a:xfrm>
          <a:prstGeom prst="rect">
            <a:avLst/>
          </a:prstGeom>
        </p:spPr>
        <p:txBody>
          <a:bodyPr vert="horz" wrap="square" lIns="0" tIns="12700" rIns="0" bIns="0" rtlCol="0">
            <a:spAutoFit/>
          </a:bodyPr>
          <a:lstStyle/>
          <a:p>
            <a:pPr marL="12700">
              <a:lnSpc>
                <a:spcPct val="100000"/>
              </a:lnSpc>
              <a:spcBef>
                <a:spcPts val="100"/>
              </a:spcBef>
            </a:pPr>
            <a:r>
              <a:rPr spc="-105" dirty="0"/>
              <a:t>A</a:t>
            </a:r>
            <a:r>
              <a:rPr spc="-55" dirty="0"/>
              <a:t>g</a:t>
            </a:r>
            <a:r>
              <a:rPr spc="-155" dirty="0"/>
              <a:t>r</a:t>
            </a:r>
            <a:r>
              <a:rPr spc="-75" dirty="0"/>
              <a:t>é</a:t>
            </a:r>
            <a:r>
              <a:rPr spc="-150" dirty="0"/>
              <a:t>g</a:t>
            </a:r>
            <a:r>
              <a:rPr spc="-60" dirty="0"/>
              <a:t>a</a:t>
            </a:r>
            <a:r>
              <a:rPr spc="-80" dirty="0"/>
              <a:t>t</a:t>
            </a:r>
            <a:r>
              <a:rPr spc="-60" dirty="0"/>
              <a:t>i</a:t>
            </a:r>
            <a:r>
              <a:rPr spc="-105" dirty="0"/>
              <a:t>on</a:t>
            </a:r>
          </a:p>
        </p:txBody>
      </p:sp>
      <p:sp>
        <p:nvSpPr>
          <p:cNvPr id="3" name="object 3"/>
          <p:cNvSpPr txBox="1"/>
          <p:nvPr/>
        </p:nvSpPr>
        <p:spPr>
          <a:xfrm>
            <a:off x="1084580" y="1128979"/>
            <a:ext cx="9753600" cy="1887696"/>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sz="2000" spc="-10" dirty="0">
                <a:solidFill>
                  <a:srgbClr val="404040"/>
                </a:solidFill>
                <a:latin typeface="Calibri"/>
                <a:cs typeface="Calibri"/>
              </a:rPr>
              <a:t>Type</a:t>
            </a:r>
            <a:r>
              <a:rPr sz="2000" spc="-50" dirty="0">
                <a:solidFill>
                  <a:srgbClr val="404040"/>
                </a:solidFill>
                <a:latin typeface="Calibri"/>
                <a:cs typeface="Calibri"/>
              </a:rPr>
              <a:t> </a:t>
            </a:r>
            <a:r>
              <a:rPr sz="2000" spc="15" dirty="0">
                <a:solidFill>
                  <a:srgbClr val="404040"/>
                </a:solidFill>
                <a:latin typeface="Calibri"/>
                <a:cs typeface="Calibri"/>
              </a:rPr>
              <a:t>spécifique</a:t>
            </a:r>
            <a:r>
              <a:rPr sz="2000" spc="-145" dirty="0">
                <a:solidFill>
                  <a:srgbClr val="404040"/>
                </a:solidFill>
                <a:latin typeface="Calibri"/>
                <a:cs typeface="Calibri"/>
              </a:rPr>
              <a:t> </a:t>
            </a:r>
            <a:r>
              <a:rPr sz="2000" spc="5" dirty="0">
                <a:solidFill>
                  <a:srgbClr val="404040"/>
                </a:solidFill>
                <a:latin typeface="Calibri"/>
                <a:cs typeface="Calibri"/>
              </a:rPr>
              <a:t>d’association</a:t>
            </a:r>
            <a:r>
              <a:rPr sz="2000" spc="-200" dirty="0">
                <a:solidFill>
                  <a:srgbClr val="404040"/>
                </a:solidFill>
                <a:latin typeface="Calibri"/>
                <a:cs typeface="Calibri"/>
              </a:rPr>
              <a:t> </a:t>
            </a:r>
            <a:r>
              <a:rPr sz="2000" spc="5" dirty="0">
                <a:solidFill>
                  <a:srgbClr val="404040"/>
                </a:solidFill>
                <a:latin typeface="Calibri"/>
                <a:cs typeface="Calibri"/>
              </a:rPr>
              <a:t>permettant</a:t>
            </a:r>
            <a:r>
              <a:rPr sz="2000" spc="-125" dirty="0">
                <a:solidFill>
                  <a:srgbClr val="404040"/>
                </a:solidFill>
                <a:latin typeface="Calibri"/>
                <a:cs typeface="Calibri"/>
              </a:rPr>
              <a:t> </a:t>
            </a:r>
            <a:r>
              <a:rPr sz="2000" spc="20" dirty="0">
                <a:solidFill>
                  <a:srgbClr val="404040"/>
                </a:solidFill>
                <a:latin typeface="Calibri"/>
                <a:cs typeface="Calibri"/>
              </a:rPr>
              <a:t>de</a:t>
            </a:r>
            <a:r>
              <a:rPr sz="2000" spc="-145" dirty="0">
                <a:solidFill>
                  <a:srgbClr val="404040"/>
                </a:solidFill>
                <a:latin typeface="Calibri"/>
                <a:cs typeface="Calibri"/>
              </a:rPr>
              <a:t> </a:t>
            </a:r>
            <a:r>
              <a:rPr sz="2000" spc="25" dirty="0">
                <a:solidFill>
                  <a:srgbClr val="404040"/>
                </a:solidFill>
                <a:latin typeface="Calibri"/>
                <a:cs typeface="Calibri"/>
              </a:rPr>
              <a:t>traduire</a:t>
            </a:r>
            <a:r>
              <a:rPr sz="2000" spc="-145" dirty="0">
                <a:solidFill>
                  <a:srgbClr val="404040"/>
                </a:solidFill>
                <a:latin typeface="Calibri"/>
                <a:cs typeface="Calibri"/>
              </a:rPr>
              <a:t> </a:t>
            </a:r>
            <a:r>
              <a:rPr sz="2000" spc="20" dirty="0">
                <a:solidFill>
                  <a:srgbClr val="404040"/>
                </a:solidFill>
                <a:latin typeface="Calibri"/>
                <a:cs typeface="Calibri"/>
              </a:rPr>
              <a:t>la</a:t>
            </a:r>
            <a:r>
              <a:rPr sz="2000" spc="-114" dirty="0">
                <a:solidFill>
                  <a:srgbClr val="404040"/>
                </a:solidFill>
                <a:latin typeface="Calibri"/>
                <a:cs typeface="Calibri"/>
              </a:rPr>
              <a:t> </a:t>
            </a:r>
            <a:r>
              <a:rPr sz="2000" spc="20" dirty="0">
                <a:solidFill>
                  <a:srgbClr val="404040"/>
                </a:solidFill>
                <a:latin typeface="Calibri"/>
                <a:cs typeface="Calibri"/>
              </a:rPr>
              <a:t>relation</a:t>
            </a:r>
            <a:r>
              <a:rPr sz="2000" spc="-200" dirty="0">
                <a:solidFill>
                  <a:srgbClr val="404040"/>
                </a:solidFill>
                <a:latin typeface="Calibri"/>
                <a:cs typeface="Calibri"/>
              </a:rPr>
              <a:t> </a:t>
            </a:r>
            <a:r>
              <a:rPr sz="2000" dirty="0">
                <a:solidFill>
                  <a:srgbClr val="404040"/>
                </a:solidFill>
                <a:latin typeface="Calibri"/>
                <a:cs typeface="Calibri"/>
              </a:rPr>
              <a:t>«</a:t>
            </a:r>
            <a:r>
              <a:rPr sz="2000" spc="-75" dirty="0">
                <a:solidFill>
                  <a:srgbClr val="404040"/>
                </a:solidFill>
                <a:latin typeface="Calibri"/>
                <a:cs typeface="Calibri"/>
              </a:rPr>
              <a:t> </a:t>
            </a:r>
            <a:r>
              <a:rPr sz="2000" spc="15" dirty="0">
                <a:solidFill>
                  <a:srgbClr val="404040"/>
                </a:solidFill>
                <a:latin typeface="Calibri"/>
                <a:cs typeface="Calibri"/>
              </a:rPr>
              <a:t>fait</a:t>
            </a:r>
            <a:r>
              <a:rPr sz="2000" spc="-125" dirty="0">
                <a:solidFill>
                  <a:srgbClr val="404040"/>
                </a:solidFill>
                <a:latin typeface="Calibri"/>
                <a:cs typeface="Calibri"/>
              </a:rPr>
              <a:t> </a:t>
            </a:r>
            <a:r>
              <a:rPr sz="2000" spc="25" dirty="0">
                <a:solidFill>
                  <a:srgbClr val="404040"/>
                </a:solidFill>
                <a:latin typeface="Calibri"/>
                <a:cs typeface="Calibri"/>
              </a:rPr>
              <a:t>partie</a:t>
            </a:r>
            <a:r>
              <a:rPr sz="2000" spc="-145" dirty="0">
                <a:solidFill>
                  <a:srgbClr val="404040"/>
                </a:solidFill>
                <a:latin typeface="Calibri"/>
                <a:cs typeface="Calibri"/>
              </a:rPr>
              <a:t> </a:t>
            </a:r>
            <a:r>
              <a:rPr sz="2000" spc="20" dirty="0">
                <a:solidFill>
                  <a:srgbClr val="404040"/>
                </a:solidFill>
                <a:latin typeface="Calibri"/>
                <a:cs typeface="Calibri"/>
              </a:rPr>
              <a:t>de</a:t>
            </a:r>
            <a:r>
              <a:rPr sz="2000" spc="-45" dirty="0">
                <a:solidFill>
                  <a:srgbClr val="404040"/>
                </a:solidFill>
                <a:latin typeface="Calibri"/>
                <a:cs typeface="Calibri"/>
              </a:rPr>
              <a:t> </a:t>
            </a:r>
            <a:r>
              <a:rPr sz="2000" dirty="0">
                <a:solidFill>
                  <a:srgbClr val="404040"/>
                </a:solidFill>
                <a:latin typeface="Calibri"/>
                <a:cs typeface="Calibri"/>
              </a:rPr>
              <a:t>»</a:t>
            </a:r>
            <a:endParaRPr sz="2000" dirty="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5" dirty="0">
                <a:solidFill>
                  <a:srgbClr val="404040"/>
                </a:solidFill>
                <a:latin typeface="Calibri"/>
                <a:cs typeface="Calibri"/>
              </a:rPr>
              <a:t>Il</a:t>
            </a:r>
            <a:r>
              <a:rPr sz="2000" spc="-15" dirty="0">
                <a:solidFill>
                  <a:srgbClr val="404040"/>
                </a:solidFill>
                <a:latin typeface="Calibri"/>
                <a:cs typeface="Calibri"/>
              </a:rPr>
              <a:t> </a:t>
            </a:r>
            <a:r>
              <a:rPr sz="2000" spc="15" dirty="0">
                <a:solidFill>
                  <a:srgbClr val="404040"/>
                </a:solidFill>
                <a:latin typeface="Calibri"/>
                <a:cs typeface="Calibri"/>
              </a:rPr>
              <a:t>existe</a:t>
            </a:r>
            <a:r>
              <a:rPr sz="2000" spc="-150" dirty="0">
                <a:solidFill>
                  <a:srgbClr val="404040"/>
                </a:solidFill>
                <a:latin typeface="Calibri"/>
                <a:cs typeface="Calibri"/>
              </a:rPr>
              <a:t> </a:t>
            </a:r>
            <a:r>
              <a:rPr sz="2000" spc="20" dirty="0">
                <a:solidFill>
                  <a:srgbClr val="404040"/>
                </a:solidFill>
                <a:latin typeface="Calibri"/>
                <a:cs typeface="Calibri"/>
              </a:rPr>
              <a:t>deux</a:t>
            </a:r>
            <a:r>
              <a:rPr sz="2000" spc="-120" dirty="0">
                <a:solidFill>
                  <a:srgbClr val="404040"/>
                </a:solidFill>
                <a:latin typeface="Calibri"/>
                <a:cs typeface="Calibri"/>
              </a:rPr>
              <a:t> </a:t>
            </a:r>
            <a:r>
              <a:rPr sz="2000" spc="10" dirty="0">
                <a:solidFill>
                  <a:srgbClr val="404040"/>
                </a:solidFill>
                <a:latin typeface="Calibri"/>
                <a:cs typeface="Calibri"/>
              </a:rPr>
              <a:t>types</a:t>
            </a:r>
            <a:r>
              <a:rPr sz="2000" spc="-35" dirty="0">
                <a:solidFill>
                  <a:srgbClr val="404040"/>
                </a:solidFill>
                <a:latin typeface="Calibri"/>
                <a:cs typeface="Calibri"/>
              </a:rPr>
              <a:t> </a:t>
            </a:r>
            <a:r>
              <a:rPr sz="2000" dirty="0">
                <a:solidFill>
                  <a:srgbClr val="404040"/>
                </a:solidFill>
                <a:latin typeface="Calibri"/>
                <a:cs typeface="Calibri"/>
              </a:rPr>
              <a:t>d’agrégation</a:t>
            </a:r>
            <a:r>
              <a:rPr sz="2000" spc="-204" dirty="0">
                <a:solidFill>
                  <a:srgbClr val="404040"/>
                </a:solidFill>
                <a:latin typeface="Calibri"/>
                <a:cs typeface="Calibri"/>
              </a:rPr>
              <a:t> </a:t>
            </a:r>
            <a:r>
              <a:rPr sz="2000" dirty="0">
                <a:solidFill>
                  <a:srgbClr val="404040"/>
                </a:solidFill>
                <a:latin typeface="Calibri"/>
                <a:cs typeface="Calibri"/>
              </a:rPr>
              <a:t>:</a:t>
            </a:r>
            <a:endParaRPr sz="2000" dirty="0">
              <a:latin typeface="Calibri"/>
              <a:cs typeface="Calibri"/>
            </a:endParaRPr>
          </a:p>
          <a:p>
            <a:pPr marL="419734" lvl="1" indent="-204470">
              <a:lnSpc>
                <a:spcPct val="100000"/>
              </a:lnSpc>
              <a:spcBef>
                <a:spcPts val="200"/>
              </a:spcBef>
              <a:buClr>
                <a:srgbClr val="E48312"/>
              </a:buClr>
              <a:buSzPct val="94444"/>
              <a:buFont typeface="Wingdings"/>
              <a:buChar char=""/>
              <a:tabLst>
                <a:tab pos="420370" algn="l"/>
              </a:tabLst>
            </a:pPr>
            <a:r>
              <a:rPr sz="1800" spc="-25" dirty="0">
                <a:solidFill>
                  <a:srgbClr val="404040"/>
                </a:solidFill>
                <a:latin typeface="Calibri"/>
                <a:cs typeface="Calibri"/>
              </a:rPr>
              <a:t>Agrégation</a:t>
            </a:r>
            <a:r>
              <a:rPr sz="1800" spc="114" dirty="0">
                <a:solidFill>
                  <a:srgbClr val="404040"/>
                </a:solidFill>
                <a:latin typeface="Calibri"/>
                <a:cs typeface="Calibri"/>
              </a:rPr>
              <a:t> </a:t>
            </a:r>
            <a:r>
              <a:rPr sz="1800" spc="-20" dirty="0">
                <a:solidFill>
                  <a:srgbClr val="404040"/>
                </a:solidFill>
                <a:latin typeface="Calibri"/>
                <a:cs typeface="Calibri"/>
              </a:rPr>
              <a:t>basique</a:t>
            </a:r>
            <a:endParaRPr sz="1800" dirty="0">
              <a:latin typeface="Calibri"/>
              <a:cs typeface="Calibri"/>
            </a:endParaRPr>
          </a:p>
          <a:p>
            <a:pPr marL="419734" lvl="1" indent="-204470">
              <a:lnSpc>
                <a:spcPct val="100000"/>
              </a:lnSpc>
              <a:spcBef>
                <a:spcPts val="340"/>
              </a:spcBef>
              <a:buClr>
                <a:srgbClr val="E48312"/>
              </a:buClr>
              <a:buSzPct val="94444"/>
              <a:buFont typeface="Wingdings"/>
              <a:buChar char=""/>
              <a:tabLst>
                <a:tab pos="420370" algn="l"/>
              </a:tabLst>
            </a:pPr>
            <a:r>
              <a:rPr sz="1800" spc="-25" dirty="0">
                <a:solidFill>
                  <a:srgbClr val="404040"/>
                </a:solidFill>
                <a:latin typeface="Calibri"/>
                <a:cs typeface="Calibri"/>
              </a:rPr>
              <a:t>Agrégation</a:t>
            </a:r>
            <a:r>
              <a:rPr sz="1800" spc="130" dirty="0">
                <a:solidFill>
                  <a:srgbClr val="404040"/>
                </a:solidFill>
                <a:latin typeface="Calibri"/>
                <a:cs typeface="Calibri"/>
              </a:rPr>
              <a:t> </a:t>
            </a:r>
            <a:r>
              <a:rPr sz="1800" spc="-25" dirty="0">
                <a:solidFill>
                  <a:srgbClr val="404040"/>
                </a:solidFill>
                <a:latin typeface="Calibri"/>
                <a:cs typeface="Calibri"/>
              </a:rPr>
              <a:t>de</a:t>
            </a:r>
            <a:r>
              <a:rPr sz="1800" spc="-10" dirty="0">
                <a:solidFill>
                  <a:srgbClr val="404040"/>
                </a:solidFill>
                <a:latin typeface="Calibri"/>
                <a:cs typeface="Calibri"/>
              </a:rPr>
              <a:t> </a:t>
            </a:r>
            <a:r>
              <a:rPr sz="1800" spc="-25" dirty="0">
                <a:solidFill>
                  <a:srgbClr val="404040"/>
                </a:solidFill>
                <a:latin typeface="Calibri"/>
                <a:cs typeface="Calibri"/>
              </a:rPr>
              <a:t>composition</a:t>
            </a:r>
            <a:endParaRPr sz="1800" dirty="0">
              <a:latin typeface="Calibri"/>
              <a:cs typeface="Calibri"/>
            </a:endParaRPr>
          </a:p>
          <a:p>
            <a:pPr marL="215900" marR="5080" lvl="1">
              <a:lnSpc>
                <a:spcPts val="1900"/>
              </a:lnSpc>
              <a:spcBef>
                <a:spcPts val="720"/>
              </a:spcBef>
              <a:buClr>
                <a:srgbClr val="E48312"/>
              </a:buClr>
              <a:buSzPct val="94444"/>
              <a:tabLst>
                <a:tab pos="420370" algn="l"/>
              </a:tabLst>
            </a:pPr>
            <a:endParaRPr lang="fr-FR" sz="1800" spc="-30" dirty="0">
              <a:solidFill>
                <a:srgbClr val="404040"/>
              </a:solidFill>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5400675" cy="756920"/>
          </a:xfrm>
          <a:prstGeom prst="rect">
            <a:avLst/>
          </a:prstGeom>
        </p:spPr>
        <p:txBody>
          <a:bodyPr vert="horz" wrap="square" lIns="0" tIns="12700" rIns="0" bIns="0" rtlCol="0">
            <a:spAutoFit/>
          </a:bodyPr>
          <a:lstStyle/>
          <a:p>
            <a:pPr marL="12700">
              <a:lnSpc>
                <a:spcPct val="100000"/>
              </a:lnSpc>
              <a:spcBef>
                <a:spcPts val="100"/>
              </a:spcBef>
            </a:pPr>
            <a:r>
              <a:rPr spc="-85" dirty="0" err="1"/>
              <a:t>Agrégation</a:t>
            </a:r>
            <a:r>
              <a:rPr spc="70" dirty="0"/>
              <a:t> </a:t>
            </a:r>
            <a:r>
              <a:rPr spc="-65" dirty="0" err="1"/>
              <a:t>Basique</a:t>
            </a:r>
            <a:endParaRPr spc="-95" dirty="0"/>
          </a:p>
        </p:txBody>
      </p:sp>
      <p:sp>
        <p:nvSpPr>
          <p:cNvPr id="3" name="object 3"/>
          <p:cNvSpPr txBox="1"/>
          <p:nvPr/>
        </p:nvSpPr>
        <p:spPr>
          <a:xfrm>
            <a:off x="1084580" y="1281379"/>
            <a:ext cx="9819640" cy="609600"/>
          </a:xfrm>
          <a:prstGeom prst="rect">
            <a:avLst/>
          </a:prstGeom>
        </p:spPr>
        <p:txBody>
          <a:bodyPr vert="horz" wrap="square" lIns="0" tIns="43180" rIns="0" bIns="0" rtlCol="0">
            <a:spAutoFit/>
          </a:bodyPr>
          <a:lstStyle/>
          <a:p>
            <a:pPr marL="101600" marR="5080" indent="-88900">
              <a:lnSpc>
                <a:spcPts val="2200"/>
              </a:lnSpc>
              <a:spcBef>
                <a:spcPts val="340"/>
              </a:spcBef>
              <a:buClr>
                <a:srgbClr val="E48312"/>
              </a:buClr>
              <a:buSzPct val="95000"/>
              <a:buFont typeface="Wingdings"/>
              <a:buChar char=""/>
              <a:tabLst>
                <a:tab pos="241300" algn="l"/>
              </a:tabLst>
            </a:pPr>
            <a:r>
              <a:rPr sz="2000" spc="10" dirty="0">
                <a:solidFill>
                  <a:srgbClr val="404040"/>
                </a:solidFill>
                <a:latin typeface="Calibri"/>
                <a:cs typeface="Calibri"/>
              </a:rPr>
              <a:t>Traduit</a:t>
            </a:r>
            <a:r>
              <a:rPr sz="2000" spc="-125" dirty="0">
                <a:solidFill>
                  <a:srgbClr val="404040"/>
                </a:solidFill>
                <a:latin typeface="Calibri"/>
                <a:cs typeface="Calibri"/>
              </a:rPr>
              <a:t> </a:t>
            </a:r>
            <a:r>
              <a:rPr sz="2000" spc="10" dirty="0">
                <a:solidFill>
                  <a:srgbClr val="404040"/>
                </a:solidFill>
                <a:latin typeface="Calibri"/>
                <a:cs typeface="Calibri"/>
              </a:rPr>
              <a:t>qu’une</a:t>
            </a:r>
            <a:r>
              <a:rPr sz="2000" spc="-145" dirty="0">
                <a:solidFill>
                  <a:srgbClr val="404040"/>
                </a:solidFill>
                <a:latin typeface="Calibri"/>
                <a:cs typeface="Calibri"/>
              </a:rPr>
              <a:t> </a:t>
            </a:r>
            <a:r>
              <a:rPr sz="2000" spc="10" dirty="0">
                <a:solidFill>
                  <a:srgbClr val="404040"/>
                </a:solidFill>
                <a:latin typeface="Calibri"/>
                <a:cs typeface="Calibri"/>
              </a:rPr>
              <a:t>classe</a:t>
            </a:r>
            <a:r>
              <a:rPr sz="2000" spc="-150" dirty="0">
                <a:solidFill>
                  <a:srgbClr val="404040"/>
                </a:solidFill>
                <a:latin typeface="Calibri"/>
                <a:cs typeface="Calibri"/>
              </a:rPr>
              <a:t> </a:t>
            </a:r>
            <a:r>
              <a:rPr sz="2000" spc="15" dirty="0">
                <a:solidFill>
                  <a:srgbClr val="404040"/>
                </a:solidFill>
                <a:latin typeface="Calibri"/>
                <a:cs typeface="Calibri"/>
              </a:rPr>
              <a:t>fait</a:t>
            </a:r>
            <a:r>
              <a:rPr sz="2000" spc="-120" dirty="0">
                <a:solidFill>
                  <a:srgbClr val="404040"/>
                </a:solidFill>
                <a:latin typeface="Calibri"/>
                <a:cs typeface="Calibri"/>
              </a:rPr>
              <a:t> </a:t>
            </a:r>
            <a:r>
              <a:rPr sz="2000" spc="25" dirty="0">
                <a:solidFill>
                  <a:srgbClr val="404040"/>
                </a:solidFill>
                <a:latin typeface="Calibri"/>
                <a:cs typeface="Calibri"/>
              </a:rPr>
              <a:t>partie</a:t>
            </a:r>
            <a:r>
              <a:rPr sz="2000" spc="-150" dirty="0">
                <a:solidFill>
                  <a:srgbClr val="404040"/>
                </a:solidFill>
                <a:latin typeface="Calibri"/>
                <a:cs typeface="Calibri"/>
              </a:rPr>
              <a:t> </a:t>
            </a:r>
            <a:r>
              <a:rPr sz="2000" spc="25" dirty="0">
                <a:solidFill>
                  <a:srgbClr val="404040"/>
                </a:solidFill>
                <a:latin typeface="Calibri"/>
                <a:cs typeface="Calibri"/>
              </a:rPr>
              <a:t>d’une</a:t>
            </a:r>
            <a:r>
              <a:rPr sz="2000" spc="-145" dirty="0">
                <a:solidFill>
                  <a:srgbClr val="404040"/>
                </a:solidFill>
                <a:latin typeface="Calibri"/>
                <a:cs typeface="Calibri"/>
              </a:rPr>
              <a:t> </a:t>
            </a:r>
            <a:r>
              <a:rPr sz="2000" spc="20" dirty="0">
                <a:solidFill>
                  <a:srgbClr val="404040"/>
                </a:solidFill>
                <a:latin typeface="Calibri"/>
                <a:cs typeface="Calibri"/>
              </a:rPr>
              <a:t>autre</a:t>
            </a:r>
            <a:r>
              <a:rPr sz="2000" spc="-145" dirty="0">
                <a:solidFill>
                  <a:srgbClr val="404040"/>
                </a:solidFill>
                <a:latin typeface="Calibri"/>
                <a:cs typeface="Calibri"/>
              </a:rPr>
              <a:t> </a:t>
            </a:r>
            <a:r>
              <a:rPr sz="2000" spc="20" dirty="0">
                <a:solidFill>
                  <a:srgbClr val="404040"/>
                </a:solidFill>
                <a:latin typeface="Calibri"/>
                <a:cs typeface="Calibri"/>
              </a:rPr>
              <a:t>mais</a:t>
            </a:r>
            <a:r>
              <a:rPr sz="2000" spc="-135" dirty="0">
                <a:solidFill>
                  <a:srgbClr val="404040"/>
                </a:solidFill>
                <a:latin typeface="Calibri"/>
                <a:cs typeface="Calibri"/>
              </a:rPr>
              <a:t> </a:t>
            </a:r>
            <a:r>
              <a:rPr sz="2000" spc="20" dirty="0">
                <a:solidFill>
                  <a:srgbClr val="404040"/>
                </a:solidFill>
                <a:latin typeface="Calibri"/>
                <a:cs typeface="Calibri"/>
              </a:rPr>
              <a:t>peut</a:t>
            </a:r>
            <a:r>
              <a:rPr sz="2000" spc="-20" dirty="0">
                <a:solidFill>
                  <a:srgbClr val="404040"/>
                </a:solidFill>
                <a:latin typeface="Calibri"/>
                <a:cs typeface="Calibri"/>
              </a:rPr>
              <a:t> </a:t>
            </a:r>
            <a:r>
              <a:rPr sz="2000" spc="5" dirty="0">
                <a:solidFill>
                  <a:srgbClr val="404040"/>
                </a:solidFill>
                <a:latin typeface="Calibri"/>
                <a:cs typeface="Calibri"/>
              </a:rPr>
              <a:t>vivre</a:t>
            </a:r>
            <a:r>
              <a:rPr sz="2000" spc="-145" dirty="0">
                <a:solidFill>
                  <a:srgbClr val="404040"/>
                </a:solidFill>
                <a:latin typeface="Calibri"/>
                <a:cs typeface="Calibri"/>
              </a:rPr>
              <a:t> </a:t>
            </a:r>
            <a:r>
              <a:rPr sz="2000" spc="25" dirty="0">
                <a:solidFill>
                  <a:srgbClr val="404040"/>
                </a:solidFill>
                <a:latin typeface="Calibri"/>
                <a:cs typeface="Calibri"/>
              </a:rPr>
              <a:t>sans</a:t>
            </a:r>
            <a:r>
              <a:rPr sz="2000" spc="-35" dirty="0">
                <a:solidFill>
                  <a:srgbClr val="404040"/>
                </a:solidFill>
                <a:latin typeface="Calibri"/>
                <a:cs typeface="Calibri"/>
              </a:rPr>
              <a:t> </a:t>
            </a:r>
            <a:r>
              <a:rPr sz="2000" spc="-5" dirty="0">
                <a:solidFill>
                  <a:srgbClr val="404040"/>
                </a:solidFill>
                <a:latin typeface="Calibri"/>
                <a:cs typeface="Calibri"/>
              </a:rPr>
              <a:t>l’existance</a:t>
            </a:r>
            <a:r>
              <a:rPr sz="2000" spc="-145" dirty="0">
                <a:solidFill>
                  <a:srgbClr val="404040"/>
                </a:solidFill>
                <a:latin typeface="Calibri"/>
                <a:cs typeface="Calibri"/>
              </a:rPr>
              <a:t> </a:t>
            </a:r>
            <a:r>
              <a:rPr sz="2000" spc="20" dirty="0">
                <a:solidFill>
                  <a:srgbClr val="404040"/>
                </a:solidFill>
                <a:latin typeface="Calibri"/>
                <a:cs typeface="Calibri"/>
              </a:rPr>
              <a:t>de</a:t>
            </a:r>
            <a:r>
              <a:rPr sz="2000" spc="-145" dirty="0">
                <a:solidFill>
                  <a:srgbClr val="404040"/>
                </a:solidFill>
                <a:latin typeface="Calibri"/>
                <a:cs typeface="Calibri"/>
              </a:rPr>
              <a:t> </a:t>
            </a:r>
            <a:r>
              <a:rPr sz="2000" spc="20" dirty="0">
                <a:solidFill>
                  <a:srgbClr val="404040"/>
                </a:solidFill>
                <a:latin typeface="Calibri"/>
                <a:cs typeface="Calibri"/>
              </a:rPr>
              <a:t>la</a:t>
            </a:r>
            <a:r>
              <a:rPr sz="2000" spc="-15" dirty="0">
                <a:solidFill>
                  <a:srgbClr val="404040"/>
                </a:solidFill>
                <a:latin typeface="Calibri"/>
                <a:cs typeface="Calibri"/>
              </a:rPr>
              <a:t> </a:t>
            </a:r>
            <a:r>
              <a:rPr sz="2000" spc="10" dirty="0">
                <a:solidFill>
                  <a:srgbClr val="404040"/>
                </a:solidFill>
                <a:latin typeface="Calibri"/>
                <a:cs typeface="Calibri"/>
              </a:rPr>
              <a:t>classe</a:t>
            </a:r>
            <a:r>
              <a:rPr sz="2000" spc="-45" dirty="0">
                <a:solidFill>
                  <a:srgbClr val="404040"/>
                </a:solidFill>
                <a:latin typeface="Calibri"/>
                <a:cs typeface="Calibri"/>
              </a:rPr>
              <a:t> </a:t>
            </a:r>
            <a:r>
              <a:rPr sz="2000" spc="45" dirty="0">
                <a:solidFill>
                  <a:srgbClr val="404040"/>
                </a:solidFill>
                <a:latin typeface="Calibri"/>
                <a:cs typeface="Calibri"/>
              </a:rPr>
              <a:t>dont </a:t>
            </a:r>
            <a:r>
              <a:rPr sz="2000" spc="-434" dirty="0">
                <a:solidFill>
                  <a:srgbClr val="404040"/>
                </a:solidFill>
                <a:latin typeface="Calibri"/>
                <a:cs typeface="Calibri"/>
              </a:rPr>
              <a:t> </a:t>
            </a:r>
            <a:r>
              <a:rPr sz="2000" spc="20" dirty="0">
                <a:solidFill>
                  <a:srgbClr val="404040"/>
                </a:solidFill>
                <a:latin typeface="Calibri"/>
                <a:cs typeface="Calibri"/>
              </a:rPr>
              <a:t>elle</a:t>
            </a:r>
            <a:r>
              <a:rPr sz="2000" spc="-55" dirty="0">
                <a:solidFill>
                  <a:srgbClr val="404040"/>
                </a:solidFill>
                <a:latin typeface="Calibri"/>
                <a:cs typeface="Calibri"/>
              </a:rPr>
              <a:t> </a:t>
            </a:r>
            <a:r>
              <a:rPr sz="2000" spc="15" dirty="0">
                <a:solidFill>
                  <a:srgbClr val="404040"/>
                </a:solidFill>
                <a:latin typeface="Calibri"/>
                <a:cs typeface="Calibri"/>
              </a:rPr>
              <a:t>fait</a:t>
            </a:r>
            <a:r>
              <a:rPr sz="2000" spc="-125" dirty="0">
                <a:solidFill>
                  <a:srgbClr val="404040"/>
                </a:solidFill>
                <a:latin typeface="Calibri"/>
                <a:cs typeface="Calibri"/>
              </a:rPr>
              <a:t> </a:t>
            </a:r>
            <a:r>
              <a:rPr sz="2000" spc="20" dirty="0">
                <a:solidFill>
                  <a:srgbClr val="404040"/>
                </a:solidFill>
                <a:latin typeface="Calibri"/>
                <a:cs typeface="Calibri"/>
              </a:rPr>
              <a:t>partie.</a:t>
            </a:r>
            <a:endParaRPr sz="2000">
              <a:latin typeface="Calibri"/>
              <a:cs typeface="Calibri"/>
            </a:endParaRPr>
          </a:p>
        </p:txBody>
      </p:sp>
      <p:sp>
        <p:nvSpPr>
          <p:cNvPr id="4" name="object 4"/>
          <p:cNvSpPr txBox="1"/>
          <p:nvPr/>
        </p:nvSpPr>
        <p:spPr>
          <a:xfrm>
            <a:off x="1287780" y="3186379"/>
            <a:ext cx="8863965" cy="871219"/>
          </a:xfrm>
          <a:prstGeom prst="rect">
            <a:avLst/>
          </a:prstGeom>
        </p:spPr>
        <p:txBody>
          <a:bodyPr vert="horz" wrap="square" lIns="0" tIns="48260" rIns="0" bIns="0" rtlCol="0">
            <a:spAutoFit/>
          </a:bodyPr>
          <a:lstStyle/>
          <a:p>
            <a:pPr marL="190500" marR="5080" indent="-177800">
              <a:lnSpc>
                <a:spcPts val="1900"/>
              </a:lnSpc>
              <a:spcBef>
                <a:spcPts val="380"/>
              </a:spcBef>
              <a:buClr>
                <a:srgbClr val="E48312"/>
              </a:buClr>
              <a:buSzPct val="94444"/>
              <a:buFont typeface="Wingdings"/>
              <a:buChar char=""/>
              <a:tabLst>
                <a:tab pos="217170" algn="l"/>
              </a:tabLst>
            </a:pPr>
            <a:r>
              <a:rPr sz="1800" spc="-10" dirty="0">
                <a:solidFill>
                  <a:srgbClr val="404040"/>
                </a:solidFill>
                <a:latin typeface="Calibri"/>
                <a:cs typeface="Calibri"/>
              </a:rPr>
              <a:t>Dans</a:t>
            </a:r>
            <a:r>
              <a:rPr sz="1800" spc="-15" dirty="0">
                <a:solidFill>
                  <a:srgbClr val="404040"/>
                </a:solidFill>
                <a:latin typeface="Calibri"/>
                <a:cs typeface="Calibri"/>
              </a:rPr>
              <a:t> </a:t>
            </a:r>
            <a:r>
              <a:rPr sz="1800" spc="10" dirty="0">
                <a:solidFill>
                  <a:srgbClr val="404040"/>
                </a:solidFill>
                <a:latin typeface="Calibri"/>
                <a:cs typeface="Calibri"/>
              </a:rPr>
              <a:t>cet</a:t>
            </a:r>
            <a:r>
              <a:rPr sz="1800" spc="-15" dirty="0">
                <a:solidFill>
                  <a:srgbClr val="404040"/>
                </a:solidFill>
                <a:latin typeface="Calibri"/>
                <a:cs typeface="Calibri"/>
              </a:rPr>
              <a:t> exemple,</a:t>
            </a:r>
            <a:r>
              <a:rPr sz="1800" spc="40" dirty="0">
                <a:solidFill>
                  <a:srgbClr val="404040"/>
                </a:solidFill>
                <a:latin typeface="Calibri"/>
                <a:cs typeface="Calibri"/>
              </a:rPr>
              <a:t> </a:t>
            </a:r>
            <a:r>
              <a:rPr sz="1800" spc="-5" dirty="0">
                <a:solidFill>
                  <a:srgbClr val="404040"/>
                </a:solidFill>
                <a:latin typeface="Calibri"/>
                <a:cs typeface="Calibri"/>
              </a:rPr>
              <a:t>les</a:t>
            </a:r>
            <a:r>
              <a:rPr sz="1800" spc="-15" dirty="0">
                <a:solidFill>
                  <a:srgbClr val="404040"/>
                </a:solidFill>
                <a:latin typeface="Calibri"/>
                <a:cs typeface="Calibri"/>
              </a:rPr>
              <a:t> </a:t>
            </a:r>
            <a:r>
              <a:rPr sz="1800" spc="-30" dirty="0">
                <a:solidFill>
                  <a:srgbClr val="404040"/>
                </a:solidFill>
                <a:latin typeface="Calibri"/>
                <a:cs typeface="Calibri"/>
              </a:rPr>
              <a:t>pneus</a:t>
            </a:r>
            <a:r>
              <a:rPr sz="1800" spc="190" dirty="0">
                <a:solidFill>
                  <a:srgbClr val="404040"/>
                </a:solidFill>
                <a:latin typeface="Calibri"/>
                <a:cs typeface="Calibri"/>
              </a:rPr>
              <a:t> </a:t>
            </a:r>
            <a:r>
              <a:rPr sz="1800" spc="-25" dirty="0">
                <a:solidFill>
                  <a:srgbClr val="404040"/>
                </a:solidFill>
                <a:latin typeface="Calibri"/>
                <a:cs typeface="Calibri"/>
              </a:rPr>
              <a:t>de</a:t>
            </a:r>
            <a:r>
              <a:rPr sz="1800" spc="-5" dirty="0">
                <a:solidFill>
                  <a:srgbClr val="404040"/>
                </a:solidFill>
                <a:latin typeface="Calibri"/>
                <a:cs typeface="Calibri"/>
              </a:rPr>
              <a:t> </a:t>
            </a:r>
            <a:r>
              <a:rPr sz="1800" spc="-10" dirty="0">
                <a:solidFill>
                  <a:srgbClr val="404040"/>
                </a:solidFill>
                <a:latin typeface="Calibri"/>
                <a:cs typeface="Calibri"/>
              </a:rPr>
              <a:t>la</a:t>
            </a:r>
            <a:r>
              <a:rPr sz="1800" spc="30" dirty="0">
                <a:solidFill>
                  <a:srgbClr val="404040"/>
                </a:solidFill>
                <a:latin typeface="Calibri"/>
                <a:cs typeface="Calibri"/>
              </a:rPr>
              <a:t> </a:t>
            </a:r>
            <a:r>
              <a:rPr sz="1800" spc="-25" dirty="0">
                <a:solidFill>
                  <a:srgbClr val="404040"/>
                </a:solidFill>
                <a:latin typeface="Calibri"/>
                <a:cs typeface="Calibri"/>
              </a:rPr>
              <a:t>voiture</a:t>
            </a:r>
            <a:r>
              <a:rPr sz="1800" spc="95" dirty="0">
                <a:solidFill>
                  <a:srgbClr val="404040"/>
                </a:solidFill>
                <a:latin typeface="Calibri"/>
                <a:cs typeface="Calibri"/>
              </a:rPr>
              <a:t> </a:t>
            </a:r>
            <a:r>
              <a:rPr sz="1800" spc="-25" dirty="0">
                <a:solidFill>
                  <a:srgbClr val="404040"/>
                </a:solidFill>
                <a:latin typeface="Calibri"/>
                <a:cs typeface="Calibri"/>
              </a:rPr>
              <a:t>peuvent</a:t>
            </a:r>
            <a:r>
              <a:rPr sz="1800" spc="190" dirty="0">
                <a:solidFill>
                  <a:srgbClr val="404040"/>
                </a:solidFill>
                <a:latin typeface="Calibri"/>
                <a:cs typeface="Calibri"/>
              </a:rPr>
              <a:t> </a:t>
            </a:r>
            <a:r>
              <a:rPr sz="1800" spc="-10" dirty="0">
                <a:solidFill>
                  <a:srgbClr val="404040"/>
                </a:solidFill>
                <a:latin typeface="Calibri"/>
                <a:cs typeface="Calibri"/>
              </a:rPr>
              <a:t>être</a:t>
            </a:r>
            <a:r>
              <a:rPr sz="1800" spc="-5" dirty="0">
                <a:solidFill>
                  <a:srgbClr val="404040"/>
                </a:solidFill>
                <a:latin typeface="Calibri"/>
                <a:cs typeface="Calibri"/>
              </a:rPr>
              <a:t> </a:t>
            </a:r>
            <a:r>
              <a:rPr sz="1800" dirty="0">
                <a:solidFill>
                  <a:srgbClr val="404040"/>
                </a:solidFill>
                <a:latin typeface="Calibri"/>
                <a:cs typeface="Calibri"/>
              </a:rPr>
              <a:t>créés</a:t>
            </a:r>
            <a:r>
              <a:rPr sz="1800" spc="-15" dirty="0">
                <a:solidFill>
                  <a:srgbClr val="404040"/>
                </a:solidFill>
                <a:latin typeface="Calibri"/>
                <a:cs typeface="Calibri"/>
              </a:rPr>
              <a:t> </a:t>
            </a:r>
            <a:r>
              <a:rPr sz="1800" dirty="0">
                <a:solidFill>
                  <a:srgbClr val="404040"/>
                </a:solidFill>
                <a:latin typeface="Calibri"/>
                <a:cs typeface="Calibri"/>
              </a:rPr>
              <a:t>avant</a:t>
            </a:r>
            <a:r>
              <a:rPr sz="1800" spc="-110" dirty="0">
                <a:solidFill>
                  <a:srgbClr val="404040"/>
                </a:solidFill>
                <a:latin typeface="Calibri"/>
                <a:cs typeface="Calibri"/>
              </a:rPr>
              <a:t> </a:t>
            </a:r>
            <a:r>
              <a:rPr sz="1800" spc="-10" dirty="0">
                <a:solidFill>
                  <a:srgbClr val="404040"/>
                </a:solidFill>
                <a:latin typeface="Calibri"/>
                <a:cs typeface="Calibri"/>
              </a:rPr>
              <a:t>la</a:t>
            </a:r>
            <a:r>
              <a:rPr sz="1800" spc="35" dirty="0">
                <a:solidFill>
                  <a:srgbClr val="404040"/>
                </a:solidFill>
                <a:latin typeface="Calibri"/>
                <a:cs typeface="Calibri"/>
              </a:rPr>
              <a:t> </a:t>
            </a:r>
            <a:r>
              <a:rPr sz="1800" spc="-25" dirty="0">
                <a:solidFill>
                  <a:srgbClr val="404040"/>
                </a:solidFill>
                <a:latin typeface="Calibri"/>
                <a:cs typeface="Calibri"/>
              </a:rPr>
              <a:t>voiture</a:t>
            </a:r>
            <a:r>
              <a:rPr sz="1800" spc="95" dirty="0">
                <a:solidFill>
                  <a:srgbClr val="404040"/>
                </a:solidFill>
                <a:latin typeface="Calibri"/>
                <a:cs typeface="Calibri"/>
              </a:rPr>
              <a:t> </a:t>
            </a:r>
            <a:r>
              <a:rPr sz="1800" spc="-25" dirty="0">
                <a:solidFill>
                  <a:srgbClr val="404040"/>
                </a:solidFill>
                <a:latin typeface="Calibri"/>
                <a:cs typeface="Calibri"/>
              </a:rPr>
              <a:t>(dans</a:t>
            </a:r>
            <a:r>
              <a:rPr sz="1800" spc="85" dirty="0">
                <a:solidFill>
                  <a:srgbClr val="404040"/>
                </a:solidFill>
                <a:latin typeface="Calibri"/>
                <a:cs typeface="Calibri"/>
              </a:rPr>
              <a:t> </a:t>
            </a:r>
            <a:r>
              <a:rPr sz="1800" spc="-35" dirty="0">
                <a:solidFill>
                  <a:srgbClr val="404040"/>
                </a:solidFill>
                <a:latin typeface="Calibri"/>
                <a:cs typeface="Calibri"/>
              </a:rPr>
              <a:t>une</a:t>
            </a:r>
            <a:r>
              <a:rPr sz="1800" spc="95" dirty="0">
                <a:solidFill>
                  <a:srgbClr val="404040"/>
                </a:solidFill>
                <a:latin typeface="Calibri"/>
                <a:cs typeface="Calibri"/>
              </a:rPr>
              <a:t> </a:t>
            </a:r>
            <a:r>
              <a:rPr sz="1800" spc="-10" dirty="0">
                <a:solidFill>
                  <a:srgbClr val="404040"/>
                </a:solidFill>
                <a:latin typeface="Calibri"/>
                <a:cs typeface="Calibri"/>
              </a:rPr>
              <a:t>autre </a:t>
            </a:r>
            <a:r>
              <a:rPr sz="1800" spc="-390" dirty="0">
                <a:solidFill>
                  <a:srgbClr val="404040"/>
                </a:solidFill>
                <a:latin typeface="Calibri"/>
                <a:cs typeface="Calibri"/>
              </a:rPr>
              <a:t> </a:t>
            </a:r>
            <a:r>
              <a:rPr sz="1800" spc="-20" dirty="0">
                <a:solidFill>
                  <a:srgbClr val="404040"/>
                </a:solidFill>
                <a:latin typeface="Calibri"/>
                <a:cs typeface="Calibri"/>
              </a:rPr>
              <a:t>compagnie).</a:t>
            </a:r>
            <a:endParaRPr sz="1800">
              <a:latin typeface="Calibri"/>
              <a:cs typeface="Calibri"/>
            </a:endParaRPr>
          </a:p>
          <a:p>
            <a:pPr marL="216535" indent="-204470">
              <a:lnSpc>
                <a:spcPct val="100000"/>
              </a:lnSpc>
              <a:spcBef>
                <a:spcPts val="420"/>
              </a:spcBef>
              <a:buClr>
                <a:srgbClr val="E48312"/>
              </a:buClr>
              <a:buSzPct val="94444"/>
              <a:buFont typeface="Wingdings"/>
              <a:buChar char=""/>
              <a:tabLst>
                <a:tab pos="217170" algn="l"/>
              </a:tabLst>
            </a:pPr>
            <a:r>
              <a:rPr sz="1800" spc="-30" dirty="0">
                <a:solidFill>
                  <a:srgbClr val="404040"/>
                </a:solidFill>
                <a:latin typeface="Calibri"/>
                <a:cs typeface="Calibri"/>
              </a:rPr>
              <a:t>L’agrégation</a:t>
            </a:r>
            <a:r>
              <a:rPr sz="1800" spc="45" dirty="0">
                <a:solidFill>
                  <a:srgbClr val="404040"/>
                </a:solidFill>
                <a:latin typeface="Calibri"/>
                <a:cs typeface="Calibri"/>
              </a:rPr>
              <a:t> </a:t>
            </a:r>
            <a:r>
              <a:rPr sz="1800" spc="-20" dirty="0">
                <a:solidFill>
                  <a:srgbClr val="404040"/>
                </a:solidFill>
                <a:latin typeface="Calibri"/>
                <a:cs typeface="Calibri"/>
              </a:rPr>
              <a:t>basique</a:t>
            </a:r>
            <a:r>
              <a:rPr sz="1800" spc="95" dirty="0">
                <a:solidFill>
                  <a:srgbClr val="404040"/>
                </a:solidFill>
                <a:latin typeface="Calibri"/>
                <a:cs typeface="Calibri"/>
              </a:rPr>
              <a:t> </a:t>
            </a:r>
            <a:r>
              <a:rPr sz="1800" spc="-5" dirty="0">
                <a:solidFill>
                  <a:srgbClr val="404040"/>
                </a:solidFill>
                <a:latin typeface="Calibri"/>
                <a:cs typeface="Calibri"/>
              </a:rPr>
              <a:t>se </a:t>
            </a:r>
            <a:r>
              <a:rPr sz="1800" spc="-20" dirty="0">
                <a:solidFill>
                  <a:srgbClr val="404040"/>
                </a:solidFill>
                <a:latin typeface="Calibri"/>
                <a:cs typeface="Calibri"/>
              </a:rPr>
              <a:t>traduit</a:t>
            </a:r>
            <a:r>
              <a:rPr sz="1800" spc="90" dirty="0">
                <a:solidFill>
                  <a:srgbClr val="404040"/>
                </a:solidFill>
                <a:latin typeface="Calibri"/>
                <a:cs typeface="Calibri"/>
              </a:rPr>
              <a:t> </a:t>
            </a:r>
            <a:r>
              <a:rPr sz="1800" spc="-5" dirty="0">
                <a:solidFill>
                  <a:srgbClr val="404040"/>
                </a:solidFill>
                <a:latin typeface="Calibri"/>
                <a:cs typeface="Calibri"/>
              </a:rPr>
              <a:t>par</a:t>
            </a:r>
            <a:r>
              <a:rPr sz="1800" spc="-40" dirty="0">
                <a:solidFill>
                  <a:srgbClr val="404040"/>
                </a:solidFill>
                <a:latin typeface="Calibri"/>
                <a:cs typeface="Calibri"/>
              </a:rPr>
              <a:t> </a:t>
            </a:r>
            <a:r>
              <a:rPr sz="1800" spc="-25" dirty="0">
                <a:solidFill>
                  <a:srgbClr val="404040"/>
                </a:solidFill>
                <a:latin typeface="Calibri"/>
                <a:cs typeface="Calibri"/>
              </a:rPr>
              <a:t>un</a:t>
            </a:r>
            <a:r>
              <a:rPr sz="1800" spc="45" dirty="0">
                <a:solidFill>
                  <a:srgbClr val="404040"/>
                </a:solidFill>
                <a:latin typeface="Calibri"/>
                <a:cs typeface="Calibri"/>
              </a:rPr>
              <a:t> </a:t>
            </a:r>
            <a:r>
              <a:rPr sz="1800" spc="-20" dirty="0">
                <a:solidFill>
                  <a:srgbClr val="404040"/>
                </a:solidFill>
                <a:latin typeface="Calibri"/>
                <a:cs typeface="Calibri"/>
              </a:rPr>
              <a:t>losange</a:t>
            </a:r>
            <a:r>
              <a:rPr sz="1800" spc="195" dirty="0">
                <a:solidFill>
                  <a:srgbClr val="404040"/>
                </a:solidFill>
                <a:latin typeface="Calibri"/>
                <a:cs typeface="Calibri"/>
              </a:rPr>
              <a:t> </a:t>
            </a:r>
            <a:r>
              <a:rPr sz="1800" spc="-35" dirty="0">
                <a:solidFill>
                  <a:srgbClr val="404040"/>
                </a:solidFill>
                <a:latin typeface="Calibri"/>
                <a:cs typeface="Calibri"/>
              </a:rPr>
              <a:t>non</a:t>
            </a:r>
            <a:r>
              <a:rPr sz="1800" spc="50" dirty="0">
                <a:solidFill>
                  <a:srgbClr val="404040"/>
                </a:solidFill>
                <a:latin typeface="Calibri"/>
                <a:cs typeface="Calibri"/>
              </a:rPr>
              <a:t> </a:t>
            </a:r>
            <a:r>
              <a:rPr sz="1800" spc="-25" dirty="0">
                <a:solidFill>
                  <a:srgbClr val="404040"/>
                </a:solidFill>
                <a:latin typeface="Calibri"/>
                <a:cs typeface="Calibri"/>
              </a:rPr>
              <a:t>rempli</a:t>
            </a:r>
            <a:r>
              <a:rPr sz="1800" spc="175" dirty="0">
                <a:solidFill>
                  <a:srgbClr val="404040"/>
                </a:solidFill>
                <a:latin typeface="Calibri"/>
                <a:cs typeface="Calibri"/>
              </a:rPr>
              <a:t> </a:t>
            </a:r>
            <a:r>
              <a:rPr sz="1800" spc="-25" dirty="0">
                <a:solidFill>
                  <a:srgbClr val="404040"/>
                </a:solidFill>
                <a:latin typeface="Calibri"/>
                <a:cs typeface="Calibri"/>
              </a:rPr>
              <a:t>du</a:t>
            </a:r>
            <a:r>
              <a:rPr sz="1800" spc="45" dirty="0">
                <a:solidFill>
                  <a:srgbClr val="404040"/>
                </a:solidFill>
                <a:latin typeface="Calibri"/>
                <a:cs typeface="Calibri"/>
              </a:rPr>
              <a:t> </a:t>
            </a:r>
            <a:r>
              <a:rPr sz="1800" spc="-5" dirty="0">
                <a:solidFill>
                  <a:srgbClr val="404040"/>
                </a:solidFill>
                <a:latin typeface="Calibri"/>
                <a:cs typeface="Calibri"/>
              </a:rPr>
              <a:t>côté </a:t>
            </a:r>
            <a:r>
              <a:rPr sz="1800" spc="-25" dirty="0">
                <a:solidFill>
                  <a:srgbClr val="404040"/>
                </a:solidFill>
                <a:latin typeface="Calibri"/>
                <a:cs typeface="Calibri"/>
              </a:rPr>
              <a:t>de</a:t>
            </a:r>
            <a:r>
              <a:rPr sz="1800" dirty="0">
                <a:solidFill>
                  <a:srgbClr val="404040"/>
                </a:solidFill>
                <a:latin typeface="Calibri"/>
                <a:cs typeface="Calibri"/>
              </a:rPr>
              <a:t> </a:t>
            </a:r>
            <a:r>
              <a:rPr sz="1800" spc="-10" dirty="0">
                <a:solidFill>
                  <a:srgbClr val="404040"/>
                </a:solidFill>
                <a:latin typeface="Calibri"/>
                <a:cs typeface="Calibri"/>
              </a:rPr>
              <a:t>la</a:t>
            </a:r>
            <a:r>
              <a:rPr sz="1800" spc="30" dirty="0">
                <a:solidFill>
                  <a:srgbClr val="404040"/>
                </a:solidFill>
                <a:latin typeface="Calibri"/>
                <a:cs typeface="Calibri"/>
              </a:rPr>
              <a:t> </a:t>
            </a:r>
            <a:r>
              <a:rPr sz="1800" spc="5" dirty="0">
                <a:solidFill>
                  <a:srgbClr val="404040"/>
                </a:solidFill>
                <a:latin typeface="Calibri"/>
                <a:cs typeface="Calibri"/>
              </a:rPr>
              <a:t>classe</a:t>
            </a:r>
            <a:r>
              <a:rPr sz="1800" spc="-5" dirty="0">
                <a:solidFill>
                  <a:srgbClr val="404040"/>
                </a:solidFill>
                <a:latin typeface="Calibri"/>
                <a:cs typeface="Calibri"/>
              </a:rPr>
              <a:t> </a:t>
            </a:r>
            <a:r>
              <a:rPr sz="1800" spc="-20" dirty="0">
                <a:solidFill>
                  <a:srgbClr val="404040"/>
                </a:solidFill>
                <a:latin typeface="Calibri"/>
                <a:cs typeface="Calibri"/>
              </a:rPr>
              <a:t>parent</a:t>
            </a:r>
            <a:endParaRPr sz="1800">
              <a:latin typeface="Calibri"/>
              <a:cs typeface="Calibri"/>
            </a:endParaRPr>
          </a:p>
        </p:txBody>
      </p:sp>
      <p:grpSp>
        <p:nvGrpSpPr>
          <p:cNvPr id="9" name="Groupe 8"/>
          <p:cNvGrpSpPr/>
          <p:nvPr/>
        </p:nvGrpSpPr>
        <p:grpSpPr>
          <a:xfrm>
            <a:off x="4368800" y="2247900"/>
            <a:ext cx="3276600" cy="546100"/>
            <a:chOff x="4368800" y="2247900"/>
            <a:chExt cx="3276600" cy="546100"/>
          </a:xfrm>
        </p:grpSpPr>
        <p:pic>
          <p:nvPicPr>
            <p:cNvPr id="5" name="object 5"/>
            <p:cNvPicPr/>
            <p:nvPr/>
          </p:nvPicPr>
          <p:blipFill>
            <a:blip r:embed="rId2" cstate="print"/>
            <a:stretch>
              <a:fillRect/>
            </a:stretch>
          </p:blipFill>
          <p:spPr>
            <a:xfrm>
              <a:off x="4368800" y="2247900"/>
              <a:ext cx="3276600" cy="546100"/>
            </a:xfrm>
            <a:prstGeom prst="rect">
              <a:avLst/>
            </a:prstGeom>
          </p:spPr>
        </p:pic>
        <p:sp>
          <p:nvSpPr>
            <p:cNvPr id="6" name="Rectangle 5"/>
            <p:cNvSpPr/>
            <p:nvPr/>
          </p:nvSpPr>
          <p:spPr>
            <a:xfrm>
              <a:off x="4495800" y="2297872"/>
              <a:ext cx="687026" cy="259339"/>
            </a:xfrm>
            <a:prstGeom prst="rect">
              <a:avLst/>
            </a:prstGeom>
            <a:solidFill>
              <a:srgbClr val="FFFF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lumMod val="65000"/>
                      <a:lumOff val="35000"/>
                    </a:schemeClr>
                  </a:solidFill>
                  <a:latin typeface="Agency FB" panose="020B0503020202020204" pitchFamily="34" charset="0"/>
                </a:rPr>
                <a:t>Voiture</a:t>
              </a:r>
            </a:p>
          </p:txBody>
        </p:sp>
        <p:sp>
          <p:nvSpPr>
            <p:cNvPr id="7" name="Rectangle 6"/>
            <p:cNvSpPr/>
            <p:nvPr/>
          </p:nvSpPr>
          <p:spPr>
            <a:xfrm>
              <a:off x="6858000" y="2337811"/>
              <a:ext cx="687026" cy="183139"/>
            </a:xfrm>
            <a:prstGeom prst="rect">
              <a:avLst/>
            </a:prstGeom>
            <a:solidFill>
              <a:srgbClr val="FFFF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lumMod val="65000"/>
                      <a:lumOff val="35000"/>
                    </a:schemeClr>
                  </a:solidFill>
                  <a:latin typeface="Agency FB" panose="020B0503020202020204" pitchFamily="34" charset="0"/>
                </a:rPr>
                <a:t>Roue</a:t>
              </a:r>
            </a:p>
          </p:txBody>
        </p:sp>
        <p:sp>
          <p:nvSpPr>
            <p:cNvPr id="8" name="Rectangle 7"/>
            <p:cNvSpPr/>
            <p:nvPr/>
          </p:nvSpPr>
          <p:spPr>
            <a:xfrm>
              <a:off x="6134100" y="2247900"/>
              <a:ext cx="560025" cy="2652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lumMod val="65000"/>
                      <a:lumOff val="35000"/>
                    </a:schemeClr>
                  </a:solidFill>
                  <a:latin typeface="Agency FB" panose="020B0503020202020204" pitchFamily="34" charset="0"/>
                </a:rPr>
                <a:t>Roues</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49035"/>
            <a:ext cx="7177405" cy="756920"/>
          </a:xfrm>
          <a:prstGeom prst="rect">
            <a:avLst/>
          </a:prstGeom>
        </p:spPr>
        <p:txBody>
          <a:bodyPr vert="horz" wrap="square" lIns="0" tIns="12700" rIns="0" bIns="0" rtlCol="0">
            <a:spAutoFit/>
          </a:bodyPr>
          <a:lstStyle/>
          <a:p>
            <a:pPr marL="12700">
              <a:lnSpc>
                <a:spcPct val="100000"/>
              </a:lnSpc>
              <a:spcBef>
                <a:spcPts val="100"/>
              </a:spcBef>
            </a:pPr>
            <a:r>
              <a:rPr spc="-85" dirty="0"/>
              <a:t>Agrégation</a:t>
            </a:r>
            <a:r>
              <a:rPr spc="95" dirty="0"/>
              <a:t> </a:t>
            </a:r>
            <a:r>
              <a:rPr spc="-60" dirty="0"/>
              <a:t>De</a:t>
            </a:r>
            <a:r>
              <a:rPr spc="-70" dirty="0"/>
              <a:t> </a:t>
            </a:r>
            <a:r>
              <a:rPr spc="-85" dirty="0"/>
              <a:t>Composition</a:t>
            </a:r>
          </a:p>
        </p:txBody>
      </p:sp>
      <p:sp>
        <p:nvSpPr>
          <p:cNvPr id="3" name="object 3"/>
          <p:cNvSpPr txBox="1"/>
          <p:nvPr/>
        </p:nvSpPr>
        <p:spPr>
          <a:xfrm>
            <a:off x="1084580" y="1281379"/>
            <a:ext cx="9411970" cy="609600"/>
          </a:xfrm>
          <a:prstGeom prst="rect">
            <a:avLst/>
          </a:prstGeom>
        </p:spPr>
        <p:txBody>
          <a:bodyPr vert="horz" wrap="square" lIns="0" tIns="43180" rIns="0" bIns="0" rtlCol="0">
            <a:spAutoFit/>
          </a:bodyPr>
          <a:lstStyle/>
          <a:p>
            <a:pPr marL="101600" marR="5080" indent="-88900">
              <a:lnSpc>
                <a:spcPts val="2200"/>
              </a:lnSpc>
              <a:spcBef>
                <a:spcPts val="340"/>
              </a:spcBef>
              <a:buClr>
                <a:srgbClr val="E48312"/>
              </a:buClr>
              <a:buSzPct val="95000"/>
              <a:buFont typeface="Wingdings"/>
              <a:buChar char=""/>
              <a:tabLst>
                <a:tab pos="241300" algn="l"/>
              </a:tabLst>
            </a:pPr>
            <a:r>
              <a:rPr sz="2000" spc="20" dirty="0">
                <a:solidFill>
                  <a:srgbClr val="404040"/>
                </a:solidFill>
                <a:latin typeface="Calibri"/>
                <a:cs typeface="Calibri"/>
              </a:rPr>
              <a:t>Autre</a:t>
            </a:r>
            <a:r>
              <a:rPr sz="2000" spc="-150" dirty="0">
                <a:solidFill>
                  <a:srgbClr val="404040"/>
                </a:solidFill>
                <a:latin typeface="Calibri"/>
                <a:cs typeface="Calibri"/>
              </a:rPr>
              <a:t> </a:t>
            </a:r>
            <a:r>
              <a:rPr sz="2000" spc="5" dirty="0">
                <a:solidFill>
                  <a:srgbClr val="404040"/>
                </a:solidFill>
                <a:latin typeface="Calibri"/>
                <a:cs typeface="Calibri"/>
              </a:rPr>
              <a:t>forme</a:t>
            </a:r>
            <a:r>
              <a:rPr sz="2000" spc="-45" dirty="0">
                <a:solidFill>
                  <a:srgbClr val="404040"/>
                </a:solidFill>
                <a:latin typeface="Calibri"/>
                <a:cs typeface="Calibri"/>
              </a:rPr>
              <a:t> </a:t>
            </a:r>
            <a:r>
              <a:rPr sz="2000" dirty="0">
                <a:solidFill>
                  <a:srgbClr val="404040"/>
                </a:solidFill>
                <a:latin typeface="Calibri"/>
                <a:cs typeface="Calibri"/>
              </a:rPr>
              <a:t>d’agrégation</a:t>
            </a:r>
            <a:r>
              <a:rPr sz="2000" spc="-204" dirty="0">
                <a:solidFill>
                  <a:srgbClr val="404040"/>
                </a:solidFill>
                <a:latin typeface="Calibri"/>
                <a:cs typeface="Calibri"/>
              </a:rPr>
              <a:t> </a:t>
            </a:r>
            <a:r>
              <a:rPr sz="2000" spc="30" dirty="0">
                <a:solidFill>
                  <a:srgbClr val="404040"/>
                </a:solidFill>
                <a:latin typeface="Calibri"/>
                <a:cs typeface="Calibri"/>
              </a:rPr>
              <a:t>qui</a:t>
            </a:r>
            <a:r>
              <a:rPr sz="2000" spc="-110" dirty="0">
                <a:solidFill>
                  <a:srgbClr val="404040"/>
                </a:solidFill>
                <a:latin typeface="Calibri"/>
                <a:cs typeface="Calibri"/>
              </a:rPr>
              <a:t> </a:t>
            </a:r>
            <a:r>
              <a:rPr sz="2000" spc="5" dirty="0">
                <a:solidFill>
                  <a:srgbClr val="404040"/>
                </a:solidFill>
                <a:latin typeface="Calibri"/>
                <a:cs typeface="Calibri"/>
              </a:rPr>
              <a:t>se</a:t>
            </a:r>
            <a:r>
              <a:rPr sz="2000" spc="-150" dirty="0">
                <a:solidFill>
                  <a:srgbClr val="404040"/>
                </a:solidFill>
                <a:latin typeface="Calibri"/>
                <a:cs typeface="Calibri"/>
              </a:rPr>
              <a:t> </a:t>
            </a:r>
            <a:r>
              <a:rPr sz="2000" spc="25" dirty="0">
                <a:solidFill>
                  <a:srgbClr val="404040"/>
                </a:solidFill>
                <a:latin typeface="Calibri"/>
                <a:cs typeface="Calibri"/>
              </a:rPr>
              <a:t>traduit</a:t>
            </a:r>
            <a:r>
              <a:rPr sz="2000" spc="-120" dirty="0">
                <a:solidFill>
                  <a:srgbClr val="404040"/>
                </a:solidFill>
                <a:latin typeface="Calibri"/>
                <a:cs typeface="Calibri"/>
              </a:rPr>
              <a:t> </a:t>
            </a:r>
            <a:r>
              <a:rPr sz="2000" spc="25" dirty="0">
                <a:solidFill>
                  <a:srgbClr val="404040"/>
                </a:solidFill>
                <a:latin typeface="Calibri"/>
                <a:cs typeface="Calibri"/>
              </a:rPr>
              <a:t>par</a:t>
            </a:r>
            <a:r>
              <a:rPr sz="2000" spc="-155" dirty="0">
                <a:solidFill>
                  <a:srgbClr val="404040"/>
                </a:solidFill>
                <a:latin typeface="Calibri"/>
                <a:cs typeface="Calibri"/>
              </a:rPr>
              <a:t> </a:t>
            </a:r>
            <a:r>
              <a:rPr sz="2000" spc="20" dirty="0">
                <a:solidFill>
                  <a:srgbClr val="404040"/>
                </a:solidFill>
                <a:latin typeface="Calibri"/>
                <a:cs typeface="Calibri"/>
              </a:rPr>
              <a:t>le</a:t>
            </a:r>
            <a:r>
              <a:rPr sz="2000" spc="-45" dirty="0">
                <a:solidFill>
                  <a:srgbClr val="404040"/>
                </a:solidFill>
                <a:latin typeface="Calibri"/>
                <a:cs typeface="Calibri"/>
              </a:rPr>
              <a:t> </a:t>
            </a:r>
            <a:r>
              <a:rPr sz="2000" spc="15" dirty="0">
                <a:solidFill>
                  <a:srgbClr val="404040"/>
                </a:solidFill>
                <a:latin typeface="Calibri"/>
                <a:cs typeface="Calibri"/>
              </a:rPr>
              <a:t>fait</a:t>
            </a:r>
            <a:r>
              <a:rPr sz="2000" spc="-120" dirty="0">
                <a:solidFill>
                  <a:srgbClr val="404040"/>
                </a:solidFill>
                <a:latin typeface="Calibri"/>
                <a:cs typeface="Calibri"/>
              </a:rPr>
              <a:t> </a:t>
            </a:r>
            <a:r>
              <a:rPr sz="2000" spc="30" dirty="0">
                <a:solidFill>
                  <a:srgbClr val="404040"/>
                </a:solidFill>
                <a:latin typeface="Calibri"/>
                <a:cs typeface="Calibri"/>
              </a:rPr>
              <a:t>que</a:t>
            </a:r>
            <a:r>
              <a:rPr sz="2000" spc="-50" dirty="0">
                <a:solidFill>
                  <a:srgbClr val="404040"/>
                </a:solidFill>
                <a:latin typeface="Calibri"/>
                <a:cs typeface="Calibri"/>
              </a:rPr>
              <a:t> </a:t>
            </a:r>
            <a:r>
              <a:rPr sz="2000" spc="20" dirty="0">
                <a:solidFill>
                  <a:srgbClr val="404040"/>
                </a:solidFill>
                <a:latin typeface="Calibri"/>
                <a:cs typeface="Calibri"/>
              </a:rPr>
              <a:t>la</a:t>
            </a:r>
            <a:r>
              <a:rPr sz="2000" spc="-10" dirty="0">
                <a:solidFill>
                  <a:srgbClr val="404040"/>
                </a:solidFill>
                <a:latin typeface="Calibri"/>
                <a:cs typeface="Calibri"/>
              </a:rPr>
              <a:t> </a:t>
            </a:r>
            <a:r>
              <a:rPr sz="2000" spc="10" dirty="0">
                <a:solidFill>
                  <a:srgbClr val="404040"/>
                </a:solidFill>
                <a:latin typeface="Calibri"/>
                <a:cs typeface="Calibri"/>
              </a:rPr>
              <a:t>classe</a:t>
            </a:r>
            <a:r>
              <a:rPr sz="2000" spc="-45" dirty="0">
                <a:solidFill>
                  <a:srgbClr val="404040"/>
                </a:solidFill>
                <a:latin typeface="Calibri"/>
                <a:cs typeface="Calibri"/>
              </a:rPr>
              <a:t> </a:t>
            </a:r>
            <a:r>
              <a:rPr sz="2000" dirty="0">
                <a:solidFill>
                  <a:srgbClr val="404040"/>
                </a:solidFill>
                <a:latin typeface="Calibri"/>
                <a:cs typeface="Calibri"/>
              </a:rPr>
              <a:t>«</a:t>
            </a:r>
            <a:r>
              <a:rPr sz="2000" spc="-70" dirty="0">
                <a:solidFill>
                  <a:srgbClr val="404040"/>
                </a:solidFill>
                <a:latin typeface="Calibri"/>
                <a:cs typeface="Calibri"/>
              </a:rPr>
              <a:t> </a:t>
            </a:r>
            <a:r>
              <a:rPr sz="2000" spc="20" dirty="0">
                <a:solidFill>
                  <a:srgbClr val="404040"/>
                </a:solidFill>
                <a:latin typeface="Calibri"/>
                <a:cs typeface="Calibri"/>
              </a:rPr>
              <a:t>enfant</a:t>
            </a:r>
            <a:r>
              <a:rPr sz="2000" spc="-120" dirty="0">
                <a:solidFill>
                  <a:srgbClr val="404040"/>
                </a:solidFill>
                <a:latin typeface="Calibri"/>
                <a:cs typeface="Calibri"/>
              </a:rPr>
              <a:t> </a:t>
            </a:r>
            <a:r>
              <a:rPr sz="2000" dirty="0">
                <a:solidFill>
                  <a:srgbClr val="404040"/>
                </a:solidFill>
                <a:latin typeface="Calibri"/>
                <a:cs typeface="Calibri"/>
              </a:rPr>
              <a:t>»</a:t>
            </a:r>
            <a:r>
              <a:rPr sz="2000" spc="-75" dirty="0">
                <a:solidFill>
                  <a:srgbClr val="404040"/>
                </a:solidFill>
                <a:latin typeface="Calibri"/>
                <a:cs typeface="Calibri"/>
              </a:rPr>
              <a:t> </a:t>
            </a:r>
            <a:r>
              <a:rPr sz="2000" spc="20" dirty="0">
                <a:solidFill>
                  <a:srgbClr val="404040"/>
                </a:solidFill>
                <a:latin typeface="Calibri"/>
                <a:cs typeface="Calibri"/>
              </a:rPr>
              <a:t>ne</a:t>
            </a:r>
            <a:r>
              <a:rPr sz="2000" spc="-50" dirty="0">
                <a:solidFill>
                  <a:srgbClr val="404040"/>
                </a:solidFill>
                <a:latin typeface="Calibri"/>
                <a:cs typeface="Calibri"/>
              </a:rPr>
              <a:t> </a:t>
            </a:r>
            <a:r>
              <a:rPr sz="2000" spc="20" dirty="0">
                <a:solidFill>
                  <a:srgbClr val="404040"/>
                </a:solidFill>
                <a:latin typeface="Calibri"/>
                <a:cs typeface="Calibri"/>
              </a:rPr>
              <a:t>peut</a:t>
            </a:r>
            <a:r>
              <a:rPr sz="2000" spc="-20" dirty="0">
                <a:solidFill>
                  <a:srgbClr val="404040"/>
                </a:solidFill>
                <a:latin typeface="Calibri"/>
                <a:cs typeface="Calibri"/>
              </a:rPr>
              <a:t> </a:t>
            </a:r>
            <a:r>
              <a:rPr sz="2000" spc="15" dirty="0">
                <a:solidFill>
                  <a:srgbClr val="404040"/>
                </a:solidFill>
                <a:latin typeface="Calibri"/>
                <a:cs typeface="Calibri"/>
              </a:rPr>
              <a:t>exister </a:t>
            </a:r>
            <a:r>
              <a:rPr sz="2000" spc="-434" dirty="0">
                <a:solidFill>
                  <a:srgbClr val="404040"/>
                </a:solidFill>
                <a:latin typeface="Calibri"/>
                <a:cs typeface="Calibri"/>
              </a:rPr>
              <a:t> </a:t>
            </a:r>
            <a:r>
              <a:rPr sz="2000" spc="15" dirty="0">
                <a:solidFill>
                  <a:srgbClr val="404040"/>
                </a:solidFill>
                <a:latin typeface="Calibri"/>
                <a:cs typeface="Calibri"/>
              </a:rPr>
              <a:t>indépendamment</a:t>
            </a:r>
            <a:r>
              <a:rPr sz="2000" spc="-130" dirty="0">
                <a:solidFill>
                  <a:srgbClr val="404040"/>
                </a:solidFill>
                <a:latin typeface="Calibri"/>
                <a:cs typeface="Calibri"/>
              </a:rPr>
              <a:t> </a:t>
            </a:r>
            <a:r>
              <a:rPr sz="2000" spc="20" dirty="0">
                <a:solidFill>
                  <a:srgbClr val="404040"/>
                </a:solidFill>
                <a:latin typeface="Calibri"/>
                <a:cs typeface="Calibri"/>
              </a:rPr>
              <a:t>de</a:t>
            </a:r>
            <a:r>
              <a:rPr sz="2000" spc="-150" dirty="0">
                <a:solidFill>
                  <a:srgbClr val="404040"/>
                </a:solidFill>
                <a:latin typeface="Calibri"/>
                <a:cs typeface="Calibri"/>
              </a:rPr>
              <a:t> </a:t>
            </a:r>
            <a:r>
              <a:rPr sz="2000" spc="20" dirty="0">
                <a:solidFill>
                  <a:srgbClr val="404040"/>
                </a:solidFill>
                <a:latin typeface="Calibri"/>
                <a:cs typeface="Calibri"/>
              </a:rPr>
              <a:t>son</a:t>
            </a:r>
            <a:r>
              <a:rPr sz="2000" spc="-105" dirty="0">
                <a:solidFill>
                  <a:srgbClr val="404040"/>
                </a:solidFill>
                <a:latin typeface="Calibri"/>
                <a:cs typeface="Calibri"/>
              </a:rPr>
              <a:t> </a:t>
            </a:r>
            <a:r>
              <a:rPr sz="2000" spc="20" dirty="0">
                <a:solidFill>
                  <a:srgbClr val="404040"/>
                </a:solidFill>
                <a:latin typeface="Calibri"/>
                <a:cs typeface="Calibri"/>
              </a:rPr>
              <a:t>parent.</a:t>
            </a:r>
            <a:endParaRPr sz="2000">
              <a:latin typeface="Calibri"/>
              <a:cs typeface="Calibri"/>
            </a:endParaRPr>
          </a:p>
        </p:txBody>
      </p:sp>
      <p:sp>
        <p:nvSpPr>
          <p:cNvPr id="4" name="object 4"/>
          <p:cNvSpPr txBox="1"/>
          <p:nvPr/>
        </p:nvSpPr>
        <p:spPr>
          <a:xfrm>
            <a:off x="1287780" y="3143199"/>
            <a:ext cx="6916420" cy="660400"/>
          </a:xfrm>
          <a:prstGeom prst="rect">
            <a:avLst/>
          </a:prstGeom>
        </p:spPr>
        <p:txBody>
          <a:bodyPr vert="horz" wrap="square" lIns="0" tIns="55879" rIns="0" bIns="0" rtlCol="0">
            <a:spAutoFit/>
          </a:bodyPr>
          <a:lstStyle/>
          <a:p>
            <a:pPr marL="216535" indent="-204470">
              <a:lnSpc>
                <a:spcPct val="100000"/>
              </a:lnSpc>
              <a:spcBef>
                <a:spcPts val="439"/>
              </a:spcBef>
              <a:buClr>
                <a:srgbClr val="E48312"/>
              </a:buClr>
              <a:buSzPct val="94444"/>
              <a:buFont typeface="Wingdings"/>
              <a:buChar char=""/>
              <a:tabLst>
                <a:tab pos="217170" algn="l"/>
              </a:tabLst>
            </a:pPr>
            <a:r>
              <a:rPr sz="1800" spc="-10" dirty="0">
                <a:solidFill>
                  <a:srgbClr val="404040"/>
                </a:solidFill>
                <a:latin typeface="Calibri"/>
                <a:cs typeface="Calibri"/>
              </a:rPr>
              <a:t>Dans</a:t>
            </a:r>
            <a:r>
              <a:rPr sz="1800" spc="-15" dirty="0">
                <a:solidFill>
                  <a:srgbClr val="404040"/>
                </a:solidFill>
                <a:latin typeface="Calibri"/>
                <a:cs typeface="Calibri"/>
              </a:rPr>
              <a:t> </a:t>
            </a:r>
            <a:r>
              <a:rPr sz="1800" spc="10" dirty="0">
                <a:solidFill>
                  <a:srgbClr val="404040"/>
                </a:solidFill>
                <a:latin typeface="Calibri"/>
                <a:cs typeface="Calibri"/>
              </a:rPr>
              <a:t>cet</a:t>
            </a:r>
            <a:r>
              <a:rPr sz="1800" spc="-15" dirty="0">
                <a:solidFill>
                  <a:srgbClr val="404040"/>
                </a:solidFill>
                <a:latin typeface="Calibri"/>
                <a:cs typeface="Calibri"/>
              </a:rPr>
              <a:t> exemple,</a:t>
            </a:r>
            <a:r>
              <a:rPr sz="1800" spc="45" dirty="0">
                <a:solidFill>
                  <a:srgbClr val="404040"/>
                </a:solidFill>
                <a:latin typeface="Calibri"/>
                <a:cs typeface="Calibri"/>
              </a:rPr>
              <a:t> </a:t>
            </a:r>
            <a:r>
              <a:rPr sz="1800" spc="-25" dirty="0">
                <a:solidFill>
                  <a:srgbClr val="404040"/>
                </a:solidFill>
                <a:latin typeface="Calibri"/>
                <a:cs typeface="Calibri"/>
              </a:rPr>
              <a:t>un</a:t>
            </a:r>
            <a:r>
              <a:rPr sz="1800" spc="45" dirty="0">
                <a:solidFill>
                  <a:srgbClr val="404040"/>
                </a:solidFill>
                <a:latin typeface="Calibri"/>
                <a:cs typeface="Calibri"/>
              </a:rPr>
              <a:t> </a:t>
            </a:r>
            <a:r>
              <a:rPr sz="1800" spc="-20" dirty="0">
                <a:solidFill>
                  <a:srgbClr val="404040"/>
                </a:solidFill>
                <a:latin typeface="Calibri"/>
                <a:cs typeface="Calibri"/>
              </a:rPr>
              <a:t>département</a:t>
            </a:r>
            <a:r>
              <a:rPr sz="1800" spc="95" dirty="0">
                <a:solidFill>
                  <a:srgbClr val="404040"/>
                </a:solidFill>
                <a:latin typeface="Calibri"/>
                <a:cs typeface="Calibri"/>
              </a:rPr>
              <a:t> </a:t>
            </a:r>
            <a:r>
              <a:rPr sz="1800" spc="-25" dirty="0">
                <a:solidFill>
                  <a:srgbClr val="404040"/>
                </a:solidFill>
                <a:latin typeface="Calibri"/>
                <a:cs typeface="Calibri"/>
              </a:rPr>
              <a:t>ne</a:t>
            </a:r>
            <a:r>
              <a:rPr sz="1800" spc="95" dirty="0">
                <a:solidFill>
                  <a:srgbClr val="404040"/>
                </a:solidFill>
                <a:latin typeface="Calibri"/>
                <a:cs typeface="Calibri"/>
              </a:rPr>
              <a:t> </a:t>
            </a:r>
            <a:r>
              <a:rPr sz="1800" spc="-25" dirty="0">
                <a:solidFill>
                  <a:srgbClr val="404040"/>
                </a:solidFill>
                <a:latin typeface="Calibri"/>
                <a:cs typeface="Calibri"/>
              </a:rPr>
              <a:t>peut</a:t>
            </a:r>
            <a:r>
              <a:rPr sz="1800" spc="95" dirty="0">
                <a:solidFill>
                  <a:srgbClr val="404040"/>
                </a:solidFill>
                <a:latin typeface="Calibri"/>
                <a:cs typeface="Calibri"/>
              </a:rPr>
              <a:t> </a:t>
            </a:r>
            <a:r>
              <a:rPr sz="1800" spc="-5" dirty="0">
                <a:solidFill>
                  <a:srgbClr val="404040"/>
                </a:solidFill>
                <a:latin typeface="Calibri"/>
                <a:cs typeface="Calibri"/>
              </a:rPr>
              <a:t>exister</a:t>
            </a:r>
            <a:r>
              <a:rPr sz="1800" spc="-40" dirty="0">
                <a:solidFill>
                  <a:srgbClr val="404040"/>
                </a:solidFill>
                <a:latin typeface="Calibri"/>
                <a:cs typeface="Calibri"/>
              </a:rPr>
              <a:t> </a:t>
            </a:r>
            <a:r>
              <a:rPr sz="1800" spc="-5" dirty="0">
                <a:solidFill>
                  <a:srgbClr val="404040"/>
                </a:solidFill>
                <a:latin typeface="Calibri"/>
                <a:cs typeface="Calibri"/>
              </a:rPr>
              <a:t>sans</a:t>
            </a:r>
            <a:r>
              <a:rPr sz="1800" spc="-10" dirty="0">
                <a:solidFill>
                  <a:srgbClr val="404040"/>
                </a:solidFill>
                <a:latin typeface="Calibri"/>
                <a:cs typeface="Calibri"/>
              </a:rPr>
              <a:t> </a:t>
            </a:r>
            <a:r>
              <a:rPr sz="1800" spc="-35" dirty="0">
                <a:solidFill>
                  <a:srgbClr val="404040"/>
                </a:solidFill>
                <a:latin typeface="Calibri"/>
                <a:cs typeface="Calibri"/>
              </a:rPr>
              <a:t>une</a:t>
            </a:r>
            <a:r>
              <a:rPr sz="1800" spc="95" dirty="0">
                <a:solidFill>
                  <a:srgbClr val="404040"/>
                </a:solidFill>
                <a:latin typeface="Calibri"/>
                <a:cs typeface="Calibri"/>
              </a:rPr>
              <a:t> </a:t>
            </a:r>
            <a:r>
              <a:rPr sz="1800" spc="-20" dirty="0">
                <a:solidFill>
                  <a:srgbClr val="404040"/>
                </a:solidFill>
                <a:latin typeface="Calibri"/>
                <a:cs typeface="Calibri"/>
              </a:rPr>
              <a:t>compagnie.</a:t>
            </a:r>
            <a:endParaRPr sz="1800">
              <a:latin typeface="Calibri"/>
              <a:cs typeface="Calibri"/>
            </a:endParaRPr>
          </a:p>
          <a:p>
            <a:pPr marL="216535" indent="-204470">
              <a:lnSpc>
                <a:spcPct val="100000"/>
              </a:lnSpc>
              <a:spcBef>
                <a:spcPts val="340"/>
              </a:spcBef>
              <a:buClr>
                <a:srgbClr val="E48312"/>
              </a:buClr>
              <a:buSzPct val="94444"/>
              <a:buFont typeface="Wingdings"/>
              <a:buChar char=""/>
              <a:tabLst>
                <a:tab pos="217170" algn="l"/>
              </a:tabLst>
            </a:pPr>
            <a:r>
              <a:rPr sz="1800" spc="-20" dirty="0">
                <a:solidFill>
                  <a:srgbClr val="404040"/>
                </a:solidFill>
                <a:latin typeface="Calibri"/>
                <a:cs typeface="Calibri"/>
              </a:rPr>
              <a:t>Modélisée</a:t>
            </a:r>
            <a:r>
              <a:rPr sz="1800" spc="190" dirty="0">
                <a:solidFill>
                  <a:srgbClr val="404040"/>
                </a:solidFill>
                <a:latin typeface="Calibri"/>
                <a:cs typeface="Calibri"/>
              </a:rPr>
              <a:t> </a:t>
            </a:r>
            <a:r>
              <a:rPr sz="1800" spc="-5" dirty="0">
                <a:solidFill>
                  <a:srgbClr val="404040"/>
                </a:solidFill>
                <a:latin typeface="Calibri"/>
                <a:cs typeface="Calibri"/>
              </a:rPr>
              <a:t>par</a:t>
            </a:r>
            <a:r>
              <a:rPr sz="1800" spc="-45" dirty="0">
                <a:solidFill>
                  <a:srgbClr val="404040"/>
                </a:solidFill>
                <a:latin typeface="Calibri"/>
                <a:cs typeface="Calibri"/>
              </a:rPr>
              <a:t> </a:t>
            </a:r>
            <a:r>
              <a:rPr sz="1800" spc="-25" dirty="0">
                <a:solidFill>
                  <a:srgbClr val="404040"/>
                </a:solidFill>
                <a:latin typeface="Calibri"/>
                <a:cs typeface="Calibri"/>
              </a:rPr>
              <a:t>un</a:t>
            </a:r>
            <a:r>
              <a:rPr sz="1800" spc="45" dirty="0">
                <a:solidFill>
                  <a:srgbClr val="404040"/>
                </a:solidFill>
                <a:latin typeface="Calibri"/>
                <a:cs typeface="Calibri"/>
              </a:rPr>
              <a:t> </a:t>
            </a:r>
            <a:r>
              <a:rPr sz="1800" spc="-20" dirty="0">
                <a:solidFill>
                  <a:srgbClr val="404040"/>
                </a:solidFill>
                <a:latin typeface="Calibri"/>
                <a:cs typeface="Calibri"/>
              </a:rPr>
              <a:t>losange</a:t>
            </a:r>
            <a:r>
              <a:rPr sz="1800" spc="190" dirty="0">
                <a:solidFill>
                  <a:srgbClr val="404040"/>
                </a:solidFill>
                <a:latin typeface="Calibri"/>
                <a:cs typeface="Calibri"/>
              </a:rPr>
              <a:t> </a:t>
            </a:r>
            <a:r>
              <a:rPr sz="1800" spc="-25" dirty="0">
                <a:solidFill>
                  <a:srgbClr val="404040"/>
                </a:solidFill>
                <a:latin typeface="Calibri"/>
                <a:cs typeface="Calibri"/>
              </a:rPr>
              <a:t>rempli</a:t>
            </a:r>
            <a:r>
              <a:rPr sz="1800" spc="80" dirty="0">
                <a:solidFill>
                  <a:srgbClr val="404040"/>
                </a:solidFill>
                <a:latin typeface="Calibri"/>
                <a:cs typeface="Calibri"/>
              </a:rPr>
              <a:t> </a:t>
            </a:r>
            <a:r>
              <a:rPr sz="1800" spc="-25" dirty="0">
                <a:solidFill>
                  <a:srgbClr val="404040"/>
                </a:solidFill>
                <a:latin typeface="Calibri"/>
                <a:cs typeface="Calibri"/>
              </a:rPr>
              <a:t>du</a:t>
            </a:r>
            <a:r>
              <a:rPr sz="1800" spc="40" dirty="0">
                <a:solidFill>
                  <a:srgbClr val="404040"/>
                </a:solidFill>
                <a:latin typeface="Calibri"/>
                <a:cs typeface="Calibri"/>
              </a:rPr>
              <a:t> </a:t>
            </a:r>
            <a:r>
              <a:rPr sz="1800" spc="-5" dirty="0">
                <a:solidFill>
                  <a:srgbClr val="404040"/>
                </a:solidFill>
                <a:latin typeface="Calibri"/>
                <a:cs typeface="Calibri"/>
              </a:rPr>
              <a:t>côté </a:t>
            </a:r>
            <a:r>
              <a:rPr sz="1800" spc="-25" dirty="0">
                <a:solidFill>
                  <a:srgbClr val="404040"/>
                </a:solidFill>
                <a:latin typeface="Calibri"/>
                <a:cs typeface="Calibri"/>
              </a:rPr>
              <a:t>de</a:t>
            </a:r>
            <a:r>
              <a:rPr sz="1800" spc="90" dirty="0">
                <a:solidFill>
                  <a:srgbClr val="404040"/>
                </a:solidFill>
                <a:latin typeface="Calibri"/>
                <a:cs typeface="Calibri"/>
              </a:rPr>
              <a:t> </a:t>
            </a:r>
            <a:r>
              <a:rPr sz="1800" spc="-10" dirty="0">
                <a:solidFill>
                  <a:srgbClr val="404040"/>
                </a:solidFill>
                <a:latin typeface="Calibri"/>
                <a:cs typeface="Calibri"/>
              </a:rPr>
              <a:t>la</a:t>
            </a:r>
            <a:r>
              <a:rPr sz="1800" spc="-70" dirty="0">
                <a:solidFill>
                  <a:srgbClr val="404040"/>
                </a:solidFill>
                <a:latin typeface="Calibri"/>
                <a:cs typeface="Calibri"/>
              </a:rPr>
              <a:t> </a:t>
            </a:r>
            <a:r>
              <a:rPr sz="1800" spc="5" dirty="0">
                <a:solidFill>
                  <a:srgbClr val="404040"/>
                </a:solidFill>
                <a:latin typeface="Calibri"/>
                <a:cs typeface="Calibri"/>
              </a:rPr>
              <a:t>classe</a:t>
            </a:r>
            <a:r>
              <a:rPr sz="1800" spc="-10" dirty="0">
                <a:solidFill>
                  <a:srgbClr val="404040"/>
                </a:solidFill>
                <a:latin typeface="Calibri"/>
                <a:cs typeface="Calibri"/>
              </a:rPr>
              <a:t> </a:t>
            </a:r>
            <a:r>
              <a:rPr sz="1800" spc="-20" dirty="0">
                <a:solidFill>
                  <a:srgbClr val="404040"/>
                </a:solidFill>
                <a:latin typeface="Calibri"/>
                <a:cs typeface="Calibri"/>
              </a:rPr>
              <a:t>parent</a:t>
            </a:r>
            <a:endParaRPr sz="1800">
              <a:latin typeface="Calibri"/>
              <a:cs typeface="Calibri"/>
            </a:endParaRPr>
          </a:p>
        </p:txBody>
      </p:sp>
      <p:pic>
        <p:nvPicPr>
          <p:cNvPr id="5" name="object 5"/>
          <p:cNvPicPr/>
          <p:nvPr/>
        </p:nvPicPr>
        <p:blipFill>
          <a:blip r:embed="rId2" cstate="print"/>
          <a:stretch>
            <a:fillRect/>
          </a:stretch>
        </p:blipFill>
        <p:spPr>
          <a:xfrm>
            <a:off x="3962400" y="2209800"/>
            <a:ext cx="4330700" cy="5969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3133" y="1596585"/>
            <a:ext cx="11001587" cy="1703886"/>
          </a:xfrm>
          <a:prstGeom prst="rect">
            <a:avLst/>
          </a:prstGeom>
        </p:spPr>
        <p:txBody>
          <a:bodyPr vert="horz" wrap="square" lIns="0" tIns="71967" rIns="0" bIns="0" rtlCol="0">
            <a:spAutoFit/>
          </a:bodyPr>
          <a:lstStyle/>
          <a:p>
            <a:pPr marL="474121" indent="-457189">
              <a:spcBef>
                <a:spcPts val="567"/>
              </a:spcBef>
              <a:buClr>
                <a:srgbClr val="585858"/>
              </a:buClr>
              <a:buFont typeface="Arial MT"/>
              <a:buChar char="●"/>
              <a:tabLst>
                <a:tab pos="473275" algn="l"/>
                <a:tab pos="474121" algn="l"/>
              </a:tabLst>
            </a:pPr>
            <a:r>
              <a:rPr sz="2400" spc="-120" dirty="0">
                <a:solidFill>
                  <a:srgbClr val="585858"/>
                </a:solidFill>
                <a:latin typeface="Trebuchet MS"/>
                <a:cs typeface="Trebuchet MS"/>
              </a:rPr>
              <a:t>Il</a:t>
            </a:r>
            <a:r>
              <a:rPr sz="2400" spc="-7" dirty="0">
                <a:solidFill>
                  <a:srgbClr val="585858"/>
                </a:solidFill>
                <a:latin typeface="Trebuchet MS"/>
                <a:cs typeface="Trebuchet MS"/>
              </a:rPr>
              <a:t> </a:t>
            </a:r>
            <a:r>
              <a:rPr sz="2400" spc="-127" dirty="0">
                <a:solidFill>
                  <a:srgbClr val="585858"/>
                </a:solidFill>
                <a:latin typeface="Trebuchet MS"/>
                <a:cs typeface="Trebuchet MS"/>
              </a:rPr>
              <a:t>est</a:t>
            </a:r>
            <a:r>
              <a:rPr sz="2400" spc="13" dirty="0">
                <a:solidFill>
                  <a:srgbClr val="585858"/>
                </a:solidFill>
                <a:latin typeface="Trebuchet MS"/>
                <a:cs typeface="Trebuchet MS"/>
              </a:rPr>
              <a:t> </a:t>
            </a:r>
            <a:r>
              <a:rPr sz="2400" spc="-113" dirty="0">
                <a:solidFill>
                  <a:srgbClr val="585858"/>
                </a:solidFill>
                <a:latin typeface="Trebuchet MS"/>
                <a:cs typeface="Trebuchet MS"/>
              </a:rPr>
              <a:t>possible</a:t>
            </a:r>
            <a:r>
              <a:rPr sz="2400" spc="13" dirty="0">
                <a:solidFill>
                  <a:srgbClr val="585858"/>
                </a:solidFill>
                <a:latin typeface="Trebuchet MS"/>
                <a:cs typeface="Trebuchet MS"/>
              </a:rPr>
              <a:t> </a:t>
            </a:r>
            <a:r>
              <a:rPr sz="2400" spc="-173" dirty="0">
                <a:solidFill>
                  <a:srgbClr val="585858"/>
                </a:solidFill>
                <a:latin typeface="Trebuchet MS"/>
                <a:cs typeface="Trebuchet MS"/>
              </a:rPr>
              <a:t>d'exprimer</a:t>
            </a:r>
            <a:r>
              <a:rPr sz="2400" dirty="0">
                <a:solidFill>
                  <a:srgbClr val="585858"/>
                </a:solidFill>
                <a:latin typeface="Trebuchet MS"/>
                <a:cs typeface="Trebuchet MS"/>
              </a:rPr>
              <a:t> </a:t>
            </a:r>
            <a:r>
              <a:rPr sz="2400" spc="-107" dirty="0">
                <a:solidFill>
                  <a:srgbClr val="585858"/>
                </a:solidFill>
                <a:latin typeface="Trebuchet MS"/>
                <a:cs typeface="Trebuchet MS"/>
              </a:rPr>
              <a:t>des</a:t>
            </a:r>
            <a:r>
              <a:rPr sz="2400" spc="7" dirty="0">
                <a:solidFill>
                  <a:srgbClr val="585858"/>
                </a:solidFill>
                <a:latin typeface="Trebuchet MS"/>
                <a:cs typeface="Trebuchet MS"/>
              </a:rPr>
              <a:t> </a:t>
            </a:r>
            <a:r>
              <a:rPr sz="2400" b="1" spc="-193" dirty="0">
                <a:solidFill>
                  <a:srgbClr val="585858"/>
                </a:solidFill>
                <a:latin typeface="Trebuchet MS"/>
                <a:cs typeface="Trebuchet MS"/>
              </a:rPr>
              <a:t>contraintes</a:t>
            </a:r>
            <a:r>
              <a:rPr sz="2400" b="1" spc="7" dirty="0">
                <a:solidFill>
                  <a:srgbClr val="585858"/>
                </a:solidFill>
                <a:latin typeface="Trebuchet MS"/>
                <a:cs typeface="Trebuchet MS"/>
              </a:rPr>
              <a:t> </a:t>
            </a:r>
            <a:r>
              <a:rPr sz="2400" b="1" spc="-167" dirty="0">
                <a:solidFill>
                  <a:srgbClr val="585858"/>
                </a:solidFill>
                <a:latin typeface="Trebuchet MS"/>
                <a:cs typeface="Trebuchet MS"/>
              </a:rPr>
              <a:t>sur</a:t>
            </a:r>
            <a:r>
              <a:rPr sz="2400" b="1" spc="-7" dirty="0">
                <a:solidFill>
                  <a:srgbClr val="585858"/>
                </a:solidFill>
                <a:latin typeface="Trebuchet MS"/>
                <a:cs typeface="Trebuchet MS"/>
              </a:rPr>
              <a:t> </a:t>
            </a:r>
            <a:r>
              <a:rPr sz="2400" b="1" spc="-260" dirty="0">
                <a:solidFill>
                  <a:srgbClr val="585858"/>
                </a:solidFill>
                <a:latin typeface="Trebuchet MS"/>
                <a:cs typeface="Trebuchet MS"/>
              </a:rPr>
              <a:t>une</a:t>
            </a:r>
            <a:r>
              <a:rPr sz="2400" b="1" spc="13" dirty="0">
                <a:solidFill>
                  <a:srgbClr val="585858"/>
                </a:solidFill>
                <a:latin typeface="Trebuchet MS"/>
                <a:cs typeface="Trebuchet MS"/>
              </a:rPr>
              <a:t> </a:t>
            </a:r>
            <a:r>
              <a:rPr sz="2400" b="1" spc="-173" dirty="0">
                <a:solidFill>
                  <a:srgbClr val="585858"/>
                </a:solidFill>
                <a:latin typeface="Trebuchet MS"/>
                <a:cs typeface="Trebuchet MS"/>
              </a:rPr>
              <a:t>association</a:t>
            </a:r>
            <a:r>
              <a:rPr sz="2400" spc="-173" dirty="0">
                <a:solidFill>
                  <a:srgbClr val="585858"/>
                </a:solidFill>
                <a:latin typeface="Trebuchet MS"/>
                <a:cs typeface="Trebuchet MS"/>
              </a:rPr>
              <a:t>,</a:t>
            </a:r>
            <a:r>
              <a:rPr sz="2400" spc="13" dirty="0">
                <a:solidFill>
                  <a:srgbClr val="585858"/>
                </a:solidFill>
                <a:latin typeface="Trebuchet MS"/>
                <a:cs typeface="Trebuchet MS"/>
              </a:rPr>
              <a:t> </a:t>
            </a:r>
            <a:r>
              <a:rPr sz="2400" spc="-152" dirty="0">
                <a:solidFill>
                  <a:srgbClr val="585858"/>
                </a:solidFill>
                <a:latin typeface="Trebuchet MS"/>
                <a:cs typeface="Trebuchet MS"/>
              </a:rPr>
              <a:t>afin</a:t>
            </a:r>
            <a:r>
              <a:rPr sz="2400" spc="7" dirty="0">
                <a:solidFill>
                  <a:srgbClr val="585858"/>
                </a:solidFill>
                <a:latin typeface="Trebuchet MS"/>
                <a:cs typeface="Trebuchet MS"/>
              </a:rPr>
              <a:t> </a:t>
            </a:r>
            <a:r>
              <a:rPr sz="2400" spc="-200" dirty="0">
                <a:solidFill>
                  <a:srgbClr val="585858"/>
                </a:solidFill>
                <a:latin typeface="Trebuchet MS"/>
                <a:cs typeface="Trebuchet MS"/>
              </a:rPr>
              <a:t>de</a:t>
            </a:r>
            <a:r>
              <a:rPr sz="2400" spc="-7" dirty="0">
                <a:solidFill>
                  <a:srgbClr val="585858"/>
                </a:solidFill>
                <a:latin typeface="Trebuchet MS"/>
                <a:cs typeface="Trebuchet MS"/>
              </a:rPr>
              <a:t> </a:t>
            </a:r>
            <a:r>
              <a:rPr sz="2400" spc="-193" dirty="0">
                <a:solidFill>
                  <a:srgbClr val="585858"/>
                </a:solidFill>
                <a:latin typeface="Trebuchet MS"/>
                <a:cs typeface="Trebuchet MS"/>
              </a:rPr>
              <a:t>limiter</a:t>
            </a:r>
            <a:r>
              <a:rPr sz="2400" spc="7" dirty="0">
                <a:solidFill>
                  <a:srgbClr val="585858"/>
                </a:solidFill>
                <a:latin typeface="Trebuchet MS"/>
                <a:cs typeface="Trebuchet MS"/>
              </a:rPr>
              <a:t> </a:t>
            </a:r>
            <a:r>
              <a:rPr sz="2400" spc="-107" dirty="0">
                <a:solidFill>
                  <a:srgbClr val="585858"/>
                </a:solidFill>
                <a:latin typeface="Trebuchet MS"/>
                <a:cs typeface="Trebuchet MS"/>
              </a:rPr>
              <a:t>les</a:t>
            </a:r>
            <a:r>
              <a:rPr sz="2400" spc="7" dirty="0">
                <a:solidFill>
                  <a:srgbClr val="585858"/>
                </a:solidFill>
                <a:latin typeface="Trebuchet MS"/>
                <a:cs typeface="Trebuchet MS"/>
              </a:rPr>
              <a:t> </a:t>
            </a:r>
            <a:r>
              <a:rPr sz="2400" spc="-173" dirty="0">
                <a:solidFill>
                  <a:srgbClr val="585858"/>
                </a:solidFill>
                <a:latin typeface="Trebuchet MS"/>
                <a:cs typeface="Trebuchet MS"/>
              </a:rPr>
              <a:t>objets</a:t>
            </a:r>
            <a:endParaRPr sz="2400" dirty="0">
              <a:latin typeface="Trebuchet MS"/>
              <a:cs typeface="Trebuchet MS"/>
            </a:endParaRPr>
          </a:p>
          <a:p>
            <a:pPr marL="473275">
              <a:spcBef>
                <a:spcPts val="440"/>
              </a:spcBef>
            </a:pPr>
            <a:r>
              <a:rPr sz="2400" spc="-93" dirty="0">
                <a:solidFill>
                  <a:srgbClr val="585858"/>
                </a:solidFill>
                <a:latin typeface="Trebuchet MS"/>
                <a:cs typeface="Trebuchet MS"/>
              </a:rPr>
              <a:t>mis</a:t>
            </a:r>
            <a:r>
              <a:rPr sz="2400" spc="-207" dirty="0">
                <a:solidFill>
                  <a:srgbClr val="585858"/>
                </a:solidFill>
                <a:latin typeface="Trebuchet MS"/>
                <a:cs typeface="Trebuchet MS"/>
              </a:rPr>
              <a:t> </a:t>
            </a:r>
            <a:r>
              <a:rPr sz="2400" spc="-187" dirty="0">
                <a:solidFill>
                  <a:srgbClr val="585858"/>
                </a:solidFill>
                <a:latin typeface="Trebuchet MS"/>
                <a:cs typeface="Trebuchet MS"/>
              </a:rPr>
              <a:t>en</a:t>
            </a:r>
            <a:r>
              <a:rPr sz="2400" spc="-207" dirty="0">
                <a:solidFill>
                  <a:srgbClr val="585858"/>
                </a:solidFill>
                <a:latin typeface="Trebuchet MS"/>
                <a:cs typeface="Trebuchet MS"/>
              </a:rPr>
              <a:t> </a:t>
            </a:r>
            <a:r>
              <a:rPr sz="2400" spc="-253" dirty="0">
                <a:solidFill>
                  <a:srgbClr val="585858"/>
                </a:solidFill>
                <a:latin typeface="Trebuchet MS"/>
                <a:cs typeface="Trebuchet MS"/>
              </a:rPr>
              <a:t>jeu.</a:t>
            </a:r>
            <a:r>
              <a:rPr sz="2400" spc="-207" dirty="0">
                <a:solidFill>
                  <a:srgbClr val="585858"/>
                </a:solidFill>
                <a:latin typeface="Trebuchet MS"/>
                <a:cs typeface="Trebuchet MS"/>
              </a:rPr>
              <a:t> </a:t>
            </a:r>
            <a:r>
              <a:rPr sz="2400" spc="-180" dirty="0">
                <a:solidFill>
                  <a:srgbClr val="585858"/>
                </a:solidFill>
                <a:latin typeface="Trebuchet MS"/>
                <a:cs typeface="Trebuchet MS"/>
              </a:rPr>
              <a:t>Cela</a:t>
            </a:r>
            <a:r>
              <a:rPr sz="2400" spc="-207" dirty="0">
                <a:solidFill>
                  <a:srgbClr val="585858"/>
                </a:solidFill>
                <a:latin typeface="Trebuchet MS"/>
                <a:cs typeface="Trebuchet MS"/>
              </a:rPr>
              <a:t> permet</a:t>
            </a:r>
            <a:r>
              <a:rPr sz="2400" spc="-220" dirty="0">
                <a:solidFill>
                  <a:srgbClr val="585858"/>
                </a:solidFill>
                <a:latin typeface="Trebuchet MS"/>
                <a:cs typeface="Trebuchet MS"/>
              </a:rPr>
              <a:t> </a:t>
            </a:r>
            <a:r>
              <a:rPr sz="2400" spc="-200" dirty="0">
                <a:solidFill>
                  <a:srgbClr val="585858"/>
                </a:solidFill>
                <a:latin typeface="Trebuchet MS"/>
                <a:cs typeface="Trebuchet MS"/>
              </a:rPr>
              <a:t>de</a:t>
            </a:r>
            <a:r>
              <a:rPr sz="2400" spc="-207" dirty="0">
                <a:solidFill>
                  <a:srgbClr val="585858"/>
                </a:solidFill>
                <a:latin typeface="Trebuchet MS"/>
                <a:cs typeface="Trebuchet MS"/>
              </a:rPr>
              <a:t> </a:t>
            </a:r>
            <a:r>
              <a:rPr sz="2400" spc="-180" dirty="0">
                <a:solidFill>
                  <a:srgbClr val="585858"/>
                </a:solidFill>
                <a:latin typeface="Trebuchet MS"/>
                <a:cs typeface="Trebuchet MS"/>
              </a:rPr>
              <a:t>mieux</a:t>
            </a:r>
            <a:r>
              <a:rPr sz="2400" spc="-207" dirty="0">
                <a:solidFill>
                  <a:srgbClr val="585858"/>
                </a:solidFill>
                <a:latin typeface="Trebuchet MS"/>
                <a:cs typeface="Trebuchet MS"/>
              </a:rPr>
              <a:t> </a:t>
            </a:r>
            <a:r>
              <a:rPr sz="2400" b="1" spc="-233" dirty="0">
                <a:solidFill>
                  <a:srgbClr val="585858"/>
                </a:solidFill>
                <a:latin typeface="Trebuchet MS"/>
                <a:cs typeface="Trebuchet MS"/>
              </a:rPr>
              <a:t>cadrer</a:t>
            </a:r>
            <a:r>
              <a:rPr sz="2400" b="1" spc="-207" dirty="0">
                <a:solidFill>
                  <a:srgbClr val="585858"/>
                </a:solidFill>
                <a:latin typeface="Trebuchet MS"/>
                <a:cs typeface="Trebuchet MS"/>
              </a:rPr>
              <a:t> </a:t>
            </a:r>
            <a:r>
              <a:rPr sz="2400" spc="-167" dirty="0">
                <a:solidFill>
                  <a:srgbClr val="585858"/>
                </a:solidFill>
                <a:latin typeface="Trebuchet MS"/>
                <a:cs typeface="Trebuchet MS"/>
              </a:rPr>
              <a:t>l'architecture</a:t>
            </a:r>
            <a:r>
              <a:rPr sz="2400" spc="-200" dirty="0">
                <a:solidFill>
                  <a:srgbClr val="585858"/>
                </a:solidFill>
                <a:latin typeface="Trebuchet MS"/>
                <a:cs typeface="Trebuchet MS"/>
              </a:rPr>
              <a:t> de </a:t>
            </a:r>
            <a:r>
              <a:rPr sz="2400" spc="-167" dirty="0">
                <a:solidFill>
                  <a:srgbClr val="585858"/>
                </a:solidFill>
                <a:latin typeface="Trebuchet MS"/>
                <a:cs typeface="Trebuchet MS"/>
              </a:rPr>
              <a:t>l'ensemble.</a:t>
            </a:r>
            <a:endParaRPr sz="2400" dirty="0">
              <a:latin typeface="Trebuchet MS"/>
              <a:cs typeface="Trebuchet MS"/>
            </a:endParaRPr>
          </a:p>
          <a:p>
            <a:pPr marL="474121" indent="-457189">
              <a:spcBef>
                <a:spcPts val="427"/>
              </a:spcBef>
              <a:buFont typeface="Arial MT"/>
              <a:buChar char="●"/>
              <a:tabLst>
                <a:tab pos="473275" algn="l"/>
                <a:tab pos="474121" algn="l"/>
              </a:tabLst>
            </a:pPr>
            <a:r>
              <a:rPr sz="2400" spc="-193" dirty="0">
                <a:solidFill>
                  <a:srgbClr val="585858"/>
                </a:solidFill>
                <a:latin typeface="Trebuchet MS"/>
                <a:cs typeface="Trebuchet MS"/>
              </a:rPr>
              <a:t>Une</a:t>
            </a:r>
            <a:r>
              <a:rPr sz="2400" spc="-213" dirty="0">
                <a:solidFill>
                  <a:srgbClr val="585858"/>
                </a:solidFill>
                <a:latin typeface="Trebuchet MS"/>
                <a:cs typeface="Trebuchet MS"/>
              </a:rPr>
              <a:t> </a:t>
            </a:r>
            <a:r>
              <a:rPr sz="2400" spc="-167" dirty="0">
                <a:solidFill>
                  <a:srgbClr val="585858"/>
                </a:solidFill>
                <a:latin typeface="Trebuchet MS"/>
                <a:cs typeface="Trebuchet MS"/>
              </a:rPr>
              <a:t>contrainte</a:t>
            </a:r>
            <a:r>
              <a:rPr sz="2400" spc="-213" dirty="0">
                <a:solidFill>
                  <a:srgbClr val="585858"/>
                </a:solidFill>
                <a:latin typeface="Trebuchet MS"/>
                <a:cs typeface="Trebuchet MS"/>
              </a:rPr>
              <a:t> </a:t>
            </a:r>
            <a:r>
              <a:rPr sz="2400" spc="-193" dirty="0">
                <a:solidFill>
                  <a:srgbClr val="585858"/>
                </a:solidFill>
                <a:latin typeface="Trebuchet MS"/>
                <a:cs typeface="Trebuchet MS"/>
              </a:rPr>
              <a:t>peut</a:t>
            </a:r>
            <a:r>
              <a:rPr sz="2400" spc="-207" dirty="0">
                <a:solidFill>
                  <a:srgbClr val="585858"/>
                </a:solidFill>
                <a:latin typeface="Trebuchet MS"/>
                <a:cs typeface="Trebuchet MS"/>
              </a:rPr>
              <a:t> </a:t>
            </a:r>
            <a:r>
              <a:rPr sz="2400" spc="-220" dirty="0">
                <a:solidFill>
                  <a:srgbClr val="585858"/>
                </a:solidFill>
                <a:latin typeface="Trebuchet MS"/>
                <a:cs typeface="Trebuchet MS"/>
              </a:rPr>
              <a:t>être</a:t>
            </a:r>
            <a:r>
              <a:rPr sz="2400" spc="-200" dirty="0">
                <a:solidFill>
                  <a:srgbClr val="585858"/>
                </a:solidFill>
                <a:latin typeface="Trebuchet MS"/>
                <a:cs typeface="Trebuchet MS"/>
              </a:rPr>
              <a:t> </a:t>
            </a:r>
            <a:r>
              <a:rPr sz="2400" spc="-93" dirty="0">
                <a:solidFill>
                  <a:srgbClr val="585858"/>
                </a:solidFill>
                <a:latin typeface="Trebuchet MS"/>
                <a:cs typeface="Trebuchet MS"/>
              </a:rPr>
              <a:t>sur</a:t>
            </a:r>
            <a:r>
              <a:rPr sz="2400" spc="-200" dirty="0">
                <a:solidFill>
                  <a:srgbClr val="585858"/>
                </a:solidFill>
                <a:latin typeface="Trebuchet MS"/>
                <a:cs typeface="Trebuchet MS"/>
              </a:rPr>
              <a:t> </a:t>
            </a:r>
            <a:r>
              <a:rPr sz="2400" b="1" spc="-140" dirty="0">
                <a:solidFill>
                  <a:srgbClr val="585858"/>
                </a:solidFill>
                <a:latin typeface="Trebuchet MS"/>
                <a:cs typeface="Trebuchet MS"/>
              </a:rPr>
              <a:t>les</a:t>
            </a:r>
            <a:r>
              <a:rPr sz="2400" b="1" spc="-200" dirty="0">
                <a:solidFill>
                  <a:srgbClr val="585858"/>
                </a:solidFill>
                <a:latin typeface="Trebuchet MS"/>
                <a:cs typeface="Trebuchet MS"/>
              </a:rPr>
              <a:t> </a:t>
            </a:r>
            <a:r>
              <a:rPr sz="2400" b="1" spc="-180" dirty="0">
                <a:solidFill>
                  <a:srgbClr val="585858"/>
                </a:solidFill>
                <a:latin typeface="Trebuchet MS"/>
                <a:cs typeface="Trebuchet MS"/>
              </a:rPr>
              <a:t>participants</a:t>
            </a:r>
            <a:r>
              <a:rPr sz="2400" b="1" spc="-167" dirty="0">
                <a:solidFill>
                  <a:srgbClr val="585858"/>
                </a:solidFill>
                <a:latin typeface="Trebuchet MS"/>
                <a:cs typeface="Trebuchet MS"/>
              </a:rPr>
              <a:t> </a:t>
            </a:r>
            <a:r>
              <a:rPr sz="2400" spc="-100" dirty="0">
                <a:solidFill>
                  <a:srgbClr val="585858"/>
                </a:solidFill>
                <a:latin typeface="Trebuchet MS"/>
                <a:cs typeface="Trebuchet MS"/>
              </a:rPr>
              <a:t>dans</a:t>
            </a:r>
            <a:r>
              <a:rPr sz="2400" spc="-220" dirty="0">
                <a:solidFill>
                  <a:srgbClr val="585858"/>
                </a:solidFill>
                <a:latin typeface="Trebuchet MS"/>
                <a:cs typeface="Trebuchet MS"/>
              </a:rPr>
              <a:t> </a:t>
            </a:r>
            <a:r>
              <a:rPr sz="2400" spc="-173" dirty="0">
                <a:solidFill>
                  <a:srgbClr val="585858"/>
                </a:solidFill>
                <a:latin typeface="Trebuchet MS"/>
                <a:cs typeface="Trebuchet MS"/>
              </a:rPr>
              <a:t>une</a:t>
            </a:r>
            <a:r>
              <a:rPr sz="2400" spc="-220" dirty="0">
                <a:solidFill>
                  <a:srgbClr val="585858"/>
                </a:solidFill>
                <a:latin typeface="Trebuchet MS"/>
                <a:cs typeface="Trebuchet MS"/>
              </a:rPr>
              <a:t> </a:t>
            </a:r>
            <a:r>
              <a:rPr sz="2400" spc="-127" dirty="0">
                <a:solidFill>
                  <a:srgbClr val="585858"/>
                </a:solidFill>
                <a:latin typeface="Trebuchet MS"/>
                <a:cs typeface="Trebuchet MS"/>
              </a:rPr>
              <a:t>association.</a:t>
            </a:r>
            <a:endParaRPr sz="2400" dirty="0">
              <a:latin typeface="Trebuchet MS"/>
              <a:cs typeface="Trebuchet MS"/>
            </a:endParaRPr>
          </a:p>
          <a:p>
            <a:pPr marL="474121" indent="-457189">
              <a:spcBef>
                <a:spcPts val="433"/>
              </a:spcBef>
              <a:buFont typeface="Arial MT"/>
              <a:buChar char="●"/>
              <a:tabLst>
                <a:tab pos="473275" algn="l"/>
                <a:tab pos="474121" algn="l"/>
              </a:tabLst>
            </a:pPr>
            <a:r>
              <a:rPr sz="2400" spc="-193" dirty="0">
                <a:solidFill>
                  <a:srgbClr val="585858"/>
                </a:solidFill>
                <a:latin typeface="Trebuchet MS"/>
                <a:cs typeface="Trebuchet MS"/>
              </a:rPr>
              <a:t>Une</a:t>
            </a:r>
            <a:r>
              <a:rPr sz="2400" spc="-207" dirty="0">
                <a:solidFill>
                  <a:srgbClr val="585858"/>
                </a:solidFill>
                <a:latin typeface="Trebuchet MS"/>
                <a:cs typeface="Trebuchet MS"/>
              </a:rPr>
              <a:t> </a:t>
            </a:r>
            <a:r>
              <a:rPr sz="2400" spc="-180" dirty="0">
                <a:solidFill>
                  <a:srgbClr val="585858"/>
                </a:solidFill>
                <a:latin typeface="Trebuchet MS"/>
                <a:cs typeface="Trebuchet MS"/>
              </a:rPr>
              <a:t>Contrainte</a:t>
            </a:r>
            <a:r>
              <a:rPr sz="2400" spc="-207" dirty="0">
                <a:solidFill>
                  <a:srgbClr val="585858"/>
                </a:solidFill>
                <a:latin typeface="Trebuchet MS"/>
                <a:cs typeface="Trebuchet MS"/>
              </a:rPr>
              <a:t> </a:t>
            </a:r>
            <a:r>
              <a:rPr sz="2400" spc="-187" dirty="0">
                <a:solidFill>
                  <a:srgbClr val="585858"/>
                </a:solidFill>
                <a:latin typeface="Trebuchet MS"/>
                <a:cs typeface="Trebuchet MS"/>
              </a:rPr>
              <a:t>peut</a:t>
            </a:r>
            <a:r>
              <a:rPr sz="2400" spc="-207" dirty="0">
                <a:solidFill>
                  <a:srgbClr val="585858"/>
                </a:solidFill>
                <a:latin typeface="Trebuchet MS"/>
                <a:cs typeface="Trebuchet MS"/>
              </a:rPr>
              <a:t> </a:t>
            </a:r>
            <a:r>
              <a:rPr sz="2400" spc="-220" dirty="0">
                <a:solidFill>
                  <a:srgbClr val="585858"/>
                </a:solidFill>
                <a:latin typeface="Trebuchet MS"/>
                <a:cs typeface="Trebuchet MS"/>
              </a:rPr>
              <a:t>être</a:t>
            </a:r>
            <a:r>
              <a:rPr sz="2400" spc="-207" dirty="0">
                <a:solidFill>
                  <a:srgbClr val="585858"/>
                </a:solidFill>
                <a:latin typeface="Trebuchet MS"/>
                <a:cs typeface="Trebuchet MS"/>
              </a:rPr>
              <a:t> </a:t>
            </a:r>
            <a:r>
              <a:rPr sz="2400" spc="-93" dirty="0">
                <a:solidFill>
                  <a:srgbClr val="585858"/>
                </a:solidFill>
                <a:latin typeface="Trebuchet MS"/>
                <a:cs typeface="Trebuchet MS"/>
              </a:rPr>
              <a:t>sur</a:t>
            </a:r>
            <a:r>
              <a:rPr sz="2400" spc="-187" dirty="0">
                <a:solidFill>
                  <a:srgbClr val="585858"/>
                </a:solidFill>
                <a:latin typeface="Trebuchet MS"/>
                <a:cs typeface="Trebuchet MS"/>
              </a:rPr>
              <a:t> </a:t>
            </a:r>
            <a:r>
              <a:rPr sz="2400" spc="-147" dirty="0">
                <a:solidFill>
                  <a:srgbClr val="585858"/>
                </a:solidFill>
                <a:latin typeface="Trebuchet MS"/>
                <a:cs typeface="Trebuchet MS"/>
              </a:rPr>
              <a:t>un</a:t>
            </a:r>
            <a:r>
              <a:rPr sz="2400" spc="-200" dirty="0">
                <a:solidFill>
                  <a:srgbClr val="585858"/>
                </a:solidFill>
                <a:latin typeface="Trebuchet MS"/>
                <a:cs typeface="Trebuchet MS"/>
              </a:rPr>
              <a:t> </a:t>
            </a:r>
            <a:r>
              <a:rPr sz="2400" b="1" spc="-173" dirty="0">
                <a:solidFill>
                  <a:srgbClr val="585858"/>
                </a:solidFill>
                <a:latin typeface="Trebuchet MS"/>
                <a:cs typeface="Trebuchet MS"/>
              </a:rPr>
              <a:t>sous-ensemble</a:t>
            </a:r>
            <a:r>
              <a:rPr sz="2400" b="1" spc="-220" dirty="0">
                <a:solidFill>
                  <a:srgbClr val="585858"/>
                </a:solidFill>
                <a:latin typeface="Trebuchet MS"/>
                <a:cs typeface="Trebuchet MS"/>
              </a:rPr>
              <a:t> </a:t>
            </a:r>
            <a:r>
              <a:rPr sz="2400" spc="-200" dirty="0">
                <a:solidFill>
                  <a:srgbClr val="585858"/>
                </a:solidFill>
                <a:latin typeface="Trebuchet MS"/>
                <a:cs typeface="Trebuchet MS"/>
              </a:rPr>
              <a:t>de</a:t>
            </a:r>
            <a:r>
              <a:rPr sz="2400" spc="-207" dirty="0">
                <a:solidFill>
                  <a:srgbClr val="585858"/>
                </a:solidFill>
                <a:latin typeface="Trebuchet MS"/>
                <a:cs typeface="Trebuchet MS"/>
              </a:rPr>
              <a:t> </a:t>
            </a:r>
            <a:r>
              <a:rPr sz="2400" spc="-120" dirty="0">
                <a:solidFill>
                  <a:srgbClr val="585858"/>
                </a:solidFill>
                <a:latin typeface="Trebuchet MS"/>
                <a:cs typeface="Trebuchet MS"/>
              </a:rPr>
              <a:t>liens</a:t>
            </a:r>
            <a:r>
              <a:rPr sz="2400" spc="-227" dirty="0">
                <a:solidFill>
                  <a:srgbClr val="585858"/>
                </a:solidFill>
                <a:latin typeface="Trebuchet MS"/>
                <a:cs typeface="Trebuchet MS"/>
              </a:rPr>
              <a:t> </a:t>
            </a:r>
            <a:r>
              <a:rPr sz="2400" spc="-207" dirty="0">
                <a:solidFill>
                  <a:srgbClr val="585858"/>
                </a:solidFill>
                <a:latin typeface="Trebuchet MS"/>
                <a:cs typeface="Trebuchet MS"/>
              </a:rPr>
              <a:t>entre </a:t>
            </a:r>
            <a:r>
              <a:rPr sz="2400" spc="-93" dirty="0">
                <a:solidFill>
                  <a:srgbClr val="585858"/>
                </a:solidFill>
                <a:latin typeface="Trebuchet MS"/>
                <a:cs typeface="Trebuchet MS"/>
              </a:rPr>
              <a:t>associations</a:t>
            </a:r>
            <a:endParaRPr sz="2400" dirty="0">
              <a:latin typeface="Trebuchet MS"/>
              <a:cs typeface="Trebuchet MS"/>
            </a:endParaRPr>
          </a:p>
        </p:txBody>
      </p:sp>
      <p:sp>
        <p:nvSpPr>
          <p:cNvPr id="3" name="object 3"/>
          <p:cNvSpPr txBox="1">
            <a:spLocks noGrp="1"/>
          </p:cNvSpPr>
          <p:nvPr>
            <p:ph type="title"/>
          </p:nvPr>
        </p:nvSpPr>
        <p:spPr>
          <a:xfrm>
            <a:off x="520734" y="369992"/>
            <a:ext cx="11111653" cy="754908"/>
          </a:xfrm>
          <a:prstGeom prst="rect">
            <a:avLst/>
          </a:prstGeom>
        </p:spPr>
        <p:txBody>
          <a:bodyPr vert="horz" wrap="square" lIns="0" tIns="16087" rIns="0" bIns="0" rtlCol="0">
            <a:spAutoFit/>
          </a:bodyPr>
          <a:lstStyle/>
          <a:p>
            <a:pPr marL="16933">
              <a:spcBef>
                <a:spcPts val="127"/>
              </a:spcBef>
              <a:tabLst>
                <a:tab pos="11093596" algn="l"/>
              </a:tabLst>
            </a:pPr>
            <a:r>
              <a:rPr spc="-20" dirty="0">
                <a:solidFill>
                  <a:srgbClr val="556479"/>
                </a:solidFill>
              </a:rPr>
              <a:t>Les</a:t>
            </a:r>
            <a:r>
              <a:rPr spc="7" dirty="0">
                <a:solidFill>
                  <a:srgbClr val="556479"/>
                </a:solidFill>
              </a:rPr>
              <a:t> </a:t>
            </a:r>
            <a:r>
              <a:rPr spc="-7" dirty="0"/>
              <a:t>contraintes </a:t>
            </a:r>
            <a:r>
              <a:rPr spc="-7" dirty="0">
                <a:solidFill>
                  <a:srgbClr val="556479"/>
                </a:solidFill>
              </a:rPr>
              <a:t>sur </a:t>
            </a:r>
            <a:r>
              <a:rPr spc="-27" dirty="0">
                <a:solidFill>
                  <a:srgbClr val="556479"/>
                </a:solidFill>
              </a:rPr>
              <a:t>l'association	</a:t>
            </a:r>
          </a:p>
        </p:txBody>
      </p:sp>
      <p:pic>
        <p:nvPicPr>
          <p:cNvPr id="4" name="object 4"/>
          <p:cNvPicPr/>
          <p:nvPr/>
        </p:nvPicPr>
        <p:blipFill>
          <a:blip r:embed="rId2" cstate="print"/>
          <a:stretch>
            <a:fillRect/>
          </a:stretch>
        </p:blipFill>
        <p:spPr>
          <a:xfrm>
            <a:off x="1818640" y="3972560"/>
            <a:ext cx="8321040" cy="894080"/>
          </a:xfrm>
          <a:prstGeom prst="rect">
            <a:avLst/>
          </a:prstGeom>
        </p:spPr>
      </p:pic>
      <p:sp>
        <p:nvSpPr>
          <p:cNvPr id="5" name="object 5"/>
          <p:cNvSpPr txBox="1"/>
          <p:nvPr/>
        </p:nvSpPr>
        <p:spPr>
          <a:xfrm>
            <a:off x="4596554" y="5323236"/>
            <a:ext cx="6291580" cy="861774"/>
          </a:xfrm>
          <a:prstGeom prst="rect">
            <a:avLst/>
          </a:prstGeom>
        </p:spPr>
        <p:txBody>
          <a:bodyPr vert="horz" wrap="square" lIns="0" tIns="71120" rIns="0" bIns="0" rtlCol="0">
            <a:spAutoFit/>
          </a:bodyPr>
          <a:lstStyle/>
          <a:p>
            <a:pPr marL="16933">
              <a:spcBef>
                <a:spcPts val="560"/>
              </a:spcBef>
            </a:pPr>
            <a:r>
              <a:rPr sz="2400" spc="-187" dirty="0">
                <a:solidFill>
                  <a:srgbClr val="585858"/>
                </a:solidFill>
                <a:latin typeface="Trebuchet MS"/>
                <a:cs typeface="Trebuchet MS"/>
              </a:rPr>
              <a:t>Ici,</a:t>
            </a:r>
            <a:r>
              <a:rPr sz="2400" spc="73" dirty="0">
                <a:solidFill>
                  <a:srgbClr val="585858"/>
                </a:solidFill>
                <a:latin typeface="Trebuchet MS"/>
                <a:cs typeface="Trebuchet MS"/>
              </a:rPr>
              <a:t> </a:t>
            </a:r>
            <a:r>
              <a:rPr sz="2400" spc="-140" dirty="0">
                <a:solidFill>
                  <a:srgbClr val="585858"/>
                </a:solidFill>
                <a:latin typeface="Trebuchet MS"/>
                <a:cs typeface="Trebuchet MS"/>
              </a:rPr>
              <a:t>on</a:t>
            </a:r>
            <a:r>
              <a:rPr sz="2400" spc="53" dirty="0">
                <a:solidFill>
                  <a:srgbClr val="585858"/>
                </a:solidFill>
                <a:latin typeface="Trebuchet MS"/>
                <a:cs typeface="Trebuchet MS"/>
              </a:rPr>
              <a:t> </a:t>
            </a:r>
            <a:r>
              <a:rPr sz="2400" spc="-213" dirty="0">
                <a:solidFill>
                  <a:srgbClr val="585858"/>
                </a:solidFill>
                <a:latin typeface="Trebuchet MS"/>
                <a:cs typeface="Trebuchet MS"/>
              </a:rPr>
              <a:t>met</a:t>
            </a:r>
            <a:r>
              <a:rPr sz="2400" spc="40" dirty="0">
                <a:solidFill>
                  <a:srgbClr val="585858"/>
                </a:solidFill>
                <a:latin typeface="Trebuchet MS"/>
                <a:cs typeface="Trebuchet MS"/>
              </a:rPr>
              <a:t> </a:t>
            </a:r>
            <a:r>
              <a:rPr sz="2400" spc="-147" dirty="0">
                <a:solidFill>
                  <a:srgbClr val="585858"/>
                </a:solidFill>
                <a:latin typeface="Trebuchet MS"/>
                <a:cs typeface="Trebuchet MS"/>
              </a:rPr>
              <a:t>l'accent</a:t>
            </a:r>
            <a:r>
              <a:rPr sz="2400" spc="80" dirty="0">
                <a:solidFill>
                  <a:srgbClr val="585858"/>
                </a:solidFill>
                <a:latin typeface="Trebuchet MS"/>
                <a:cs typeface="Trebuchet MS"/>
              </a:rPr>
              <a:t> </a:t>
            </a:r>
            <a:r>
              <a:rPr sz="2400" spc="-93" dirty="0">
                <a:solidFill>
                  <a:srgbClr val="585858"/>
                </a:solidFill>
                <a:latin typeface="Trebuchet MS"/>
                <a:cs typeface="Trebuchet MS"/>
              </a:rPr>
              <a:t>sur</a:t>
            </a:r>
            <a:r>
              <a:rPr sz="2400" spc="67" dirty="0">
                <a:solidFill>
                  <a:srgbClr val="585858"/>
                </a:solidFill>
                <a:latin typeface="Trebuchet MS"/>
                <a:cs typeface="Trebuchet MS"/>
              </a:rPr>
              <a:t> </a:t>
            </a:r>
            <a:r>
              <a:rPr sz="2400" spc="-167" dirty="0">
                <a:solidFill>
                  <a:srgbClr val="585858"/>
                </a:solidFill>
                <a:latin typeface="Trebuchet MS"/>
                <a:cs typeface="Trebuchet MS"/>
              </a:rPr>
              <a:t>l'importance</a:t>
            </a:r>
            <a:r>
              <a:rPr sz="2400" spc="87" dirty="0">
                <a:solidFill>
                  <a:srgbClr val="585858"/>
                </a:solidFill>
                <a:latin typeface="Trebuchet MS"/>
                <a:cs typeface="Trebuchet MS"/>
              </a:rPr>
              <a:t> </a:t>
            </a:r>
            <a:r>
              <a:rPr sz="2400" spc="-200" dirty="0">
                <a:solidFill>
                  <a:srgbClr val="585858"/>
                </a:solidFill>
                <a:latin typeface="Trebuchet MS"/>
                <a:cs typeface="Trebuchet MS"/>
              </a:rPr>
              <a:t>de</a:t>
            </a:r>
            <a:r>
              <a:rPr sz="2400" spc="53" dirty="0">
                <a:solidFill>
                  <a:srgbClr val="585858"/>
                </a:solidFill>
                <a:latin typeface="Trebuchet MS"/>
                <a:cs typeface="Trebuchet MS"/>
              </a:rPr>
              <a:t> </a:t>
            </a:r>
            <a:r>
              <a:rPr sz="2400" spc="-160" dirty="0">
                <a:solidFill>
                  <a:srgbClr val="585858"/>
                </a:solidFill>
                <a:latin typeface="Trebuchet MS"/>
                <a:cs typeface="Trebuchet MS"/>
              </a:rPr>
              <a:t>l'ordre</a:t>
            </a:r>
            <a:r>
              <a:rPr sz="2400" spc="73" dirty="0">
                <a:solidFill>
                  <a:srgbClr val="585858"/>
                </a:solidFill>
                <a:latin typeface="Trebuchet MS"/>
                <a:cs typeface="Trebuchet MS"/>
              </a:rPr>
              <a:t> </a:t>
            </a:r>
            <a:r>
              <a:rPr sz="2400" spc="-200" dirty="0">
                <a:solidFill>
                  <a:srgbClr val="585858"/>
                </a:solidFill>
                <a:latin typeface="Trebuchet MS"/>
                <a:cs typeface="Trebuchet MS"/>
              </a:rPr>
              <a:t>de</a:t>
            </a:r>
            <a:r>
              <a:rPr sz="2400" spc="60" dirty="0">
                <a:solidFill>
                  <a:srgbClr val="585858"/>
                </a:solidFill>
                <a:latin typeface="Trebuchet MS"/>
                <a:cs typeface="Trebuchet MS"/>
              </a:rPr>
              <a:t> </a:t>
            </a:r>
            <a:r>
              <a:rPr sz="2400" spc="-180" dirty="0">
                <a:solidFill>
                  <a:srgbClr val="585858"/>
                </a:solidFill>
                <a:latin typeface="Trebuchet MS"/>
                <a:cs typeface="Trebuchet MS"/>
              </a:rPr>
              <a:t>la</a:t>
            </a:r>
            <a:endParaRPr sz="2400">
              <a:latin typeface="Trebuchet MS"/>
              <a:cs typeface="Trebuchet MS"/>
            </a:endParaRPr>
          </a:p>
          <a:p>
            <a:pPr marL="16933">
              <a:spcBef>
                <a:spcPts val="433"/>
              </a:spcBef>
            </a:pPr>
            <a:r>
              <a:rPr sz="2400" spc="-127" dirty="0">
                <a:solidFill>
                  <a:srgbClr val="585858"/>
                </a:solidFill>
                <a:latin typeface="Trebuchet MS"/>
                <a:cs typeface="Trebuchet MS"/>
              </a:rPr>
              <a:t>c</a:t>
            </a:r>
            <a:r>
              <a:rPr sz="2400" spc="-180" dirty="0">
                <a:solidFill>
                  <a:srgbClr val="585858"/>
                </a:solidFill>
                <a:latin typeface="Trebuchet MS"/>
                <a:cs typeface="Trebuchet MS"/>
              </a:rPr>
              <a:t>r</a:t>
            </a:r>
            <a:r>
              <a:rPr sz="2400" spc="-253" dirty="0">
                <a:solidFill>
                  <a:srgbClr val="585858"/>
                </a:solidFill>
                <a:latin typeface="Trebuchet MS"/>
                <a:cs typeface="Trebuchet MS"/>
              </a:rPr>
              <a:t>é</a:t>
            </a:r>
            <a:r>
              <a:rPr sz="2400" spc="-152" dirty="0">
                <a:solidFill>
                  <a:srgbClr val="585858"/>
                </a:solidFill>
                <a:latin typeface="Trebuchet MS"/>
                <a:cs typeface="Trebuchet MS"/>
              </a:rPr>
              <a:t>atio</a:t>
            </a:r>
            <a:r>
              <a:rPr sz="2400" spc="-187" dirty="0">
                <a:solidFill>
                  <a:srgbClr val="585858"/>
                </a:solidFill>
                <a:latin typeface="Trebuchet MS"/>
                <a:cs typeface="Trebuchet MS"/>
              </a:rPr>
              <a:t>n</a:t>
            </a:r>
            <a:r>
              <a:rPr sz="2400" spc="-213" dirty="0">
                <a:solidFill>
                  <a:srgbClr val="585858"/>
                </a:solidFill>
                <a:latin typeface="Trebuchet MS"/>
                <a:cs typeface="Trebuchet MS"/>
              </a:rPr>
              <a:t> </a:t>
            </a:r>
            <a:r>
              <a:rPr sz="2400" spc="-107" dirty="0">
                <a:solidFill>
                  <a:srgbClr val="585858"/>
                </a:solidFill>
                <a:latin typeface="Trebuchet MS"/>
                <a:cs typeface="Trebuchet MS"/>
              </a:rPr>
              <a:t>des</a:t>
            </a:r>
            <a:r>
              <a:rPr sz="2400" spc="-207" dirty="0">
                <a:solidFill>
                  <a:srgbClr val="585858"/>
                </a:solidFill>
                <a:latin typeface="Trebuchet MS"/>
                <a:cs typeface="Trebuchet MS"/>
              </a:rPr>
              <a:t> </a:t>
            </a:r>
            <a:r>
              <a:rPr sz="2400" spc="-180" dirty="0">
                <a:solidFill>
                  <a:srgbClr val="585858"/>
                </a:solidFill>
                <a:latin typeface="Trebuchet MS"/>
                <a:cs typeface="Trebuchet MS"/>
              </a:rPr>
              <a:t>œuvre</a:t>
            </a:r>
            <a:r>
              <a:rPr sz="2400" spc="-120" dirty="0">
                <a:solidFill>
                  <a:srgbClr val="585858"/>
                </a:solidFill>
                <a:latin typeface="Trebuchet MS"/>
                <a:cs typeface="Trebuchet MS"/>
              </a:rPr>
              <a:t>s</a:t>
            </a:r>
            <a:r>
              <a:rPr sz="2400" spc="-200" dirty="0">
                <a:solidFill>
                  <a:srgbClr val="585858"/>
                </a:solidFill>
                <a:latin typeface="Trebuchet MS"/>
                <a:cs typeface="Trebuchet MS"/>
              </a:rPr>
              <a:t> </a:t>
            </a:r>
            <a:r>
              <a:rPr sz="2400" spc="-120" dirty="0">
                <a:solidFill>
                  <a:srgbClr val="585858"/>
                </a:solidFill>
                <a:latin typeface="Trebuchet MS"/>
                <a:cs typeface="Trebuchet MS"/>
              </a:rPr>
              <a:t>d'un</a:t>
            </a:r>
            <a:r>
              <a:rPr sz="2400" spc="-220" dirty="0">
                <a:solidFill>
                  <a:srgbClr val="585858"/>
                </a:solidFill>
                <a:latin typeface="Trebuchet MS"/>
                <a:cs typeface="Trebuchet MS"/>
              </a:rPr>
              <a:t> </a:t>
            </a:r>
            <a:r>
              <a:rPr sz="2400" spc="-127" dirty="0">
                <a:solidFill>
                  <a:srgbClr val="585858"/>
                </a:solidFill>
                <a:latin typeface="Trebuchet MS"/>
                <a:cs typeface="Trebuchet MS"/>
              </a:rPr>
              <a:t>c</a:t>
            </a:r>
            <a:r>
              <a:rPr sz="2400" spc="-140" dirty="0">
                <a:solidFill>
                  <a:srgbClr val="585858"/>
                </a:solidFill>
                <a:latin typeface="Trebuchet MS"/>
                <a:cs typeface="Trebuchet MS"/>
              </a:rPr>
              <a:t>omposit</a:t>
            </a:r>
            <a:r>
              <a:rPr sz="2400" spc="-167" dirty="0">
                <a:solidFill>
                  <a:srgbClr val="585858"/>
                </a:solidFill>
                <a:latin typeface="Trebuchet MS"/>
                <a:cs typeface="Trebuchet MS"/>
              </a:rPr>
              <a:t>e</a:t>
            </a:r>
            <a:r>
              <a:rPr sz="2400" spc="-200" dirty="0">
                <a:solidFill>
                  <a:srgbClr val="585858"/>
                </a:solidFill>
                <a:latin typeface="Trebuchet MS"/>
                <a:cs typeface="Trebuchet MS"/>
              </a:rPr>
              <a:t>u</a:t>
            </a:r>
            <a:r>
              <a:rPr sz="2400" spc="-147" dirty="0">
                <a:solidFill>
                  <a:srgbClr val="585858"/>
                </a:solidFill>
                <a:latin typeface="Trebuchet MS"/>
                <a:cs typeface="Trebuchet MS"/>
              </a:rPr>
              <a:t>r</a:t>
            </a:r>
            <a:r>
              <a:rPr sz="2400" spc="-300" dirty="0">
                <a:solidFill>
                  <a:srgbClr val="585858"/>
                </a:solidFill>
                <a:latin typeface="Trebuchet MS"/>
                <a:cs typeface="Trebuchet MS"/>
              </a:rPr>
              <a:t>.</a:t>
            </a:r>
            <a:endParaRPr sz="2400">
              <a:latin typeface="Trebuchet MS"/>
              <a:cs typeface="Trebuchet MS"/>
            </a:endParaRPr>
          </a:p>
        </p:txBody>
      </p:sp>
      <p:sp>
        <p:nvSpPr>
          <p:cNvPr id="6" name="object 6"/>
          <p:cNvSpPr/>
          <p:nvPr/>
        </p:nvSpPr>
        <p:spPr>
          <a:xfrm>
            <a:off x="7466245" y="4898136"/>
            <a:ext cx="152400" cy="480907"/>
          </a:xfrm>
          <a:custGeom>
            <a:avLst/>
            <a:gdLst/>
            <a:ahLst/>
            <a:cxnLst/>
            <a:rect l="l" t="t" r="r" b="b"/>
            <a:pathLst>
              <a:path w="114300" h="360679">
                <a:moveTo>
                  <a:pt x="76148" y="113960"/>
                </a:moveTo>
                <a:lnTo>
                  <a:pt x="38049" y="114638"/>
                </a:lnTo>
                <a:lnTo>
                  <a:pt x="42290" y="360184"/>
                </a:lnTo>
                <a:lnTo>
                  <a:pt x="80390" y="359524"/>
                </a:lnTo>
                <a:lnTo>
                  <a:pt x="76148" y="113960"/>
                </a:lnTo>
                <a:close/>
              </a:path>
              <a:path w="114300" h="360679">
                <a:moveTo>
                  <a:pt x="55117" y="0"/>
                </a:moveTo>
                <a:lnTo>
                  <a:pt x="0" y="115316"/>
                </a:lnTo>
                <a:lnTo>
                  <a:pt x="38049" y="114638"/>
                </a:lnTo>
                <a:lnTo>
                  <a:pt x="37718" y="95504"/>
                </a:lnTo>
                <a:lnTo>
                  <a:pt x="75818" y="94869"/>
                </a:lnTo>
                <a:lnTo>
                  <a:pt x="104573" y="94869"/>
                </a:lnTo>
                <a:lnTo>
                  <a:pt x="55117" y="0"/>
                </a:lnTo>
                <a:close/>
              </a:path>
              <a:path w="114300" h="360679">
                <a:moveTo>
                  <a:pt x="75818" y="94869"/>
                </a:moveTo>
                <a:lnTo>
                  <a:pt x="37718" y="95504"/>
                </a:lnTo>
                <a:lnTo>
                  <a:pt x="38049" y="114638"/>
                </a:lnTo>
                <a:lnTo>
                  <a:pt x="76148" y="113960"/>
                </a:lnTo>
                <a:lnTo>
                  <a:pt x="75818" y="94869"/>
                </a:lnTo>
                <a:close/>
              </a:path>
              <a:path w="114300" h="360679">
                <a:moveTo>
                  <a:pt x="104573" y="94869"/>
                </a:moveTo>
                <a:lnTo>
                  <a:pt x="75818" y="94869"/>
                </a:lnTo>
                <a:lnTo>
                  <a:pt x="76148" y="113960"/>
                </a:lnTo>
                <a:lnTo>
                  <a:pt x="114173" y="113284"/>
                </a:lnTo>
                <a:lnTo>
                  <a:pt x="104573" y="94869"/>
                </a:lnTo>
                <a:close/>
              </a:path>
            </a:pathLst>
          </a:custGeom>
          <a:solidFill>
            <a:srgbClr val="C5C5C5"/>
          </a:solidFill>
        </p:spPr>
        <p:txBody>
          <a:bodyPr wrap="square" lIns="0" tIns="0" rIns="0" bIns="0" rtlCol="0"/>
          <a:lstStyle/>
          <a:p>
            <a:endParaRPr sz="2400"/>
          </a:p>
        </p:txBody>
      </p:sp>
    </p:spTree>
    <p:extLst>
      <p:ext uri="{BB962C8B-B14F-4D97-AF65-F5344CB8AC3E}">
        <p14:creationId xmlns:p14="http://schemas.microsoft.com/office/powerpoint/2010/main" val="4029085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734" y="369992"/>
            <a:ext cx="11111653" cy="754908"/>
          </a:xfrm>
          <a:prstGeom prst="rect">
            <a:avLst/>
          </a:prstGeom>
        </p:spPr>
        <p:txBody>
          <a:bodyPr vert="horz" wrap="square" lIns="0" tIns="16087" rIns="0" bIns="0" rtlCol="0">
            <a:spAutoFit/>
          </a:bodyPr>
          <a:lstStyle/>
          <a:p>
            <a:pPr marL="16933">
              <a:spcBef>
                <a:spcPts val="127"/>
              </a:spcBef>
              <a:tabLst>
                <a:tab pos="11093596" algn="l"/>
              </a:tabLst>
            </a:pPr>
            <a:r>
              <a:rPr sz="4800" spc="-20" dirty="0">
                <a:solidFill>
                  <a:schemeClr val="tx1">
                    <a:lumMod val="65000"/>
                    <a:lumOff val="35000"/>
                  </a:schemeClr>
                </a:solidFill>
                <a:latin typeface="Calibri Light" panose="020F0302020204030204" pitchFamily="34" charset="0"/>
                <a:cs typeface="Calibri Light" panose="020F0302020204030204" pitchFamily="34" charset="0"/>
              </a:rPr>
              <a:t>L</a:t>
            </a:r>
            <a:r>
              <a:rPr sz="4800" u="dash" spc="-20" dirty="0">
                <a:solidFill>
                  <a:schemeClr val="tx1">
                    <a:lumMod val="65000"/>
                    <a:lumOff val="35000"/>
                  </a:schemeClr>
                </a:solidFill>
                <a:uFill>
                  <a:solidFill>
                    <a:srgbClr val="C5C5C5"/>
                  </a:solidFill>
                </a:uFill>
                <a:latin typeface="Calibri Light" panose="020F0302020204030204" pitchFamily="34" charset="0"/>
                <a:cs typeface="Calibri Light" panose="020F0302020204030204" pitchFamily="34" charset="0"/>
              </a:rPr>
              <a:t>es</a:t>
            </a:r>
            <a:r>
              <a:rPr sz="4800" u="dash" dirty="0">
                <a:solidFill>
                  <a:schemeClr val="tx1">
                    <a:lumMod val="65000"/>
                    <a:lumOff val="35000"/>
                  </a:schemeClr>
                </a:solidFill>
                <a:uFill>
                  <a:solidFill>
                    <a:srgbClr val="C5C5C5"/>
                  </a:solidFill>
                </a:uFill>
                <a:latin typeface="Calibri Light" panose="020F0302020204030204" pitchFamily="34" charset="0"/>
                <a:cs typeface="Calibri Light" panose="020F0302020204030204" pitchFamily="34" charset="0"/>
              </a:rPr>
              <a:t> </a:t>
            </a:r>
            <a:r>
              <a:rPr sz="4800" u="dash" spc="-7" dirty="0">
                <a:solidFill>
                  <a:schemeClr val="tx1">
                    <a:lumMod val="65000"/>
                    <a:lumOff val="35000"/>
                  </a:schemeClr>
                </a:solidFill>
                <a:uFill>
                  <a:solidFill>
                    <a:srgbClr val="C5C5C5"/>
                  </a:solidFill>
                </a:uFill>
                <a:latin typeface="Calibri Light" panose="020F0302020204030204" pitchFamily="34" charset="0"/>
                <a:cs typeface="Calibri Light" panose="020F0302020204030204" pitchFamily="34" charset="0"/>
              </a:rPr>
              <a:t>contraintes</a:t>
            </a:r>
            <a:r>
              <a:rPr sz="4800" u="dash" spc="-13" dirty="0">
                <a:solidFill>
                  <a:schemeClr val="tx1">
                    <a:lumMod val="65000"/>
                    <a:lumOff val="35000"/>
                  </a:schemeClr>
                </a:solidFill>
                <a:uFill>
                  <a:solidFill>
                    <a:srgbClr val="C5C5C5"/>
                  </a:solidFill>
                </a:uFill>
                <a:latin typeface="Calibri Light" panose="020F0302020204030204" pitchFamily="34" charset="0"/>
                <a:cs typeface="Calibri Light" panose="020F0302020204030204" pitchFamily="34" charset="0"/>
              </a:rPr>
              <a:t> </a:t>
            </a:r>
            <a:r>
              <a:rPr sz="4800" u="dash" spc="-7" dirty="0">
                <a:solidFill>
                  <a:schemeClr val="tx1">
                    <a:lumMod val="65000"/>
                    <a:lumOff val="35000"/>
                  </a:schemeClr>
                </a:solidFill>
                <a:uFill>
                  <a:solidFill>
                    <a:srgbClr val="C5C5C5"/>
                  </a:solidFill>
                </a:uFill>
                <a:latin typeface="Calibri Light" panose="020F0302020204030204" pitchFamily="34" charset="0"/>
                <a:cs typeface="Calibri Light" panose="020F0302020204030204" pitchFamily="34" charset="0"/>
              </a:rPr>
              <a:t>sur </a:t>
            </a:r>
            <a:r>
              <a:rPr sz="4800" u="dash" spc="-27" dirty="0">
                <a:solidFill>
                  <a:schemeClr val="tx1">
                    <a:lumMod val="65000"/>
                    <a:lumOff val="35000"/>
                  </a:schemeClr>
                </a:solidFill>
                <a:uFill>
                  <a:solidFill>
                    <a:srgbClr val="C5C5C5"/>
                  </a:solidFill>
                </a:uFill>
                <a:latin typeface="Calibri Light" panose="020F0302020204030204" pitchFamily="34" charset="0"/>
                <a:cs typeface="Calibri Light" panose="020F0302020204030204" pitchFamily="34" charset="0"/>
              </a:rPr>
              <a:t>l'association	</a:t>
            </a:r>
            <a:endParaRPr sz="4800" dirty="0">
              <a:solidFill>
                <a:schemeClr val="tx1">
                  <a:lumMod val="65000"/>
                  <a:lumOff val="35000"/>
                </a:schemeClr>
              </a:solidFill>
              <a:latin typeface="Calibri Light" panose="020F0302020204030204" pitchFamily="34" charset="0"/>
              <a:cs typeface="Calibri Light" panose="020F0302020204030204" pitchFamily="34" charset="0"/>
            </a:endParaRPr>
          </a:p>
        </p:txBody>
      </p:sp>
      <p:sp>
        <p:nvSpPr>
          <p:cNvPr id="3" name="object 3"/>
          <p:cNvSpPr txBox="1"/>
          <p:nvPr/>
        </p:nvSpPr>
        <p:spPr>
          <a:xfrm>
            <a:off x="5846233" y="2830746"/>
            <a:ext cx="5353472" cy="1291293"/>
          </a:xfrm>
          <a:prstGeom prst="rect">
            <a:avLst/>
          </a:prstGeom>
        </p:spPr>
        <p:txBody>
          <a:bodyPr vert="horz" wrap="square" lIns="0" tIns="16933" rIns="0" bIns="0" rtlCol="0">
            <a:spAutoFit/>
          </a:bodyPr>
          <a:lstStyle/>
          <a:p>
            <a:pPr marL="16933" marR="6773" algn="just">
              <a:lnSpc>
                <a:spcPct val="114999"/>
              </a:lnSpc>
              <a:spcBef>
                <a:spcPts val="133"/>
              </a:spcBef>
            </a:pPr>
            <a:r>
              <a:rPr sz="2400" spc="-187" dirty="0">
                <a:solidFill>
                  <a:srgbClr val="585858"/>
                </a:solidFill>
                <a:latin typeface="Trebuchet MS"/>
                <a:cs typeface="Trebuchet MS"/>
              </a:rPr>
              <a:t>Ici, </a:t>
            </a:r>
            <a:r>
              <a:rPr sz="2400" spc="-140" dirty="0">
                <a:solidFill>
                  <a:srgbClr val="585858"/>
                </a:solidFill>
                <a:latin typeface="Trebuchet MS"/>
                <a:cs typeface="Trebuchet MS"/>
              </a:rPr>
              <a:t>on </a:t>
            </a:r>
            <a:r>
              <a:rPr sz="2400" spc="-167" dirty="0">
                <a:solidFill>
                  <a:srgbClr val="585858"/>
                </a:solidFill>
                <a:latin typeface="Trebuchet MS"/>
                <a:cs typeface="Trebuchet MS"/>
              </a:rPr>
              <a:t>indique </a:t>
            </a:r>
            <a:r>
              <a:rPr sz="2400" spc="-147" dirty="0">
                <a:solidFill>
                  <a:srgbClr val="585858"/>
                </a:solidFill>
                <a:latin typeface="Trebuchet MS"/>
                <a:cs typeface="Trebuchet MS"/>
              </a:rPr>
              <a:t>qu'une </a:t>
            </a:r>
            <a:r>
              <a:rPr sz="2400" spc="-152" dirty="0">
                <a:solidFill>
                  <a:srgbClr val="585858"/>
                </a:solidFill>
                <a:latin typeface="Trebuchet MS"/>
                <a:cs typeface="Trebuchet MS"/>
              </a:rPr>
              <a:t>personne </a:t>
            </a:r>
            <a:r>
              <a:rPr sz="2400" spc="-207" dirty="0">
                <a:solidFill>
                  <a:srgbClr val="585858"/>
                </a:solidFill>
                <a:latin typeface="Trebuchet MS"/>
                <a:cs typeface="Trebuchet MS"/>
              </a:rPr>
              <a:t>joue </a:t>
            </a:r>
            <a:r>
              <a:rPr sz="2400" spc="-113" dirty="0">
                <a:solidFill>
                  <a:srgbClr val="585858"/>
                </a:solidFill>
                <a:latin typeface="Trebuchet MS"/>
                <a:cs typeface="Trebuchet MS"/>
              </a:rPr>
              <a:t>soit </a:t>
            </a:r>
            <a:r>
              <a:rPr sz="2400" spc="-213" dirty="0">
                <a:solidFill>
                  <a:srgbClr val="585858"/>
                </a:solidFill>
                <a:latin typeface="Trebuchet MS"/>
                <a:cs typeface="Trebuchet MS"/>
              </a:rPr>
              <a:t>le </a:t>
            </a:r>
            <a:r>
              <a:rPr sz="2400" spc="-207" dirty="0">
                <a:solidFill>
                  <a:srgbClr val="585858"/>
                </a:solidFill>
                <a:latin typeface="Trebuchet MS"/>
                <a:cs typeface="Trebuchet MS"/>
              </a:rPr>
              <a:t> </a:t>
            </a:r>
            <a:r>
              <a:rPr sz="2400" spc="-180" dirty="0">
                <a:solidFill>
                  <a:srgbClr val="585858"/>
                </a:solidFill>
                <a:latin typeface="Trebuchet MS"/>
                <a:cs typeface="Trebuchet MS"/>
              </a:rPr>
              <a:t>rôle </a:t>
            </a:r>
            <a:r>
              <a:rPr sz="2400" spc="-193" dirty="0">
                <a:solidFill>
                  <a:srgbClr val="585858"/>
                </a:solidFill>
                <a:latin typeface="Trebuchet MS"/>
                <a:cs typeface="Trebuchet MS"/>
              </a:rPr>
              <a:t>d'étudiant, </a:t>
            </a:r>
            <a:r>
              <a:rPr sz="2400" spc="-113" dirty="0">
                <a:solidFill>
                  <a:srgbClr val="585858"/>
                </a:solidFill>
                <a:latin typeface="Trebuchet MS"/>
                <a:cs typeface="Trebuchet MS"/>
              </a:rPr>
              <a:t>soit </a:t>
            </a:r>
            <a:r>
              <a:rPr sz="2400" spc="-207" dirty="0">
                <a:solidFill>
                  <a:srgbClr val="585858"/>
                </a:solidFill>
                <a:latin typeface="Trebuchet MS"/>
                <a:cs typeface="Trebuchet MS"/>
              </a:rPr>
              <a:t>le </a:t>
            </a:r>
            <a:r>
              <a:rPr sz="2400" spc="-180" dirty="0">
                <a:solidFill>
                  <a:srgbClr val="585858"/>
                </a:solidFill>
                <a:latin typeface="Trebuchet MS"/>
                <a:cs typeface="Trebuchet MS"/>
              </a:rPr>
              <a:t>rôle </a:t>
            </a:r>
            <a:r>
              <a:rPr sz="2400" spc="-133" dirty="0">
                <a:solidFill>
                  <a:srgbClr val="585858"/>
                </a:solidFill>
                <a:latin typeface="Trebuchet MS"/>
                <a:cs typeface="Trebuchet MS"/>
              </a:rPr>
              <a:t>d'enseignant </a:t>
            </a:r>
            <a:r>
              <a:rPr sz="2400" spc="-160" dirty="0">
                <a:solidFill>
                  <a:srgbClr val="585858"/>
                </a:solidFill>
                <a:latin typeface="Trebuchet MS"/>
                <a:cs typeface="Trebuchet MS"/>
              </a:rPr>
              <a:t>pour </a:t>
            </a:r>
            <a:r>
              <a:rPr sz="2400" spc="-152" dirty="0">
                <a:solidFill>
                  <a:srgbClr val="585858"/>
                </a:solidFill>
                <a:latin typeface="Trebuchet MS"/>
                <a:cs typeface="Trebuchet MS"/>
              </a:rPr>
              <a:t> </a:t>
            </a:r>
            <a:r>
              <a:rPr sz="2400" spc="-173" dirty="0">
                <a:solidFill>
                  <a:srgbClr val="585858"/>
                </a:solidFill>
                <a:latin typeface="Trebuchet MS"/>
                <a:cs typeface="Trebuchet MS"/>
              </a:rPr>
              <a:t>une</a:t>
            </a:r>
            <a:r>
              <a:rPr sz="2400" spc="-213" dirty="0">
                <a:solidFill>
                  <a:srgbClr val="585858"/>
                </a:solidFill>
                <a:latin typeface="Trebuchet MS"/>
                <a:cs typeface="Trebuchet MS"/>
              </a:rPr>
              <a:t> </a:t>
            </a:r>
            <a:r>
              <a:rPr sz="2400" spc="-152" dirty="0">
                <a:solidFill>
                  <a:srgbClr val="585858"/>
                </a:solidFill>
                <a:latin typeface="Trebuchet MS"/>
                <a:cs typeface="Trebuchet MS"/>
              </a:rPr>
              <a:t>univ</a:t>
            </a:r>
            <a:r>
              <a:rPr sz="2400" spc="-193" dirty="0">
                <a:solidFill>
                  <a:srgbClr val="585858"/>
                </a:solidFill>
                <a:latin typeface="Trebuchet MS"/>
                <a:cs typeface="Trebuchet MS"/>
              </a:rPr>
              <a:t>e</a:t>
            </a:r>
            <a:r>
              <a:rPr sz="2400" spc="-67" dirty="0">
                <a:solidFill>
                  <a:srgbClr val="585858"/>
                </a:solidFill>
                <a:latin typeface="Trebuchet MS"/>
                <a:cs typeface="Trebuchet MS"/>
              </a:rPr>
              <a:t>r</a:t>
            </a:r>
            <a:r>
              <a:rPr sz="2400" spc="-73" dirty="0">
                <a:solidFill>
                  <a:srgbClr val="585858"/>
                </a:solidFill>
                <a:latin typeface="Trebuchet MS"/>
                <a:cs typeface="Trebuchet MS"/>
              </a:rPr>
              <a:t>s</a:t>
            </a:r>
            <a:r>
              <a:rPr sz="2400" spc="-193" dirty="0">
                <a:solidFill>
                  <a:srgbClr val="585858"/>
                </a:solidFill>
                <a:latin typeface="Trebuchet MS"/>
                <a:cs typeface="Trebuchet MS"/>
              </a:rPr>
              <a:t>ité</a:t>
            </a:r>
            <a:r>
              <a:rPr sz="2400" spc="-220" dirty="0">
                <a:solidFill>
                  <a:srgbClr val="585858"/>
                </a:solidFill>
                <a:latin typeface="Trebuchet MS"/>
                <a:cs typeface="Trebuchet MS"/>
              </a:rPr>
              <a:t> </a:t>
            </a:r>
            <a:r>
              <a:rPr sz="2400" spc="-173" dirty="0">
                <a:solidFill>
                  <a:srgbClr val="585858"/>
                </a:solidFill>
                <a:latin typeface="Trebuchet MS"/>
                <a:cs typeface="Trebuchet MS"/>
              </a:rPr>
              <a:t>donné</a:t>
            </a:r>
            <a:r>
              <a:rPr sz="2400" spc="-187" dirty="0">
                <a:solidFill>
                  <a:srgbClr val="585858"/>
                </a:solidFill>
                <a:latin typeface="Trebuchet MS"/>
                <a:cs typeface="Trebuchet MS"/>
              </a:rPr>
              <a:t>e</a:t>
            </a:r>
            <a:r>
              <a:rPr sz="2400" spc="-300" dirty="0">
                <a:solidFill>
                  <a:srgbClr val="585858"/>
                </a:solidFill>
                <a:latin typeface="Trebuchet MS"/>
                <a:cs typeface="Trebuchet MS"/>
              </a:rPr>
              <a:t>.</a:t>
            </a:r>
            <a:endParaRPr sz="2400">
              <a:latin typeface="Trebuchet MS"/>
              <a:cs typeface="Trebuchet MS"/>
            </a:endParaRPr>
          </a:p>
        </p:txBody>
      </p:sp>
      <p:grpSp>
        <p:nvGrpSpPr>
          <p:cNvPr id="4" name="object 4"/>
          <p:cNvGrpSpPr/>
          <p:nvPr/>
        </p:nvGrpSpPr>
        <p:grpSpPr>
          <a:xfrm>
            <a:off x="1091185" y="1700785"/>
            <a:ext cx="4500033" cy="3771900"/>
            <a:chOff x="818388" y="1275588"/>
            <a:chExt cx="3375025" cy="2828925"/>
          </a:xfrm>
        </p:grpSpPr>
        <p:pic>
          <p:nvPicPr>
            <p:cNvPr id="5" name="object 5"/>
            <p:cNvPicPr/>
            <p:nvPr/>
          </p:nvPicPr>
          <p:blipFill>
            <a:blip r:embed="rId2" cstate="print"/>
            <a:stretch>
              <a:fillRect/>
            </a:stretch>
          </p:blipFill>
          <p:spPr>
            <a:xfrm>
              <a:off x="818388" y="1275588"/>
              <a:ext cx="3148584" cy="2828531"/>
            </a:xfrm>
            <a:prstGeom prst="rect">
              <a:avLst/>
            </a:prstGeom>
          </p:spPr>
        </p:pic>
        <p:sp>
          <p:nvSpPr>
            <p:cNvPr id="6" name="object 6"/>
            <p:cNvSpPr/>
            <p:nvPr/>
          </p:nvSpPr>
          <p:spPr>
            <a:xfrm>
              <a:off x="3414522" y="2581402"/>
              <a:ext cx="779145" cy="127000"/>
            </a:xfrm>
            <a:custGeom>
              <a:avLst/>
              <a:gdLst/>
              <a:ahLst/>
              <a:cxnLst/>
              <a:rect l="l" t="t" r="r" b="b"/>
              <a:pathLst>
                <a:path w="779145" h="127000">
                  <a:moveTo>
                    <a:pt x="115438" y="38036"/>
                  </a:moveTo>
                  <a:lnTo>
                    <a:pt x="112517" y="76009"/>
                  </a:lnTo>
                  <a:lnTo>
                    <a:pt x="775842" y="126873"/>
                  </a:lnTo>
                  <a:lnTo>
                    <a:pt x="778637" y="88900"/>
                  </a:lnTo>
                  <a:lnTo>
                    <a:pt x="115438" y="38036"/>
                  </a:lnTo>
                  <a:close/>
                </a:path>
                <a:path w="779145" h="127000">
                  <a:moveTo>
                    <a:pt x="118363" y="0"/>
                  </a:moveTo>
                  <a:lnTo>
                    <a:pt x="0" y="48260"/>
                  </a:lnTo>
                  <a:lnTo>
                    <a:pt x="109600" y="113918"/>
                  </a:lnTo>
                  <a:lnTo>
                    <a:pt x="112517" y="76009"/>
                  </a:lnTo>
                  <a:lnTo>
                    <a:pt x="93472" y="74549"/>
                  </a:lnTo>
                  <a:lnTo>
                    <a:pt x="96392" y="36575"/>
                  </a:lnTo>
                  <a:lnTo>
                    <a:pt x="115550" y="36575"/>
                  </a:lnTo>
                  <a:lnTo>
                    <a:pt x="118363" y="0"/>
                  </a:lnTo>
                  <a:close/>
                </a:path>
                <a:path w="779145" h="127000">
                  <a:moveTo>
                    <a:pt x="96392" y="36575"/>
                  </a:moveTo>
                  <a:lnTo>
                    <a:pt x="93472" y="74549"/>
                  </a:lnTo>
                  <a:lnTo>
                    <a:pt x="112517" y="76009"/>
                  </a:lnTo>
                  <a:lnTo>
                    <a:pt x="115438" y="38036"/>
                  </a:lnTo>
                  <a:lnTo>
                    <a:pt x="96392" y="36575"/>
                  </a:lnTo>
                  <a:close/>
                </a:path>
                <a:path w="779145" h="127000">
                  <a:moveTo>
                    <a:pt x="115550" y="36575"/>
                  </a:moveTo>
                  <a:lnTo>
                    <a:pt x="96392" y="36575"/>
                  </a:lnTo>
                  <a:lnTo>
                    <a:pt x="115438" y="38036"/>
                  </a:lnTo>
                  <a:lnTo>
                    <a:pt x="115550" y="36575"/>
                  </a:lnTo>
                  <a:close/>
                </a:path>
              </a:pathLst>
            </a:custGeom>
            <a:solidFill>
              <a:srgbClr val="C5C5C5"/>
            </a:solidFill>
          </p:spPr>
          <p:txBody>
            <a:bodyPr wrap="square" lIns="0" tIns="0" rIns="0" bIns="0" rtlCol="0"/>
            <a:lstStyle/>
            <a:p>
              <a:endParaRPr sz="2400"/>
            </a:p>
          </p:txBody>
        </p:sp>
      </p:grpSp>
      <p:sp>
        <p:nvSpPr>
          <p:cNvPr id="9" name="object 9"/>
          <p:cNvSpPr txBox="1">
            <a:spLocks noGrp="1"/>
          </p:cNvSpPr>
          <p:nvPr>
            <p:ph type="ftr" sz="quarter" idx="5"/>
          </p:nvPr>
        </p:nvSpPr>
        <p:spPr>
          <a:xfrm>
            <a:off x="5527040" y="8503920"/>
            <a:ext cx="5201920" cy="279564"/>
          </a:xfrm>
          <a:prstGeom prst="rect">
            <a:avLst/>
          </a:prstGeom>
        </p:spPr>
        <p:txBody>
          <a:bodyPr vert="horz" wrap="square" lIns="0" tIns="2540" rIns="0" bIns="0" rtlCol="0">
            <a:spAutoFit/>
          </a:bodyPr>
          <a:lstStyle/>
          <a:p>
            <a:pPr marL="16933">
              <a:spcBef>
                <a:spcPts val="20"/>
              </a:spcBef>
            </a:pPr>
            <a:r>
              <a:rPr dirty="0"/>
              <a:t>Hassan</a:t>
            </a:r>
            <a:r>
              <a:rPr spc="-73" dirty="0"/>
              <a:t> </a:t>
            </a:r>
            <a:r>
              <a:rPr spc="-7" dirty="0"/>
              <a:t>EL</a:t>
            </a:r>
            <a:r>
              <a:rPr spc="-60" dirty="0"/>
              <a:t> </a:t>
            </a:r>
            <a:r>
              <a:rPr dirty="0"/>
              <a:t>BAHI</a:t>
            </a:r>
          </a:p>
        </p:txBody>
      </p:sp>
      <p:sp>
        <p:nvSpPr>
          <p:cNvPr id="10" name="object 10"/>
          <p:cNvSpPr txBox="1">
            <a:spLocks noGrp="1"/>
          </p:cNvSpPr>
          <p:nvPr>
            <p:ph type="dt" sz="half" idx="6"/>
          </p:nvPr>
        </p:nvSpPr>
        <p:spPr>
          <a:xfrm>
            <a:off x="812800" y="8503920"/>
            <a:ext cx="3738880" cy="279564"/>
          </a:xfrm>
          <a:prstGeom prst="rect">
            <a:avLst/>
          </a:prstGeom>
        </p:spPr>
        <p:txBody>
          <a:bodyPr vert="horz" wrap="square" lIns="0" tIns="2540" rIns="0" bIns="0" rtlCol="0">
            <a:spAutoFit/>
          </a:bodyPr>
          <a:lstStyle/>
          <a:p>
            <a:pPr marL="16933">
              <a:spcBef>
                <a:spcPts val="20"/>
              </a:spcBef>
            </a:pPr>
            <a:r>
              <a:rPr spc="-7" dirty="0"/>
              <a:t>ISTA</a:t>
            </a:r>
            <a:r>
              <a:rPr spc="-27" dirty="0"/>
              <a:t> </a:t>
            </a:r>
            <a:r>
              <a:rPr spc="-7" dirty="0"/>
              <a:t>OULED</a:t>
            </a:r>
            <a:r>
              <a:rPr spc="-20" dirty="0"/>
              <a:t> </a:t>
            </a:r>
            <a:r>
              <a:rPr spc="-13" dirty="0"/>
              <a:t>TEIMA</a:t>
            </a:r>
          </a:p>
        </p:txBody>
      </p:sp>
      <p:sp>
        <p:nvSpPr>
          <p:cNvPr id="7" name="object 7"/>
          <p:cNvSpPr txBox="1">
            <a:spLocks noGrp="1"/>
          </p:cNvSpPr>
          <p:nvPr>
            <p:ph type="sldNum" sz="quarter" idx="7"/>
          </p:nvPr>
        </p:nvSpPr>
        <p:spPr>
          <a:xfrm>
            <a:off x="11704320" y="8503920"/>
            <a:ext cx="3738880" cy="279564"/>
          </a:xfrm>
          <a:prstGeom prst="rect">
            <a:avLst/>
          </a:prstGeom>
        </p:spPr>
        <p:txBody>
          <a:bodyPr vert="horz" wrap="square" lIns="0" tIns="2540" rIns="0" bIns="0" rtlCol="0">
            <a:spAutoFit/>
          </a:bodyPr>
          <a:lstStyle/>
          <a:p>
            <a:pPr marL="50799">
              <a:spcBef>
                <a:spcPts val="20"/>
              </a:spcBef>
            </a:pPr>
            <a:fld id="{81D60167-4931-47E6-BA6A-407CBD079E47}" type="slidenum">
              <a:rPr dirty="0"/>
              <a:pPr marL="50799">
                <a:spcBef>
                  <a:spcPts val="20"/>
                </a:spcBef>
              </a:pPr>
              <a:t>29</a:t>
            </a:fld>
            <a:endParaRPr dirty="0"/>
          </a:p>
        </p:txBody>
      </p:sp>
    </p:spTree>
    <p:extLst>
      <p:ext uri="{BB962C8B-B14F-4D97-AF65-F5344CB8AC3E}">
        <p14:creationId xmlns:p14="http://schemas.microsoft.com/office/powerpoint/2010/main" val="1571895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734" y="369992"/>
            <a:ext cx="11111653" cy="754908"/>
          </a:xfrm>
          <a:prstGeom prst="rect">
            <a:avLst/>
          </a:prstGeom>
        </p:spPr>
        <p:txBody>
          <a:bodyPr vert="horz" wrap="square" lIns="0" tIns="16087" rIns="0" bIns="0" rtlCol="0">
            <a:spAutoFit/>
          </a:bodyPr>
          <a:lstStyle/>
          <a:p>
            <a:pPr marL="16933">
              <a:spcBef>
                <a:spcPts val="127"/>
              </a:spcBef>
              <a:tabLst>
                <a:tab pos="11093596" algn="l"/>
              </a:tabLst>
            </a:pPr>
            <a:r>
              <a:rPr spc="-20" dirty="0">
                <a:solidFill>
                  <a:srgbClr val="556479"/>
                </a:solidFill>
              </a:rPr>
              <a:t>Les</a:t>
            </a:r>
            <a:r>
              <a:rPr dirty="0">
                <a:solidFill>
                  <a:srgbClr val="556479"/>
                </a:solidFill>
              </a:rPr>
              <a:t> </a:t>
            </a:r>
            <a:r>
              <a:rPr spc="-7" dirty="0"/>
              <a:t>contraintes</a:t>
            </a:r>
            <a:r>
              <a:rPr spc="-13" dirty="0"/>
              <a:t> </a:t>
            </a:r>
            <a:r>
              <a:rPr spc="-7" dirty="0">
                <a:solidFill>
                  <a:srgbClr val="556479"/>
                </a:solidFill>
              </a:rPr>
              <a:t>sur </a:t>
            </a:r>
            <a:r>
              <a:rPr spc="-27" dirty="0">
                <a:solidFill>
                  <a:srgbClr val="556479"/>
                </a:solidFill>
              </a:rPr>
              <a:t>l'association	</a:t>
            </a:r>
          </a:p>
        </p:txBody>
      </p:sp>
      <p:sp>
        <p:nvSpPr>
          <p:cNvPr id="3" name="object 3"/>
          <p:cNvSpPr txBox="1"/>
          <p:nvPr/>
        </p:nvSpPr>
        <p:spPr>
          <a:xfrm>
            <a:off x="8809736" y="2662568"/>
            <a:ext cx="3281680" cy="2139902"/>
          </a:xfrm>
          <a:prstGeom prst="rect">
            <a:avLst/>
          </a:prstGeom>
        </p:spPr>
        <p:txBody>
          <a:bodyPr vert="horz" wrap="square" lIns="0" tIns="16087" rIns="0" bIns="0" rtlCol="0">
            <a:spAutoFit/>
          </a:bodyPr>
          <a:lstStyle/>
          <a:p>
            <a:pPr marL="16933" marR="6773" algn="just">
              <a:lnSpc>
                <a:spcPct val="114999"/>
              </a:lnSpc>
              <a:spcBef>
                <a:spcPts val="127"/>
              </a:spcBef>
            </a:pPr>
            <a:r>
              <a:rPr sz="2400" spc="-100" dirty="0">
                <a:solidFill>
                  <a:srgbClr val="585858"/>
                </a:solidFill>
                <a:latin typeface="Trebuchet MS"/>
                <a:cs typeface="Trebuchet MS"/>
              </a:rPr>
              <a:t>Seules </a:t>
            </a:r>
            <a:r>
              <a:rPr sz="2400" spc="-113" dirty="0">
                <a:solidFill>
                  <a:srgbClr val="585858"/>
                </a:solidFill>
                <a:latin typeface="Trebuchet MS"/>
                <a:cs typeface="Trebuchet MS"/>
              </a:rPr>
              <a:t>les </a:t>
            </a:r>
            <a:r>
              <a:rPr sz="2400" spc="-120" dirty="0">
                <a:solidFill>
                  <a:srgbClr val="585858"/>
                </a:solidFill>
                <a:latin typeface="Trebuchet MS"/>
                <a:cs typeface="Trebuchet MS"/>
              </a:rPr>
              <a:t>personnes </a:t>
            </a:r>
            <a:r>
              <a:rPr sz="2400" spc="-167" dirty="0">
                <a:solidFill>
                  <a:srgbClr val="585858"/>
                </a:solidFill>
                <a:latin typeface="Trebuchet MS"/>
                <a:cs typeface="Trebuchet MS"/>
              </a:rPr>
              <a:t>dont </a:t>
            </a:r>
            <a:r>
              <a:rPr sz="2400" spc="-160" dirty="0">
                <a:solidFill>
                  <a:srgbClr val="585858"/>
                </a:solidFill>
                <a:latin typeface="Trebuchet MS"/>
                <a:cs typeface="Trebuchet MS"/>
              </a:rPr>
              <a:t> </a:t>
            </a:r>
            <a:r>
              <a:rPr sz="2400" spc="-152" dirty="0">
                <a:solidFill>
                  <a:srgbClr val="585858"/>
                </a:solidFill>
                <a:latin typeface="Trebuchet MS"/>
                <a:cs typeface="Trebuchet MS"/>
              </a:rPr>
              <a:t>la</a:t>
            </a:r>
            <a:r>
              <a:rPr sz="2400" spc="-147" dirty="0">
                <a:solidFill>
                  <a:srgbClr val="585858"/>
                </a:solidFill>
                <a:latin typeface="Trebuchet MS"/>
                <a:cs typeface="Trebuchet MS"/>
              </a:rPr>
              <a:t> </a:t>
            </a:r>
            <a:r>
              <a:rPr sz="2400" spc="-193" dirty="0">
                <a:solidFill>
                  <a:srgbClr val="585858"/>
                </a:solidFill>
                <a:latin typeface="Trebuchet MS"/>
                <a:cs typeface="Trebuchet MS"/>
              </a:rPr>
              <a:t>date</a:t>
            </a:r>
            <a:r>
              <a:rPr sz="2400" spc="-187" dirty="0">
                <a:solidFill>
                  <a:srgbClr val="585858"/>
                </a:solidFill>
                <a:latin typeface="Trebuchet MS"/>
                <a:cs typeface="Trebuchet MS"/>
              </a:rPr>
              <a:t> </a:t>
            </a:r>
            <a:r>
              <a:rPr sz="2400" spc="-200" dirty="0">
                <a:solidFill>
                  <a:srgbClr val="585858"/>
                </a:solidFill>
                <a:latin typeface="Trebuchet MS"/>
                <a:cs typeface="Trebuchet MS"/>
              </a:rPr>
              <a:t>de</a:t>
            </a:r>
            <a:r>
              <a:rPr sz="2400" spc="-193" dirty="0">
                <a:solidFill>
                  <a:srgbClr val="585858"/>
                </a:solidFill>
                <a:latin typeface="Trebuchet MS"/>
                <a:cs typeface="Trebuchet MS"/>
              </a:rPr>
              <a:t> </a:t>
            </a:r>
            <a:r>
              <a:rPr sz="2400" spc="-107" dirty="0">
                <a:solidFill>
                  <a:srgbClr val="585858"/>
                </a:solidFill>
                <a:latin typeface="Trebuchet MS"/>
                <a:cs typeface="Trebuchet MS"/>
              </a:rPr>
              <a:t>naissance</a:t>
            </a:r>
            <a:r>
              <a:rPr sz="2400" spc="-100" dirty="0">
                <a:solidFill>
                  <a:srgbClr val="585858"/>
                </a:solidFill>
                <a:latin typeface="Trebuchet MS"/>
                <a:cs typeface="Trebuchet MS"/>
              </a:rPr>
              <a:t> </a:t>
            </a:r>
            <a:r>
              <a:rPr sz="2400" spc="-127" dirty="0">
                <a:solidFill>
                  <a:srgbClr val="585858"/>
                </a:solidFill>
                <a:latin typeface="Trebuchet MS"/>
                <a:cs typeface="Trebuchet MS"/>
              </a:rPr>
              <a:t>est </a:t>
            </a:r>
            <a:r>
              <a:rPr sz="2400" spc="-120" dirty="0">
                <a:solidFill>
                  <a:srgbClr val="585858"/>
                </a:solidFill>
                <a:latin typeface="Trebuchet MS"/>
                <a:cs typeface="Trebuchet MS"/>
              </a:rPr>
              <a:t> </a:t>
            </a:r>
            <a:r>
              <a:rPr sz="2400" spc="-180" dirty="0">
                <a:solidFill>
                  <a:srgbClr val="585858"/>
                </a:solidFill>
                <a:latin typeface="Trebuchet MS"/>
                <a:cs typeface="Trebuchet MS"/>
              </a:rPr>
              <a:t>inférieure</a:t>
            </a:r>
            <a:r>
              <a:rPr sz="2400" spc="-173" dirty="0">
                <a:solidFill>
                  <a:srgbClr val="585858"/>
                </a:solidFill>
                <a:latin typeface="Trebuchet MS"/>
                <a:cs typeface="Trebuchet MS"/>
              </a:rPr>
              <a:t> </a:t>
            </a:r>
            <a:r>
              <a:rPr sz="2400" spc="-147" dirty="0">
                <a:solidFill>
                  <a:srgbClr val="585858"/>
                </a:solidFill>
                <a:latin typeface="Trebuchet MS"/>
                <a:cs typeface="Trebuchet MS"/>
              </a:rPr>
              <a:t>au</a:t>
            </a:r>
            <a:r>
              <a:rPr sz="2400" spc="-140" dirty="0">
                <a:solidFill>
                  <a:srgbClr val="585858"/>
                </a:solidFill>
                <a:latin typeface="Trebuchet MS"/>
                <a:cs typeface="Trebuchet MS"/>
              </a:rPr>
              <a:t> </a:t>
            </a:r>
            <a:r>
              <a:rPr sz="2400" spc="-200" dirty="0">
                <a:solidFill>
                  <a:srgbClr val="585858"/>
                </a:solidFill>
                <a:latin typeface="Trebuchet MS"/>
                <a:cs typeface="Trebuchet MS"/>
              </a:rPr>
              <a:t>premier </a:t>
            </a:r>
            <a:r>
              <a:rPr sz="2400" spc="-707" dirty="0">
                <a:solidFill>
                  <a:srgbClr val="585858"/>
                </a:solidFill>
                <a:latin typeface="Trebuchet MS"/>
                <a:cs typeface="Trebuchet MS"/>
              </a:rPr>
              <a:t> </a:t>
            </a:r>
            <a:r>
              <a:rPr sz="2400" spc="-187" dirty="0">
                <a:solidFill>
                  <a:srgbClr val="585858"/>
                </a:solidFill>
                <a:latin typeface="Trebuchet MS"/>
                <a:cs typeface="Trebuchet MS"/>
              </a:rPr>
              <a:t>janvier</a:t>
            </a:r>
            <a:r>
              <a:rPr sz="2400" spc="-180" dirty="0">
                <a:solidFill>
                  <a:srgbClr val="585858"/>
                </a:solidFill>
                <a:latin typeface="Trebuchet MS"/>
                <a:cs typeface="Trebuchet MS"/>
              </a:rPr>
              <a:t> </a:t>
            </a:r>
            <a:r>
              <a:rPr sz="2400" spc="-93" dirty="0">
                <a:solidFill>
                  <a:srgbClr val="585858"/>
                </a:solidFill>
                <a:latin typeface="Trebuchet MS"/>
                <a:cs typeface="Trebuchet MS"/>
              </a:rPr>
              <a:t>1979 </a:t>
            </a:r>
            <a:r>
              <a:rPr sz="2400" spc="-187" dirty="0">
                <a:solidFill>
                  <a:srgbClr val="585858"/>
                </a:solidFill>
                <a:latin typeface="Trebuchet MS"/>
                <a:cs typeface="Trebuchet MS"/>
              </a:rPr>
              <a:t>peuvent</a:t>
            </a:r>
            <a:r>
              <a:rPr sz="2400" spc="-180" dirty="0">
                <a:solidFill>
                  <a:srgbClr val="585858"/>
                </a:solidFill>
                <a:latin typeface="Trebuchet MS"/>
                <a:cs typeface="Trebuchet MS"/>
              </a:rPr>
              <a:t> </a:t>
            </a:r>
            <a:r>
              <a:rPr sz="2400" spc="-220" dirty="0">
                <a:solidFill>
                  <a:srgbClr val="585858"/>
                </a:solidFill>
                <a:latin typeface="Trebuchet MS"/>
                <a:cs typeface="Trebuchet MS"/>
              </a:rPr>
              <a:t>être </a:t>
            </a:r>
            <a:r>
              <a:rPr sz="2400" spc="-213" dirty="0">
                <a:solidFill>
                  <a:srgbClr val="585858"/>
                </a:solidFill>
                <a:latin typeface="Trebuchet MS"/>
                <a:cs typeface="Trebuchet MS"/>
              </a:rPr>
              <a:t> </a:t>
            </a:r>
            <a:r>
              <a:rPr sz="2400" spc="-127" dirty="0">
                <a:solidFill>
                  <a:srgbClr val="585858"/>
                </a:solidFill>
                <a:latin typeface="Trebuchet MS"/>
                <a:cs typeface="Trebuchet MS"/>
              </a:rPr>
              <a:t>conscrit</a:t>
            </a:r>
            <a:endParaRPr sz="2400" dirty="0">
              <a:latin typeface="Trebuchet MS"/>
              <a:cs typeface="Trebuchet MS"/>
            </a:endParaRPr>
          </a:p>
        </p:txBody>
      </p:sp>
      <p:grpSp>
        <p:nvGrpSpPr>
          <p:cNvPr id="4" name="object 4"/>
          <p:cNvGrpSpPr/>
          <p:nvPr/>
        </p:nvGrpSpPr>
        <p:grpSpPr>
          <a:xfrm>
            <a:off x="2696048" y="1350875"/>
            <a:ext cx="6910493" cy="4751493"/>
            <a:chOff x="2022036" y="1013156"/>
            <a:chExt cx="5182870" cy="3563620"/>
          </a:xfrm>
        </p:grpSpPr>
        <p:pic>
          <p:nvPicPr>
            <p:cNvPr id="5" name="object 5"/>
            <p:cNvPicPr/>
            <p:nvPr/>
          </p:nvPicPr>
          <p:blipFill>
            <a:blip r:embed="rId2" cstate="print"/>
            <a:stretch>
              <a:fillRect/>
            </a:stretch>
          </p:blipFill>
          <p:spPr>
            <a:xfrm>
              <a:off x="2022036" y="1013156"/>
              <a:ext cx="4576398" cy="3563171"/>
            </a:xfrm>
            <a:prstGeom prst="rect">
              <a:avLst/>
            </a:prstGeom>
          </p:spPr>
        </p:pic>
        <p:sp>
          <p:nvSpPr>
            <p:cNvPr id="6" name="object 6"/>
            <p:cNvSpPr/>
            <p:nvPr/>
          </p:nvSpPr>
          <p:spPr>
            <a:xfrm>
              <a:off x="6611874" y="1314449"/>
              <a:ext cx="593090" cy="630555"/>
            </a:xfrm>
            <a:custGeom>
              <a:avLst/>
              <a:gdLst/>
              <a:ahLst/>
              <a:cxnLst/>
              <a:rect l="l" t="t" r="r" b="b"/>
              <a:pathLst>
                <a:path w="593090" h="630555">
                  <a:moveTo>
                    <a:pt x="92132" y="70258"/>
                  </a:moveTo>
                  <a:lnTo>
                    <a:pt x="64299" y="96395"/>
                  </a:lnTo>
                  <a:lnTo>
                    <a:pt x="565276" y="630301"/>
                  </a:lnTo>
                  <a:lnTo>
                    <a:pt x="592962" y="604138"/>
                  </a:lnTo>
                  <a:lnTo>
                    <a:pt x="92132" y="70258"/>
                  </a:lnTo>
                  <a:close/>
                </a:path>
                <a:path w="593090" h="630555">
                  <a:moveTo>
                    <a:pt x="0" y="0"/>
                  </a:moveTo>
                  <a:lnTo>
                    <a:pt x="36575" y="122427"/>
                  </a:lnTo>
                  <a:lnTo>
                    <a:pt x="64299" y="96395"/>
                  </a:lnTo>
                  <a:lnTo>
                    <a:pt x="51307" y="82550"/>
                  </a:lnTo>
                  <a:lnTo>
                    <a:pt x="79121" y="56387"/>
                  </a:lnTo>
                  <a:lnTo>
                    <a:pt x="106904" y="56387"/>
                  </a:lnTo>
                  <a:lnTo>
                    <a:pt x="119887" y="44196"/>
                  </a:lnTo>
                  <a:lnTo>
                    <a:pt x="0" y="0"/>
                  </a:lnTo>
                  <a:close/>
                </a:path>
                <a:path w="593090" h="630555">
                  <a:moveTo>
                    <a:pt x="79121" y="56387"/>
                  </a:moveTo>
                  <a:lnTo>
                    <a:pt x="51307" y="82550"/>
                  </a:lnTo>
                  <a:lnTo>
                    <a:pt x="64299" y="96395"/>
                  </a:lnTo>
                  <a:lnTo>
                    <a:pt x="92132" y="70258"/>
                  </a:lnTo>
                  <a:lnTo>
                    <a:pt x="79121" y="56387"/>
                  </a:lnTo>
                  <a:close/>
                </a:path>
                <a:path w="593090" h="630555">
                  <a:moveTo>
                    <a:pt x="106904" y="56387"/>
                  </a:moveTo>
                  <a:lnTo>
                    <a:pt x="79121" y="56387"/>
                  </a:lnTo>
                  <a:lnTo>
                    <a:pt x="92132" y="70258"/>
                  </a:lnTo>
                  <a:lnTo>
                    <a:pt x="106904" y="56387"/>
                  </a:lnTo>
                  <a:close/>
                </a:path>
              </a:pathLst>
            </a:custGeom>
            <a:solidFill>
              <a:srgbClr val="C5C5C5"/>
            </a:solidFill>
          </p:spPr>
          <p:txBody>
            <a:bodyPr wrap="square" lIns="0" tIns="0" rIns="0" bIns="0" rtlCol="0"/>
            <a:lstStyle/>
            <a:p>
              <a:endParaRPr sz="2400"/>
            </a:p>
          </p:txBody>
        </p:sp>
      </p:grpSp>
      <p:sp>
        <p:nvSpPr>
          <p:cNvPr id="7" name="object 7"/>
          <p:cNvSpPr txBox="1"/>
          <p:nvPr/>
        </p:nvSpPr>
        <p:spPr>
          <a:xfrm>
            <a:off x="257385" y="4357623"/>
            <a:ext cx="2203027" cy="1291293"/>
          </a:xfrm>
          <a:prstGeom prst="rect">
            <a:avLst/>
          </a:prstGeom>
        </p:spPr>
        <p:txBody>
          <a:bodyPr vert="horz" wrap="square" lIns="0" tIns="16933" rIns="0" bIns="0" rtlCol="0">
            <a:spAutoFit/>
          </a:bodyPr>
          <a:lstStyle/>
          <a:p>
            <a:pPr marL="16933" marR="6773" algn="just">
              <a:lnSpc>
                <a:spcPct val="114999"/>
              </a:lnSpc>
              <a:spcBef>
                <a:spcPts val="133"/>
              </a:spcBef>
            </a:pPr>
            <a:r>
              <a:rPr sz="2400" spc="-100" dirty="0">
                <a:solidFill>
                  <a:srgbClr val="585858"/>
                </a:solidFill>
                <a:latin typeface="Trebuchet MS"/>
                <a:cs typeface="Trebuchet MS"/>
              </a:rPr>
              <a:t>Le</a:t>
            </a:r>
            <a:r>
              <a:rPr sz="2400" spc="-73" dirty="0">
                <a:solidFill>
                  <a:srgbClr val="585858"/>
                </a:solidFill>
                <a:latin typeface="Trebuchet MS"/>
                <a:cs typeface="Trebuchet MS"/>
              </a:rPr>
              <a:t>s</a:t>
            </a:r>
            <a:r>
              <a:rPr sz="2400" spc="-147" dirty="0">
                <a:solidFill>
                  <a:srgbClr val="585858"/>
                </a:solidFill>
                <a:latin typeface="Trebuchet MS"/>
                <a:cs typeface="Trebuchet MS"/>
              </a:rPr>
              <a:t> </a:t>
            </a:r>
            <a:r>
              <a:rPr sz="2400" spc="-140" dirty="0">
                <a:solidFill>
                  <a:srgbClr val="585858"/>
                </a:solidFill>
                <a:latin typeface="Trebuchet MS"/>
                <a:cs typeface="Trebuchet MS"/>
              </a:rPr>
              <a:t>gé</a:t>
            </a:r>
            <a:r>
              <a:rPr sz="2400" spc="-152" dirty="0">
                <a:solidFill>
                  <a:srgbClr val="585858"/>
                </a:solidFill>
                <a:latin typeface="Trebuchet MS"/>
                <a:cs typeface="Trebuchet MS"/>
              </a:rPr>
              <a:t>n</a:t>
            </a:r>
            <a:r>
              <a:rPr sz="2400" spc="-247" dirty="0">
                <a:solidFill>
                  <a:srgbClr val="585858"/>
                </a:solidFill>
                <a:latin typeface="Trebuchet MS"/>
                <a:cs typeface="Trebuchet MS"/>
              </a:rPr>
              <a:t>é</a:t>
            </a:r>
            <a:r>
              <a:rPr sz="2400" spc="-187" dirty="0">
                <a:solidFill>
                  <a:srgbClr val="585858"/>
                </a:solidFill>
                <a:latin typeface="Trebuchet MS"/>
                <a:cs typeface="Trebuchet MS"/>
              </a:rPr>
              <a:t>r</a:t>
            </a:r>
            <a:r>
              <a:rPr sz="2400" spc="-160" dirty="0">
                <a:solidFill>
                  <a:srgbClr val="585858"/>
                </a:solidFill>
                <a:latin typeface="Trebuchet MS"/>
                <a:cs typeface="Trebuchet MS"/>
              </a:rPr>
              <a:t>au</a:t>
            </a:r>
            <a:r>
              <a:rPr sz="2400" spc="-147" dirty="0">
                <a:solidFill>
                  <a:srgbClr val="585858"/>
                </a:solidFill>
                <a:latin typeface="Trebuchet MS"/>
                <a:cs typeface="Trebuchet MS"/>
              </a:rPr>
              <a:t>x </a:t>
            </a:r>
            <a:r>
              <a:rPr sz="2400" spc="-100" dirty="0">
                <a:solidFill>
                  <a:srgbClr val="585858"/>
                </a:solidFill>
                <a:latin typeface="Trebuchet MS"/>
                <a:cs typeface="Trebuchet MS"/>
              </a:rPr>
              <a:t>sont  </a:t>
            </a:r>
            <a:r>
              <a:rPr sz="2400" spc="-147" dirty="0">
                <a:solidFill>
                  <a:srgbClr val="585858"/>
                </a:solidFill>
                <a:latin typeface="Trebuchet MS"/>
                <a:cs typeface="Trebuchet MS"/>
              </a:rPr>
              <a:t>un</a:t>
            </a:r>
            <a:r>
              <a:rPr sz="2400" spc="-67" dirty="0">
                <a:solidFill>
                  <a:srgbClr val="585858"/>
                </a:solidFill>
                <a:latin typeface="Trebuchet MS"/>
                <a:cs typeface="Trebuchet MS"/>
              </a:rPr>
              <a:t> </a:t>
            </a:r>
            <a:r>
              <a:rPr sz="2400" spc="-40" dirty="0">
                <a:solidFill>
                  <a:srgbClr val="585858"/>
                </a:solidFill>
                <a:latin typeface="Trebuchet MS"/>
                <a:cs typeface="Trebuchet MS"/>
              </a:rPr>
              <a:t>sous</a:t>
            </a:r>
            <a:r>
              <a:rPr sz="2400" spc="-187" dirty="0">
                <a:solidFill>
                  <a:srgbClr val="585858"/>
                </a:solidFill>
                <a:latin typeface="Trebuchet MS"/>
                <a:cs typeface="Trebuchet MS"/>
              </a:rPr>
              <a:t>-</a:t>
            </a:r>
            <a:r>
              <a:rPr sz="2400" spc="-173" dirty="0">
                <a:solidFill>
                  <a:srgbClr val="585858"/>
                </a:solidFill>
                <a:latin typeface="Trebuchet MS"/>
                <a:cs typeface="Trebuchet MS"/>
              </a:rPr>
              <a:t>ensemb</a:t>
            </a:r>
            <a:r>
              <a:rPr sz="2400" spc="-107" dirty="0">
                <a:solidFill>
                  <a:srgbClr val="585858"/>
                </a:solidFill>
                <a:latin typeface="Trebuchet MS"/>
                <a:cs typeface="Trebuchet MS"/>
              </a:rPr>
              <a:t>l</a:t>
            </a:r>
            <a:r>
              <a:rPr sz="2400" spc="-160" dirty="0">
                <a:solidFill>
                  <a:srgbClr val="585858"/>
                </a:solidFill>
                <a:latin typeface="Trebuchet MS"/>
                <a:cs typeface="Trebuchet MS"/>
              </a:rPr>
              <a:t>e  </a:t>
            </a:r>
            <a:r>
              <a:rPr sz="2400" spc="-107" dirty="0">
                <a:solidFill>
                  <a:srgbClr val="585858"/>
                </a:solidFill>
                <a:latin typeface="Trebuchet MS"/>
                <a:cs typeface="Trebuchet MS"/>
              </a:rPr>
              <a:t>des</a:t>
            </a:r>
            <a:r>
              <a:rPr sz="2400" spc="-200" dirty="0">
                <a:solidFill>
                  <a:srgbClr val="585858"/>
                </a:solidFill>
                <a:latin typeface="Trebuchet MS"/>
                <a:cs typeface="Trebuchet MS"/>
              </a:rPr>
              <a:t> </a:t>
            </a:r>
            <a:r>
              <a:rPr sz="2400" spc="-173" dirty="0">
                <a:solidFill>
                  <a:srgbClr val="585858"/>
                </a:solidFill>
                <a:latin typeface="Trebuchet MS"/>
                <a:cs typeface="Trebuchet MS"/>
              </a:rPr>
              <a:t>mil</a:t>
            </a:r>
            <a:r>
              <a:rPr sz="2400" spc="-180" dirty="0">
                <a:solidFill>
                  <a:srgbClr val="585858"/>
                </a:solidFill>
                <a:latin typeface="Trebuchet MS"/>
                <a:cs typeface="Trebuchet MS"/>
              </a:rPr>
              <a:t>ita</a:t>
            </a:r>
            <a:r>
              <a:rPr sz="2400" spc="-140" dirty="0">
                <a:solidFill>
                  <a:srgbClr val="585858"/>
                </a:solidFill>
                <a:latin typeface="Trebuchet MS"/>
                <a:cs typeface="Trebuchet MS"/>
              </a:rPr>
              <a:t>i</a:t>
            </a:r>
            <a:r>
              <a:rPr sz="2400" spc="-180" dirty="0">
                <a:solidFill>
                  <a:srgbClr val="585858"/>
                </a:solidFill>
                <a:latin typeface="Trebuchet MS"/>
                <a:cs typeface="Trebuchet MS"/>
              </a:rPr>
              <a:t>r</a:t>
            </a:r>
            <a:r>
              <a:rPr sz="2400" spc="-253" dirty="0">
                <a:solidFill>
                  <a:srgbClr val="585858"/>
                </a:solidFill>
                <a:latin typeface="Trebuchet MS"/>
                <a:cs typeface="Trebuchet MS"/>
              </a:rPr>
              <a:t>e</a:t>
            </a:r>
            <a:r>
              <a:rPr sz="2400" spc="67" dirty="0">
                <a:solidFill>
                  <a:srgbClr val="585858"/>
                </a:solidFill>
                <a:latin typeface="Trebuchet MS"/>
                <a:cs typeface="Trebuchet MS"/>
              </a:rPr>
              <a:t>s</a:t>
            </a:r>
            <a:endParaRPr sz="2400">
              <a:latin typeface="Trebuchet MS"/>
              <a:cs typeface="Trebuchet MS"/>
            </a:endParaRPr>
          </a:p>
        </p:txBody>
      </p:sp>
      <p:sp>
        <p:nvSpPr>
          <p:cNvPr id="8" name="object 8"/>
          <p:cNvSpPr/>
          <p:nvPr/>
        </p:nvSpPr>
        <p:spPr>
          <a:xfrm>
            <a:off x="1872997" y="3548888"/>
            <a:ext cx="783167" cy="767080"/>
          </a:xfrm>
          <a:custGeom>
            <a:avLst/>
            <a:gdLst/>
            <a:ahLst/>
            <a:cxnLst/>
            <a:rect l="l" t="t" r="r" b="b"/>
            <a:pathLst>
              <a:path w="587375" h="575310">
                <a:moveTo>
                  <a:pt x="491876" y="66385"/>
                </a:moveTo>
                <a:lnTo>
                  <a:pt x="0" y="548004"/>
                </a:lnTo>
                <a:lnTo>
                  <a:pt x="26669" y="575309"/>
                </a:lnTo>
                <a:lnTo>
                  <a:pt x="518505" y="93607"/>
                </a:lnTo>
                <a:lnTo>
                  <a:pt x="491876" y="66385"/>
                </a:lnTo>
                <a:close/>
              </a:path>
              <a:path w="587375" h="575310">
                <a:moveTo>
                  <a:pt x="568501" y="53085"/>
                </a:moveTo>
                <a:lnTo>
                  <a:pt x="505459" y="53085"/>
                </a:lnTo>
                <a:lnTo>
                  <a:pt x="532129" y="80263"/>
                </a:lnTo>
                <a:lnTo>
                  <a:pt x="518505" y="93607"/>
                </a:lnTo>
                <a:lnTo>
                  <a:pt x="545084" y="120776"/>
                </a:lnTo>
                <a:lnTo>
                  <a:pt x="568501" y="53085"/>
                </a:lnTo>
                <a:close/>
              </a:path>
              <a:path w="587375" h="575310">
                <a:moveTo>
                  <a:pt x="505459" y="53085"/>
                </a:moveTo>
                <a:lnTo>
                  <a:pt x="491876" y="66385"/>
                </a:lnTo>
                <a:lnTo>
                  <a:pt x="518505" y="93607"/>
                </a:lnTo>
                <a:lnTo>
                  <a:pt x="532129" y="80263"/>
                </a:lnTo>
                <a:lnTo>
                  <a:pt x="505459" y="53085"/>
                </a:lnTo>
                <a:close/>
              </a:path>
              <a:path w="587375" h="575310">
                <a:moveTo>
                  <a:pt x="586866" y="0"/>
                </a:moveTo>
                <a:lnTo>
                  <a:pt x="465201" y="39115"/>
                </a:lnTo>
                <a:lnTo>
                  <a:pt x="491876" y="66385"/>
                </a:lnTo>
                <a:lnTo>
                  <a:pt x="505459" y="53085"/>
                </a:lnTo>
                <a:lnTo>
                  <a:pt x="568501" y="53085"/>
                </a:lnTo>
                <a:lnTo>
                  <a:pt x="586866" y="0"/>
                </a:lnTo>
                <a:close/>
              </a:path>
            </a:pathLst>
          </a:custGeom>
          <a:solidFill>
            <a:srgbClr val="C5C5C5"/>
          </a:solidFill>
        </p:spPr>
        <p:txBody>
          <a:bodyPr wrap="square" lIns="0" tIns="0" rIns="0" bIns="0" rtlCol="0"/>
          <a:lstStyle/>
          <a:p>
            <a:endParaRPr sz="2400"/>
          </a:p>
        </p:txBody>
      </p:sp>
    </p:spTree>
    <p:extLst>
      <p:ext uri="{BB962C8B-B14F-4D97-AF65-F5344CB8AC3E}">
        <p14:creationId xmlns:p14="http://schemas.microsoft.com/office/powerpoint/2010/main" val="1712759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7269E039-4B56-056A-4F3B-39150CB75155}"/>
              </a:ext>
            </a:extLst>
          </p:cNvPr>
          <p:cNvSpPr txBox="1"/>
          <p:nvPr/>
        </p:nvSpPr>
        <p:spPr>
          <a:xfrm>
            <a:off x="304800" y="-76200"/>
            <a:ext cx="11734800" cy="7305718"/>
          </a:xfrm>
          <a:prstGeom prst="rect">
            <a:avLst/>
          </a:prstGeom>
          <a:noFill/>
        </p:spPr>
        <p:txBody>
          <a:bodyPr wrap="square">
            <a:spAutoFit/>
          </a:bodyPr>
          <a:lstStyle/>
          <a:p>
            <a:pPr>
              <a:lnSpc>
                <a:spcPct val="107000"/>
              </a:lnSpc>
              <a:spcAft>
                <a:spcPts val="800"/>
              </a:spcAft>
            </a:pPr>
            <a:r>
              <a:rPr lang="fr-FR" sz="2300" b="1" u="sng" dirty="0">
                <a:solidFill>
                  <a:schemeClr val="bg2">
                    <a:lumMod val="10000"/>
                  </a:schemeClr>
                </a:solidFill>
                <a:effectLst/>
                <a:ea typeface="Calibri" panose="020F0502020204030204" pitchFamily="34" charset="0"/>
                <a:cs typeface="Times New Roman" panose="02020603050405020304" pitchFamily="18" charset="0"/>
              </a:rPr>
              <a:t>Exercice 1 : </a:t>
            </a:r>
            <a:r>
              <a:rPr lang="fr-FR" sz="2300" u="sng" dirty="0">
                <a:solidFill>
                  <a:schemeClr val="bg2">
                    <a:lumMod val="10000"/>
                  </a:schemeClr>
                </a:solidFill>
                <a:ea typeface="Calibri" panose="020F0502020204030204" pitchFamily="34" charset="0"/>
                <a:cs typeface="Arial" panose="020B0604020202020204" pitchFamily="34" charset="0"/>
              </a:rPr>
              <a:t>Gestion d'une équipe de football</a:t>
            </a:r>
            <a:endParaRPr lang="fr-FR" sz="2300" dirty="0">
              <a:solidFill>
                <a:schemeClr val="bg2">
                  <a:lumMod val="10000"/>
                </a:schemeClr>
              </a:solidFill>
              <a:ea typeface="Calibri" panose="020F0502020204030204" pitchFamily="34" charset="0"/>
              <a:cs typeface="Arial" panose="020B0604020202020204" pitchFamily="34" charset="0"/>
            </a:endParaRPr>
          </a:p>
          <a:p>
            <a:pPr algn="just">
              <a:lnSpc>
                <a:spcPct val="107000"/>
              </a:lnSpc>
              <a:spcAft>
                <a:spcPts val="800"/>
              </a:spcAft>
              <a:buNone/>
            </a:pPr>
            <a:r>
              <a:rPr lang="fr-FR" sz="2300" dirty="0">
                <a:solidFill>
                  <a:schemeClr val="bg2">
                    <a:lumMod val="10000"/>
                  </a:schemeClr>
                </a:solidFill>
                <a:effectLst/>
                <a:ea typeface="Calibri" panose="020F0502020204030204" pitchFamily="34" charset="0"/>
                <a:cs typeface="Arial" panose="020B0604020202020204" pitchFamily="34" charset="0"/>
              </a:rPr>
              <a:t>L'administration d'un club de football souhaite gérer son équipe. L'équipe de football est caractérisée par son nom, le nom de la ville qu'elle représente, le nombre de matchs joués, et le nombre de matchs gagnés pendant le championnat national.</a:t>
            </a:r>
          </a:p>
          <a:p>
            <a:pPr algn="just">
              <a:lnSpc>
                <a:spcPct val="107000"/>
              </a:lnSpc>
              <a:spcAft>
                <a:spcPts val="800"/>
              </a:spcAft>
              <a:buNone/>
            </a:pPr>
            <a:r>
              <a:rPr lang="fr-FR" sz="2300" dirty="0">
                <a:solidFill>
                  <a:schemeClr val="bg2">
                    <a:lumMod val="10000"/>
                  </a:schemeClr>
                </a:solidFill>
                <a:effectLst/>
                <a:ea typeface="Calibri" panose="020F0502020204030204" pitchFamily="34" charset="0"/>
                <a:cs typeface="Arial" panose="020B0604020202020204" pitchFamily="34" charset="0"/>
              </a:rPr>
              <a:t>L'équipe de football est formée d'un total de vingt-cinq joueurs .Chaque joueur est caractérisé par son nom complet, sa date de naissance, sa position sur le terrain, et une indication sur le fait qu'il est en réserve ou non. Chaque joueur touche une prime mensuelle calculée automatiquement à partir du nombre de matchs joués, du nombre de matchs gagnés par l'équipe pendant le championnat national, et du fait qu'il est en réserve ou </a:t>
            </a:r>
            <a:r>
              <a:rPr lang="fr-FR" sz="2300" dirty="0" err="1">
                <a:solidFill>
                  <a:schemeClr val="bg2">
                    <a:lumMod val="10000"/>
                  </a:schemeClr>
                </a:solidFill>
                <a:effectLst/>
                <a:ea typeface="Calibri" panose="020F0502020204030204" pitchFamily="34" charset="0"/>
                <a:cs typeface="Arial" panose="020B0604020202020204" pitchFamily="34" charset="0"/>
              </a:rPr>
              <a:t>поп</a:t>
            </a:r>
            <a:r>
              <a:rPr lang="fr-FR" sz="2300" dirty="0">
                <a:solidFill>
                  <a:schemeClr val="bg2">
                    <a:lumMod val="10000"/>
                  </a:schemeClr>
                </a:solidFill>
                <a:effectLst/>
                <a:ea typeface="Calibri" panose="020F0502020204030204" pitchFamily="34" charset="0"/>
                <a:cs typeface="Arial" panose="020B0604020202020204" pitchFamily="34" charset="0"/>
              </a:rPr>
              <a:t>.</a:t>
            </a:r>
          </a:p>
          <a:p>
            <a:pPr algn="just">
              <a:lnSpc>
                <a:spcPct val="107000"/>
              </a:lnSpc>
              <a:spcAft>
                <a:spcPts val="800"/>
              </a:spcAft>
              <a:buNone/>
            </a:pPr>
            <a:r>
              <a:rPr lang="fr-FR" sz="2300" dirty="0">
                <a:solidFill>
                  <a:schemeClr val="bg2">
                    <a:lumMod val="10000"/>
                  </a:schemeClr>
                </a:solidFill>
                <a:effectLst/>
                <a:ea typeface="Calibri" panose="020F0502020204030204" pitchFamily="34" charset="0"/>
                <a:cs typeface="Arial" panose="020B0604020202020204" pitchFamily="34" charset="0"/>
              </a:rPr>
              <a:t>Le capitaine de l'équipe est un joueur bien expérimenté. La caractéristique la plus importante pour ce joueur est le nombre de matchs qu'il a joué dans sa carrière. Le calcul de la prime mensuelle du capitaine de l'équipe tient compte du nombre de matchs qu'il a joués aussi.</a:t>
            </a:r>
          </a:p>
          <a:p>
            <a:pPr algn="just">
              <a:lnSpc>
                <a:spcPct val="107000"/>
              </a:lnSpc>
              <a:spcAft>
                <a:spcPts val="800"/>
              </a:spcAft>
              <a:buNone/>
            </a:pPr>
            <a:r>
              <a:rPr lang="fr-FR" sz="2300" dirty="0">
                <a:solidFill>
                  <a:schemeClr val="bg2">
                    <a:lumMod val="10000"/>
                  </a:schemeClr>
                </a:solidFill>
                <a:effectLst/>
                <a:ea typeface="Calibri" panose="020F0502020204030204" pitchFamily="34" charset="0"/>
                <a:cs typeface="Arial" panose="020B0604020202020204" pitchFamily="34" charset="0"/>
              </a:rPr>
              <a:t>L'équipe est entraînée par un entraîneur. L'entraîneur est caractérisé par son nom complet, la date de début de son contrat avec l'équipe, le nombre d'années du contrat, et sa prime annuelle. La date de fin du contrat est estimée automatiquement.</a:t>
            </a:r>
          </a:p>
          <a:p>
            <a:pPr algn="just">
              <a:lnSpc>
                <a:spcPct val="107000"/>
              </a:lnSpc>
              <a:spcAft>
                <a:spcPts val="800"/>
              </a:spcAft>
              <a:buNone/>
            </a:pPr>
            <a:r>
              <a:rPr lang="fr-FR" sz="2300" dirty="0">
                <a:solidFill>
                  <a:schemeClr val="bg2">
                    <a:lumMod val="10000"/>
                  </a:schemeClr>
                </a:solidFill>
                <a:effectLst/>
                <a:ea typeface="Calibri" panose="020F0502020204030204" pitchFamily="34" charset="0"/>
                <a:cs typeface="Arial" panose="020B0604020202020204" pitchFamily="34" charset="0"/>
              </a:rPr>
              <a:t>Établir le diagramme de classes permettant de gérer les données de cette équipe. Toutes les variables d'instance doivent être privées, et toutes les méthodes doivent être publiques.</a:t>
            </a:r>
          </a:p>
        </p:txBody>
      </p:sp>
    </p:spTree>
    <p:extLst>
      <p:ext uri="{BB962C8B-B14F-4D97-AF65-F5344CB8AC3E}">
        <p14:creationId xmlns:p14="http://schemas.microsoft.com/office/powerpoint/2010/main" val="1492214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1" y="120698"/>
            <a:ext cx="11887200" cy="5857501"/>
          </a:xfrm>
          <a:prstGeom prst="rect">
            <a:avLst/>
          </a:prstGeom>
        </p:spPr>
        <p:txBody>
          <a:bodyPr vert="horz" wrap="square" lIns="0" tIns="12700" rIns="0" bIns="0" rtlCol="0">
            <a:spAutoFit/>
          </a:bodyPr>
          <a:lstStyle/>
          <a:p>
            <a:pPr rtl="0"/>
            <a:r>
              <a:rPr lang="fr-FR" sz="2500" b="1" u="sng" dirty="0">
                <a:solidFill>
                  <a:schemeClr val="bg2">
                    <a:lumMod val="10000"/>
                  </a:schemeClr>
                </a:solidFill>
              </a:rPr>
              <a:t>Exercice 2 :Gestion d'un club de lecture</a:t>
            </a:r>
            <a:br>
              <a:rPr lang="fr-FR" sz="2500" b="1" dirty="0">
                <a:solidFill>
                  <a:schemeClr val="bg2">
                    <a:lumMod val="10000"/>
                  </a:schemeClr>
                </a:solidFill>
              </a:rPr>
            </a:br>
            <a:r>
              <a:rPr lang="fr-FR" sz="2500" b="1" dirty="0">
                <a:solidFill>
                  <a:schemeClr val="bg2">
                    <a:lumMod val="10000"/>
                  </a:schemeClr>
                </a:solidFill>
              </a:rPr>
              <a:t> </a:t>
            </a:r>
            <a:br>
              <a:rPr lang="fr-FR" sz="2500" b="1" dirty="0">
                <a:solidFill>
                  <a:schemeClr val="bg2">
                    <a:lumMod val="10000"/>
                  </a:schemeClr>
                </a:solidFill>
              </a:rPr>
            </a:br>
            <a:r>
              <a:rPr lang="fr-FR" sz="2500" b="1" dirty="0">
                <a:solidFill>
                  <a:schemeClr val="bg2">
                    <a:lumMod val="10000"/>
                  </a:schemeClr>
                </a:solidFill>
              </a:rPr>
              <a:t>Un établissement de formation professionnelle souhaite développer une application permettant de gérer son club de lecture. Le club est constitué de membres (des stagiaires) et a un directeur (un stagiaire). Il possède des livres offerts par des personnes physiques (les membres du club et les autres stagiaires de l'établissement) ou morales (les librairies).</a:t>
            </a:r>
            <a:br>
              <a:rPr lang="fr-FR" sz="2500" b="1" dirty="0">
                <a:solidFill>
                  <a:schemeClr val="bg2">
                    <a:lumMod val="10000"/>
                  </a:schemeClr>
                </a:solidFill>
              </a:rPr>
            </a:br>
            <a:r>
              <a:rPr lang="fr-FR" sz="2500" b="1" dirty="0">
                <a:solidFill>
                  <a:schemeClr val="bg2">
                    <a:lumMod val="10000"/>
                  </a:schemeClr>
                </a:solidFill>
              </a:rPr>
              <a:t>On note pour chaque personne le nom. On ajoute pour les stagiaires le numéro d'inscription, et l'adresse pour les librairies. Les livres sont loués aux stagiaires (membres ou pas) de l'établissement à un prix fixe. On note également la date de location.</a:t>
            </a:r>
            <a:br>
              <a:rPr lang="fr-FR" sz="2500" b="1" dirty="0">
                <a:solidFill>
                  <a:schemeClr val="bg2">
                    <a:lumMod val="10000"/>
                  </a:schemeClr>
                </a:solidFill>
              </a:rPr>
            </a:br>
            <a:r>
              <a:rPr lang="fr-FR" sz="2500" b="1" dirty="0">
                <a:solidFill>
                  <a:schemeClr val="bg2">
                    <a:lumMod val="10000"/>
                  </a:schemeClr>
                </a:solidFill>
              </a:rPr>
              <a:t>Le livre est caractérisé par un numéro unique (appelé ISBN), un titre et un genre. Le club anime des séances de discussion au profit des membres. On note pour la séance le livre concerné, les membres présents, la date de réalisation, l'heure de début et la durée.</a:t>
            </a:r>
            <a:br>
              <a:rPr lang="fr-FR" sz="2500" b="1" dirty="0">
                <a:solidFill>
                  <a:schemeClr val="bg2">
                    <a:lumMod val="10000"/>
                  </a:schemeClr>
                </a:solidFill>
              </a:rPr>
            </a:br>
            <a:r>
              <a:rPr lang="fr-FR" sz="2500" b="1" dirty="0">
                <a:solidFill>
                  <a:schemeClr val="bg2">
                    <a:lumMod val="10000"/>
                  </a:schemeClr>
                </a:solidFill>
              </a:rPr>
              <a:t>Le directeur et les membres se connectent à l'application moyennant un email et un mot de passe. Le directeur du club peut gérer les membres, les livres et les séances de discussion. Les membres peuvent consulter les détails des séances de discussion. Les stagiaires (les membres du club sont inclus) de l'établissement peuvent consulter les livres.</a:t>
            </a:r>
            <a:br>
              <a:rPr lang="fr-FR" sz="2200" dirty="0"/>
            </a:br>
            <a:endParaRPr sz="2200" spc="-95" dirty="0"/>
          </a:p>
        </p:txBody>
      </p:sp>
    </p:spTree>
    <p:extLst>
      <p:ext uri="{BB962C8B-B14F-4D97-AF65-F5344CB8AC3E}">
        <p14:creationId xmlns:p14="http://schemas.microsoft.com/office/powerpoint/2010/main" val="1721540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dt" sz="half" idx="10"/>
          </p:nvPr>
        </p:nvSpPr>
        <p:spPr>
          <a:xfrm>
            <a:off x="812800" y="8503920"/>
            <a:ext cx="3738880" cy="279564"/>
          </a:xfrm>
          <a:prstGeom prst="rect">
            <a:avLst/>
          </a:prstGeom>
        </p:spPr>
        <p:txBody>
          <a:bodyPr vert="horz" wrap="square" lIns="0" tIns="2540" rIns="0" bIns="0" rtlCol="0">
            <a:spAutoFit/>
          </a:bodyPr>
          <a:lstStyle/>
          <a:p>
            <a:pPr marL="16933">
              <a:spcBef>
                <a:spcPts val="20"/>
              </a:spcBef>
            </a:pPr>
            <a:r>
              <a:rPr spc="-7" dirty="0"/>
              <a:t>ISTA</a:t>
            </a:r>
            <a:r>
              <a:rPr spc="-27" dirty="0"/>
              <a:t> </a:t>
            </a:r>
            <a:r>
              <a:rPr spc="-7" dirty="0"/>
              <a:t>OULED</a:t>
            </a:r>
            <a:r>
              <a:rPr spc="-20" dirty="0"/>
              <a:t> </a:t>
            </a:r>
            <a:r>
              <a:rPr spc="-13" dirty="0"/>
              <a:t>TEIMA</a:t>
            </a:r>
          </a:p>
        </p:txBody>
      </p:sp>
      <p:sp>
        <p:nvSpPr>
          <p:cNvPr id="11" name="object 11"/>
          <p:cNvSpPr txBox="1">
            <a:spLocks noGrp="1"/>
          </p:cNvSpPr>
          <p:nvPr>
            <p:ph type="ftr" sz="quarter" idx="11"/>
          </p:nvPr>
        </p:nvSpPr>
        <p:spPr>
          <a:xfrm>
            <a:off x="5527040" y="8503920"/>
            <a:ext cx="5201920" cy="279564"/>
          </a:xfrm>
          <a:prstGeom prst="rect">
            <a:avLst/>
          </a:prstGeom>
        </p:spPr>
        <p:txBody>
          <a:bodyPr vert="horz" wrap="square" lIns="0" tIns="2540" rIns="0" bIns="0" rtlCol="0">
            <a:spAutoFit/>
          </a:bodyPr>
          <a:lstStyle/>
          <a:p>
            <a:pPr marL="16933">
              <a:spcBef>
                <a:spcPts val="20"/>
              </a:spcBef>
            </a:pPr>
            <a:r>
              <a:rPr dirty="0"/>
              <a:t>Hassan</a:t>
            </a:r>
            <a:r>
              <a:rPr spc="-73" dirty="0"/>
              <a:t> </a:t>
            </a:r>
            <a:r>
              <a:rPr spc="-7" dirty="0"/>
              <a:t>EL</a:t>
            </a:r>
            <a:r>
              <a:rPr spc="-60" dirty="0"/>
              <a:t> </a:t>
            </a:r>
            <a:r>
              <a:rPr dirty="0"/>
              <a:t>BAHI</a:t>
            </a:r>
          </a:p>
        </p:txBody>
      </p:sp>
      <p:sp>
        <p:nvSpPr>
          <p:cNvPr id="9" name="object 9"/>
          <p:cNvSpPr txBox="1">
            <a:spLocks noGrp="1"/>
          </p:cNvSpPr>
          <p:nvPr>
            <p:ph type="sldNum" sz="quarter" idx="12"/>
          </p:nvPr>
        </p:nvSpPr>
        <p:spPr>
          <a:xfrm>
            <a:off x="11704320" y="8503920"/>
            <a:ext cx="3738880" cy="279564"/>
          </a:xfrm>
          <a:prstGeom prst="rect">
            <a:avLst/>
          </a:prstGeom>
        </p:spPr>
        <p:txBody>
          <a:bodyPr vert="horz" wrap="square" lIns="0" tIns="2540" rIns="0" bIns="0" rtlCol="0">
            <a:spAutoFit/>
          </a:bodyPr>
          <a:lstStyle/>
          <a:p>
            <a:pPr marL="50799">
              <a:spcBef>
                <a:spcPts val="20"/>
              </a:spcBef>
            </a:pPr>
            <a:fld id="{81D60167-4931-47E6-BA6A-407CBD079E47}" type="slidenum">
              <a:rPr dirty="0"/>
              <a:pPr marL="50799">
                <a:spcBef>
                  <a:spcPts val="20"/>
                </a:spcBef>
              </a:pPr>
              <a:t>33</a:t>
            </a:fld>
            <a:endParaRPr dirty="0"/>
          </a:p>
        </p:txBody>
      </p:sp>
      <p:sp>
        <p:nvSpPr>
          <p:cNvPr id="4" name="Titre 3">
            <a:extLst>
              <a:ext uri="{FF2B5EF4-FFF2-40B4-BE49-F238E27FC236}">
                <a16:creationId xmlns:a16="http://schemas.microsoft.com/office/drawing/2014/main" id="{EB164DA0-71BC-A276-0224-21209203F4C6}"/>
              </a:ext>
            </a:extLst>
          </p:cNvPr>
          <p:cNvSpPr>
            <a:spLocks noGrp="1"/>
          </p:cNvSpPr>
          <p:nvPr>
            <p:ph type="title"/>
          </p:nvPr>
        </p:nvSpPr>
        <p:spPr/>
        <p:txBody>
          <a:bodyPr/>
          <a:lstStyle/>
          <a:p>
            <a:r>
              <a:rPr lang="fr-FR" dirty="0"/>
              <a:t>Solution</a:t>
            </a:r>
          </a:p>
        </p:txBody>
      </p:sp>
    </p:spTree>
    <p:extLst>
      <p:ext uri="{BB962C8B-B14F-4D97-AF65-F5344CB8AC3E}">
        <p14:creationId xmlns:p14="http://schemas.microsoft.com/office/powerpoint/2010/main" val="1900563728"/>
      </p:ext>
    </p:extLst>
  </p:cSld>
  <p:clrMapOvr>
    <a:masterClrMapping/>
  </p:clrMapOvr>
</p:sld>
</file>

<file path=ppt/theme/theme1.xml><?xml version="1.0" encoding="utf-8"?>
<a:theme xmlns:a="http://schemas.openxmlformats.org/drawingml/2006/main" name="Office Theme">
  <a:themeElements>
    <a:clrScheme name="Personnalisé 18">
      <a:dk1>
        <a:srgbClr val="C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2446</TotalTime>
  <Words>2400</Words>
  <Application>Microsoft Office PowerPoint</Application>
  <PresentationFormat>Grand écran</PresentationFormat>
  <Paragraphs>240</Paragraphs>
  <Slides>33</Slides>
  <Notes>4</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33</vt:i4>
      </vt:variant>
    </vt:vector>
  </HeadingPairs>
  <TitlesOfParts>
    <vt:vector size="42" baseType="lpstr">
      <vt:lpstr>Agency FB</vt:lpstr>
      <vt:lpstr>Arial</vt:lpstr>
      <vt:lpstr>Arial MT</vt:lpstr>
      <vt:lpstr>Calibri</vt:lpstr>
      <vt:lpstr>Calibri Light</vt:lpstr>
      <vt:lpstr>Times New Roman</vt:lpstr>
      <vt:lpstr>Trebuchet MS</vt:lpstr>
      <vt:lpstr>Wingdings</vt:lpstr>
      <vt:lpstr>Office Theme</vt:lpstr>
      <vt:lpstr>Méthodes de conception orientée objet </vt:lpstr>
      <vt:lpstr>Classe</vt:lpstr>
      <vt:lpstr>Nom d’une classe</vt:lpstr>
      <vt:lpstr>Attributs</vt:lpstr>
      <vt:lpstr>Opérations</vt:lpstr>
      <vt:lpstr>Opérations</vt:lpstr>
      <vt:lpstr>Visibilité des attributs et des opérations</vt:lpstr>
      <vt:lpstr>Visibilité des attributs et des opérations </vt:lpstr>
      <vt:lpstr>Associations</vt:lpstr>
      <vt:lpstr>Associations</vt:lpstr>
      <vt:lpstr>Associations</vt:lpstr>
      <vt:lpstr>Associations et Rôles</vt:lpstr>
      <vt:lpstr>Généralisation</vt:lpstr>
      <vt:lpstr>Héritage Simple</vt:lpstr>
      <vt:lpstr>Héritage Multiple</vt:lpstr>
      <vt:lpstr>Associations / Multiplicités</vt:lpstr>
      <vt:lpstr>Les différents types de multiplicités</vt:lpstr>
      <vt:lpstr>Associations réflexives</vt:lpstr>
      <vt:lpstr>Présentation PowerPoint</vt:lpstr>
      <vt:lpstr>Présentation PowerPoint</vt:lpstr>
      <vt:lpstr>Associations unidirectionnelles</vt:lpstr>
      <vt:lpstr>Associations n-aire</vt:lpstr>
      <vt:lpstr>Associations n-aire</vt:lpstr>
      <vt:lpstr>Classe d’association</vt:lpstr>
      <vt:lpstr>Agrégation</vt:lpstr>
      <vt:lpstr>Agrégation Basique</vt:lpstr>
      <vt:lpstr>Agrégation De Composition</vt:lpstr>
      <vt:lpstr>Les contraintes sur l'association </vt:lpstr>
      <vt:lpstr>Présentation PowerPoint</vt:lpstr>
      <vt:lpstr>Les contraintes sur l'association </vt:lpstr>
      <vt:lpstr>Présentation PowerPoint</vt:lpstr>
      <vt:lpstr>Exercice 2 :Gestion d'un club de lecture   Un établissement de formation professionnelle souhaite développer une application permettant de gérer son club de lecture. Le club est constitué de membres (des stagiaires) et a un directeur (un stagiaire). Il possède des livres offerts par des personnes physiques (les membres du club et les autres stagiaires de l'établissement) ou morales (les librairies). On note pour chaque personne le nom. On ajoute pour les stagiaires le numéro d'inscription, et l'adresse pour les librairies. Les livres sont loués aux stagiaires (membres ou pas) de l'établissement à un prix fixe. On note également la date de location. Le livre est caractérisé par un numéro unique (appelé ISBN), un titre et un genre. Le club anime des séances de discussion au profit des membres. On note pour la séance le livre concerné, les membres présents, la date de réalisation, l'heure de début et la durée. Le directeur et les membres se connectent à l'application moyennant un email et un mot de passe. Le directeur du club peut gérer les membres, les livres et les séances de discussion. Les membres peuvent consulter les détails des séances de discussion. Les stagiaires (les membres du club sont inclus) de l'établissement peuvent consulter les livres. </vt:lpstr>
      <vt:lpstr>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Méthodes de conception orienté objet</dc:title>
  <dc:creator>Lenovo Yoga</dc:creator>
  <cp:lastModifiedBy>mohamed elyaakoubi</cp:lastModifiedBy>
  <cp:revision>51</cp:revision>
  <dcterms:created xsi:type="dcterms:W3CDTF">2023-10-03T19:37:09Z</dcterms:created>
  <dcterms:modified xsi:type="dcterms:W3CDTF">2025-11-16T15:07:47Z</dcterms:modified>
</cp:coreProperties>
</file>