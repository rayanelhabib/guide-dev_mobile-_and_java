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handoutMasterIdLst>
    <p:handoutMasterId r:id="rId33"/>
  </p:handoutMasterIdLst>
  <p:sldIdLst>
    <p:sldId id="288" r:id="rId2"/>
    <p:sldId id="332" r:id="rId3"/>
    <p:sldId id="333" r:id="rId4"/>
    <p:sldId id="335" r:id="rId5"/>
    <p:sldId id="350" r:id="rId6"/>
    <p:sldId id="351" r:id="rId7"/>
    <p:sldId id="353" r:id="rId8"/>
    <p:sldId id="336" r:id="rId9"/>
    <p:sldId id="342" r:id="rId10"/>
    <p:sldId id="355" r:id="rId11"/>
    <p:sldId id="354" r:id="rId12"/>
    <p:sldId id="362" r:id="rId13"/>
    <p:sldId id="364" r:id="rId14"/>
    <p:sldId id="366" r:id="rId15"/>
    <p:sldId id="368" r:id="rId16"/>
    <p:sldId id="370" r:id="rId17"/>
    <p:sldId id="372" r:id="rId18"/>
    <p:sldId id="373" r:id="rId19"/>
    <p:sldId id="349" r:id="rId20"/>
    <p:sldId id="383" r:id="rId21"/>
    <p:sldId id="384" r:id="rId22"/>
    <p:sldId id="386" r:id="rId23"/>
    <p:sldId id="387" r:id="rId24"/>
    <p:sldId id="389" r:id="rId25"/>
    <p:sldId id="390" r:id="rId26"/>
    <p:sldId id="392" r:id="rId27"/>
    <p:sldId id="393" r:id="rId28"/>
    <p:sldId id="395" r:id="rId29"/>
    <p:sldId id="400" r:id="rId30"/>
    <p:sldId id="402" r:id="rId31"/>
  </p:sldIdLst>
  <p:sldSz cx="12192000" cy="6858000"/>
  <p:notesSz cx="12192000" cy="6858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0063" autoAdjust="0"/>
  </p:normalViewPr>
  <p:slideViewPr>
    <p:cSldViewPr>
      <p:cViewPr varScale="1">
        <p:scale>
          <a:sx n="59" d="100"/>
          <a:sy n="59" d="100"/>
        </p:scale>
        <p:origin x="456" y="31"/>
      </p:cViewPr>
      <p:guideLst>
        <p:guide orient="horz" pos="2880"/>
        <p:guide pos="2160"/>
      </p:guideLst>
    </p:cSldViewPr>
  </p:slideViewPr>
  <p:notesTextViewPr>
    <p:cViewPr>
      <p:scale>
        <a:sx n="100" d="100"/>
        <a:sy n="100" d="100"/>
      </p:scale>
      <p:origin x="0" y="0"/>
    </p:cViewPr>
  </p:notesTextViewPr>
  <p:notesViewPr>
    <p:cSldViewPr>
      <p:cViewPr varScale="1">
        <p:scale>
          <a:sx n="65" d="100"/>
          <a:sy n="65" d="100"/>
        </p:scale>
        <p:origin x="1311"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ce réservé de la date 2"/>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056003F0-5C33-451F-933B-10C9D73608C6}" type="datetimeFigureOut">
              <a:rPr lang="fr-FR" smtClean="0"/>
              <a:t>24/11/2025</a:t>
            </a:fld>
            <a:endParaRPr lang="fr-FR"/>
          </a:p>
        </p:txBody>
      </p:sp>
      <p:sp>
        <p:nvSpPr>
          <p:cNvPr id="4" name="Espace réservé du pied de page 3"/>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2A9C06CF-5162-4857-9CBC-57AD97282057}" type="slidenum">
              <a:rPr lang="fr-FR" smtClean="0"/>
              <a:t>‹N°›</a:t>
            </a:fld>
            <a:endParaRPr lang="fr-FR"/>
          </a:p>
        </p:txBody>
      </p:sp>
    </p:spTree>
    <p:extLst>
      <p:ext uri="{BB962C8B-B14F-4D97-AF65-F5344CB8AC3E}">
        <p14:creationId xmlns:p14="http://schemas.microsoft.com/office/powerpoint/2010/main" val="37913618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3C15DB66-4298-44BB-89DF-988DE822FD2E}" type="datetimeFigureOut">
              <a:rPr lang="fr-FR" smtClean="0"/>
              <a:t>24/11/2025</a:t>
            </a:fld>
            <a:endParaRPr lang="fr-FR"/>
          </a:p>
        </p:txBody>
      </p:sp>
      <p:sp>
        <p:nvSpPr>
          <p:cNvPr id="4" name="Espace réservé de l'image des diapositives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3225CD93-5FD1-403B-B8EB-C47997AC4A30}" type="slidenum">
              <a:rPr lang="fr-FR" smtClean="0"/>
              <a:t>‹N°›</a:t>
            </a:fld>
            <a:endParaRPr lang="fr-FR"/>
          </a:p>
        </p:txBody>
      </p:sp>
    </p:spTree>
    <p:extLst>
      <p:ext uri="{BB962C8B-B14F-4D97-AF65-F5344CB8AC3E}">
        <p14:creationId xmlns:p14="http://schemas.microsoft.com/office/powerpoint/2010/main" val="1065847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Documents%20G&#233;n&#233;raux/Uml2_Audibert/uml2%20_%20Audibert/laurent-audibert.developpez.com/Cours-UML/html/Cours-UML035.html#fig_ex_point_connexion"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Documents%20G&#233;n&#233;raux/Uml2_Audibert/uml2%20_%20Audibert/laurent-audibert.developpez.com/Cours-UML/html/Cours-UML035.html#fig_ex_coucurrence_etat"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1876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06D00B-7D3A-466E-A0A9-25DF1D6354C6}" type="slidenum">
              <a:rPr lang="fr-FR" altLang="fr-FR"/>
              <a:pPr/>
              <a:t>26</a:t>
            </a:fld>
            <a:endParaRPr lang="fr-FR" altLang="fr-FR"/>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r>
              <a:rPr lang="fr-FR" altLang="fr-FR" sz="1000" dirty="0"/>
              <a:t>Comme nous l’avons déjà dit, il est possible de masquer les sous-états d’un état composite et de les définir dans un autre diagramme. Cette pratique nécessite parfois l’utilisation de pseudo-états appelés </a:t>
            </a:r>
            <a:r>
              <a:rPr lang="fr-FR" altLang="fr-FR" sz="1000" i="1" dirty="0"/>
              <a:t>points de connexion</a:t>
            </a:r>
            <a:r>
              <a:rPr lang="fr-FR" altLang="fr-FR" sz="1000" dirty="0"/>
              <a:t>.</a:t>
            </a:r>
          </a:p>
          <a:p>
            <a:r>
              <a:rPr lang="fr-FR" altLang="fr-FR" sz="1000" dirty="0"/>
              <a:t>Lorsque l’on utilise le comportement par défaut de l’état composite, c’est-à-dire entrer par l’état initial par défaut et considérer les traitements finis quand l’état final est atteint, aucun problème ne se pose car on utilise des transitions ayant pour cible, ou pour source, la frontière de l’état composite. Dans ce cas, les points de connexion sont inutiles.</a:t>
            </a:r>
          </a:p>
          <a:p>
            <a:r>
              <a:rPr lang="fr-FR" altLang="fr-FR" sz="1000" dirty="0"/>
              <a:t>Le problème se pose lorsqu’il est possible d’entrer ou de sortir d’un état composite de plusieurs façons. C’est, par exemple, le cas lorsqu’il existe des transitions traversant la frontière de l’état composite et visant directement, ou ayant pour source, un sous-état de l’état composite. Dans ce cas, la solution est d’utiliser des points de connexion sur la frontière de l’état composite.</a:t>
            </a:r>
          </a:p>
          <a:p>
            <a:r>
              <a:rPr lang="fr-FR" altLang="fr-FR" sz="1000" dirty="0"/>
              <a:t>Les points de connexion sont des points d’entrée et de sortie portant un nom, et situés sur la frontière d’un état composite. Ils sont respectivement représentés par un cercle vide et un cercle barré d’une croix (cf. figure </a:t>
            </a:r>
            <a:r>
              <a:rPr lang="fr-FR" altLang="fr-FR" sz="1000" dirty="0">
                <a:hlinkClick r:id="rId3"/>
              </a:rPr>
              <a:t>5.15</a:t>
            </a:r>
            <a:r>
              <a:rPr lang="fr-FR" altLang="fr-FR" sz="1000" dirty="0"/>
              <a:t>). Il ne s’agit que de références à un état défini dans l’état composite . Une unique transition d’achèvement, dépourvue de garde, relie le pseudo-état source (</a:t>
            </a:r>
            <a:r>
              <a:rPr lang="fr-FR" altLang="fr-FR" sz="1000" i="1" dirty="0"/>
              <a:t>i.e.</a:t>
            </a:r>
            <a:r>
              <a:rPr lang="fr-FR" altLang="fr-FR" sz="1000" dirty="0"/>
              <a:t> le point de connexion) à l’état référencé. Cette transition d’achèvement n’est que le prolongement de la transition qui vise le point de connexion (il peut d’ailleurs y en avoir plusieurs). Les points de connexions offrent ainsi une façon de représenter l’interface (au sens objet) d’un état composite en masquant l’implémentation de son comportement.</a:t>
            </a:r>
          </a:p>
          <a:p>
            <a:r>
              <a:rPr lang="fr-FR" altLang="fr-FR" sz="1000" dirty="0"/>
              <a:t>On peut considérer que les pseudo-états initiaux et finaux sont des points de connexion sans nom.</a:t>
            </a:r>
          </a:p>
        </p:txBody>
      </p:sp>
    </p:spTree>
    <p:extLst>
      <p:ext uri="{BB962C8B-B14F-4D97-AF65-F5344CB8AC3E}">
        <p14:creationId xmlns:p14="http://schemas.microsoft.com/office/powerpoint/2010/main" val="3371510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F90562-79FC-45A3-8082-26DC11B13F2B}" type="slidenum">
              <a:rPr lang="fr-FR" altLang="fr-FR"/>
              <a:pPr/>
              <a:t>28</a:t>
            </a:fld>
            <a:endParaRPr lang="fr-FR" altLang="fr-FR"/>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p:txBody>
          <a:bodyPr/>
          <a:lstStyle/>
          <a:p>
            <a:r>
              <a:rPr lang="fr-FR" altLang="fr-FR"/>
              <a:t>Les diagrammes d’états-transitions permettent de décrire efficacement les mécanismes concurrents grâce à l’utilisation d’</a:t>
            </a:r>
            <a:r>
              <a:rPr lang="fr-FR" altLang="fr-FR" i="1"/>
              <a:t>états orthogonaux</a:t>
            </a:r>
            <a:r>
              <a:rPr lang="fr-FR" altLang="fr-FR"/>
              <a:t>. Un état orthogonal est un état composite comportant plus d’une région, chaque région représentant un flot d’exécution. Graphiquement, dans un état orthogonal, les différentes régions sont séparées par un trait horizontal en pointillé allant du bord gauche au bord droit de l’état composite.</a:t>
            </a:r>
          </a:p>
          <a:p>
            <a:r>
              <a:rPr lang="fr-FR" altLang="fr-FR"/>
              <a:t>Chaque région peut posséder un état initial et final. Une transition qui atteint la bordure d’un état composite orthogonal est équivalente à une transition qui atteint les états initiaux de toutes ses régions concurrentes.</a:t>
            </a:r>
          </a:p>
          <a:p>
            <a:r>
              <a:rPr lang="fr-FR" altLang="fr-FR"/>
              <a:t>Toutes les régions concurrentes d’un état composite orthogonal doivent atteindre leur état final pour que l’état composite soit considéré comme terminé.</a:t>
            </a:r>
          </a:p>
          <a:p>
            <a:r>
              <a:rPr lang="fr-FR" altLang="fr-FR"/>
              <a:t>La figure </a:t>
            </a:r>
            <a:r>
              <a:rPr lang="fr-FR" altLang="fr-FR">
                <a:hlinkClick r:id="rId3"/>
              </a:rPr>
              <a:t>5.16</a:t>
            </a:r>
            <a:r>
              <a:rPr lang="fr-FR" altLang="fr-FR"/>
              <a:t> illustre l’utilisation d’un état composite orthogonal pour modéliser le fait que la préparation de la boisson d’un distributeur de boisson se fait en parallèle au rendu de la monaie.</a:t>
            </a:r>
          </a:p>
        </p:txBody>
      </p:sp>
    </p:spTree>
    <p:extLst>
      <p:ext uri="{BB962C8B-B14F-4D97-AF65-F5344CB8AC3E}">
        <p14:creationId xmlns:p14="http://schemas.microsoft.com/office/powerpoint/2010/main" val="1738682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400800"/>
            <a:ext cx="12192000" cy="457200"/>
          </a:xfrm>
          <a:custGeom>
            <a:avLst/>
            <a:gdLst/>
            <a:ahLst/>
            <a:cxnLst/>
            <a:rect l="l" t="t" r="r" b="b"/>
            <a:pathLst>
              <a:path w="12192000" h="457200">
                <a:moveTo>
                  <a:pt x="12192000" y="0"/>
                </a:moveTo>
                <a:lnTo>
                  <a:pt x="0" y="0"/>
                </a:lnTo>
                <a:lnTo>
                  <a:pt x="0" y="457200"/>
                </a:lnTo>
                <a:lnTo>
                  <a:pt x="12192000" y="457200"/>
                </a:lnTo>
                <a:lnTo>
                  <a:pt x="12192000" y="0"/>
                </a:lnTo>
                <a:close/>
              </a:path>
            </a:pathLst>
          </a:custGeom>
          <a:solidFill>
            <a:srgbClr val="BD582C"/>
          </a:solidFill>
        </p:spPr>
        <p:txBody>
          <a:bodyPr wrap="square" lIns="0" tIns="0" rIns="0" bIns="0" rtlCol="0"/>
          <a:lstStyle/>
          <a:p>
            <a:endParaRPr/>
          </a:p>
        </p:txBody>
      </p:sp>
      <p:sp>
        <p:nvSpPr>
          <p:cNvPr id="17" name="bg object 17"/>
          <p:cNvSpPr/>
          <p:nvPr/>
        </p:nvSpPr>
        <p:spPr>
          <a:xfrm>
            <a:off x="0" y="6337300"/>
            <a:ext cx="12192000" cy="63500"/>
          </a:xfrm>
          <a:custGeom>
            <a:avLst/>
            <a:gdLst/>
            <a:ahLst/>
            <a:cxnLst/>
            <a:rect l="l" t="t" r="r" b="b"/>
            <a:pathLst>
              <a:path w="12192000" h="63500">
                <a:moveTo>
                  <a:pt x="12192000" y="0"/>
                </a:moveTo>
                <a:lnTo>
                  <a:pt x="0" y="0"/>
                </a:lnTo>
                <a:lnTo>
                  <a:pt x="0" y="63500"/>
                </a:lnTo>
                <a:lnTo>
                  <a:pt x="12192000" y="63500"/>
                </a:lnTo>
                <a:lnTo>
                  <a:pt x="12192000" y="0"/>
                </a:lnTo>
                <a:close/>
              </a:path>
            </a:pathLst>
          </a:custGeom>
          <a:solidFill>
            <a:srgbClr val="E48312"/>
          </a:solidFill>
        </p:spPr>
        <p:txBody>
          <a:bodyPr wrap="square" lIns="0" tIns="0" rIns="0" bIns="0" rtlCol="0"/>
          <a:lstStyle/>
          <a:p>
            <a:endParaRPr/>
          </a:p>
        </p:txBody>
      </p:sp>
      <p:sp>
        <p:nvSpPr>
          <p:cNvPr id="2" name="Holder 2"/>
          <p:cNvSpPr>
            <a:spLocks noGrp="1"/>
          </p:cNvSpPr>
          <p:nvPr>
            <p:ph type="ctrTitle"/>
          </p:nvPr>
        </p:nvSpPr>
        <p:spPr>
          <a:xfrm>
            <a:off x="1066800" y="533400"/>
            <a:ext cx="9839960" cy="2062479"/>
          </a:xfrm>
          <a:prstGeom prst="rect">
            <a:avLst/>
          </a:prstGeom>
        </p:spPr>
        <p:txBody>
          <a:bodyPr wrap="square" lIns="0" tIns="0" rIns="0" bIns="0">
            <a:spAutoFit/>
          </a:bodyPr>
          <a:lstStyle>
            <a:lvl1pPr>
              <a:defRPr sz="7200" b="0" i="0">
                <a:solidFill>
                  <a:srgbClr val="262626"/>
                </a:solidFill>
                <a:latin typeface="Calibri Light"/>
                <a:cs typeface="Calibri Light"/>
              </a:defRPr>
            </a:lvl1pPr>
          </a:lstStyle>
          <a:p>
            <a:endParaRPr dirty="0"/>
          </a:p>
        </p:txBody>
      </p:sp>
      <p:sp>
        <p:nvSpPr>
          <p:cNvPr id="3" name="Holder 3"/>
          <p:cNvSpPr>
            <a:spLocks noGrp="1"/>
          </p:cNvSpPr>
          <p:nvPr>
            <p:ph type="subTitle" idx="4"/>
          </p:nvPr>
        </p:nvSpPr>
        <p:spPr>
          <a:xfrm>
            <a:off x="1828800" y="3840480"/>
            <a:ext cx="8534400" cy="384721"/>
          </a:xfrm>
          <a:prstGeom prst="rect">
            <a:avLst/>
          </a:prstGeom>
        </p:spPr>
        <p:txBody>
          <a:bodyPr wrap="square" lIns="0" tIns="0" rIns="0" bIns="0">
            <a:spAutoFit/>
          </a:bodyPr>
          <a:lstStyle>
            <a:lvl1pPr>
              <a:defRPr>
                <a:latin typeface="Bernard MT Condensed" panose="02050806060905020404" pitchFamily="18" charset="0"/>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Holder 3"/>
          <p:cNvSpPr>
            <a:spLocks noGrp="1"/>
          </p:cNvSpPr>
          <p:nvPr>
            <p:ph type="body" idx="1"/>
          </p:nvPr>
        </p:nvSpPr>
        <p:spPr/>
        <p:txBody>
          <a:bodyPr lIns="0" tIns="0" rIns="0" bIns="0"/>
          <a:lstStyle>
            <a:lvl1pPr>
              <a:defRPr sz="2500" b="0" i="0">
                <a:solidFill>
                  <a:srgbClr val="404040"/>
                </a:solidFill>
                <a:latin typeface="Calibri"/>
                <a:cs typeface="Calibri"/>
              </a:defRPr>
            </a:lvl1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404040"/>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404040"/>
                </a:solidFill>
                <a:latin typeface="Calibri Light"/>
                <a:cs typeface="Calibri Light"/>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dirty="0"/>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fr-FR" dirty="0"/>
              <a:t>Modifier les styles du texte du masque</a:t>
            </a:r>
          </a:p>
        </p:txBody>
      </p:sp>
      <p:sp>
        <p:nvSpPr>
          <p:cNvPr id="4" name="Date Placeholder 3"/>
          <p:cNvSpPr>
            <a:spLocks noGrp="1"/>
          </p:cNvSpPr>
          <p:nvPr>
            <p:ph type="dt" sz="half" idx="10"/>
          </p:nvPr>
        </p:nvSpPr>
        <p:spPr/>
        <p:txBody>
          <a:bodyPr/>
          <a:lstStyle/>
          <a:p>
            <a:fld id="{20EBB0C4-6273-4C6E-B9BD-2EDC30F1CD52}" type="datetimeFigureOut">
              <a:rPr lang="en-US" dirty="0"/>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381515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609600" y="1600201"/>
            <a:ext cx="5384800" cy="1492716"/>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97600" y="1600201"/>
            <a:ext cx="5384800" cy="1492716"/>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a:xfrm>
            <a:off x="609600" y="6377940"/>
            <a:ext cx="2804160" cy="276999"/>
          </a:xfrm>
        </p:spPr>
        <p:txBody>
          <a:bodyPr/>
          <a:lstStyle>
            <a:lvl1pPr>
              <a:defRPr/>
            </a:lvl1pPr>
          </a:lstStyle>
          <a:p>
            <a:endParaRPr lang="fr-FR" altLang="fr-FR"/>
          </a:p>
        </p:txBody>
      </p:sp>
      <p:sp>
        <p:nvSpPr>
          <p:cNvPr id="6" name="Espace réservé du pied de page 5"/>
          <p:cNvSpPr>
            <a:spLocks noGrp="1"/>
          </p:cNvSpPr>
          <p:nvPr>
            <p:ph type="ftr" sz="quarter" idx="11"/>
          </p:nvPr>
        </p:nvSpPr>
        <p:spPr>
          <a:xfrm>
            <a:off x="4145280" y="6377940"/>
            <a:ext cx="3901440" cy="276999"/>
          </a:xfrm>
        </p:spPr>
        <p:txBody>
          <a:bodyPr/>
          <a:lstStyle>
            <a:lvl1pPr>
              <a:defRPr/>
            </a:lvl1pPr>
          </a:lstStyle>
          <a:p>
            <a:endParaRPr lang="fr-FR" altLang="fr-FR"/>
          </a:p>
        </p:txBody>
      </p:sp>
      <p:sp>
        <p:nvSpPr>
          <p:cNvPr id="7" name="Espace réservé du numéro de diapositive 6"/>
          <p:cNvSpPr>
            <a:spLocks noGrp="1"/>
          </p:cNvSpPr>
          <p:nvPr>
            <p:ph type="sldNum" sz="quarter" idx="12"/>
          </p:nvPr>
        </p:nvSpPr>
        <p:spPr>
          <a:xfrm>
            <a:off x="8778240" y="6377940"/>
            <a:ext cx="2804160" cy="276999"/>
          </a:xfrm>
        </p:spPr>
        <p:txBody>
          <a:bodyPr/>
          <a:lstStyle>
            <a:lvl1pPr>
              <a:defRPr/>
            </a:lvl1pPr>
          </a:lstStyle>
          <a:p>
            <a:fld id="{8771E874-AD46-4E7D-9663-7161B05706D3}" type="slidenum">
              <a:rPr lang="fr-FR" altLang="fr-FR"/>
              <a:pPr/>
              <a:t>‹N°›</a:t>
            </a:fld>
            <a:endParaRPr lang="fr-FR" altLang="fr-FR"/>
          </a:p>
        </p:txBody>
      </p:sp>
    </p:spTree>
    <p:extLst>
      <p:ext uri="{BB962C8B-B14F-4D97-AF65-F5344CB8AC3E}">
        <p14:creationId xmlns:p14="http://schemas.microsoft.com/office/powerpoint/2010/main" val="20842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TwoObj">
  <p:cSld name="Titre. Texte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972800" cy="738664"/>
          </a:xfrm>
        </p:spPr>
        <p:txBody>
          <a:bodyPr/>
          <a:lstStyle/>
          <a:p>
            <a:r>
              <a:rPr lang="fr-FR"/>
              <a:t>Modifiez le style du titre</a:t>
            </a:r>
          </a:p>
        </p:txBody>
      </p:sp>
      <p:sp>
        <p:nvSpPr>
          <p:cNvPr id="3" name="Espace réservé du texte 2"/>
          <p:cNvSpPr>
            <a:spLocks noGrp="1"/>
          </p:cNvSpPr>
          <p:nvPr>
            <p:ph type="body" sz="half" idx="1"/>
          </p:nvPr>
        </p:nvSpPr>
        <p:spPr>
          <a:xfrm>
            <a:off x="609600" y="1600201"/>
            <a:ext cx="5384800" cy="1492716"/>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quarter" idx="2"/>
          </p:nvPr>
        </p:nvSpPr>
        <p:spPr>
          <a:xfrm>
            <a:off x="6197600" y="1600200"/>
            <a:ext cx="5384800" cy="1492716"/>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contenu 4"/>
          <p:cNvSpPr>
            <a:spLocks noGrp="1"/>
          </p:cNvSpPr>
          <p:nvPr>
            <p:ph sz="quarter" idx="3"/>
          </p:nvPr>
        </p:nvSpPr>
        <p:spPr>
          <a:xfrm>
            <a:off x="6197600" y="3938589"/>
            <a:ext cx="5384800" cy="1492716"/>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5"/>
          <p:cNvSpPr>
            <a:spLocks noGrp="1"/>
          </p:cNvSpPr>
          <p:nvPr>
            <p:ph type="dt" sz="half" idx="10"/>
          </p:nvPr>
        </p:nvSpPr>
        <p:spPr>
          <a:xfrm>
            <a:off x="609600" y="6245225"/>
            <a:ext cx="2844800" cy="276999"/>
          </a:xfrm>
        </p:spPr>
        <p:txBody>
          <a:bodyPr/>
          <a:lstStyle>
            <a:lvl1pPr>
              <a:defRPr/>
            </a:lvl1pPr>
          </a:lstStyle>
          <a:p>
            <a:endParaRPr lang="fr-FR" altLang="fr-FR"/>
          </a:p>
        </p:txBody>
      </p:sp>
      <p:sp>
        <p:nvSpPr>
          <p:cNvPr id="7" name="Espace réservé du pied de page 6"/>
          <p:cNvSpPr>
            <a:spLocks noGrp="1"/>
          </p:cNvSpPr>
          <p:nvPr>
            <p:ph type="ftr" sz="quarter" idx="11"/>
          </p:nvPr>
        </p:nvSpPr>
        <p:spPr>
          <a:xfrm>
            <a:off x="4165600" y="6245225"/>
            <a:ext cx="3860800" cy="276999"/>
          </a:xfrm>
        </p:spPr>
        <p:txBody>
          <a:bodyPr/>
          <a:lstStyle>
            <a:lvl1pPr>
              <a:defRPr/>
            </a:lvl1pPr>
          </a:lstStyle>
          <a:p>
            <a:endParaRPr lang="fr-FR" altLang="fr-FR"/>
          </a:p>
        </p:txBody>
      </p:sp>
      <p:sp>
        <p:nvSpPr>
          <p:cNvPr id="8" name="Espace réservé du numéro de diapositive 7"/>
          <p:cNvSpPr>
            <a:spLocks noGrp="1"/>
          </p:cNvSpPr>
          <p:nvPr>
            <p:ph type="sldNum" sz="quarter" idx="12"/>
          </p:nvPr>
        </p:nvSpPr>
        <p:spPr>
          <a:xfrm>
            <a:off x="8737600" y="6245225"/>
            <a:ext cx="2844800" cy="276999"/>
          </a:xfrm>
        </p:spPr>
        <p:txBody>
          <a:bodyPr/>
          <a:lstStyle>
            <a:lvl1pPr>
              <a:defRPr/>
            </a:lvl1pPr>
          </a:lstStyle>
          <a:p>
            <a:fld id="{AF865755-A202-42D6-A765-A8117BFDA311}" type="slidenum">
              <a:rPr lang="fr-FR" altLang="fr-FR"/>
              <a:pPr/>
              <a:t>‹N°›</a:t>
            </a:fld>
            <a:endParaRPr lang="fr-FR" altLang="fr-FR"/>
          </a:p>
        </p:txBody>
      </p:sp>
    </p:spTree>
    <p:extLst>
      <p:ext uri="{BB962C8B-B14F-4D97-AF65-F5344CB8AC3E}">
        <p14:creationId xmlns:p14="http://schemas.microsoft.com/office/powerpoint/2010/main" val="299817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972800" cy="738664"/>
          </a:xfrm>
        </p:spPr>
        <p:txBody>
          <a:bodyPr/>
          <a:lstStyle/>
          <a:p>
            <a:r>
              <a:rPr lang="fr-FR"/>
              <a:t>Modifiez le style du titre</a:t>
            </a:r>
          </a:p>
        </p:txBody>
      </p:sp>
      <p:sp>
        <p:nvSpPr>
          <p:cNvPr id="3" name="Espace réservé du texte 2"/>
          <p:cNvSpPr>
            <a:spLocks noGrp="1"/>
          </p:cNvSpPr>
          <p:nvPr>
            <p:ph type="body" sz="half" idx="1"/>
          </p:nvPr>
        </p:nvSpPr>
        <p:spPr>
          <a:xfrm>
            <a:off x="609600" y="1600201"/>
            <a:ext cx="5384800" cy="1492716"/>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97600" y="1600201"/>
            <a:ext cx="5384800" cy="1492716"/>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a:xfrm>
            <a:off x="609600" y="6245225"/>
            <a:ext cx="2844800" cy="276999"/>
          </a:xfrm>
        </p:spPr>
        <p:txBody>
          <a:bodyPr/>
          <a:lstStyle>
            <a:lvl1pPr>
              <a:defRPr/>
            </a:lvl1pPr>
          </a:lstStyle>
          <a:p>
            <a:endParaRPr lang="fr-FR" altLang="fr-FR"/>
          </a:p>
        </p:txBody>
      </p:sp>
      <p:sp>
        <p:nvSpPr>
          <p:cNvPr id="6" name="Espace réservé du pied de page 5"/>
          <p:cNvSpPr>
            <a:spLocks noGrp="1"/>
          </p:cNvSpPr>
          <p:nvPr>
            <p:ph type="ftr" sz="quarter" idx="11"/>
          </p:nvPr>
        </p:nvSpPr>
        <p:spPr>
          <a:xfrm>
            <a:off x="4165600" y="6245225"/>
            <a:ext cx="3860800" cy="276999"/>
          </a:xfrm>
        </p:spPr>
        <p:txBody>
          <a:bodyPr/>
          <a:lstStyle>
            <a:lvl1pPr>
              <a:defRPr/>
            </a:lvl1pPr>
          </a:lstStyle>
          <a:p>
            <a:endParaRPr lang="fr-FR" altLang="fr-FR"/>
          </a:p>
        </p:txBody>
      </p:sp>
      <p:sp>
        <p:nvSpPr>
          <p:cNvPr id="7" name="Espace réservé du numéro de diapositive 6"/>
          <p:cNvSpPr>
            <a:spLocks noGrp="1"/>
          </p:cNvSpPr>
          <p:nvPr>
            <p:ph type="sldNum" sz="quarter" idx="12"/>
          </p:nvPr>
        </p:nvSpPr>
        <p:spPr>
          <a:xfrm>
            <a:off x="8737600" y="6245225"/>
            <a:ext cx="2844800" cy="276999"/>
          </a:xfrm>
        </p:spPr>
        <p:txBody>
          <a:bodyPr/>
          <a:lstStyle>
            <a:lvl1pPr>
              <a:defRPr/>
            </a:lvl1pPr>
          </a:lstStyle>
          <a:p>
            <a:fld id="{D4DF013F-B1E0-48FB-874D-3A983B31AE1B}" type="slidenum">
              <a:rPr lang="fr-FR" altLang="fr-FR"/>
              <a:pPr/>
              <a:t>‹N°›</a:t>
            </a:fld>
            <a:endParaRPr lang="fr-FR" altLang="fr-FR"/>
          </a:p>
        </p:txBody>
      </p:sp>
    </p:spTree>
    <p:extLst>
      <p:ext uri="{BB962C8B-B14F-4D97-AF65-F5344CB8AC3E}">
        <p14:creationId xmlns:p14="http://schemas.microsoft.com/office/powerpoint/2010/main" val="2838243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400800"/>
            <a:ext cx="12192000" cy="457200"/>
          </a:xfrm>
          <a:custGeom>
            <a:avLst/>
            <a:gdLst/>
            <a:ahLst/>
            <a:cxnLst/>
            <a:rect l="l" t="t" r="r" b="b"/>
            <a:pathLst>
              <a:path w="12192000" h="457200">
                <a:moveTo>
                  <a:pt x="12192000" y="0"/>
                </a:moveTo>
                <a:lnTo>
                  <a:pt x="0" y="0"/>
                </a:lnTo>
                <a:lnTo>
                  <a:pt x="0" y="457200"/>
                </a:lnTo>
                <a:lnTo>
                  <a:pt x="12192000" y="457200"/>
                </a:lnTo>
                <a:lnTo>
                  <a:pt x="12192000" y="0"/>
                </a:lnTo>
                <a:close/>
              </a:path>
            </a:pathLst>
          </a:custGeom>
          <a:solidFill>
            <a:srgbClr val="BD582C"/>
          </a:solidFill>
        </p:spPr>
        <p:txBody>
          <a:bodyPr wrap="square" lIns="0" tIns="0" rIns="0" bIns="0" rtlCol="0"/>
          <a:lstStyle/>
          <a:p>
            <a:endParaRPr/>
          </a:p>
        </p:txBody>
      </p:sp>
      <p:sp>
        <p:nvSpPr>
          <p:cNvPr id="17" name="bg object 17"/>
          <p:cNvSpPr/>
          <p:nvPr/>
        </p:nvSpPr>
        <p:spPr>
          <a:xfrm>
            <a:off x="0" y="6337300"/>
            <a:ext cx="12192000" cy="63500"/>
          </a:xfrm>
          <a:custGeom>
            <a:avLst/>
            <a:gdLst/>
            <a:ahLst/>
            <a:cxnLst/>
            <a:rect l="l" t="t" r="r" b="b"/>
            <a:pathLst>
              <a:path w="12192000" h="63500">
                <a:moveTo>
                  <a:pt x="12192000" y="0"/>
                </a:moveTo>
                <a:lnTo>
                  <a:pt x="0" y="0"/>
                </a:lnTo>
                <a:lnTo>
                  <a:pt x="0" y="63500"/>
                </a:lnTo>
                <a:lnTo>
                  <a:pt x="12192000" y="63500"/>
                </a:lnTo>
                <a:lnTo>
                  <a:pt x="12192000" y="0"/>
                </a:lnTo>
                <a:close/>
              </a:path>
            </a:pathLst>
          </a:custGeom>
          <a:solidFill>
            <a:srgbClr val="E48312"/>
          </a:solidFill>
        </p:spPr>
        <p:txBody>
          <a:bodyPr wrap="square" lIns="0" tIns="0" rIns="0" bIns="0" rtlCol="0"/>
          <a:lstStyle/>
          <a:p>
            <a:endParaRPr/>
          </a:p>
        </p:txBody>
      </p:sp>
      <p:sp>
        <p:nvSpPr>
          <p:cNvPr id="18" name="bg object 18"/>
          <p:cNvSpPr/>
          <p:nvPr/>
        </p:nvSpPr>
        <p:spPr>
          <a:xfrm>
            <a:off x="1098550" y="1238250"/>
            <a:ext cx="9966960" cy="0"/>
          </a:xfrm>
          <a:custGeom>
            <a:avLst/>
            <a:gdLst/>
            <a:ahLst/>
            <a:cxnLst/>
            <a:rect l="l" t="t" r="r" b="b"/>
            <a:pathLst>
              <a:path w="9966960">
                <a:moveTo>
                  <a:pt x="0" y="0"/>
                </a:moveTo>
                <a:lnTo>
                  <a:pt x="9966960" y="1"/>
                </a:lnTo>
              </a:path>
            </a:pathLst>
          </a:custGeom>
          <a:ln w="12700">
            <a:solidFill>
              <a:srgbClr val="7F7F7F"/>
            </a:solidFill>
          </a:ln>
        </p:spPr>
        <p:txBody>
          <a:bodyPr wrap="square" lIns="0" tIns="0" rIns="0" bIns="0" rtlCol="0"/>
          <a:lstStyle/>
          <a:p>
            <a:endParaRPr/>
          </a:p>
        </p:txBody>
      </p:sp>
      <p:sp>
        <p:nvSpPr>
          <p:cNvPr id="2" name="Holder 2"/>
          <p:cNvSpPr>
            <a:spLocks noGrp="1"/>
          </p:cNvSpPr>
          <p:nvPr>
            <p:ph type="title"/>
          </p:nvPr>
        </p:nvSpPr>
        <p:spPr>
          <a:xfrm>
            <a:off x="1176019" y="309020"/>
            <a:ext cx="9839960" cy="756919"/>
          </a:xfrm>
          <a:prstGeom prst="rect">
            <a:avLst/>
          </a:prstGeom>
        </p:spPr>
        <p:txBody>
          <a:bodyPr wrap="square" lIns="0" tIns="0" rIns="0" bIns="0">
            <a:spAutoFit/>
          </a:bodyPr>
          <a:lstStyle>
            <a:lvl1pPr>
              <a:defRPr sz="4800" b="0" i="0">
                <a:solidFill>
                  <a:srgbClr val="404040"/>
                </a:solidFill>
                <a:latin typeface="Calibri Light"/>
                <a:cs typeface="Calibri Light"/>
              </a:defRPr>
            </a:lvl1pPr>
          </a:lstStyle>
          <a:p>
            <a:endParaRPr dirty="0"/>
          </a:p>
        </p:txBody>
      </p:sp>
      <p:sp>
        <p:nvSpPr>
          <p:cNvPr id="3" name="Holder 3"/>
          <p:cNvSpPr>
            <a:spLocks noGrp="1"/>
          </p:cNvSpPr>
          <p:nvPr>
            <p:ph type="body" idx="1"/>
          </p:nvPr>
        </p:nvSpPr>
        <p:spPr>
          <a:xfrm>
            <a:off x="1084580" y="1519645"/>
            <a:ext cx="9874250" cy="384721"/>
          </a:xfrm>
          <a:prstGeom prst="rect">
            <a:avLst/>
          </a:prstGeom>
        </p:spPr>
        <p:txBody>
          <a:bodyPr wrap="square" lIns="0" tIns="0" rIns="0" bIns="0">
            <a:spAutoFit/>
          </a:bodyPr>
          <a:lstStyle>
            <a:lvl1pPr>
              <a:defRPr sz="2500" b="0" i="0">
                <a:solidFill>
                  <a:srgbClr val="404040"/>
                </a:solidFill>
                <a:latin typeface="Calibri"/>
                <a:cs typeface="Calibri"/>
              </a:defRPr>
            </a:lvl1pPr>
          </a:lstStyle>
          <a:p>
            <a:r>
              <a:rPr lang="fr-FR" dirty="0" err="1"/>
              <a:t>ffffffffff</a:t>
            </a:r>
            <a:endParaRPr dirty="0"/>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11/24/2025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defRPr>
          <a:latin typeface="+mj-lt"/>
          <a:ea typeface="+mj-ea"/>
          <a:cs typeface="+mj-cs"/>
        </a:defRPr>
      </a:lvl1pPr>
    </p:titleStyle>
    <p:bodyStyle>
      <a:lvl1pPr marL="0">
        <a:defRPr b="1">
          <a:latin typeface="Bernard MT Condensed" panose="02050806060905020404"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92EA3E-A478-45AF-8BCF-AA318BB56406}"/>
              </a:ext>
            </a:extLst>
          </p:cNvPr>
          <p:cNvSpPr>
            <a:spLocks noGrp="1"/>
          </p:cNvSpPr>
          <p:nvPr>
            <p:ph type="title"/>
          </p:nvPr>
        </p:nvSpPr>
        <p:spPr>
          <a:xfrm>
            <a:off x="1" y="4460021"/>
            <a:ext cx="7769412" cy="1396152"/>
          </a:xfrm>
        </p:spPr>
        <p:txBody>
          <a:bodyPr>
            <a:noAutofit/>
          </a:bodyPr>
          <a:lstStyle/>
          <a:p>
            <a:r>
              <a:rPr lang="fr-FR" sz="5333" dirty="0"/>
              <a:t>Méthodes de conception orienté objet </a:t>
            </a:r>
            <a:endParaRPr lang="en-IN" sz="3600" dirty="0"/>
          </a:p>
        </p:txBody>
      </p:sp>
      <p:sp>
        <p:nvSpPr>
          <p:cNvPr id="2" name="Footer Placeholder 1">
            <a:extLst>
              <a:ext uri="{FF2B5EF4-FFF2-40B4-BE49-F238E27FC236}">
                <a16:creationId xmlns:a16="http://schemas.microsoft.com/office/drawing/2014/main" id="{F70F3D5B-21AD-40E2-B2FA-5C660E700671}"/>
              </a:ext>
            </a:extLst>
          </p:cNvPr>
          <p:cNvSpPr>
            <a:spLocks noGrp="1"/>
          </p:cNvSpPr>
          <p:nvPr>
            <p:ph type="ftr" sz="quarter" idx="11"/>
          </p:nvPr>
        </p:nvSpPr>
        <p:spPr>
          <a:xfrm>
            <a:off x="1" y="6421900"/>
            <a:ext cx="1784972" cy="337453"/>
          </a:xfrm>
        </p:spPr>
        <p:txBody>
          <a:bodyPr/>
          <a:lstStyle/>
          <a:p>
            <a:pPr defTabSz="609585"/>
            <a:r>
              <a:rPr lang="en-US" dirty="0">
                <a:latin typeface="Calibri" panose="020F0502020204030204"/>
              </a:rPr>
              <a:t>MCOO – BTS </a:t>
            </a:r>
          </a:p>
        </p:txBody>
      </p:sp>
      <p:sp>
        <p:nvSpPr>
          <p:cNvPr id="3" name="Sous-titre 2">
            <a:extLst>
              <a:ext uri="{FF2B5EF4-FFF2-40B4-BE49-F238E27FC236}">
                <a16:creationId xmlns:a16="http://schemas.microsoft.com/office/drawing/2014/main" id="{F421A536-FAB3-A183-8059-3F83B2F9B295}"/>
              </a:ext>
            </a:extLst>
          </p:cNvPr>
          <p:cNvSpPr txBox="1">
            <a:spLocks/>
          </p:cNvSpPr>
          <p:nvPr/>
        </p:nvSpPr>
        <p:spPr>
          <a:xfrm>
            <a:off x="312840" y="5752932"/>
            <a:ext cx="5486400" cy="528400"/>
          </a:xfrm>
          <a:prstGeom prst="rect">
            <a:avLst/>
          </a:prstGeom>
          <a:noFill/>
          <a:ln>
            <a:noFill/>
          </a:ln>
        </p:spPr>
        <p:txBody>
          <a:bodyPr spcFirstLastPara="1" wrap="square" lIns="121920" tIns="60960" rIns="121920" bIns="60960" anchor="ctr" anchorCtr="0">
            <a:norm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SzPts val="1400"/>
              <a:buFont typeface="Roboto"/>
              <a:buNone/>
              <a:defRPr sz="1350" b="0" i="0" u="none" strike="noStrike" cap="none">
                <a:solidFill>
                  <a:schemeClr val="tx1">
                    <a:lumMod val="95000"/>
                    <a:lumOff val="5000"/>
                  </a:schemeClr>
                </a:solidFill>
                <a:latin typeface="Roboto"/>
                <a:ea typeface="Roboto"/>
                <a:cs typeface="Roboto"/>
                <a:sym typeface="Roboto"/>
              </a:defRPr>
            </a:lvl1pPr>
            <a:lvl2pPr marL="342900" marR="0" lvl="1" indent="0" algn="l" rtl="0">
              <a:lnSpc>
                <a:spcPct val="100000"/>
              </a:lnSpc>
              <a:spcBef>
                <a:spcPts val="0"/>
              </a:spcBef>
              <a:spcAft>
                <a:spcPts val="0"/>
              </a:spcAft>
              <a:buClr>
                <a:schemeClr val="dk1"/>
              </a:buClr>
              <a:buSzPts val="1400"/>
              <a:buFont typeface="Roboto"/>
              <a:buNone/>
              <a:defRPr sz="1350" b="0" i="0" u="none" strike="noStrike" cap="none">
                <a:solidFill>
                  <a:schemeClr val="tx1">
                    <a:tint val="75000"/>
                  </a:schemeClr>
                </a:solidFill>
                <a:latin typeface="Roboto"/>
                <a:ea typeface="Roboto"/>
                <a:cs typeface="Roboto"/>
                <a:sym typeface="Roboto"/>
              </a:defRPr>
            </a:lvl2pPr>
            <a:lvl3pPr marL="685800" marR="0" lvl="2" indent="0" algn="l" rtl="0">
              <a:lnSpc>
                <a:spcPct val="100000"/>
              </a:lnSpc>
              <a:spcBef>
                <a:spcPts val="0"/>
              </a:spcBef>
              <a:spcAft>
                <a:spcPts val="0"/>
              </a:spcAft>
              <a:buClr>
                <a:schemeClr val="dk1"/>
              </a:buClr>
              <a:buSzPts val="1400"/>
              <a:buFont typeface="Roboto"/>
              <a:buNone/>
              <a:defRPr sz="1200" b="0" i="0" u="none" strike="noStrike" cap="none">
                <a:solidFill>
                  <a:schemeClr val="tx1">
                    <a:tint val="75000"/>
                  </a:schemeClr>
                </a:solidFill>
                <a:latin typeface="Roboto"/>
                <a:ea typeface="Roboto"/>
                <a:cs typeface="Roboto"/>
                <a:sym typeface="Roboto"/>
              </a:defRPr>
            </a:lvl3pPr>
            <a:lvl4pPr marL="1028700" marR="0" lvl="3"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4pPr>
            <a:lvl5pPr marL="1371600" marR="0" lvl="4"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5pPr>
            <a:lvl6pPr marL="1714500" marR="0" lvl="5"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6pPr>
            <a:lvl7pPr marL="2057400" marR="0" lvl="6"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7pPr>
            <a:lvl8pPr marL="2400300" marR="0" lvl="7"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8pPr>
            <a:lvl9pPr marL="2743200" marR="0" lvl="8"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9pPr>
          </a:lstStyle>
          <a:p>
            <a:pPr defTabSz="609585">
              <a:buClr>
                <a:srgbClr val="000000"/>
              </a:buClr>
            </a:pPr>
            <a:r>
              <a:rPr lang="en" sz="1867" dirty="0">
                <a:solidFill>
                  <a:srgbClr val="C00000"/>
                </a:solidFill>
              </a:rPr>
              <a:t>Séance 7 – Diagramme d’états-transition</a:t>
            </a:r>
            <a:endParaRPr lang="fr-FR" sz="1867" dirty="0">
              <a:solidFill>
                <a:srgbClr val="C00000"/>
              </a:solidFill>
            </a:endParaRPr>
          </a:p>
        </p:txBody>
      </p:sp>
      <p:pic>
        <p:nvPicPr>
          <p:cNvPr id="8" name="Imag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94613" y="0"/>
            <a:ext cx="8669867" cy="4331715"/>
          </a:xfrm>
          <a:prstGeom prst="rect">
            <a:avLst/>
          </a:prstGeom>
        </p:spPr>
      </p:pic>
      <p:sp>
        <p:nvSpPr>
          <p:cNvPr id="9" name="Rectangle 8"/>
          <p:cNvSpPr/>
          <p:nvPr/>
        </p:nvSpPr>
        <p:spPr>
          <a:xfrm>
            <a:off x="0" y="0"/>
            <a:ext cx="12192000" cy="6366508"/>
          </a:xfrm>
          <a:prstGeom prst="rect">
            <a:avLst/>
          </a:prstGeom>
          <a:solidFill>
            <a:srgbClr val="F5C07F">
              <a:alpha val="12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endParaRPr lang="fr-FR" sz="2400">
              <a:solidFill>
                <a:prstClr val="white"/>
              </a:solidFill>
              <a:latin typeface="Calibri" panose="020F0502020204030204"/>
            </a:endParaRPr>
          </a:p>
        </p:txBody>
      </p:sp>
      <p:sp>
        <p:nvSpPr>
          <p:cNvPr id="10" name="Footer Placeholder 1">
            <a:extLst>
              <a:ext uri="{FF2B5EF4-FFF2-40B4-BE49-F238E27FC236}">
                <a16:creationId xmlns:a16="http://schemas.microsoft.com/office/drawing/2014/main" id="{F70F3D5B-21AD-40E2-B2FA-5C660E700671}"/>
              </a:ext>
            </a:extLst>
          </p:cNvPr>
          <p:cNvSpPr txBox="1">
            <a:spLocks/>
          </p:cNvSpPr>
          <p:nvPr/>
        </p:nvSpPr>
        <p:spPr>
          <a:xfrm>
            <a:off x="10291482" y="6444846"/>
            <a:ext cx="1784972" cy="337453"/>
          </a:xfrm>
          <a:prstGeom prst="rect">
            <a:avLst/>
          </a:prstGeom>
        </p:spPr>
        <p:txBody>
          <a:bodyPr vert="horz" lIns="121920" tIns="60960" rIns="121920" bIns="60960" rtlCol="0" anchor="ctr"/>
          <a:lstStyle>
            <a:defPPr>
              <a:defRPr lang="en-US"/>
            </a:defPPr>
            <a:lvl1pPr marL="0" algn="ctr" defTabSz="457200" rtl="0" eaLnBrk="1" latinLnBrk="0" hangingPunct="1">
              <a:defRPr sz="675"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609585"/>
            <a:r>
              <a:rPr lang="en-US" sz="900" dirty="0">
                <a:latin typeface="Calibri" panose="020F0502020204030204"/>
              </a:rPr>
              <a:t>2023 - 2024</a:t>
            </a:r>
          </a:p>
        </p:txBody>
      </p:sp>
      <p:sp>
        <p:nvSpPr>
          <p:cNvPr id="7" name="Espace réservé du texte 6">
            <a:extLst>
              <a:ext uri="{FF2B5EF4-FFF2-40B4-BE49-F238E27FC236}">
                <a16:creationId xmlns:a16="http://schemas.microsoft.com/office/drawing/2014/main" id="{9860908D-0AB4-187E-527D-2A610429C0A2}"/>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3164264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371600" y="533400"/>
            <a:ext cx="9839325" cy="615950"/>
          </a:xfrm>
        </p:spPr>
        <p:txBody>
          <a:bodyPr/>
          <a:lstStyle/>
          <a:p>
            <a:r>
              <a:rPr lang="fr-FR" altLang="fr-FR" sz="4000" dirty="0"/>
              <a:t>I. Définition</a:t>
            </a:r>
          </a:p>
        </p:txBody>
      </p:sp>
      <p:sp>
        <p:nvSpPr>
          <p:cNvPr id="6147" name="Rectangle 3"/>
          <p:cNvSpPr>
            <a:spLocks noGrp="1" noChangeArrowheads="1"/>
          </p:cNvSpPr>
          <p:nvPr>
            <p:ph type="body" idx="4294967295"/>
          </p:nvPr>
        </p:nvSpPr>
        <p:spPr>
          <a:xfrm>
            <a:off x="859448" y="1752600"/>
            <a:ext cx="10363200" cy="3600986"/>
          </a:xfrm>
        </p:spPr>
        <p:txBody>
          <a:bodyPr/>
          <a:lstStyle/>
          <a:p>
            <a:pPr marL="342900" indent="-342900" algn="just">
              <a:lnSpc>
                <a:spcPct val="150000"/>
              </a:lnSpc>
              <a:buClr>
                <a:schemeClr val="accent6">
                  <a:lumMod val="75000"/>
                </a:schemeClr>
              </a:buClr>
              <a:buFont typeface="Wingdings" panose="05000000000000000000" pitchFamily="2" charset="2"/>
              <a:buChar char="v"/>
            </a:pPr>
            <a:r>
              <a:rPr lang="fr-FR" altLang="fr-FR" sz="2400" dirty="0">
                <a:latin typeface="Calibri" panose="020F0502020204030204" pitchFamily="34" charset="0"/>
                <a:cs typeface="Calibri" panose="020F0502020204030204" pitchFamily="34" charset="0"/>
              </a:rPr>
              <a:t>Le diagramme d’états-transitions décrit le comportement interne d’un objet à l’aide d’un automate à états finis. </a:t>
            </a:r>
          </a:p>
          <a:p>
            <a:pPr marL="342900" indent="-342900" algn="just">
              <a:lnSpc>
                <a:spcPct val="150000"/>
              </a:lnSpc>
              <a:buClr>
                <a:schemeClr val="accent6">
                  <a:lumMod val="75000"/>
                </a:schemeClr>
              </a:buClr>
              <a:buFont typeface="Wingdings" panose="05000000000000000000" pitchFamily="2" charset="2"/>
              <a:buChar char="v"/>
            </a:pPr>
            <a:r>
              <a:rPr lang="fr-FR" altLang="fr-FR" sz="2400" dirty="0">
                <a:latin typeface="Calibri" panose="020F0502020204030204" pitchFamily="34" charset="0"/>
                <a:cs typeface="Calibri" panose="020F0502020204030204" pitchFamily="34" charset="0"/>
              </a:rPr>
              <a:t>Le diagramme d’états-transitions décrit le comportement dynamique des objets dans le temps en modélisant les cycles de vie des objets de chaque classe.</a:t>
            </a:r>
          </a:p>
          <a:p>
            <a:pPr marL="342900" indent="-342900" algn="just">
              <a:lnSpc>
                <a:spcPct val="150000"/>
              </a:lnSpc>
              <a:buClr>
                <a:schemeClr val="accent6">
                  <a:lumMod val="75000"/>
                </a:schemeClr>
              </a:buClr>
              <a:buFont typeface="Wingdings" panose="05000000000000000000" pitchFamily="2" charset="2"/>
              <a:buChar char="v"/>
            </a:pPr>
            <a:r>
              <a:rPr lang="fr-FR" altLang="fr-FR" sz="2400" dirty="0">
                <a:latin typeface="Calibri" panose="020F0502020204030204" pitchFamily="34" charset="0"/>
                <a:cs typeface="Calibri" panose="020F0502020204030204" pitchFamily="34" charset="0"/>
              </a:rPr>
              <a:t>Il représente les séquences possibles d’états et d’actions qu’une instance peut traiter au cours de son cycle de vie, en réaction à des événements discrets</a:t>
            </a:r>
          </a:p>
          <a:p>
            <a:pPr marL="800100" lvl="1" indent="-342900" algn="just">
              <a:lnSpc>
                <a:spcPct val="90000"/>
              </a:lnSpc>
              <a:buClr>
                <a:schemeClr val="accent6">
                  <a:lumMod val="75000"/>
                </a:schemeClr>
              </a:buClr>
              <a:buFont typeface="Wingdings" panose="05000000000000000000" pitchFamily="2" charset="2"/>
              <a:buChar char="v"/>
            </a:pPr>
            <a:endParaRPr lang="fr-FR" altLang="fr-FR"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21948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1176337" y="609600"/>
            <a:ext cx="9839325" cy="554038"/>
          </a:xfrm>
        </p:spPr>
        <p:txBody>
          <a:bodyPr/>
          <a:lstStyle/>
          <a:p>
            <a:r>
              <a:rPr lang="fr-FR" altLang="fr-FR" sz="3600" dirty="0"/>
              <a:t>II. Formalisme</a:t>
            </a:r>
          </a:p>
        </p:txBody>
      </p:sp>
      <p:sp>
        <p:nvSpPr>
          <p:cNvPr id="3" name="Rectangle 2"/>
          <p:cNvSpPr/>
          <p:nvPr/>
        </p:nvSpPr>
        <p:spPr>
          <a:xfrm>
            <a:off x="3048000" y="2690336"/>
            <a:ext cx="6096000" cy="1938992"/>
          </a:xfrm>
          <a:prstGeom prst="rect">
            <a:avLst/>
          </a:prstGeom>
        </p:spPr>
        <p:txBody>
          <a:bodyPr>
            <a:spAutoFit/>
          </a:bodyPr>
          <a:lstStyle/>
          <a:p>
            <a:pPr marL="285750" indent="-285750">
              <a:buClr>
                <a:schemeClr val="accent6">
                  <a:lumMod val="75000"/>
                </a:schemeClr>
              </a:buClr>
              <a:buFont typeface="Wingdings" panose="05000000000000000000" pitchFamily="2" charset="2"/>
              <a:buChar char="v"/>
            </a:pPr>
            <a:r>
              <a:rPr lang="fr-FR" altLang="fr-FR" sz="2400" b="1" dirty="0">
                <a:latin typeface="Calibri" panose="020F0502020204030204" pitchFamily="34" charset="0"/>
                <a:cs typeface="Calibri" panose="020F0502020204030204" pitchFamily="34" charset="0"/>
              </a:rPr>
              <a:t>État</a:t>
            </a:r>
          </a:p>
          <a:p>
            <a:pPr marL="285750" indent="-285750">
              <a:buClr>
                <a:schemeClr val="accent6">
                  <a:lumMod val="75000"/>
                </a:schemeClr>
              </a:buClr>
              <a:buFont typeface="Wingdings" panose="05000000000000000000" pitchFamily="2" charset="2"/>
              <a:buChar char="v"/>
            </a:pPr>
            <a:r>
              <a:rPr lang="fr-FR" altLang="fr-FR" sz="2400" b="1" dirty="0">
                <a:latin typeface="Calibri" panose="020F0502020204030204" pitchFamily="34" charset="0"/>
                <a:cs typeface="Calibri" panose="020F0502020204030204" pitchFamily="34" charset="0"/>
              </a:rPr>
              <a:t>Événement</a:t>
            </a:r>
          </a:p>
          <a:p>
            <a:pPr marL="285750" indent="-285750">
              <a:buClr>
                <a:schemeClr val="accent6">
                  <a:lumMod val="75000"/>
                </a:schemeClr>
              </a:buClr>
              <a:buFont typeface="Wingdings" panose="05000000000000000000" pitchFamily="2" charset="2"/>
              <a:buChar char="v"/>
            </a:pPr>
            <a:r>
              <a:rPr lang="fr-FR" altLang="fr-FR" sz="2400" b="1" dirty="0">
                <a:latin typeface="Calibri" panose="020F0502020204030204" pitchFamily="34" charset="0"/>
                <a:cs typeface="Calibri" panose="020F0502020204030204" pitchFamily="34" charset="0"/>
              </a:rPr>
              <a:t>Transition</a:t>
            </a:r>
          </a:p>
          <a:p>
            <a:pPr marL="285750" indent="-285750">
              <a:buClr>
                <a:schemeClr val="accent6">
                  <a:lumMod val="75000"/>
                </a:schemeClr>
              </a:buClr>
              <a:buFont typeface="Wingdings" panose="05000000000000000000" pitchFamily="2" charset="2"/>
              <a:buChar char="v"/>
            </a:pPr>
            <a:r>
              <a:rPr lang="fr-FR" altLang="fr-FR" sz="2400" b="1" dirty="0">
                <a:latin typeface="Calibri" panose="020F0502020204030204" pitchFamily="34" charset="0"/>
                <a:cs typeface="Calibri" panose="020F0502020204030204" pitchFamily="34" charset="0"/>
              </a:rPr>
              <a:t>Point de choix</a:t>
            </a:r>
          </a:p>
          <a:p>
            <a:pPr marL="285750" indent="-285750">
              <a:buClr>
                <a:schemeClr val="accent6">
                  <a:lumMod val="75000"/>
                </a:schemeClr>
              </a:buClr>
              <a:buFont typeface="Wingdings" panose="05000000000000000000" pitchFamily="2" charset="2"/>
              <a:buChar char="v"/>
            </a:pPr>
            <a:r>
              <a:rPr lang="fr-FR" altLang="fr-FR" sz="2400" b="1" dirty="0">
                <a:latin typeface="Calibri" panose="020F0502020204030204" pitchFamily="34" charset="0"/>
                <a:cs typeface="Calibri" panose="020F0502020204030204" pitchFamily="34" charset="0"/>
              </a:rPr>
              <a:t>États composites</a:t>
            </a:r>
          </a:p>
        </p:txBody>
      </p:sp>
    </p:spTree>
    <p:extLst>
      <p:ext uri="{BB962C8B-B14F-4D97-AF65-F5344CB8AC3E}">
        <p14:creationId xmlns:p14="http://schemas.microsoft.com/office/powerpoint/2010/main" val="1390044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1143000" y="533400"/>
            <a:ext cx="9839325" cy="554038"/>
          </a:xfrm>
        </p:spPr>
        <p:txBody>
          <a:bodyPr/>
          <a:lstStyle/>
          <a:p>
            <a:r>
              <a:rPr lang="fr-FR" altLang="fr-FR" sz="3600" dirty="0"/>
              <a:t>II. 1 l’état</a:t>
            </a:r>
          </a:p>
        </p:txBody>
      </p:sp>
      <p:sp>
        <p:nvSpPr>
          <p:cNvPr id="9219" name="Rectangle 3"/>
          <p:cNvSpPr>
            <a:spLocks noGrp="1" noChangeArrowheads="1"/>
          </p:cNvSpPr>
          <p:nvPr>
            <p:ph type="body" idx="4294967295"/>
          </p:nvPr>
        </p:nvSpPr>
        <p:spPr>
          <a:xfrm>
            <a:off x="1524000" y="1656141"/>
            <a:ext cx="9296400" cy="3326423"/>
          </a:xfrm>
        </p:spPr>
        <p:txBody>
          <a:bodyPr/>
          <a:lstStyle/>
          <a:p>
            <a:pPr marL="342900" indent="-342900" algn="just">
              <a:lnSpc>
                <a:spcPct val="200000"/>
              </a:lnSpc>
              <a:buClr>
                <a:schemeClr val="accent6">
                  <a:lumMod val="75000"/>
                </a:schemeClr>
              </a:buClr>
              <a:buFont typeface="Wingdings" panose="05000000000000000000" pitchFamily="2" charset="2"/>
              <a:buChar char="v"/>
            </a:pPr>
            <a:r>
              <a:rPr lang="fr-FR" altLang="fr-FR" sz="2800" dirty="0"/>
              <a:t>L’état représente une situation, pendant la durée de vie d’un objet, qui satisfait une ou plusieurs conditions, effectue une ou plusieurs activités, ou attend la survenue d’un évènement.</a:t>
            </a:r>
          </a:p>
          <a:p>
            <a:pPr marL="342900" indent="-342900" algn="just">
              <a:lnSpc>
                <a:spcPct val="200000"/>
              </a:lnSpc>
              <a:buClr>
                <a:schemeClr val="accent6">
                  <a:lumMod val="75000"/>
                </a:schemeClr>
              </a:buClr>
              <a:buFont typeface="Wingdings" panose="05000000000000000000" pitchFamily="2" charset="2"/>
              <a:buChar char="v"/>
            </a:pPr>
            <a:r>
              <a:rPr lang="fr-FR" altLang="fr-FR" sz="2800" dirty="0"/>
              <a:t>Le diagramme peut avoir un ou plusieurs états</a:t>
            </a:r>
          </a:p>
        </p:txBody>
      </p:sp>
    </p:spTree>
    <p:extLst>
      <p:ext uri="{BB962C8B-B14F-4D97-AF65-F5344CB8AC3E}">
        <p14:creationId xmlns:p14="http://schemas.microsoft.com/office/powerpoint/2010/main" val="4144777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numéro de diapositive 6"/>
          <p:cNvSpPr>
            <a:spLocks noGrp="1"/>
          </p:cNvSpPr>
          <p:nvPr>
            <p:ph type="sldNum" sz="quarter" idx="12"/>
          </p:nvPr>
        </p:nvSpPr>
        <p:spPr/>
        <p:txBody>
          <a:bodyPr/>
          <a:lstStyle/>
          <a:p>
            <a:fld id="{6DF5D51C-BFA8-43C4-AECD-BBF20456E802}" type="slidenum">
              <a:rPr lang="fr-FR" altLang="fr-FR"/>
              <a:pPr/>
              <a:t>5</a:t>
            </a:fld>
            <a:endParaRPr lang="fr-FR" altLang="fr-FR"/>
          </a:p>
        </p:txBody>
      </p:sp>
      <p:sp>
        <p:nvSpPr>
          <p:cNvPr id="19458" name="Rectangle 2"/>
          <p:cNvSpPr>
            <a:spLocks noGrp="1" noChangeArrowheads="1"/>
          </p:cNvSpPr>
          <p:nvPr>
            <p:ph type="title"/>
          </p:nvPr>
        </p:nvSpPr>
        <p:spPr>
          <a:xfrm>
            <a:off x="1066800" y="398462"/>
            <a:ext cx="9839960" cy="615553"/>
          </a:xfrm>
        </p:spPr>
        <p:txBody>
          <a:bodyPr/>
          <a:lstStyle/>
          <a:p>
            <a:r>
              <a:rPr lang="fr-FR" altLang="fr-FR" sz="4000" dirty="0"/>
              <a:t>II. 1 l’état - Représentation</a:t>
            </a:r>
            <a:endParaRPr lang="fr-FR" altLang="fr-FR" sz="4000" b="1" i="1" dirty="0">
              <a:solidFill>
                <a:srgbClr val="FF0000"/>
              </a:solidFill>
            </a:endParaRPr>
          </a:p>
        </p:txBody>
      </p:sp>
      <p:pic>
        <p:nvPicPr>
          <p:cNvPr id="19460"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511675" y="2574925"/>
            <a:ext cx="2286000" cy="1006475"/>
          </a:xfrm>
          <a:noFill/>
          <a:ln/>
        </p:spPr>
      </p:pic>
      <p:sp>
        <p:nvSpPr>
          <p:cNvPr id="19462" name="Text Box 6"/>
          <p:cNvSpPr txBox="1">
            <a:spLocks noChangeArrowheads="1"/>
          </p:cNvSpPr>
          <p:nvPr/>
        </p:nvSpPr>
        <p:spPr bwMode="auto">
          <a:xfrm>
            <a:off x="2063750" y="3976688"/>
            <a:ext cx="862723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400" dirty="0"/>
              <a:t>Certains états, dits </a:t>
            </a:r>
            <a:r>
              <a:rPr lang="fr-FR" altLang="fr-FR" sz="2400" i="1" dirty="0"/>
              <a:t>composites</a:t>
            </a:r>
            <a:r>
              <a:rPr lang="fr-FR" altLang="fr-FR" sz="2400" dirty="0"/>
              <a:t> peuvent contenir des sous-états. </a:t>
            </a:r>
          </a:p>
        </p:txBody>
      </p:sp>
      <p:sp>
        <p:nvSpPr>
          <p:cNvPr id="19464" name="Text Box 8"/>
          <p:cNvSpPr txBox="1">
            <a:spLocks noChangeArrowheads="1"/>
          </p:cNvSpPr>
          <p:nvPr/>
        </p:nvSpPr>
        <p:spPr bwMode="auto">
          <a:xfrm>
            <a:off x="1919288" y="1628775"/>
            <a:ext cx="969130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400" dirty="0"/>
              <a:t>Un état </a:t>
            </a:r>
            <a:r>
              <a:rPr lang="fr-FR" altLang="fr-FR" sz="2400" i="1" dirty="0"/>
              <a:t>élémentaire</a:t>
            </a:r>
            <a:r>
              <a:rPr lang="fr-FR" altLang="fr-FR" sz="2400" dirty="0"/>
              <a:t>, se représente graphiquement dans un diagramme </a:t>
            </a:r>
          </a:p>
          <a:p>
            <a:r>
              <a:rPr lang="fr-FR" altLang="fr-FR" sz="2400" dirty="0"/>
              <a:t>d’états-transitions par un rectangle aux coins arrondis </a:t>
            </a:r>
          </a:p>
        </p:txBody>
      </p:sp>
    </p:spTree>
    <p:extLst>
      <p:ext uri="{BB962C8B-B14F-4D97-AF65-F5344CB8AC3E}">
        <p14:creationId xmlns:p14="http://schemas.microsoft.com/office/powerpoint/2010/main" val="2671277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numéro de diapositive 7"/>
          <p:cNvSpPr>
            <a:spLocks noGrp="1"/>
          </p:cNvSpPr>
          <p:nvPr>
            <p:ph type="sldNum" sz="quarter" idx="12"/>
          </p:nvPr>
        </p:nvSpPr>
        <p:spPr/>
        <p:txBody>
          <a:bodyPr/>
          <a:lstStyle/>
          <a:p>
            <a:fld id="{5DC51244-ABE5-44A3-B9CC-0F21EBA69219}" type="slidenum">
              <a:rPr lang="fr-FR" altLang="fr-FR"/>
              <a:pPr/>
              <a:t>6</a:t>
            </a:fld>
            <a:endParaRPr lang="fr-FR" altLang="fr-FR"/>
          </a:p>
        </p:txBody>
      </p:sp>
      <p:sp>
        <p:nvSpPr>
          <p:cNvPr id="22532" name="Rectangle 4"/>
          <p:cNvSpPr>
            <a:spLocks noGrp="1" noChangeArrowheads="1"/>
          </p:cNvSpPr>
          <p:nvPr>
            <p:ph type="title"/>
          </p:nvPr>
        </p:nvSpPr>
        <p:spPr>
          <a:xfrm>
            <a:off x="1066800" y="375982"/>
            <a:ext cx="10972800" cy="738664"/>
          </a:xfrm>
        </p:spPr>
        <p:txBody>
          <a:bodyPr/>
          <a:lstStyle/>
          <a:p>
            <a:r>
              <a:rPr lang="fr-FR" altLang="fr-FR" dirty="0"/>
              <a:t>II. 1 l’état - </a:t>
            </a:r>
            <a:r>
              <a:rPr lang="fr-FR" altLang="fr-FR" b="1" dirty="0">
                <a:solidFill>
                  <a:srgbClr val="FF0000"/>
                </a:solidFill>
              </a:rPr>
              <a:t>État initial et final</a:t>
            </a:r>
          </a:p>
        </p:txBody>
      </p:sp>
      <p:pic>
        <p:nvPicPr>
          <p:cNvPr id="22534" name="Picture 6"/>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5735639" y="2997201"/>
            <a:ext cx="460375" cy="460375"/>
          </a:xfrm>
          <a:noFill/>
          <a:ln/>
        </p:spPr>
      </p:pic>
      <p:pic>
        <p:nvPicPr>
          <p:cNvPr id="22536" name="Picture 8"/>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5808663" y="5013326"/>
            <a:ext cx="531812" cy="531813"/>
          </a:xfrm>
          <a:noFill/>
          <a:ln/>
        </p:spPr>
      </p:pic>
      <p:sp>
        <p:nvSpPr>
          <p:cNvPr id="22539" name="Text Box 11"/>
          <p:cNvSpPr txBox="1">
            <a:spLocks noChangeArrowheads="1"/>
          </p:cNvSpPr>
          <p:nvPr/>
        </p:nvSpPr>
        <p:spPr bwMode="auto">
          <a:xfrm>
            <a:off x="1034473" y="1479165"/>
            <a:ext cx="993832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FontTx/>
              <a:buChar char="•"/>
            </a:pPr>
            <a:r>
              <a:rPr lang="fr-FR" altLang="fr-FR" sz="2400" dirty="0"/>
              <a:t> L’état initial est un pseudo état qui indique l’état de départ, par défaut, lorsque le diagramme d’états-transitions, est invoqué. </a:t>
            </a:r>
          </a:p>
          <a:p>
            <a:endParaRPr lang="fr-FR" altLang="fr-FR" dirty="0"/>
          </a:p>
          <a:p>
            <a:pPr>
              <a:buFontTx/>
              <a:buChar char="•"/>
            </a:pPr>
            <a:endParaRPr lang="fr-FR" altLang="fr-FR" dirty="0"/>
          </a:p>
        </p:txBody>
      </p:sp>
      <p:sp>
        <p:nvSpPr>
          <p:cNvPr id="22540" name="Text Box 12"/>
          <p:cNvSpPr txBox="1">
            <a:spLocks noChangeArrowheads="1"/>
          </p:cNvSpPr>
          <p:nvPr/>
        </p:nvSpPr>
        <p:spPr bwMode="auto">
          <a:xfrm>
            <a:off x="1219200" y="3664714"/>
            <a:ext cx="10439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FontTx/>
              <a:buChar char="•"/>
            </a:pPr>
            <a:r>
              <a:rPr lang="fr-FR" altLang="fr-FR" sz="2400" dirty="0"/>
              <a:t> L’état final est un pseudo état qui indique que le diagramme d’états-transitions est terminé. </a:t>
            </a:r>
          </a:p>
        </p:txBody>
      </p:sp>
    </p:spTree>
    <p:extLst>
      <p:ext uri="{BB962C8B-B14F-4D97-AF65-F5344CB8AC3E}">
        <p14:creationId xmlns:p14="http://schemas.microsoft.com/office/powerpoint/2010/main" val="3983724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4"/>
          <p:cNvSpPr>
            <a:spLocks noGrp="1" noChangeArrowheads="1"/>
          </p:cNvSpPr>
          <p:nvPr>
            <p:ph type="title"/>
          </p:nvPr>
        </p:nvSpPr>
        <p:spPr>
          <a:xfrm>
            <a:off x="1066800" y="375982"/>
            <a:ext cx="10972800" cy="738664"/>
          </a:xfrm>
        </p:spPr>
        <p:txBody>
          <a:bodyPr/>
          <a:lstStyle/>
          <a:p>
            <a:r>
              <a:rPr lang="fr-FR" altLang="fr-FR" dirty="0"/>
              <a:t>II. 1 l’état - </a:t>
            </a:r>
            <a:r>
              <a:rPr lang="fr-FR" altLang="fr-FR" b="1" dirty="0">
                <a:solidFill>
                  <a:srgbClr val="FF0000"/>
                </a:solidFill>
              </a:rPr>
              <a:t>État initial et final</a:t>
            </a:r>
          </a:p>
        </p:txBody>
      </p:sp>
      <p:sp>
        <p:nvSpPr>
          <p:cNvPr id="22539" name="Text Box 11"/>
          <p:cNvSpPr txBox="1">
            <a:spLocks noChangeArrowheads="1"/>
          </p:cNvSpPr>
          <p:nvPr/>
        </p:nvSpPr>
        <p:spPr bwMode="auto">
          <a:xfrm>
            <a:off x="1295400" y="1524774"/>
            <a:ext cx="10210800"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spcBef>
                <a:spcPts val="2400"/>
              </a:spcBef>
              <a:buClr>
                <a:schemeClr val="accent6">
                  <a:lumMod val="75000"/>
                </a:schemeClr>
              </a:buClr>
              <a:buFont typeface="Wingdings" panose="05000000000000000000" pitchFamily="2" charset="2"/>
              <a:buChar char="v"/>
            </a:pPr>
            <a:r>
              <a:rPr lang="fr-FR" altLang="fr-FR" sz="2400" dirty="0"/>
              <a:t>Le nom de l’état doit être unique dans le diagramme d’états-transitions, ou     dans l’état enveloppant. </a:t>
            </a:r>
          </a:p>
          <a:p>
            <a:pPr marL="285750" indent="-285750">
              <a:spcBef>
                <a:spcPts val="2400"/>
              </a:spcBef>
              <a:buClr>
                <a:schemeClr val="accent6">
                  <a:lumMod val="75000"/>
                </a:schemeClr>
              </a:buClr>
              <a:buFont typeface="Wingdings" panose="05000000000000000000" pitchFamily="2" charset="2"/>
              <a:buChar char="v"/>
            </a:pPr>
            <a:r>
              <a:rPr lang="fr-FR" altLang="fr-FR" sz="2400" dirty="0"/>
              <a:t>Un état peut être partitionné en plusieurs compartiments séparés par une  ligne horizontale.</a:t>
            </a:r>
          </a:p>
          <a:p>
            <a:pPr marL="285750" indent="-285750">
              <a:spcBef>
                <a:spcPts val="2400"/>
              </a:spcBef>
              <a:buClr>
                <a:schemeClr val="accent6">
                  <a:lumMod val="75000"/>
                </a:schemeClr>
              </a:buClr>
              <a:buFont typeface="Wingdings" panose="05000000000000000000" pitchFamily="2" charset="2"/>
              <a:buChar char="v"/>
            </a:pPr>
            <a:r>
              <a:rPr lang="fr-FR" altLang="fr-FR" sz="2400" dirty="0"/>
              <a:t>Un objet peut passer par une série d’états pendant sa durée de vie. </a:t>
            </a:r>
          </a:p>
          <a:p>
            <a:pPr marL="285750" indent="-285750">
              <a:spcBef>
                <a:spcPts val="2400"/>
              </a:spcBef>
              <a:buClr>
                <a:schemeClr val="accent6">
                  <a:lumMod val="75000"/>
                </a:schemeClr>
              </a:buClr>
              <a:buFont typeface="Wingdings" panose="05000000000000000000" pitchFamily="2" charset="2"/>
              <a:buChar char="v"/>
            </a:pPr>
            <a:r>
              <a:rPr lang="fr-FR" altLang="fr-FR" sz="2400" dirty="0"/>
              <a:t>Un état représente une période dans la vie d’un objet pendant laquelle ce dernier attend un événement ou accomplit une activité.</a:t>
            </a:r>
          </a:p>
          <a:p>
            <a:pPr marL="285750" indent="-285750">
              <a:spcBef>
                <a:spcPts val="2400"/>
              </a:spcBef>
              <a:buClr>
                <a:schemeClr val="accent6">
                  <a:lumMod val="75000"/>
                </a:schemeClr>
              </a:buClr>
              <a:buFont typeface="Wingdings" panose="05000000000000000000" pitchFamily="2" charset="2"/>
              <a:buChar char="v"/>
            </a:pPr>
            <a:r>
              <a:rPr lang="fr-FR" altLang="fr-FR" sz="2400" dirty="0"/>
              <a:t>Dans le cas d’un diagramme d’états-transitions simple (sans transition concurrente), il ne peut y avoir qu’un seul état actif à la fois.  </a:t>
            </a:r>
          </a:p>
        </p:txBody>
      </p:sp>
    </p:spTree>
    <p:extLst>
      <p:ext uri="{BB962C8B-B14F-4D97-AF65-F5344CB8AC3E}">
        <p14:creationId xmlns:p14="http://schemas.microsoft.com/office/powerpoint/2010/main" val="1541418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1176337" y="533400"/>
            <a:ext cx="9839325" cy="554038"/>
          </a:xfrm>
        </p:spPr>
        <p:txBody>
          <a:bodyPr/>
          <a:lstStyle/>
          <a:p>
            <a:r>
              <a:rPr lang="fr-FR" altLang="fr-FR" sz="3600" dirty="0"/>
              <a:t>II. 1 l’état</a:t>
            </a:r>
          </a:p>
        </p:txBody>
      </p:sp>
      <p:sp>
        <p:nvSpPr>
          <p:cNvPr id="9219" name="Rectangle 3"/>
          <p:cNvSpPr>
            <a:spLocks noGrp="1" noChangeArrowheads="1"/>
          </p:cNvSpPr>
          <p:nvPr>
            <p:ph type="body" idx="4294967295"/>
          </p:nvPr>
        </p:nvSpPr>
        <p:spPr>
          <a:xfrm>
            <a:off x="1600200" y="1295400"/>
            <a:ext cx="8329612" cy="5032147"/>
          </a:xfrm>
        </p:spPr>
        <p:txBody>
          <a:bodyPr/>
          <a:lstStyle/>
          <a:p>
            <a:pPr marL="457200" indent="-457200">
              <a:spcBef>
                <a:spcPts val="1200"/>
              </a:spcBef>
              <a:buClr>
                <a:schemeClr val="accent6">
                  <a:lumMod val="75000"/>
                </a:schemeClr>
              </a:buClr>
              <a:buFont typeface="+mj-lt"/>
              <a:buAutoNum type="alphaUcPeriod"/>
              <a:defRPr/>
            </a:pPr>
            <a:r>
              <a:rPr lang="fr-FR" b="1" i="1" u="sng" dirty="0"/>
              <a:t>Le nom</a:t>
            </a:r>
            <a:r>
              <a:rPr lang="fr-FR" dirty="0"/>
              <a:t>: est composé d’une chaine de caractères et chaque mot doit avoir la première lettre en majuscule.</a:t>
            </a:r>
          </a:p>
          <a:p>
            <a:pPr marL="457200" indent="-457200">
              <a:spcBef>
                <a:spcPts val="1200"/>
              </a:spcBef>
              <a:buClr>
                <a:schemeClr val="accent6">
                  <a:lumMod val="75000"/>
                </a:schemeClr>
              </a:buClr>
              <a:buFont typeface="+mj-lt"/>
              <a:buAutoNum type="alphaUcPeriod"/>
              <a:defRPr/>
            </a:pPr>
            <a:r>
              <a:rPr lang="fr-FR" b="1" i="1" u="sng" dirty="0"/>
              <a:t>Les actions d’entrées/sorties </a:t>
            </a:r>
            <a:r>
              <a:rPr lang="fr-FR" dirty="0"/>
              <a:t>: </a:t>
            </a:r>
          </a:p>
          <a:p>
            <a:pPr marL="914400" lvl="1" indent="-457200">
              <a:spcBef>
                <a:spcPts val="1200"/>
              </a:spcBef>
              <a:buClr>
                <a:schemeClr val="accent6">
                  <a:lumMod val="75000"/>
                </a:schemeClr>
              </a:buClr>
              <a:buFont typeface="Arial" panose="020B0604020202020204" pitchFamily="34" charset="0"/>
              <a:buChar char="•"/>
              <a:defRPr/>
            </a:pPr>
            <a:r>
              <a:rPr lang="fr-FR" sz="2400" dirty="0">
                <a:latin typeface="Calibri" panose="020F0502020204030204" pitchFamily="34" charset="0"/>
                <a:cs typeface="Calibri" panose="020F0502020204030204" pitchFamily="34" charset="0"/>
              </a:rPr>
              <a:t>entry / action : action exécutée à l'entrée de l'état</a:t>
            </a:r>
          </a:p>
          <a:p>
            <a:pPr marL="914400" lvl="1" indent="-457200">
              <a:spcBef>
                <a:spcPts val="1200"/>
              </a:spcBef>
              <a:buClr>
                <a:schemeClr val="accent6">
                  <a:lumMod val="75000"/>
                </a:schemeClr>
              </a:buClr>
              <a:buFont typeface="Arial" panose="020B0604020202020204" pitchFamily="34" charset="0"/>
              <a:buChar char="•"/>
              <a:defRPr/>
            </a:pPr>
            <a:r>
              <a:rPr lang="fr-FR" sz="2400" dirty="0">
                <a:latin typeface="Calibri" panose="020F0502020204030204" pitchFamily="34" charset="0"/>
                <a:cs typeface="Calibri" panose="020F0502020204030204" pitchFamily="34" charset="0"/>
              </a:rPr>
              <a:t>exit / action : action exécutée à la sortie de l'état</a:t>
            </a:r>
          </a:p>
          <a:p>
            <a:pPr marL="514350" indent="-514350">
              <a:spcBef>
                <a:spcPts val="1200"/>
              </a:spcBef>
              <a:buClr>
                <a:schemeClr val="accent6">
                  <a:lumMod val="75000"/>
                </a:schemeClr>
              </a:buClr>
              <a:buFont typeface="+mj-lt"/>
              <a:buAutoNum type="alphaUcPeriod" startAt="3"/>
            </a:pPr>
            <a:r>
              <a:rPr lang="fr-FR" altLang="fr-FR" sz="2800" b="1" i="1" u="sng" dirty="0">
                <a:latin typeface="Calibri" panose="020F0502020204030204" pitchFamily="34" charset="0"/>
                <a:cs typeface="Calibri" panose="020F0502020204030204" pitchFamily="34" charset="0"/>
              </a:rPr>
              <a:t>L’activité</a:t>
            </a:r>
            <a:r>
              <a:rPr lang="fr-FR" altLang="fr-FR" sz="2800" b="1" dirty="0">
                <a:latin typeface="Calibri" panose="020F0502020204030204" pitchFamily="34" charset="0"/>
                <a:cs typeface="Calibri" panose="020F0502020204030204" pitchFamily="34" charset="0"/>
              </a:rPr>
              <a:t> : </a:t>
            </a:r>
          </a:p>
          <a:p>
            <a:pPr>
              <a:spcBef>
                <a:spcPts val="1200"/>
              </a:spcBef>
              <a:buClr>
                <a:schemeClr val="accent6">
                  <a:lumMod val="75000"/>
                </a:schemeClr>
              </a:buClr>
            </a:pPr>
            <a:r>
              <a:rPr lang="fr-FR" altLang="fr-FR" sz="2400" dirty="0">
                <a:latin typeface="Calibri" panose="020F0502020204030204" pitchFamily="34" charset="0"/>
                <a:cs typeface="Calibri" panose="020F0502020204030204" pitchFamily="34" charset="0"/>
              </a:rPr>
              <a:t>Une activité est une opération continue dans le temps: </a:t>
            </a:r>
          </a:p>
          <a:p>
            <a:pPr marL="914400" lvl="1" indent="-514350">
              <a:spcBef>
                <a:spcPts val="1200"/>
              </a:spcBef>
              <a:buClr>
                <a:schemeClr val="accent6">
                  <a:lumMod val="75000"/>
                </a:schemeClr>
              </a:buClr>
              <a:buFont typeface="Arial" panose="020B0604020202020204" pitchFamily="34" charset="0"/>
              <a:buChar char="•"/>
            </a:pPr>
            <a:r>
              <a:rPr lang="fr-FR" altLang="fr-FR" sz="2400" dirty="0">
                <a:latin typeface="Calibri" panose="020F0502020204030204" pitchFamily="34" charset="0"/>
                <a:cs typeface="Calibri" panose="020F0502020204030204" pitchFamily="34" charset="0"/>
              </a:rPr>
              <a:t>Elle prend un certain temps pour se réaliser. </a:t>
            </a:r>
          </a:p>
          <a:p>
            <a:pPr marL="914400" lvl="1" indent="-514350">
              <a:spcBef>
                <a:spcPts val="1200"/>
              </a:spcBef>
              <a:buClr>
                <a:schemeClr val="accent6">
                  <a:lumMod val="75000"/>
                </a:schemeClr>
              </a:buClr>
              <a:buFont typeface="Arial" panose="020B0604020202020204" pitchFamily="34" charset="0"/>
              <a:buChar char="•"/>
            </a:pPr>
            <a:r>
              <a:rPr lang="fr-FR" altLang="fr-FR" sz="2400" dirty="0">
                <a:latin typeface="Calibri" panose="020F0502020204030204" pitchFamily="34" charset="0"/>
                <a:cs typeface="Calibri" panose="020F0502020204030204" pitchFamily="34" charset="0"/>
              </a:rPr>
              <a:t>Elle est forcément liée à un état. </a:t>
            </a:r>
          </a:p>
          <a:p>
            <a:pPr marL="914400" lvl="1" indent="-514350">
              <a:spcBef>
                <a:spcPts val="1200"/>
              </a:spcBef>
              <a:buClr>
                <a:schemeClr val="accent6">
                  <a:lumMod val="75000"/>
                </a:schemeClr>
              </a:buClr>
              <a:buFont typeface="Arial" panose="020B0604020202020204" pitchFamily="34" charset="0"/>
              <a:buChar char="•"/>
            </a:pPr>
            <a:r>
              <a:rPr lang="fr-FR" altLang="fr-FR" sz="2400" dirty="0">
                <a:latin typeface="Calibri" panose="020F0502020204030204" pitchFamily="34" charset="0"/>
                <a:cs typeface="Calibri" panose="020F0502020204030204" pitchFamily="34" charset="0"/>
              </a:rPr>
              <a:t>L’activité est introduite par le mot clé do/activité.</a:t>
            </a:r>
          </a:p>
        </p:txBody>
      </p:sp>
      <p:sp>
        <p:nvSpPr>
          <p:cNvPr id="7" name="Rectangle à coins arrondis 6"/>
          <p:cNvSpPr/>
          <p:nvPr/>
        </p:nvSpPr>
        <p:spPr>
          <a:xfrm>
            <a:off x="9896764" y="3913908"/>
            <a:ext cx="1295400" cy="288031"/>
          </a:xfrm>
          <a:prstGeom prst="roundRect">
            <a:avLst/>
          </a:prstGeom>
        </p:spPr>
        <p:style>
          <a:lnRef idx="2">
            <a:schemeClr val="accent6"/>
          </a:lnRef>
          <a:fillRef idx="1">
            <a:schemeClr val="lt1"/>
          </a:fillRef>
          <a:effectRef idx="0">
            <a:schemeClr val="accent6"/>
          </a:effectRef>
          <a:fontRef idx="minor">
            <a:schemeClr val="dk1"/>
          </a:fontRef>
        </p:style>
        <p:txBody>
          <a:bodyPr rtlCol="1" anchor="ctr"/>
          <a:lstStyle/>
          <a:p>
            <a:pPr algn="ctr"/>
            <a:r>
              <a:rPr lang="fr-FR" dirty="0"/>
              <a:t>Nom état</a:t>
            </a:r>
            <a:endParaRPr lang="ar-DZ" dirty="0"/>
          </a:p>
        </p:txBody>
      </p:sp>
      <p:sp>
        <p:nvSpPr>
          <p:cNvPr id="8" name="Rectangle à coins arrondis 7"/>
          <p:cNvSpPr/>
          <p:nvPr/>
        </p:nvSpPr>
        <p:spPr>
          <a:xfrm>
            <a:off x="9829800" y="4215859"/>
            <a:ext cx="1371600" cy="1270542"/>
          </a:xfrm>
          <a:prstGeom prst="roundRect">
            <a:avLst/>
          </a:prstGeom>
        </p:spPr>
        <p:style>
          <a:lnRef idx="2">
            <a:schemeClr val="accent6"/>
          </a:lnRef>
          <a:fillRef idx="1">
            <a:schemeClr val="lt1"/>
          </a:fillRef>
          <a:effectRef idx="0">
            <a:schemeClr val="accent6"/>
          </a:effectRef>
          <a:fontRef idx="minor">
            <a:schemeClr val="dk1"/>
          </a:fontRef>
        </p:style>
        <p:txBody>
          <a:bodyPr rtlCol="1" anchor="ctr"/>
          <a:lstStyle/>
          <a:p>
            <a:r>
              <a:rPr lang="fr-FR" dirty="0"/>
              <a:t>Entry:</a:t>
            </a:r>
          </a:p>
          <a:p>
            <a:r>
              <a:rPr lang="fr-FR" dirty="0"/>
              <a:t>Ext: </a:t>
            </a:r>
          </a:p>
          <a:p>
            <a:r>
              <a:rPr lang="fr-FR" dirty="0"/>
              <a:t>Do:</a:t>
            </a:r>
          </a:p>
        </p:txBody>
      </p:sp>
    </p:spTree>
    <p:extLst>
      <p:ext uri="{BB962C8B-B14F-4D97-AF65-F5344CB8AC3E}">
        <p14:creationId xmlns:p14="http://schemas.microsoft.com/office/powerpoint/2010/main" val="70660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1176337" y="545471"/>
            <a:ext cx="9839325" cy="554038"/>
          </a:xfrm>
        </p:spPr>
        <p:txBody>
          <a:bodyPr/>
          <a:lstStyle/>
          <a:p>
            <a:r>
              <a:rPr lang="fr-FR" altLang="fr-FR" sz="3600" dirty="0"/>
              <a:t>II. 2 L’évènement</a:t>
            </a:r>
          </a:p>
        </p:txBody>
      </p:sp>
      <p:sp>
        <p:nvSpPr>
          <p:cNvPr id="9219" name="Rectangle 3"/>
          <p:cNvSpPr>
            <a:spLocks noGrp="1" noChangeArrowheads="1"/>
          </p:cNvSpPr>
          <p:nvPr>
            <p:ph type="body" idx="4294967295"/>
          </p:nvPr>
        </p:nvSpPr>
        <p:spPr>
          <a:xfrm>
            <a:off x="1524000" y="1752173"/>
            <a:ext cx="9753600" cy="4308872"/>
          </a:xfrm>
        </p:spPr>
        <p:txBody>
          <a:bodyPr/>
          <a:lstStyle/>
          <a:p>
            <a:pPr>
              <a:lnSpc>
                <a:spcPct val="150000"/>
              </a:lnSpc>
              <a:defRPr/>
            </a:pPr>
            <a:r>
              <a:rPr lang="fr-FR" sz="2800" dirty="0"/>
              <a:t>Un évènement est relation entre deux états indiquant qu’un objet passe d’un état à un autre si un évènement spécifié se produit et que des conditions de garde spécifiées sont satisfaites.</a:t>
            </a:r>
          </a:p>
          <a:p>
            <a:pPr>
              <a:lnSpc>
                <a:spcPct val="150000"/>
              </a:lnSpc>
              <a:defRPr/>
            </a:pPr>
            <a:endParaRPr lang="fr-FR" sz="2800" dirty="0"/>
          </a:p>
          <a:p>
            <a:pPr>
              <a:lnSpc>
                <a:spcPct val="150000"/>
              </a:lnSpc>
              <a:defRPr/>
            </a:pPr>
            <a:r>
              <a:rPr lang="fr-FR" sz="2800" u="sng" dirty="0">
                <a:solidFill>
                  <a:srgbClr val="FF0000"/>
                </a:solidFill>
              </a:rPr>
              <a:t>Remarque: </a:t>
            </a:r>
            <a:r>
              <a:rPr lang="fr-FR" sz="2800" dirty="0"/>
              <a:t>il existe des transitions qui ne portent pas d’évènements de déclenchement ( le déclenchement est implicite).</a:t>
            </a:r>
          </a:p>
          <a:p>
            <a:pPr>
              <a:buFont typeface="Wingdings" panose="05000000000000000000" pitchFamily="2" charset="2"/>
              <a:buNone/>
              <a:defRPr/>
            </a:pPr>
            <a:r>
              <a:rPr lang="fr-FR" sz="2800" dirty="0"/>
              <a:t>  </a:t>
            </a:r>
          </a:p>
        </p:txBody>
      </p:sp>
    </p:spTree>
    <p:extLst>
      <p:ext uri="{BB962C8B-B14F-4D97-AF65-F5344CB8AC3E}">
        <p14:creationId xmlns:p14="http://schemas.microsoft.com/office/powerpoint/2010/main" val="3968483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7"/>
          </p:nvPr>
        </p:nvSpPr>
        <p:spPr/>
        <p:txBody>
          <a:bodyPr/>
          <a:lstStyle/>
          <a:p>
            <a:fld id="{D4C1DCAC-A697-40F0-85BC-A37D7E201637}" type="slidenum">
              <a:rPr lang="fr-FR" altLang="fr-FR"/>
              <a:pPr/>
              <a:t>10</a:t>
            </a:fld>
            <a:endParaRPr lang="fr-FR" altLang="fr-FR"/>
          </a:p>
        </p:txBody>
      </p:sp>
      <p:sp>
        <p:nvSpPr>
          <p:cNvPr id="31746" name="Rectangle 2"/>
          <p:cNvSpPr>
            <a:spLocks noGrp="1" noChangeArrowheads="1"/>
          </p:cNvSpPr>
          <p:nvPr>
            <p:ph type="title" idx="4294967295"/>
          </p:nvPr>
        </p:nvSpPr>
        <p:spPr>
          <a:xfrm>
            <a:off x="990600" y="533400"/>
            <a:ext cx="9839325" cy="738664"/>
          </a:xfrm>
        </p:spPr>
        <p:txBody>
          <a:bodyPr/>
          <a:lstStyle/>
          <a:p>
            <a:r>
              <a:rPr lang="fr-FR" altLang="fr-FR" dirty="0"/>
              <a:t>II. 2 L’évènement - </a:t>
            </a:r>
            <a:r>
              <a:rPr lang="fr-FR" altLang="fr-FR" b="1" dirty="0">
                <a:solidFill>
                  <a:srgbClr val="FF0000"/>
                </a:solidFill>
              </a:rPr>
              <a:t>Notion d’évènement</a:t>
            </a:r>
          </a:p>
        </p:txBody>
      </p:sp>
      <p:sp>
        <p:nvSpPr>
          <p:cNvPr id="31747" name="Rectangle 3"/>
          <p:cNvSpPr>
            <a:spLocks noGrp="1" noChangeArrowheads="1"/>
          </p:cNvSpPr>
          <p:nvPr>
            <p:ph type="body" idx="4294967295"/>
          </p:nvPr>
        </p:nvSpPr>
        <p:spPr>
          <a:xfrm>
            <a:off x="1084580" y="2438805"/>
            <a:ext cx="9874250" cy="775597"/>
          </a:xfrm>
        </p:spPr>
        <p:txBody>
          <a:bodyPr/>
          <a:lstStyle/>
          <a:p>
            <a:pPr marL="381000" indent="-381000">
              <a:lnSpc>
                <a:spcPct val="90000"/>
              </a:lnSpc>
            </a:pPr>
            <a:r>
              <a:rPr lang="fr-FR" altLang="fr-FR" sz="2800" dirty="0"/>
              <a:t>Quand un évènement est reçu, une transition peut être déclenchée et faire basculer l’objet dans un nouvel état. </a:t>
            </a:r>
          </a:p>
        </p:txBody>
      </p:sp>
    </p:spTree>
    <p:extLst>
      <p:ext uri="{BB962C8B-B14F-4D97-AF65-F5344CB8AC3E}">
        <p14:creationId xmlns:p14="http://schemas.microsoft.com/office/powerpoint/2010/main" val="1537521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1176337" y="545471"/>
            <a:ext cx="9839325" cy="554038"/>
          </a:xfrm>
        </p:spPr>
        <p:txBody>
          <a:bodyPr/>
          <a:lstStyle/>
          <a:p>
            <a:r>
              <a:rPr lang="fr-FR" altLang="fr-FR" sz="3600" dirty="0"/>
              <a:t>II. 3 la transition</a:t>
            </a:r>
          </a:p>
        </p:txBody>
      </p:sp>
      <p:sp>
        <p:nvSpPr>
          <p:cNvPr id="9219" name="Rectangle 3"/>
          <p:cNvSpPr>
            <a:spLocks noGrp="1" noChangeArrowheads="1"/>
          </p:cNvSpPr>
          <p:nvPr>
            <p:ph type="body" idx="4294967295"/>
          </p:nvPr>
        </p:nvSpPr>
        <p:spPr>
          <a:xfrm>
            <a:off x="1524000" y="1505951"/>
            <a:ext cx="9753600" cy="3447098"/>
          </a:xfrm>
        </p:spPr>
        <p:txBody>
          <a:bodyPr/>
          <a:lstStyle/>
          <a:p>
            <a:pPr>
              <a:defRPr/>
            </a:pPr>
            <a:r>
              <a:rPr lang="fr-FR" sz="2800" dirty="0"/>
              <a:t>Relation entre deux états indiquant qu’un objet passe d’un état à un autre si un évènement spécifié se produit et que des conditions de garde spécifiées sont satisfaites.</a:t>
            </a:r>
          </a:p>
          <a:p>
            <a:pPr>
              <a:defRPr/>
            </a:pPr>
            <a:endParaRPr lang="fr-FR" sz="2800" dirty="0"/>
          </a:p>
          <a:p>
            <a:pPr>
              <a:defRPr/>
            </a:pPr>
            <a:endParaRPr lang="fr-FR" sz="2800" dirty="0"/>
          </a:p>
          <a:p>
            <a:pPr>
              <a:defRPr/>
            </a:pPr>
            <a:r>
              <a:rPr lang="fr-FR" sz="2800" u="sng" dirty="0">
                <a:solidFill>
                  <a:srgbClr val="FF0000"/>
                </a:solidFill>
              </a:rPr>
              <a:t>Remarque: </a:t>
            </a:r>
            <a:r>
              <a:rPr lang="fr-FR" sz="2800" dirty="0"/>
              <a:t>il existe des transitions qui ne portent pas d’évènements de déclenchement ( le déclenchement est implicite).</a:t>
            </a:r>
          </a:p>
          <a:p>
            <a:pPr>
              <a:buFont typeface="Wingdings" panose="05000000000000000000" pitchFamily="2" charset="2"/>
              <a:buNone/>
              <a:defRPr/>
            </a:pPr>
            <a:r>
              <a:rPr lang="fr-FR" sz="2800" dirty="0"/>
              <a:t>  </a:t>
            </a:r>
          </a:p>
        </p:txBody>
      </p:sp>
      <p:sp>
        <p:nvSpPr>
          <p:cNvPr id="4" name="Rectangle à coins arrondis 3"/>
          <p:cNvSpPr/>
          <p:nvPr/>
        </p:nvSpPr>
        <p:spPr>
          <a:xfrm>
            <a:off x="3136032" y="4943757"/>
            <a:ext cx="1634480" cy="576064"/>
          </a:xfrm>
          <a:prstGeom prst="roundRect">
            <a:avLst/>
          </a:prstGeom>
        </p:spPr>
        <p:style>
          <a:lnRef idx="2">
            <a:schemeClr val="accent6"/>
          </a:lnRef>
          <a:fillRef idx="1">
            <a:schemeClr val="lt1"/>
          </a:fillRef>
          <a:effectRef idx="0">
            <a:schemeClr val="accent6"/>
          </a:effectRef>
          <a:fontRef idx="minor">
            <a:schemeClr val="dk1"/>
          </a:fontRef>
        </p:style>
        <p:txBody>
          <a:bodyPr rtlCol="1" anchor="ctr"/>
          <a:lstStyle/>
          <a:p>
            <a:pPr algn="ctr"/>
            <a:r>
              <a:rPr lang="fr-FR" dirty="0"/>
              <a:t>état 1</a:t>
            </a:r>
            <a:endParaRPr lang="ar-DZ" dirty="0"/>
          </a:p>
        </p:txBody>
      </p:sp>
      <p:sp>
        <p:nvSpPr>
          <p:cNvPr id="5" name="Rectangle à coins arrondis 4"/>
          <p:cNvSpPr/>
          <p:nvPr/>
        </p:nvSpPr>
        <p:spPr>
          <a:xfrm>
            <a:off x="8370912" y="4943757"/>
            <a:ext cx="1634480" cy="576064"/>
          </a:xfrm>
          <a:prstGeom prst="roundRect">
            <a:avLst/>
          </a:prstGeom>
        </p:spPr>
        <p:style>
          <a:lnRef idx="2">
            <a:schemeClr val="accent6"/>
          </a:lnRef>
          <a:fillRef idx="1">
            <a:schemeClr val="lt1"/>
          </a:fillRef>
          <a:effectRef idx="0">
            <a:schemeClr val="accent6"/>
          </a:effectRef>
          <a:fontRef idx="minor">
            <a:schemeClr val="dk1"/>
          </a:fontRef>
        </p:style>
        <p:txBody>
          <a:bodyPr rtlCol="1" anchor="ctr"/>
          <a:lstStyle/>
          <a:p>
            <a:pPr algn="ctr"/>
            <a:r>
              <a:rPr lang="fr-FR" dirty="0"/>
              <a:t>état 2</a:t>
            </a:r>
            <a:endParaRPr lang="ar-DZ" dirty="0"/>
          </a:p>
        </p:txBody>
      </p:sp>
      <p:cxnSp>
        <p:nvCxnSpPr>
          <p:cNvPr id="6" name="Connecteur droit avec flèche 5"/>
          <p:cNvCxnSpPr>
            <a:stCxn id="4" idx="3"/>
            <a:endCxn id="5" idx="1"/>
          </p:cNvCxnSpPr>
          <p:nvPr/>
        </p:nvCxnSpPr>
        <p:spPr>
          <a:xfrm>
            <a:off x="4770512" y="5231789"/>
            <a:ext cx="36004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 name="ZoneTexte 6"/>
          <p:cNvSpPr txBox="1"/>
          <p:nvPr/>
        </p:nvSpPr>
        <p:spPr>
          <a:xfrm>
            <a:off x="5562600" y="4583717"/>
            <a:ext cx="1800200" cy="369332"/>
          </a:xfrm>
          <a:prstGeom prst="rect">
            <a:avLst/>
          </a:prstGeom>
          <a:noFill/>
        </p:spPr>
        <p:txBody>
          <a:bodyPr wrap="square" rtlCol="1">
            <a:spAutoFit/>
          </a:bodyPr>
          <a:lstStyle/>
          <a:p>
            <a:pPr algn="ctr" rtl="0"/>
            <a:r>
              <a:rPr lang="fr-FR" dirty="0"/>
              <a:t>événement</a:t>
            </a:r>
            <a:endParaRPr lang="ar-DZ" dirty="0"/>
          </a:p>
        </p:txBody>
      </p:sp>
      <p:sp>
        <p:nvSpPr>
          <p:cNvPr id="9" name="ZoneTexte 8"/>
          <p:cNvSpPr txBox="1"/>
          <p:nvPr/>
        </p:nvSpPr>
        <p:spPr>
          <a:xfrm>
            <a:off x="3791743" y="2895600"/>
            <a:ext cx="4608512" cy="369332"/>
          </a:xfrm>
          <a:prstGeom prst="rect">
            <a:avLst/>
          </a:prstGeom>
          <a:noFill/>
        </p:spPr>
        <p:txBody>
          <a:bodyPr wrap="square" rtlCol="1">
            <a:spAutoFit/>
          </a:bodyPr>
          <a:lstStyle/>
          <a:p>
            <a:pPr algn="ctr"/>
            <a:r>
              <a:rPr lang="fr-FR" dirty="0"/>
              <a:t>Événement(Condition) / action</a:t>
            </a:r>
            <a:endParaRPr lang="ar-DZ" dirty="0"/>
          </a:p>
        </p:txBody>
      </p:sp>
      <p:cxnSp>
        <p:nvCxnSpPr>
          <p:cNvPr id="10" name="Connecteur droit avec flèche 9"/>
          <p:cNvCxnSpPr/>
          <p:nvPr/>
        </p:nvCxnSpPr>
        <p:spPr>
          <a:xfrm>
            <a:off x="4295799" y="3264932"/>
            <a:ext cx="36004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406290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7"/>
          </p:nvPr>
        </p:nvSpPr>
        <p:spPr/>
        <p:txBody>
          <a:bodyPr/>
          <a:lstStyle/>
          <a:p>
            <a:fld id="{E36E3E40-08B2-4D09-82AE-D66A4727C3D5}" type="slidenum">
              <a:rPr lang="fr-FR" altLang="fr-FR"/>
              <a:pPr/>
              <a:t>12</a:t>
            </a:fld>
            <a:endParaRPr lang="fr-FR" altLang="fr-FR"/>
          </a:p>
        </p:txBody>
      </p:sp>
      <p:sp>
        <p:nvSpPr>
          <p:cNvPr id="38914" name="Rectangle 2"/>
          <p:cNvSpPr>
            <a:spLocks noGrp="1" noChangeArrowheads="1"/>
          </p:cNvSpPr>
          <p:nvPr>
            <p:ph type="title" idx="4294967295"/>
          </p:nvPr>
        </p:nvSpPr>
        <p:spPr>
          <a:xfrm>
            <a:off x="1066800" y="497286"/>
            <a:ext cx="9839325" cy="738664"/>
          </a:xfrm>
        </p:spPr>
        <p:txBody>
          <a:bodyPr/>
          <a:lstStyle/>
          <a:p>
            <a:r>
              <a:rPr lang="fr-FR" altLang="fr-FR" dirty="0"/>
              <a:t>II. 3 la transition - </a:t>
            </a:r>
            <a:r>
              <a:rPr lang="fr-FR" altLang="fr-FR" b="1" dirty="0">
                <a:solidFill>
                  <a:srgbClr val="FF0000"/>
                </a:solidFill>
              </a:rPr>
              <a:t>Définition et syntaxe</a:t>
            </a:r>
          </a:p>
        </p:txBody>
      </p:sp>
      <p:sp>
        <p:nvSpPr>
          <p:cNvPr id="38916" name="Text Box 4"/>
          <p:cNvSpPr txBox="1">
            <a:spLocks noChangeArrowheads="1"/>
          </p:cNvSpPr>
          <p:nvPr/>
        </p:nvSpPr>
        <p:spPr bwMode="auto">
          <a:xfrm>
            <a:off x="608920" y="1219200"/>
            <a:ext cx="11278280" cy="3339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spcBef>
                <a:spcPts val="1200"/>
              </a:spcBef>
              <a:buClr>
                <a:schemeClr val="accent6">
                  <a:lumMod val="75000"/>
                </a:schemeClr>
              </a:buClr>
              <a:buFont typeface="Wingdings" panose="05000000000000000000" pitchFamily="2" charset="2"/>
              <a:buChar char="v"/>
            </a:pPr>
            <a:r>
              <a:rPr lang="fr-FR" altLang="fr-FR" sz="2300" dirty="0"/>
              <a:t> Une transition définit la réponse d’un objet à l’occurrence d’un événement. </a:t>
            </a:r>
          </a:p>
          <a:p>
            <a:pPr marL="285750" indent="-285750">
              <a:spcBef>
                <a:spcPts val="1200"/>
              </a:spcBef>
              <a:buClr>
                <a:schemeClr val="accent6">
                  <a:lumMod val="75000"/>
                </a:schemeClr>
              </a:buClr>
              <a:buFont typeface="Wingdings" panose="05000000000000000000" pitchFamily="2" charset="2"/>
              <a:buChar char="v"/>
            </a:pPr>
            <a:r>
              <a:rPr lang="fr-FR" altLang="fr-FR" sz="2300" dirty="0"/>
              <a:t> En général, elle lie, deux états </a:t>
            </a:r>
            <a:r>
              <a:rPr lang="fr-FR" altLang="fr-FR" sz="2300" i="1" dirty="0"/>
              <a:t>E</a:t>
            </a:r>
            <a:r>
              <a:rPr lang="fr-FR" altLang="fr-FR" sz="2300" dirty="0"/>
              <a:t>1 et </a:t>
            </a:r>
            <a:r>
              <a:rPr lang="fr-FR" altLang="fr-FR" sz="2300" i="1" dirty="0"/>
              <a:t>E</a:t>
            </a:r>
            <a:r>
              <a:rPr lang="fr-FR" altLang="fr-FR" sz="2300" dirty="0"/>
              <a:t>2 et indique qu’un objet dans un état </a:t>
            </a:r>
          </a:p>
          <a:p>
            <a:pPr>
              <a:spcBef>
                <a:spcPts val="1200"/>
              </a:spcBef>
              <a:buClr>
                <a:schemeClr val="accent6">
                  <a:lumMod val="75000"/>
                </a:schemeClr>
              </a:buClr>
            </a:pPr>
            <a:r>
              <a:rPr lang="fr-FR" altLang="fr-FR" sz="2300" i="1" dirty="0"/>
              <a:t>      E</a:t>
            </a:r>
            <a:r>
              <a:rPr lang="fr-FR" altLang="fr-FR" sz="2300" dirty="0"/>
              <a:t>1 peut entrer dans l’état </a:t>
            </a:r>
            <a:r>
              <a:rPr lang="fr-FR" altLang="fr-FR" sz="2300" i="1" dirty="0"/>
              <a:t>E</a:t>
            </a:r>
            <a:r>
              <a:rPr lang="fr-FR" altLang="fr-FR" sz="2300" dirty="0"/>
              <a:t>2 et exécuter certaines activités, si un événement </a:t>
            </a:r>
          </a:p>
          <a:p>
            <a:pPr>
              <a:spcBef>
                <a:spcPts val="1200"/>
              </a:spcBef>
              <a:buClr>
                <a:schemeClr val="accent6">
                  <a:lumMod val="75000"/>
                </a:schemeClr>
              </a:buClr>
            </a:pPr>
            <a:r>
              <a:rPr lang="fr-FR" altLang="fr-FR" sz="2300" dirty="0"/>
              <a:t>      déclencheur se produit et une condition de garde est vérifiée.  </a:t>
            </a:r>
          </a:p>
          <a:p>
            <a:pPr marL="285750" indent="-285750">
              <a:spcBef>
                <a:spcPts val="1200"/>
              </a:spcBef>
              <a:buClr>
                <a:schemeClr val="accent6">
                  <a:lumMod val="75000"/>
                </a:schemeClr>
              </a:buClr>
              <a:buFont typeface="Wingdings" panose="05000000000000000000" pitchFamily="2" charset="2"/>
              <a:buChar char="v"/>
            </a:pPr>
            <a:r>
              <a:rPr lang="fr-FR" altLang="fr-FR" sz="2300" dirty="0"/>
              <a:t> Un même événement peut être le déclencheur de plusieurs transitions quittant un même état. </a:t>
            </a:r>
          </a:p>
          <a:p>
            <a:pPr marL="285750" indent="-285750">
              <a:spcBef>
                <a:spcPts val="1200"/>
              </a:spcBef>
              <a:buClr>
                <a:schemeClr val="accent6">
                  <a:lumMod val="75000"/>
                </a:schemeClr>
              </a:buClr>
              <a:buFont typeface="Wingdings" panose="05000000000000000000" pitchFamily="2" charset="2"/>
              <a:buChar char="v"/>
            </a:pPr>
            <a:r>
              <a:rPr lang="fr-FR" altLang="fr-FR" sz="2300" dirty="0"/>
              <a:t>Une seule transition peut se déclencher dans un même flot d’exécution. </a:t>
            </a:r>
          </a:p>
        </p:txBody>
      </p:sp>
      <p:grpSp>
        <p:nvGrpSpPr>
          <p:cNvPr id="23" name="Group 4">
            <a:extLst>
              <a:ext uri="{FF2B5EF4-FFF2-40B4-BE49-F238E27FC236}">
                <a16:creationId xmlns:a16="http://schemas.microsoft.com/office/drawing/2014/main" id="{363709B9-B800-9FC4-964B-F1F089DB6CAA}"/>
              </a:ext>
            </a:extLst>
          </p:cNvPr>
          <p:cNvGrpSpPr>
            <a:grpSpLocks/>
          </p:cNvGrpSpPr>
          <p:nvPr/>
        </p:nvGrpSpPr>
        <p:grpSpPr bwMode="auto">
          <a:xfrm>
            <a:off x="2286000" y="4495800"/>
            <a:ext cx="7762876" cy="1864914"/>
            <a:chOff x="436" y="1337"/>
            <a:chExt cx="4934" cy="1680"/>
          </a:xfrm>
        </p:grpSpPr>
        <p:sp>
          <p:nvSpPr>
            <p:cNvPr id="24" name="AutoShape 5">
              <a:extLst>
                <a:ext uri="{FF2B5EF4-FFF2-40B4-BE49-F238E27FC236}">
                  <a16:creationId xmlns:a16="http://schemas.microsoft.com/office/drawing/2014/main" id="{B7B3F9D8-EA86-3A56-7BC8-0BFEACA11A1A}"/>
                </a:ext>
              </a:extLst>
            </p:cNvPr>
            <p:cNvSpPr>
              <a:spLocks noChangeArrowheads="1"/>
            </p:cNvSpPr>
            <p:nvPr/>
          </p:nvSpPr>
          <p:spPr bwMode="auto">
            <a:xfrm>
              <a:off x="447" y="2286"/>
              <a:ext cx="484" cy="257"/>
            </a:xfrm>
            <a:prstGeom prst="roundRect">
              <a:avLst>
                <a:gd name="adj" fmla="val 16667"/>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fr-FR" altLang="fr-FR"/>
                <a:t>Arrêt</a:t>
              </a:r>
            </a:p>
          </p:txBody>
        </p:sp>
        <p:sp>
          <p:nvSpPr>
            <p:cNvPr id="25" name="AutoShape 6">
              <a:extLst>
                <a:ext uri="{FF2B5EF4-FFF2-40B4-BE49-F238E27FC236}">
                  <a16:creationId xmlns:a16="http://schemas.microsoft.com/office/drawing/2014/main" id="{6600AA3D-D4FE-EB78-37EB-89A5F4E6173E}"/>
                </a:ext>
              </a:extLst>
            </p:cNvPr>
            <p:cNvSpPr>
              <a:spLocks noChangeArrowheads="1"/>
            </p:cNvSpPr>
            <p:nvPr/>
          </p:nvSpPr>
          <p:spPr bwMode="auto">
            <a:xfrm>
              <a:off x="4744" y="2286"/>
              <a:ext cx="626" cy="257"/>
            </a:xfrm>
            <a:prstGeom prst="roundRect">
              <a:avLst>
                <a:gd name="adj" fmla="val 16667"/>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fr-FR" altLang="fr-FR" dirty="0"/>
                <a:t>Marche</a:t>
              </a:r>
            </a:p>
          </p:txBody>
        </p:sp>
        <p:cxnSp>
          <p:nvCxnSpPr>
            <p:cNvPr id="26" name="AutoShape 7">
              <a:extLst>
                <a:ext uri="{FF2B5EF4-FFF2-40B4-BE49-F238E27FC236}">
                  <a16:creationId xmlns:a16="http://schemas.microsoft.com/office/drawing/2014/main" id="{8701C006-5A1B-E0E1-43F6-DF061363BC5C}"/>
                </a:ext>
              </a:extLst>
            </p:cNvPr>
            <p:cNvCxnSpPr>
              <a:cxnSpLocks noChangeShapeType="1"/>
              <a:stCxn id="24" idx="3"/>
              <a:endCxn id="25" idx="1"/>
            </p:cNvCxnSpPr>
            <p:nvPr/>
          </p:nvCxnSpPr>
          <p:spPr bwMode="auto">
            <a:xfrm>
              <a:off x="935" y="2415"/>
              <a:ext cx="3782" cy="0"/>
            </a:xfrm>
            <a:prstGeom prst="straightConnector1">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Text Box 8">
              <a:extLst>
                <a:ext uri="{FF2B5EF4-FFF2-40B4-BE49-F238E27FC236}">
                  <a16:creationId xmlns:a16="http://schemas.microsoft.com/office/drawing/2014/main" id="{82D3F24E-C0C5-80D9-4709-98277AB1990F}"/>
                </a:ext>
              </a:extLst>
            </p:cNvPr>
            <p:cNvSpPr txBox="1">
              <a:spLocks noChangeArrowheads="1"/>
            </p:cNvSpPr>
            <p:nvPr/>
          </p:nvSpPr>
          <p:spPr bwMode="auto">
            <a:xfrm>
              <a:off x="1193" y="2160"/>
              <a:ext cx="328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fr-FR" altLang="fr-FR" dirty="0" err="1"/>
                <a:t>boutonMarche</a:t>
              </a:r>
              <a:r>
                <a:rPr lang="fr-FR" altLang="fr-FR" dirty="0"/>
                <a:t> [</a:t>
              </a:r>
              <a:r>
                <a:rPr lang="fr-FR" altLang="fr-FR" dirty="0" err="1"/>
                <a:t>priseBranchée</a:t>
              </a:r>
              <a:r>
                <a:rPr lang="fr-FR" altLang="fr-FR" dirty="0"/>
                <a:t>] / </a:t>
              </a:r>
              <a:r>
                <a:rPr lang="fr-FR" altLang="fr-FR" dirty="0" err="1"/>
                <a:t>allumerVoyant</a:t>
              </a:r>
              <a:r>
                <a:rPr lang="fr-FR" altLang="fr-FR" dirty="0"/>
                <a:t>()</a:t>
              </a:r>
            </a:p>
          </p:txBody>
        </p:sp>
        <p:sp>
          <p:nvSpPr>
            <p:cNvPr id="28" name="Text Box 9">
              <a:extLst>
                <a:ext uri="{FF2B5EF4-FFF2-40B4-BE49-F238E27FC236}">
                  <a16:creationId xmlns:a16="http://schemas.microsoft.com/office/drawing/2014/main" id="{EA7D6CBB-03E5-65A3-F091-CF687519D71C}"/>
                </a:ext>
              </a:extLst>
            </p:cNvPr>
            <p:cNvSpPr txBox="1">
              <a:spLocks noChangeArrowheads="1"/>
            </p:cNvSpPr>
            <p:nvPr/>
          </p:nvSpPr>
          <p:spPr bwMode="auto">
            <a:xfrm>
              <a:off x="959" y="2736"/>
              <a:ext cx="81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fr-FR" altLang="fr-FR">
                  <a:solidFill>
                    <a:srgbClr val="0000FF"/>
                  </a:solidFill>
                </a:rPr>
                <a:t>état source</a:t>
              </a:r>
            </a:p>
          </p:txBody>
        </p:sp>
        <p:sp>
          <p:nvSpPr>
            <p:cNvPr id="29" name="Text Box 10">
              <a:extLst>
                <a:ext uri="{FF2B5EF4-FFF2-40B4-BE49-F238E27FC236}">
                  <a16:creationId xmlns:a16="http://schemas.microsoft.com/office/drawing/2014/main" id="{C4BA2B40-669F-1E70-8195-364EE4714E85}"/>
                </a:ext>
              </a:extLst>
            </p:cNvPr>
            <p:cNvSpPr txBox="1">
              <a:spLocks noChangeArrowheads="1"/>
            </p:cNvSpPr>
            <p:nvPr/>
          </p:nvSpPr>
          <p:spPr bwMode="auto">
            <a:xfrm>
              <a:off x="3068" y="2784"/>
              <a:ext cx="111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fr-FR" altLang="fr-FR" dirty="0">
                  <a:solidFill>
                    <a:srgbClr val="0000FF"/>
                  </a:solidFill>
                </a:rPr>
                <a:t>état destination</a:t>
              </a:r>
            </a:p>
          </p:txBody>
        </p:sp>
        <p:sp>
          <p:nvSpPr>
            <p:cNvPr id="30" name="Text Box 11">
              <a:extLst>
                <a:ext uri="{FF2B5EF4-FFF2-40B4-BE49-F238E27FC236}">
                  <a16:creationId xmlns:a16="http://schemas.microsoft.com/office/drawing/2014/main" id="{9564CE01-7A9B-F996-83EF-E58584D08C2D}"/>
                </a:ext>
              </a:extLst>
            </p:cNvPr>
            <p:cNvSpPr txBox="1">
              <a:spLocks noChangeArrowheads="1"/>
            </p:cNvSpPr>
            <p:nvPr/>
          </p:nvSpPr>
          <p:spPr bwMode="auto">
            <a:xfrm>
              <a:off x="436" y="1382"/>
              <a:ext cx="901"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fr-FR" altLang="fr-FR">
                  <a:solidFill>
                    <a:srgbClr val="0000FF"/>
                  </a:solidFill>
                </a:rPr>
                <a:t>événement</a:t>
              </a:r>
            </a:p>
            <a:p>
              <a:pPr algn="ctr" eaLnBrk="0" hangingPunct="0"/>
              <a:r>
                <a:rPr lang="fr-FR" altLang="fr-FR">
                  <a:solidFill>
                    <a:srgbClr val="0000FF"/>
                  </a:solidFill>
                </a:rPr>
                <a:t>déclencheur</a:t>
              </a:r>
            </a:p>
          </p:txBody>
        </p:sp>
        <p:sp>
          <p:nvSpPr>
            <p:cNvPr id="31" name="Text Box 12">
              <a:extLst>
                <a:ext uri="{FF2B5EF4-FFF2-40B4-BE49-F238E27FC236}">
                  <a16:creationId xmlns:a16="http://schemas.microsoft.com/office/drawing/2014/main" id="{6CE776E1-F949-7D04-0535-AFA5AD855CC1}"/>
                </a:ext>
              </a:extLst>
            </p:cNvPr>
            <p:cNvSpPr txBox="1">
              <a:spLocks noChangeArrowheads="1"/>
            </p:cNvSpPr>
            <p:nvPr/>
          </p:nvSpPr>
          <p:spPr bwMode="auto">
            <a:xfrm>
              <a:off x="2773" y="1337"/>
              <a:ext cx="133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fr-FR" altLang="fr-FR" dirty="0">
                  <a:solidFill>
                    <a:srgbClr val="0000FF"/>
                  </a:solidFill>
                </a:rPr>
                <a:t>condition de garde</a:t>
              </a:r>
            </a:p>
          </p:txBody>
        </p:sp>
        <p:sp>
          <p:nvSpPr>
            <p:cNvPr id="32" name="Text Box 13">
              <a:extLst>
                <a:ext uri="{FF2B5EF4-FFF2-40B4-BE49-F238E27FC236}">
                  <a16:creationId xmlns:a16="http://schemas.microsoft.com/office/drawing/2014/main" id="{67062A97-FDB0-22B0-DF9B-58F8B81E14A1}"/>
                </a:ext>
              </a:extLst>
            </p:cNvPr>
            <p:cNvSpPr txBox="1">
              <a:spLocks noChangeArrowheads="1"/>
            </p:cNvSpPr>
            <p:nvPr/>
          </p:nvSpPr>
          <p:spPr bwMode="auto">
            <a:xfrm>
              <a:off x="4481" y="1584"/>
              <a:ext cx="5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fr-FR" altLang="fr-FR">
                  <a:solidFill>
                    <a:srgbClr val="0000FF"/>
                  </a:solidFill>
                </a:rPr>
                <a:t>action</a:t>
              </a:r>
            </a:p>
          </p:txBody>
        </p:sp>
        <p:sp>
          <p:nvSpPr>
            <p:cNvPr id="33" name="Oval 14">
              <a:extLst>
                <a:ext uri="{FF2B5EF4-FFF2-40B4-BE49-F238E27FC236}">
                  <a16:creationId xmlns:a16="http://schemas.microsoft.com/office/drawing/2014/main" id="{4E30B89F-84BC-099D-B5B4-C98F8D98FF67}"/>
                </a:ext>
              </a:extLst>
            </p:cNvPr>
            <p:cNvSpPr>
              <a:spLocks noChangeArrowheads="1"/>
            </p:cNvSpPr>
            <p:nvPr/>
          </p:nvSpPr>
          <p:spPr bwMode="auto">
            <a:xfrm>
              <a:off x="672" y="2496"/>
              <a:ext cx="48" cy="48"/>
            </a:xfrm>
            <a:prstGeom prst="ellipse">
              <a:avLst/>
            </a:prstGeom>
            <a:solidFill>
              <a:srgbClr val="0000FF"/>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34" name="Oval 15">
              <a:extLst>
                <a:ext uri="{FF2B5EF4-FFF2-40B4-BE49-F238E27FC236}">
                  <a16:creationId xmlns:a16="http://schemas.microsoft.com/office/drawing/2014/main" id="{6EA44C24-ED7F-18F1-6CB8-169FBE9A623E}"/>
                </a:ext>
              </a:extLst>
            </p:cNvPr>
            <p:cNvSpPr>
              <a:spLocks noChangeArrowheads="1"/>
            </p:cNvSpPr>
            <p:nvPr/>
          </p:nvSpPr>
          <p:spPr bwMode="auto">
            <a:xfrm>
              <a:off x="5040" y="2496"/>
              <a:ext cx="48" cy="48"/>
            </a:xfrm>
            <a:prstGeom prst="ellipse">
              <a:avLst/>
            </a:prstGeom>
            <a:solidFill>
              <a:srgbClr val="0000FF"/>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35" name="Oval 16">
              <a:extLst>
                <a:ext uri="{FF2B5EF4-FFF2-40B4-BE49-F238E27FC236}">
                  <a16:creationId xmlns:a16="http://schemas.microsoft.com/office/drawing/2014/main" id="{80863606-6C1B-84BD-6AA4-DA8AA8EC452E}"/>
                </a:ext>
              </a:extLst>
            </p:cNvPr>
            <p:cNvSpPr>
              <a:spLocks noChangeArrowheads="1"/>
            </p:cNvSpPr>
            <p:nvPr/>
          </p:nvSpPr>
          <p:spPr bwMode="auto">
            <a:xfrm>
              <a:off x="1632" y="2112"/>
              <a:ext cx="48" cy="48"/>
            </a:xfrm>
            <a:prstGeom prst="ellipse">
              <a:avLst/>
            </a:prstGeom>
            <a:solidFill>
              <a:srgbClr val="0000FF"/>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36" name="Oval 17">
              <a:extLst>
                <a:ext uri="{FF2B5EF4-FFF2-40B4-BE49-F238E27FC236}">
                  <a16:creationId xmlns:a16="http://schemas.microsoft.com/office/drawing/2014/main" id="{85146F42-6DF0-3BAF-D50B-B2A9BBC84A9A}"/>
                </a:ext>
              </a:extLst>
            </p:cNvPr>
            <p:cNvSpPr>
              <a:spLocks noChangeArrowheads="1"/>
            </p:cNvSpPr>
            <p:nvPr/>
          </p:nvSpPr>
          <p:spPr bwMode="auto">
            <a:xfrm>
              <a:off x="2701" y="2146"/>
              <a:ext cx="48" cy="48"/>
            </a:xfrm>
            <a:prstGeom prst="ellipse">
              <a:avLst/>
            </a:prstGeom>
            <a:solidFill>
              <a:srgbClr val="0000FF"/>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37" name="Oval 18">
              <a:extLst>
                <a:ext uri="{FF2B5EF4-FFF2-40B4-BE49-F238E27FC236}">
                  <a16:creationId xmlns:a16="http://schemas.microsoft.com/office/drawing/2014/main" id="{4B3B48FE-C081-4132-6F4C-2D8122305B0C}"/>
                </a:ext>
              </a:extLst>
            </p:cNvPr>
            <p:cNvSpPr>
              <a:spLocks noChangeArrowheads="1"/>
            </p:cNvSpPr>
            <p:nvPr/>
          </p:nvSpPr>
          <p:spPr bwMode="auto">
            <a:xfrm>
              <a:off x="3888" y="2112"/>
              <a:ext cx="48" cy="48"/>
            </a:xfrm>
            <a:prstGeom prst="ellipse">
              <a:avLst/>
            </a:prstGeom>
            <a:solidFill>
              <a:srgbClr val="0000FF"/>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38" name="Freeform 19">
              <a:extLst>
                <a:ext uri="{FF2B5EF4-FFF2-40B4-BE49-F238E27FC236}">
                  <a16:creationId xmlns:a16="http://schemas.microsoft.com/office/drawing/2014/main" id="{096ECA76-4227-221F-2ACB-079063CE4EA8}"/>
                </a:ext>
              </a:extLst>
            </p:cNvPr>
            <p:cNvSpPr>
              <a:spLocks/>
            </p:cNvSpPr>
            <p:nvPr/>
          </p:nvSpPr>
          <p:spPr bwMode="auto">
            <a:xfrm>
              <a:off x="4193" y="2617"/>
              <a:ext cx="116" cy="233"/>
            </a:xfrm>
            <a:custGeom>
              <a:avLst/>
              <a:gdLst>
                <a:gd name="T0" fmla="*/ 868 w 868"/>
                <a:gd name="T1" fmla="*/ 0 h 427"/>
                <a:gd name="T2" fmla="*/ 565 w 868"/>
                <a:gd name="T3" fmla="*/ 360 h 427"/>
                <a:gd name="T4" fmla="*/ 0 w 868"/>
                <a:gd name="T5" fmla="*/ 402 h 427"/>
              </a:gdLst>
              <a:ahLst/>
              <a:cxnLst>
                <a:cxn ang="0">
                  <a:pos x="T0" y="T1"/>
                </a:cxn>
                <a:cxn ang="0">
                  <a:pos x="T2" y="T3"/>
                </a:cxn>
                <a:cxn ang="0">
                  <a:pos x="T4" y="T5"/>
                </a:cxn>
              </a:cxnLst>
              <a:rect l="0" t="0" r="r" b="b"/>
              <a:pathLst>
                <a:path w="868" h="427">
                  <a:moveTo>
                    <a:pt x="868" y="0"/>
                  </a:moveTo>
                  <a:cubicBezTo>
                    <a:pt x="789" y="146"/>
                    <a:pt x="710" y="293"/>
                    <a:pt x="565" y="360"/>
                  </a:cubicBezTo>
                  <a:cubicBezTo>
                    <a:pt x="420" y="427"/>
                    <a:pt x="210" y="414"/>
                    <a:pt x="0" y="402"/>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sp>
          <p:nvSpPr>
            <p:cNvPr id="39" name="Freeform 20">
              <a:extLst>
                <a:ext uri="{FF2B5EF4-FFF2-40B4-BE49-F238E27FC236}">
                  <a16:creationId xmlns:a16="http://schemas.microsoft.com/office/drawing/2014/main" id="{46DA1638-D4FC-AEA9-67FA-213DE096BD0A}"/>
                </a:ext>
              </a:extLst>
            </p:cNvPr>
            <p:cNvSpPr>
              <a:spLocks/>
            </p:cNvSpPr>
            <p:nvPr/>
          </p:nvSpPr>
          <p:spPr bwMode="auto">
            <a:xfrm>
              <a:off x="3918" y="1818"/>
              <a:ext cx="116" cy="233"/>
            </a:xfrm>
            <a:custGeom>
              <a:avLst/>
              <a:gdLst>
                <a:gd name="T0" fmla="*/ 0 w 564"/>
                <a:gd name="T1" fmla="*/ 410 h 410"/>
                <a:gd name="T2" fmla="*/ 183 w 564"/>
                <a:gd name="T3" fmla="*/ 85 h 410"/>
                <a:gd name="T4" fmla="*/ 564 w 564"/>
                <a:gd name="T5" fmla="*/ 0 h 410"/>
              </a:gdLst>
              <a:ahLst/>
              <a:cxnLst>
                <a:cxn ang="0">
                  <a:pos x="T0" y="T1"/>
                </a:cxn>
                <a:cxn ang="0">
                  <a:pos x="T2" y="T3"/>
                </a:cxn>
                <a:cxn ang="0">
                  <a:pos x="T4" y="T5"/>
                </a:cxn>
              </a:cxnLst>
              <a:rect l="0" t="0" r="r" b="b"/>
              <a:pathLst>
                <a:path w="564" h="410">
                  <a:moveTo>
                    <a:pt x="0" y="410"/>
                  </a:moveTo>
                  <a:cubicBezTo>
                    <a:pt x="44" y="281"/>
                    <a:pt x="89" y="153"/>
                    <a:pt x="183" y="85"/>
                  </a:cubicBezTo>
                  <a:cubicBezTo>
                    <a:pt x="277" y="17"/>
                    <a:pt x="420" y="8"/>
                    <a:pt x="564" y="0"/>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sp>
          <p:nvSpPr>
            <p:cNvPr id="40" name="Freeform 21">
              <a:extLst>
                <a:ext uri="{FF2B5EF4-FFF2-40B4-BE49-F238E27FC236}">
                  <a16:creationId xmlns:a16="http://schemas.microsoft.com/office/drawing/2014/main" id="{026A2ADD-37FA-9E7F-74A3-E5F1F81C0693}"/>
                </a:ext>
              </a:extLst>
            </p:cNvPr>
            <p:cNvSpPr>
              <a:spLocks/>
            </p:cNvSpPr>
            <p:nvPr/>
          </p:nvSpPr>
          <p:spPr bwMode="auto">
            <a:xfrm>
              <a:off x="1306" y="1772"/>
              <a:ext cx="116" cy="233"/>
            </a:xfrm>
            <a:custGeom>
              <a:avLst/>
              <a:gdLst>
                <a:gd name="T0" fmla="*/ 353 w 353"/>
                <a:gd name="T1" fmla="*/ 515 h 515"/>
                <a:gd name="T2" fmla="*/ 254 w 353"/>
                <a:gd name="T3" fmla="*/ 113 h 515"/>
                <a:gd name="T4" fmla="*/ 0 w 353"/>
                <a:gd name="T5" fmla="*/ 0 h 515"/>
              </a:gdLst>
              <a:ahLst/>
              <a:cxnLst>
                <a:cxn ang="0">
                  <a:pos x="T0" y="T1"/>
                </a:cxn>
                <a:cxn ang="0">
                  <a:pos x="T2" y="T3"/>
                </a:cxn>
                <a:cxn ang="0">
                  <a:pos x="T4" y="T5"/>
                </a:cxn>
              </a:cxnLst>
              <a:rect l="0" t="0" r="r" b="b"/>
              <a:pathLst>
                <a:path w="353" h="515">
                  <a:moveTo>
                    <a:pt x="353" y="515"/>
                  </a:moveTo>
                  <a:cubicBezTo>
                    <a:pt x="333" y="357"/>
                    <a:pt x="313" y="199"/>
                    <a:pt x="254" y="113"/>
                  </a:cubicBezTo>
                  <a:cubicBezTo>
                    <a:pt x="195" y="27"/>
                    <a:pt x="42" y="18"/>
                    <a:pt x="0" y="0"/>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sp>
          <p:nvSpPr>
            <p:cNvPr id="41" name="Freeform 22">
              <a:extLst>
                <a:ext uri="{FF2B5EF4-FFF2-40B4-BE49-F238E27FC236}">
                  <a16:creationId xmlns:a16="http://schemas.microsoft.com/office/drawing/2014/main" id="{2420AAA8-E841-EBE7-D5FD-91520218C36D}"/>
                </a:ext>
              </a:extLst>
            </p:cNvPr>
            <p:cNvSpPr>
              <a:spLocks/>
            </p:cNvSpPr>
            <p:nvPr/>
          </p:nvSpPr>
          <p:spPr bwMode="auto">
            <a:xfrm>
              <a:off x="692" y="2577"/>
              <a:ext cx="116" cy="233"/>
            </a:xfrm>
            <a:custGeom>
              <a:avLst/>
              <a:gdLst>
                <a:gd name="T0" fmla="*/ 0 w 247"/>
                <a:gd name="T1" fmla="*/ 0 h 346"/>
                <a:gd name="T2" fmla="*/ 84 w 247"/>
                <a:gd name="T3" fmla="*/ 275 h 346"/>
                <a:gd name="T4" fmla="*/ 247 w 247"/>
                <a:gd name="T5" fmla="*/ 346 h 346"/>
              </a:gdLst>
              <a:ahLst/>
              <a:cxnLst>
                <a:cxn ang="0">
                  <a:pos x="T0" y="T1"/>
                </a:cxn>
                <a:cxn ang="0">
                  <a:pos x="T2" y="T3"/>
                </a:cxn>
                <a:cxn ang="0">
                  <a:pos x="T4" y="T5"/>
                </a:cxn>
              </a:cxnLst>
              <a:rect l="0" t="0" r="r" b="b"/>
              <a:pathLst>
                <a:path w="247" h="346">
                  <a:moveTo>
                    <a:pt x="0" y="0"/>
                  </a:moveTo>
                  <a:cubicBezTo>
                    <a:pt x="21" y="108"/>
                    <a:pt x="43" y="217"/>
                    <a:pt x="84" y="275"/>
                  </a:cubicBezTo>
                  <a:cubicBezTo>
                    <a:pt x="125" y="333"/>
                    <a:pt x="186" y="339"/>
                    <a:pt x="247" y="346"/>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sp>
          <p:nvSpPr>
            <p:cNvPr id="42" name="Freeform 23">
              <a:extLst>
                <a:ext uri="{FF2B5EF4-FFF2-40B4-BE49-F238E27FC236}">
                  <a16:creationId xmlns:a16="http://schemas.microsoft.com/office/drawing/2014/main" id="{2CBDD43B-0309-8DD8-F957-C736CF2778EF}"/>
                </a:ext>
              </a:extLst>
            </p:cNvPr>
            <p:cNvSpPr>
              <a:spLocks/>
            </p:cNvSpPr>
            <p:nvPr/>
          </p:nvSpPr>
          <p:spPr bwMode="auto">
            <a:xfrm>
              <a:off x="2544" y="1718"/>
              <a:ext cx="116" cy="233"/>
            </a:xfrm>
            <a:custGeom>
              <a:avLst/>
              <a:gdLst>
                <a:gd name="T0" fmla="*/ 192 w 192"/>
                <a:gd name="T1" fmla="*/ 720 h 720"/>
                <a:gd name="T2" fmla="*/ 0 w 192"/>
                <a:gd name="T3" fmla="*/ 240 h 720"/>
                <a:gd name="T4" fmla="*/ 192 w 192"/>
                <a:gd name="T5" fmla="*/ 0 h 720"/>
              </a:gdLst>
              <a:ahLst/>
              <a:cxnLst>
                <a:cxn ang="0">
                  <a:pos x="T0" y="T1"/>
                </a:cxn>
                <a:cxn ang="0">
                  <a:pos x="T2" y="T3"/>
                </a:cxn>
                <a:cxn ang="0">
                  <a:pos x="T4" y="T5"/>
                </a:cxn>
              </a:cxnLst>
              <a:rect l="0" t="0" r="r" b="b"/>
              <a:pathLst>
                <a:path w="192" h="720">
                  <a:moveTo>
                    <a:pt x="192" y="720"/>
                  </a:moveTo>
                  <a:cubicBezTo>
                    <a:pt x="96" y="540"/>
                    <a:pt x="0" y="360"/>
                    <a:pt x="0" y="240"/>
                  </a:cubicBezTo>
                  <a:cubicBezTo>
                    <a:pt x="0" y="120"/>
                    <a:pt x="96" y="60"/>
                    <a:pt x="192" y="0"/>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grpSp>
    </p:spTree>
    <p:extLst>
      <p:ext uri="{BB962C8B-B14F-4D97-AF65-F5344CB8AC3E}">
        <p14:creationId xmlns:p14="http://schemas.microsoft.com/office/powerpoint/2010/main" val="4221040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Espace réservé du numéro de diapositive 5"/>
          <p:cNvSpPr>
            <a:spLocks noGrp="1"/>
          </p:cNvSpPr>
          <p:nvPr>
            <p:ph type="sldNum" sz="quarter" idx="7"/>
          </p:nvPr>
        </p:nvSpPr>
        <p:spPr/>
        <p:txBody>
          <a:bodyPr/>
          <a:lstStyle/>
          <a:p>
            <a:fld id="{1AD9905A-0829-44D8-B34B-3F3BFE4485B9}" type="slidenum">
              <a:rPr lang="fr-FR" altLang="fr-FR"/>
              <a:pPr/>
              <a:t>13</a:t>
            </a:fld>
            <a:endParaRPr lang="fr-FR" altLang="fr-FR"/>
          </a:p>
        </p:txBody>
      </p:sp>
      <p:sp>
        <p:nvSpPr>
          <p:cNvPr id="40962" name="Rectangle 2"/>
          <p:cNvSpPr>
            <a:spLocks noGrp="1" noChangeArrowheads="1"/>
          </p:cNvSpPr>
          <p:nvPr>
            <p:ph type="title" idx="4294967295"/>
          </p:nvPr>
        </p:nvSpPr>
        <p:spPr>
          <a:xfrm>
            <a:off x="1052291" y="471655"/>
            <a:ext cx="9839325" cy="738664"/>
          </a:xfrm>
        </p:spPr>
        <p:txBody>
          <a:bodyPr/>
          <a:lstStyle/>
          <a:p>
            <a:r>
              <a:rPr lang="fr-FR" altLang="fr-FR" dirty="0"/>
              <a:t>II. 3 la transition - </a:t>
            </a:r>
            <a:r>
              <a:rPr lang="fr-FR" altLang="fr-FR" b="1" dirty="0">
                <a:solidFill>
                  <a:srgbClr val="FF0000"/>
                </a:solidFill>
              </a:rPr>
              <a:t>Condition de garde</a:t>
            </a:r>
          </a:p>
        </p:txBody>
      </p:sp>
      <p:sp>
        <p:nvSpPr>
          <p:cNvPr id="40964" name="Text Box 4"/>
          <p:cNvSpPr txBox="1">
            <a:spLocks noChangeArrowheads="1"/>
          </p:cNvSpPr>
          <p:nvPr/>
        </p:nvSpPr>
        <p:spPr bwMode="auto">
          <a:xfrm>
            <a:off x="762000" y="1360944"/>
            <a:ext cx="105156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buClr>
                <a:schemeClr val="accent6">
                  <a:lumMod val="75000"/>
                </a:schemeClr>
              </a:buClr>
              <a:buFont typeface="Wingdings" panose="05000000000000000000" pitchFamily="2" charset="2"/>
              <a:buChar char="v"/>
            </a:pPr>
            <a:r>
              <a:rPr lang="fr-FR" altLang="fr-FR" sz="2400" dirty="0"/>
              <a:t> Il s’agit d’une expression logique sur les attributs de l’objet, associé au diagramme d’états-transitions, ainsi que sur les paramètres de l’événement déclencheur. </a:t>
            </a:r>
          </a:p>
          <a:p>
            <a:pPr marL="285750" indent="-285750">
              <a:buClr>
                <a:schemeClr val="accent6">
                  <a:lumMod val="75000"/>
                </a:schemeClr>
              </a:buClr>
              <a:buFont typeface="Wingdings" panose="05000000000000000000" pitchFamily="2" charset="2"/>
              <a:buChar char="v"/>
            </a:pPr>
            <a:r>
              <a:rPr lang="fr-FR" altLang="fr-FR" sz="2400" dirty="0"/>
              <a:t> La condition de garde est évaluée uniquement lorsque l’événement déclencheur se produit. </a:t>
            </a:r>
          </a:p>
          <a:p>
            <a:pPr marL="285750" indent="-285750">
              <a:buClr>
                <a:schemeClr val="accent6">
                  <a:lumMod val="75000"/>
                </a:schemeClr>
              </a:buClr>
              <a:buFont typeface="Wingdings" panose="05000000000000000000" pitchFamily="2" charset="2"/>
              <a:buChar char="v"/>
            </a:pPr>
            <a:r>
              <a:rPr lang="fr-FR" altLang="fr-FR" sz="2400" dirty="0"/>
              <a:t> Si l’expression est fausse à ce moment là, la transition ne se déclenche pas, si elle est vraie, la transition se déclenche et ses effets se produisent. </a:t>
            </a:r>
          </a:p>
        </p:txBody>
      </p:sp>
      <p:grpSp>
        <p:nvGrpSpPr>
          <p:cNvPr id="40965" name="Group 5"/>
          <p:cNvGrpSpPr>
            <a:grpSpLocks/>
          </p:cNvGrpSpPr>
          <p:nvPr/>
        </p:nvGrpSpPr>
        <p:grpSpPr bwMode="auto">
          <a:xfrm>
            <a:off x="1912946" y="4076700"/>
            <a:ext cx="8362979" cy="2113804"/>
            <a:chOff x="464" y="1337"/>
            <a:chExt cx="4882" cy="1753"/>
          </a:xfrm>
        </p:grpSpPr>
        <p:sp>
          <p:nvSpPr>
            <p:cNvPr id="40966" name="AutoShape 6"/>
            <p:cNvSpPr>
              <a:spLocks noChangeArrowheads="1"/>
            </p:cNvSpPr>
            <p:nvPr/>
          </p:nvSpPr>
          <p:spPr bwMode="auto">
            <a:xfrm>
              <a:off x="464" y="2246"/>
              <a:ext cx="449" cy="339"/>
            </a:xfrm>
            <a:prstGeom prst="roundRect">
              <a:avLst>
                <a:gd name="adj" fmla="val 16667"/>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fr-FR" altLang="fr-FR"/>
                <a:t>Arrêt</a:t>
              </a:r>
            </a:p>
          </p:txBody>
        </p:sp>
        <p:sp>
          <p:nvSpPr>
            <p:cNvPr id="40967" name="AutoShape 7"/>
            <p:cNvSpPr>
              <a:spLocks noChangeArrowheads="1"/>
            </p:cNvSpPr>
            <p:nvPr/>
          </p:nvSpPr>
          <p:spPr bwMode="auto">
            <a:xfrm>
              <a:off x="4766" y="2246"/>
              <a:ext cx="580" cy="339"/>
            </a:xfrm>
            <a:prstGeom prst="roundRect">
              <a:avLst>
                <a:gd name="adj" fmla="val 16667"/>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fr-FR" altLang="fr-FR"/>
                <a:t>Marche</a:t>
              </a:r>
            </a:p>
          </p:txBody>
        </p:sp>
        <p:cxnSp>
          <p:nvCxnSpPr>
            <p:cNvPr id="40968" name="AutoShape 8"/>
            <p:cNvCxnSpPr>
              <a:cxnSpLocks noChangeShapeType="1"/>
              <a:stCxn id="40966" idx="3"/>
              <a:endCxn id="40967" idx="1"/>
            </p:cNvCxnSpPr>
            <p:nvPr/>
          </p:nvCxnSpPr>
          <p:spPr bwMode="auto">
            <a:xfrm>
              <a:off x="935" y="2415"/>
              <a:ext cx="3782" cy="0"/>
            </a:xfrm>
            <a:prstGeom prst="straightConnector1">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969" name="Text Box 9"/>
            <p:cNvSpPr txBox="1">
              <a:spLocks noChangeArrowheads="1"/>
            </p:cNvSpPr>
            <p:nvPr/>
          </p:nvSpPr>
          <p:spPr bwMode="auto">
            <a:xfrm>
              <a:off x="1052" y="2160"/>
              <a:ext cx="3563"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fr-FR" altLang="fr-FR"/>
                <a:t>boutonMarche [priseBranchée] / allumerVoyant()</a:t>
              </a:r>
            </a:p>
          </p:txBody>
        </p:sp>
        <p:sp>
          <p:nvSpPr>
            <p:cNvPr id="40970" name="Text Box 10"/>
            <p:cNvSpPr txBox="1">
              <a:spLocks noChangeArrowheads="1"/>
            </p:cNvSpPr>
            <p:nvPr/>
          </p:nvSpPr>
          <p:spPr bwMode="auto">
            <a:xfrm>
              <a:off x="991" y="2736"/>
              <a:ext cx="752"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fr-FR" altLang="fr-FR" dirty="0">
                  <a:solidFill>
                    <a:srgbClr val="0000FF"/>
                  </a:solidFill>
                </a:rPr>
                <a:t>état source</a:t>
              </a:r>
            </a:p>
          </p:txBody>
        </p:sp>
        <p:sp>
          <p:nvSpPr>
            <p:cNvPr id="40971" name="Text Box 11"/>
            <p:cNvSpPr txBox="1">
              <a:spLocks noChangeArrowheads="1"/>
            </p:cNvSpPr>
            <p:nvPr/>
          </p:nvSpPr>
          <p:spPr bwMode="auto">
            <a:xfrm>
              <a:off x="3109" y="2784"/>
              <a:ext cx="1030"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fr-FR" altLang="fr-FR">
                  <a:solidFill>
                    <a:srgbClr val="0000FF"/>
                  </a:solidFill>
                </a:rPr>
                <a:t>état destination</a:t>
              </a:r>
            </a:p>
          </p:txBody>
        </p:sp>
        <p:sp>
          <p:nvSpPr>
            <p:cNvPr id="40972" name="Text Box 12"/>
            <p:cNvSpPr txBox="1">
              <a:spLocks noChangeArrowheads="1"/>
            </p:cNvSpPr>
            <p:nvPr/>
          </p:nvSpPr>
          <p:spPr bwMode="auto">
            <a:xfrm>
              <a:off x="467" y="1382"/>
              <a:ext cx="835" cy="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fr-FR" altLang="fr-FR">
                  <a:solidFill>
                    <a:srgbClr val="0000FF"/>
                  </a:solidFill>
                </a:rPr>
                <a:t>événement</a:t>
              </a:r>
            </a:p>
            <a:p>
              <a:pPr algn="ctr" eaLnBrk="0" hangingPunct="0"/>
              <a:r>
                <a:rPr lang="fr-FR" altLang="fr-FR">
                  <a:solidFill>
                    <a:srgbClr val="0000FF"/>
                  </a:solidFill>
                </a:rPr>
                <a:t>déclencheur</a:t>
              </a:r>
            </a:p>
          </p:txBody>
        </p:sp>
        <p:sp>
          <p:nvSpPr>
            <p:cNvPr id="40973" name="Text Box 13"/>
            <p:cNvSpPr txBox="1">
              <a:spLocks noChangeArrowheads="1"/>
            </p:cNvSpPr>
            <p:nvPr/>
          </p:nvSpPr>
          <p:spPr bwMode="auto">
            <a:xfrm>
              <a:off x="2820" y="1337"/>
              <a:ext cx="1234"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fr-FR" altLang="fr-FR">
                  <a:solidFill>
                    <a:srgbClr val="FF0000"/>
                  </a:solidFill>
                </a:rPr>
                <a:t>condition de garde</a:t>
              </a:r>
            </a:p>
          </p:txBody>
        </p:sp>
        <p:sp>
          <p:nvSpPr>
            <p:cNvPr id="40974" name="Text Box 14"/>
            <p:cNvSpPr txBox="1">
              <a:spLocks noChangeArrowheads="1"/>
            </p:cNvSpPr>
            <p:nvPr/>
          </p:nvSpPr>
          <p:spPr bwMode="auto">
            <a:xfrm>
              <a:off x="4499" y="1585"/>
              <a:ext cx="471"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fr-FR" altLang="fr-FR">
                  <a:solidFill>
                    <a:srgbClr val="0000FF"/>
                  </a:solidFill>
                </a:rPr>
                <a:t>action</a:t>
              </a:r>
            </a:p>
          </p:txBody>
        </p:sp>
        <p:sp>
          <p:nvSpPr>
            <p:cNvPr id="40975" name="Oval 15"/>
            <p:cNvSpPr>
              <a:spLocks noChangeArrowheads="1"/>
            </p:cNvSpPr>
            <p:nvPr/>
          </p:nvSpPr>
          <p:spPr bwMode="auto">
            <a:xfrm>
              <a:off x="672" y="2496"/>
              <a:ext cx="48" cy="48"/>
            </a:xfrm>
            <a:prstGeom prst="ellipse">
              <a:avLst/>
            </a:prstGeom>
            <a:solidFill>
              <a:srgbClr val="0000FF"/>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40976" name="Oval 16"/>
            <p:cNvSpPr>
              <a:spLocks noChangeArrowheads="1"/>
            </p:cNvSpPr>
            <p:nvPr/>
          </p:nvSpPr>
          <p:spPr bwMode="auto">
            <a:xfrm>
              <a:off x="5040" y="2496"/>
              <a:ext cx="48" cy="48"/>
            </a:xfrm>
            <a:prstGeom prst="ellipse">
              <a:avLst/>
            </a:prstGeom>
            <a:solidFill>
              <a:srgbClr val="0000FF"/>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40977" name="Oval 17"/>
            <p:cNvSpPr>
              <a:spLocks noChangeArrowheads="1"/>
            </p:cNvSpPr>
            <p:nvPr/>
          </p:nvSpPr>
          <p:spPr bwMode="auto">
            <a:xfrm>
              <a:off x="1632" y="2112"/>
              <a:ext cx="48" cy="48"/>
            </a:xfrm>
            <a:prstGeom prst="ellipse">
              <a:avLst/>
            </a:prstGeom>
            <a:solidFill>
              <a:srgbClr val="0000FF"/>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40978" name="Oval 18"/>
            <p:cNvSpPr>
              <a:spLocks noChangeArrowheads="1"/>
            </p:cNvSpPr>
            <p:nvPr/>
          </p:nvSpPr>
          <p:spPr bwMode="auto">
            <a:xfrm>
              <a:off x="2701" y="2146"/>
              <a:ext cx="48" cy="48"/>
            </a:xfrm>
            <a:prstGeom prst="ellipse">
              <a:avLst/>
            </a:prstGeom>
            <a:solidFill>
              <a:srgbClr val="0000FF"/>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40979" name="Oval 19"/>
            <p:cNvSpPr>
              <a:spLocks noChangeArrowheads="1"/>
            </p:cNvSpPr>
            <p:nvPr/>
          </p:nvSpPr>
          <p:spPr bwMode="auto">
            <a:xfrm>
              <a:off x="3888" y="2112"/>
              <a:ext cx="48" cy="48"/>
            </a:xfrm>
            <a:prstGeom prst="ellipse">
              <a:avLst/>
            </a:prstGeom>
            <a:solidFill>
              <a:srgbClr val="0000FF"/>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40980" name="Freeform 20"/>
            <p:cNvSpPr>
              <a:spLocks/>
            </p:cNvSpPr>
            <p:nvPr/>
          </p:nvSpPr>
          <p:spPr bwMode="auto">
            <a:xfrm>
              <a:off x="4193" y="2580"/>
              <a:ext cx="108" cy="306"/>
            </a:xfrm>
            <a:custGeom>
              <a:avLst/>
              <a:gdLst>
                <a:gd name="T0" fmla="*/ 868 w 868"/>
                <a:gd name="T1" fmla="*/ 0 h 427"/>
                <a:gd name="T2" fmla="*/ 565 w 868"/>
                <a:gd name="T3" fmla="*/ 360 h 427"/>
                <a:gd name="T4" fmla="*/ 0 w 868"/>
                <a:gd name="T5" fmla="*/ 402 h 427"/>
              </a:gdLst>
              <a:ahLst/>
              <a:cxnLst>
                <a:cxn ang="0">
                  <a:pos x="T0" y="T1"/>
                </a:cxn>
                <a:cxn ang="0">
                  <a:pos x="T2" y="T3"/>
                </a:cxn>
                <a:cxn ang="0">
                  <a:pos x="T4" y="T5"/>
                </a:cxn>
              </a:cxnLst>
              <a:rect l="0" t="0" r="r" b="b"/>
              <a:pathLst>
                <a:path w="868" h="427">
                  <a:moveTo>
                    <a:pt x="868" y="0"/>
                  </a:moveTo>
                  <a:cubicBezTo>
                    <a:pt x="789" y="146"/>
                    <a:pt x="710" y="293"/>
                    <a:pt x="565" y="360"/>
                  </a:cubicBezTo>
                  <a:cubicBezTo>
                    <a:pt x="420" y="427"/>
                    <a:pt x="210" y="414"/>
                    <a:pt x="0" y="402"/>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sp>
          <p:nvSpPr>
            <p:cNvPr id="40981" name="Freeform 21"/>
            <p:cNvSpPr>
              <a:spLocks/>
            </p:cNvSpPr>
            <p:nvPr/>
          </p:nvSpPr>
          <p:spPr bwMode="auto">
            <a:xfrm>
              <a:off x="3918" y="1781"/>
              <a:ext cx="108" cy="306"/>
            </a:xfrm>
            <a:custGeom>
              <a:avLst/>
              <a:gdLst>
                <a:gd name="T0" fmla="*/ 0 w 564"/>
                <a:gd name="T1" fmla="*/ 410 h 410"/>
                <a:gd name="T2" fmla="*/ 183 w 564"/>
                <a:gd name="T3" fmla="*/ 85 h 410"/>
                <a:gd name="T4" fmla="*/ 564 w 564"/>
                <a:gd name="T5" fmla="*/ 0 h 410"/>
              </a:gdLst>
              <a:ahLst/>
              <a:cxnLst>
                <a:cxn ang="0">
                  <a:pos x="T0" y="T1"/>
                </a:cxn>
                <a:cxn ang="0">
                  <a:pos x="T2" y="T3"/>
                </a:cxn>
                <a:cxn ang="0">
                  <a:pos x="T4" y="T5"/>
                </a:cxn>
              </a:cxnLst>
              <a:rect l="0" t="0" r="r" b="b"/>
              <a:pathLst>
                <a:path w="564" h="410">
                  <a:moveTo>
                    <a:pt x="0" y="410"/>
                  </a:moveTo>
                  <a:cubicBezTo>
                    <a:pt x="44" y="281"/>
                    <a:pt x="89" y="153"/>
                    <a:pt x="183" y="85"/>
                  </a:cubicBezTo>
                  <a:cubicBezTo>
                    <a:pt x="277" y="17"/>
                    <a:pt x="420" y="8"/>
                    <a:pt x="564" y="0"/>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sp>
          <p:nvSpPr>
            <p:cNvPr id="40982" name="Freeform 22"/>
            <p:cNvSpPr>
              <a:spLocks/>
            </p:cNvSpPr>
            <p:nvPr/>
          </p:nvSpPr>
          <p:spPr bwMode="auto">
            <a:xfrm>
              <a:off x="1306" y="1735"/>
              <a:ext cx="108" cy="306"/>
            </a:xfrm>
            <a:custGeom>
              <a:avLst/>
              <a:gdLst>
                <a:gd name="T0" fmla="*/ 353 w 353"/>
                <a:gd name="T1" fmla="*/ 515 h 515"/>
                <a:gd name="T2" fmla="*/ 254 w 353"/>
                <a:gd name="T3" fmla="*/ 113 h 515"/>
                <a:gd name="T4" fmla="*/ 0 w 353"/>
                <a:gd name="T5" fmla="*/ 0 h 515"/>
              </a:gdLst>
              <a:ahLst/>
              <a:cxnLst>
                <a:cxn ang="0">
                  <a:pos x="T0" y="T1"/>
                </a:cxn>
                <a:cxn ang="0">
                  <a:pos x="T2" y="T3"/>
                </a:cxn>
                <a:cxn ang="0">
                  <a:pos x="T4" y="T5"/>
                </a:cxn>
              </a:cxnLst>
              <a:rect l="0" t="0" r="r" b="b"/>
              <a:pathLst>
                <a:path w="353" h="515">
                  <a:moveTo>
                    <a:pt x="353" y="515"/>
                  </a:moveTo>
                  <a:cubicBezTo>
                    <a:pt x="333" y="357"/>
                    <a:pt x="313" y="199"/>
                    <a:pt x="254" y="113"/>
                  </a:cubicBezTo>
                  <a:cubicBezTo>
                    <a:pt x="195" y="27"/>
                    <a:pt x="42" y="18"/>
                    <a:pt x="0" y="0"/>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sp>
          <p:nvSpPr>
            <p:cNvPr id="40983" name="Freeform 23"/>
            <p:cNvSpPr>
              <a:spLocks/>
            </p:cNvSpPr>
            <p:nvPr/>
          </p:nvSpPr>
          <p:spPr bwMode="auto">
            <a:xfrm>
              <a:off x="692" y="2540"/>
              <a:ext cx="108" cy="306"/>
            </a:xfrm>
            <a:custGeom>
              <a:avLst/>
              <a:gdLst>
                <a:gd name="T0" fmla="*/ 0 w 247"/>
                <a:gd name="T1" fmla="*/ 0 h 346"/>
                <a:gd name="T2" fmla="*/ 84 w 247"/>
                <a:gd name="T3" fmla="*/ 275 h 346"/>
                <a:gd name="T4" fmla="*/ 247 w 247"/>
                <a:gd name="T5" fmla="*/ 346 h 346"/>
              </a:gdLst>
              <a:ahLst/>
              <a:cxnLst>
                <a:cxn ang="0">
                  <a:pos x="T0" y="T1"/>
                </a:cxn>
                <a:cxn ang="0">
                  <a:pos x="T2" y="T3"/>
                </a:cxn>
                <a:cxn ang="0">
                  <a:pos x="T4" y="T5"/>
                </a:cxn>
              </a:cxnLst>
              <a:rect l="0" t="0" r="r" b="b"/>
              <a:pathLst>
                <a:path w="247" h="346">
                  <a:moveTo>
                    <a:pt x="0" y="0"/>
                  </a:moveTo>
                  <a:cubicBezTo>
                    <a:pt x="21" y="108"/>
                    <a:pt x="43" y="217"/>
                    <a:pt x="84" y="275"/>
                  </a:cubicBezTo>
                  <a:cubicBezTo>
                    <a:pt x="125" y="333"/>
                    <a:pt x="186" y="339"/>
                    <a:pt x="247" y="346"/>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sp>
          <p:nvSpPr>
            <p:cNvPr id="40984" name="Freeform 24"/>
            <p:cNvSpPr>
              <a:spLocks/>
            </p:cNvSpPr>
            <p:nvPr/>
          </p:nvSpPr>
          <p:spPr bwMode="auto">
            <a:xfrm>
              <a:off x="2544" y="1681"/>
              <a:ext cx="108" cy="306"/>
            </a:xfrm>
            <a:custGeom>
              <a:avLst/>
              <a:gdLst>
                <a:gd name="T0" fmla="*/ 192 w 192"/>
                <a:gd name="T1" fmla="*/ 720 h 720"/>
                <a:gd name="T2" fmla="*/ 0 w 192"/>
                <a:gd name="T3" fmla="*/ 240 h 720"/>
                <a:gd name="T4" fmla="*/ 192 w 192"/>
                <a:gd name="T5" fmla="*/ 0 h 720"/>
              </a:gdLst>
              <a:ahLst/>
              <a:cxnLst>
                <a:cxn ang="0">
                  <a:pos x="T0" y="T1"/>
                </a:cxn>
                <a:cxn ang="0">
                  <a:pos x="T2" y="T3"/>
                </a:cxn>
                <a:cxn ang="0">
                  <a:pos x="T4" y="T5"/>
                </a:cxn>
              </a:cxnLst>
              <a:rect l="0" t="0" r="r" b="b"/>
              <a:pathLst>
                <a:path w="192" h="720">
                  <a:moveTo>
                    <a:pt x="192" y="720"/>
                  </a:moveTo>
                  <a:cubicBezTo>
                    <a:pt x="96" y="540"/>
                    <a:pt x="0" y="360"/>
                    <a:pt x="0" y="240"/>
                  </a:cubicBezTo>
                  <a:cubicBezTo>
                    <a:pt x="0" y="120"/>
                    <a:pt x="96" y="60"/>
                    <a:pt x="192" y="0"/>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grpSp>
    </p:spTree>
    <p:extLst>
      <p:ext uri="{BB962C8B-B14F-4D97-AF65-F5344CB8AC3E}">
        <p14:creationId xmlns:p14="http://schemas.microsoft.com/office/powerpoint/2010/main" val="2257143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1029166" y="462362"/>
            <a:ext cx="9839325" cy="738664"/>
          </a:xfrm>
        </p:spPr>
        <p:txBody>
          <a:bodyPr/>
          <a:lstStyle/>
          <a:p>
            <a:r>
              <a:rPr lang="fr-FR" altLang="fr-FR" dirty="0"/>
              <a:t>II. 3 la transition - </a:t>
            </a:r>
            <a:r>
              <a:rPr lang="fr-FR" altLang="fr-FR" b="1" dirty="0">
                <a:solidFill>
                  <a:srgbClr val="FF0000"/>
                </a:solidFill>
              </a:rPr>
              <a:t>Effet d’une transition</a:t>
            </a:r>
          </a:p>
        </p:txBody>
      </p:sp>
      <p:sp>
        <p:nvSpPr>
          <p:cNvPr id="43012" name="Text Box 4"/>
          <p:cNvSpPr txBox="1">
            <a:spLocks noChangeArrowheads="1"/>
          </p:cNvSpPr>
          <p:nvPr/>
        </p:nvSpPr>
        <p:spPr bwMode="auto">
          <a:xfrm>
            <a:off x="1143000" y="1253866"/>
            <a:ext cx="1076247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1800"/>
              </a:spcBef>
              <a:buFontTx/>
              <a:buChar char="•"/>
            </a:pPr>
            <a:r>
              <a:rPr lang="fr-FR" altLang="fr-FR" sz="2400" dirty="0"/>
              <a:t> Lorsqu’une transition se déclenche, son effet, spécifié par ’/’ &lt;activité&gt; dans </a:t>
            </a:r>
          </a:p>
          <a:p>
            <a:pPr>
              <a:spcBef>
                <a:spcPts val="1800"/>
              </a:spcBef>
            </a:pPr>
            <a:r>
              <a:rPr lang="fr-FR" altLang="fr-FR" sz="2400" dirty="0"/>
              <a:t>   la syntaxe s’exécute. </a:t>
            </a:r>
          </a:p>
          <a:p>
            <a:pPr>
              <a:spcBef>
                <a:spcPts val="1800"/>
              </a:spcBef>
              <a:buFontTx/>
              <a:buChar char="•"/>
            </a:pPr>
            <a:r>
              <a:rPr lang="fr-FR" altLang="fr-FR" sz="2400" dirty="0"/>
              <a:t>Lorsque l’exécution de l’effet est terminée, l’état cible de la transition devient actif.</a:t>
            </a:r>
          </a:p>
        </p:txBody>
      </p:sp>
      <p:grpSp>
        <p:nvGrpSpPr>
          <p:cNvPr id="43013" name="Group 5"/>
          <p:cNvGrpSpPr>
            <a:grpSpLocks/>
          </p:cNvGrpSpPr>
          <p:nvPr/>
        </p:nvGrpSpPr>
        <p:grpSpPr bwMode="auto">
          <a:xfrm>
            <a:off x="1371600" y="3372596"/>
            <a:ext cx="8362979" cy="2113804"/>
            <a:chOff x="464" y="1337"/>
            <a:chExt cx="4882" cy="1753"/>
          </a:xfrm>
        </p:grpSpPr>
        <p:sp>
          <p:nvSpPr>
            <p:cNvPr id="43014" name="AutoShape 6"/>
            <p:cNvSpPr>
              <a:spLocks noChangeArrowheads="1"/>
            </p:cNvSpPr>
            <p:nvPr/>
          </p:nvSpPr>
          <p:spPr bwMode="auto">
            <a:xfrm>
              <a:off x="464" y="2246"/>
              <a:ext cx="449" cy="339"/>
            </a:xfrm>
            <a:prstGeom prst="roundRect">
              <a:avLst>
                <a:gd name="adj" fmla="val 16667"/>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fr-FR" altLang="fr-FR"/>
                <a:t>Arrêt</a:t>
              </a:r>
            </a:p>
          </p:txBody>
        </p:sp>
        <p:sp>
          <p:nvSpPr>
            <p:cNvPr id="43015" name="AutoShape 7"/>
            <p:cNvSpPr>
              <a:spLocks noChangeArrowheads="1"/>
            </p:cNvSpPr>
            <p:nvPr/>
          </p:nvSpPr>
          <p:spPr bwMode="auto">
            <a:xfrm>
              <a:off x="4766" y="2246"/>
              <a:ext cx="580" cy="339"/>
            </a:xfrm>
            <a:prstGeom prst="roundRect">
              <a:avLst>
                <a:gd name="adj" fmla="val 16667"/>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fr-FR" altLang="fr-FR"/>
                <a:t>Marche</a:t>
              </a:r>
            </a:p>
          </p:txBody>
        </p:sp>
        <p:cxnSp>
          <p:nvCxnSpPr>
            <p:cNvPr id="43016" name="AutoShape 8"/>
            <p:cNvCxnSpPr>
              <a:cxnSpLocks noChangeShapeType="1"/>
              <a:stCxn id="43014" idx="3"/>
              <a:endCxn id="43015" idx="1"/>
            </p:cNvCxnSpPr>
            <p:nvPr/>
          </p:nvCxnSpPr>
          <p:spPr bwMode="auto">
            <a:xfrm>
              <a:off x="935" y="2415"/>
              <a:ext cx="3782" cy="0"/>
            </a:xfrm>
            <a:prstGeom prst="straightConnector1">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017" name="Text Box 9"/>
            <p:cNvSpPr txBox="1">
              <a:spLocks noChangeArrowheads="1"/>
            </p:cNvSpPr>
            <p:nvPr/>
          </p:nvSpPr>
          <p:spPr bwMode="auto">
            <a:xfrm>
              <a:off x="1052" y="2160"/>
              <a:ext cx="3563"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fr-FR" altLang="fr-FR"/>
                <a:t>boutonMarche [priseBranchée] / allumerVoyant()</a:t>
              </a:r>
            </a:p>
          </p:txBody>
        </p:sp>
        <p:sp>
          <p:nvSpPr>
            <p:cNvPr id="43018" name="Text Box 10"/>
            <p:cNvSpPr txBox="1">
              <a:spLocks noChangeArrowheads="1"/>
            </p:cNvSpPr>
            <p:nvPr/>
          </p:nvSpPr>
          <p:spPr bwMode="auto">
            <a:xfrm>
              <a:off x="991" y="2736"/>
              <a:ext cx="752"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fr-FR" altLang="fr-FR">
                  <a:solidFill>
                    <a:srgbClr val="0000FF"/>
                  </a:solidFill>
                </a:rPr>
                <a:t>état source</a:t>
              </a:r>
            </a:p>
          </p:txBody>
        </p:sp>
        <p:sp>
          <p:nvSpPr>
            <p:cNvPr id="43019" name="Text Box 11"/>
            <p:cNvSpPr txBox="1">
              <a:spLocks noChangeArrowheads="1"/>
            </p:cNvSpPr>
            <p:nvPr/>
          </p:nvSpPr>
          <p:spPr bwMode="auto">
            <a:xfrm>
              <a:off x="3109" y="2784"/>
              <a:ext cx="1030"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fr-FR" altLang="fr-FR">
                  <a:solidFill>
                    <a:srgbClr val="0000FF"/>
                  </a:solidFill>
                </a:rPr>
                <a:t>état destination</a:t>
              </a:r>
            </a:p>
          </p:txBody>
        </p:sp>
        <p:sp>
          <p:nvSpPr>
            <p:cNvPr id="43020" name="Text Box 12"/>
            <p:cNvSpPr txBox="1">
              <a:spLocks noChangeArrowheads="1"/>
            </p:cNvSpPr>
            <p:nvPr/>
          </p:nvSpPr>
          <p:spPr bwMode="auto">
            <a:xfrm>
              <a:off x="467" y="1382"/>
              <a:ext cx="835" cy="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fr-FR" altLang="fr-FR" dirty="0">
                  <a:solidFill>
                    <a:srgbClr val="0000FF"/>
                  </a:solidFill>
                </a:rPr>
                <a:t>événement</a:t>
              </a:r>
            </a:p>
            <a:p>
              <a:pPr algn="ctr" eaLnBrk="0" hangingPunct="0"/>
              <a:r>
                <a:rPr lang="fr-FR" altLang="fr-FR" dirty="0">
                  <a:solidFill>
                    <a:srgbClr val="0000FF"/>
                  </a:solidFill>
                </a:rPr>
                <a:t>déclencheur</a:t>
              </a:r>
            </a:p>
          </p:txBody>
        </p:sp>
        <p:sp>
          <p:nvSpPr>
            <p:cNvPr id="43021" name="Text Box 13"/>
            <p:cNvSpPr txBox="1">
              <a:spLocks noChangeArrowheads="1"/>
            </p:cNvSpPr>
            <p:nvPr/>
          </p:nvSpPr>
          <p:spPr bwMode="auto">
            <a:xfrm>
              <a:off x="2820" y="1337"/>
              <a:ext cx="1234"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fr-FR" altLang="fr-FR">
                  <a:solidFill>
                    <a:srgbClr val="0099FF"/>
                  </a:solidFill>
                </a:rPr>
                <a:t>condition de </a:t>
              </a:r>
              <a:r>
                <a:rPr lang="fr-FR" altLang="fr-FR">
                  <a:solidFill>
                    <a:srgbClr val="3399FF"/>
                  </a:solidFill>
                </a:rPr>
                <a:t>garde</a:t>
              </a:r>
            </a:p>
          </p:txBody>
        </p:sp>
        <p:sp>
          <p:nvSpPr>
            <p:cNvPr id="43022" name="Text Box 14"/>
            <p:cNvSpPr txBox="1">
              <a:spLocks noChangeArrowheads="1"/>
            </p:cNvSpPr>
            <p:nvPr/>
          </p:nvSpPr>
          <p:spPr bwMode="auto">
            <a:xfrm>
              <a:off x="4499" y="1585"/>
              <a:ext cx="471"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fr-FR" altLang="fr-FR">
                  <a:solidFill>
                    <a:srgbClr val="FF0000"/>
                  </a:solidFill>
                </a:rPr>
                <a:t>action</a:t>
              </a:r>
            </a:p>
          </p:txBody>
        </p:sp>
        <p:sp>
          <p:nvSpPr>
            <p:cNvPr id="43023" name="Oval 15"/>
            <p:cNvSpPr>
              <a:spLocks noChangeArrowheads="1"/>
            </p:cNvSpPr>
            <p:nvPr/>
          </p:nvSpPr>
          <p:spPr bwMode="auto">
            <a:xfrm>
              <a:off x="672" y="2496"/>
              <a:ext cx="48" cy="48"/>
            </a:xfrm>
            <a:prstGeom prst="ellipse">
              <a:avLst/>
            </a:prstGeom>
            <a:solidFill>
              <a:srgbClr val="0000FF"/>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43024" name="Oval 16"/>
            <p:cNvSpPr>
              <a:spLocks noChangeArrowheads="1"/>
            </p:cNvSpPr>
            <p:nvPr/>
          </p:nvSpPr>
          <p:spPr bwMode="auto">
            <a:xfrm>
              <a:off x="5040" y="2496"/>
              <a:ext cx="48" cy="48"/>
            </a:xfrm>
            <a:prstGeom prst="ellipse">
              <a:avLst/>
            </a:prstGeom>
            <a:solidFill>
              <a:srgbClr val="0000FF"/>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43025" name="Oval 17"/>
            <p:cNvSpPr>
              <a:spLocks noChangeArrowheads="1"/>
            </p:cNvSpPr>
            <p:nvPr/>
          </p:nvSpPr>
          <p:spPr bwMode="auto">
            <a:xfrm>
              <a:off x="1632" y="2112"/>
              <a:ext cx="48" cy="48"/>
            </a:xfrm>
            <a:prstGeom prst="ellipse">
              <a:avLst/>
            </a:prstGeom>
            <a:solidFill>
              <a:srgbClr val="0000FF"/>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43026" name="Oval 18"/>
            <p:cNvSpPr>
              <a:spLocks noChangeArrowheads="1"/>
            </p:cNvSpPr>
            <p:nvPr/>
          </p:nvSpPr>
          <p:spPr bwMode="auto">
            <a:xfrm>
              <a:off x="2701" y="2146"/>
              <a:ext cx="48" cy="48"/>
            </a:xfrm>
            <a:prstGeom prst="ellipse">
              <a:avLst/>
            </a:prstGeom>
            <a:solidFill>
              <a:srgbClr val="0000FF"/>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43027" name="Oval 19"/>
            <p:cNvSpPr>
              <a:spLocks noChangeArrowheads="1"/>
            </p:cNvSpPr>
            <p:nvPr/>
          </p:nvSpPr>
          <p:spPr bwMode="auto">
            <a:xfrm>
              <a:off x="3888" y="2112"/>
              <a:ext cx="48" cy="48"/>
            </a:xfrm>
            <a:prstGeom prst="ellipse">
              <a:avLst/>
            </a:prstGeom>
            <a:solidFill>
              <a:srgbClr val="0000FF"/>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43028" name="Freeform 20"/>
            <p:cNvSpPr>
              <a:spLocks/>
            </p:cNvSpPr>
            <p:nvPr/>
          </p:nvSpPr>
          <p:spPr bwMode="auto">
            <a:xfrm>
              <a:off x="4193" y="2580"/>
              <a:ext cx="108" cy="306"/>
            </a:xfrm>
            <a:custGeom>
              <a:avLst/>
              <a:gdLst>
                <a:gd name="T0" fmla="*/ 868 w 868"/>
                <a:gd name="T1" fmla="*/ 0 h 427"/>
                <a:gd name="T2" fmla="*/ 565 w 868"/>
                <a:gd name="T3" fmla="*/ 360 h 427"/>
                <a:gd name="T4" fmla="*/ 0 w 868"/>
                <a:gd name="T5" fmla="*/ 402 h 427"/>
              </a:gdLst>
              <a:ahLst/>
              <a:cxnLst>
                <a:cxn ang="0">
                  <a:pos x="T0" y="T1"/>
                </a:cxn>
                <a:cxn ang="0">
                  <a:pos x="T2" y="T3"/>
                </a:cxn>
                <a:cxn ang="0">
                  <a:pos x="T4" y="T5"/>
                </a:cxn>
              </a:cxnLst>
              <a:rect l="0" t="0" r="r" b="b"/>
              <a:pathLst>
                <a:path w="868" h="427">
                  <a:moveTo>
                    <a:pt x="868" y="0"/>
                  </a:moveTo>
                  <a:cubicBezTo>
                    <a:pt x="789" y="146"/>
                    <a:pt x="710" y="293"/>
                    <a:pt x="565" y="360"/>
                  </a:cubicBezTo>
                  <a:cubicBezTo>
                    <a:pt x="420" y="427"/>
                    <a:pt x="210" y="414"/>
                    <a:pt x="0" y="402"/>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sp>
          <p:nvSpPr>
            <p:cNvPr id="43029" name="Freeform 21"/>
            <p:cNvSpPr>
              <a:spLocks/>
            </p:cNvSpPr>
            <p:nvPr/>
          </p:nvSpPr>
          <p:spPr bwMode="auto">
            <a:xfrm>
              <a:off x="3918" y="1781"/>
              <a:ext cx="108" cy="306"/>
            </a:xfrm>
            <a:custGeom>
              <a:avLst/>
              <a:gdLst>
                <a:gd name="T0" fmla="*/ 0 w 564"/>
                <a:gd name="T1" fmla="*/ 410 h 410"/>
                <a:gd name="T2" fmla="*/ 183 w 564"/>
                <a:gd name="T3" fmla="*/ 85 h 410"/>
                <a:gd name="T4" fmla="*/ 564 w 564"/>
                <a:gd name="T5" fmla="*/ 0 h 410"/>
              </a:gdLst>
              <a:ahLst/>
              <a:cxnLst>
                <a:cxn ang="0">
                  <a:pos x="T0" y="T1"/>
                </a:cxn>
                <a:cxn ang="0">
                  <a:pos x="T2" y="T3"/>
                </a:cxn>
                <a:cxn ang="0">
                  <a:pos x="T4" y="T5"/>
                </a:cxn>
              </a:cxnLst>
              <a:rect l="0" t="0" r="r" b="b"/>
              <a:pathLst>
                <a:path w="564" h="410">
                  <a:moveTo>
                    <a:pt x="0" y="410"/>
                  </a:moveTo>
                  <a:cubicBezTo>
                    <a:pt x="44" y="281"/>
                    <a:pt x="89" y="153"/>
                    <a:pt x="183" y="85"/>
                  </a:cubicBezTo>
                  <a:cubicBezTo>
                    <a:pt x="277" y="17"/>
                    <a:pt x="420" y="8"/>
                    <a:pt x="564" y="0"/>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sp>
          <p:nvSpPr>
            <p:cNvPr id="43030" name="Freeform 22"/>
            <p:cNvSpPr>
              <a:spLocks/>
            </p:cNvSpPr>
            <p:nvPr/>
          </p:nvSpPr>
          <p:spPr bwMode="auto">
            <a:xfrm>
              <a:off x="1306" y="1735"/>
              <a:ext cx="108" cy="306"/>
            </a:xfrm>
            <a:custGeom>
              <a:avLst/>
              <a:gdLst>
                <a:gd name="T0" fmla="*/ 353 w 353"/>
                <a:gd name="T1" fmla="*/ 515 h 515"/>
                <a:gd name="T2" fmla="*/ 254 w 353"/>
                <a:gd name="T3" fmla="*/ 113 h 515"/>
                <a:gd name="T4" fmla="*/ 0 w 353"/>
                <a:gd name="T5" fmla="*/ 0 h 515"/>
              </a:gdLst>
              <a:ahLst/>
              <a:cxnLst>
                <a:cxn ang="0">
                  <a:pos x="T0" y="T1"/>
                </a:cxn>
                <a:cxn ang="0">
                  <a:pos x="T2" y="T3"/>
                </a:cxn>
                <a:cxn ang="0">
                  <a:pos x="T4" y="T5"/>
                </a:cxn>
              </a:cxnLst>
              <a:rect l="0" t="0" r="r" b="b"/>
              <a:pathLst>
                <a:path w="353" h="515">
                  <a:moveTo>
                    <a:pt x="353" y="515"/>
                  </a:moveTo>
                  <a:cubicBezTo>
                    <a:pt x="333" y="357"/>
                    <a:pt x="313" y="199"/>
                    <a:pt x="254" y="113"/>
                  </a:cubicBezTo>
                  <a:cubicBezTo>
                    <a:pt x="195" y="27"/>
                    <a:pt x="42" y="18"/>
                    <a:pt x="0" y="0"/>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sp>
          <p:nvSpPr>
            <p:cNvPr id="43031" name="Freeform 23"/>
            <p:cNvSpPr>
              <a:spLocks/>
            </p:cNvSpPr>
            <p:nvPr/>
          </p:nvSpPr>
          <p:spPr bwMode="auto">
            <a:xfrm>
              <a:off x="692" y="2540"/>
              <a:ext cx="108" cy="306"/>
            </a:xfrm>
            <a:custGeom>
              <a:avLst/>
              <a:gdLst>
                <a:gd name="T0" fmla="*/ 0 w 247"/>
                <a:gd name="T1" fmla="*/ 0 h 346"/>
                <a:gd name="T2" fmla="*/ 84 w 247"/>
                <a:gd name="T3" fmla="*/ 275 h 346"/>
                <a:gd name="T4" fmla="*/ 247 w 247"/>
                <a:gd name="T5" fmla="*/ 346 h 346"/>
              </a:gdLst>
              <a:ahLst/>
              <a:cxnLst>
                <a:cxn ang="0">
                  <a:pos x="T0" y="T1"/>
                </a:cxn>
                <a:cxn ang="0">
                  <a:pos x="T2" y="T3"/>
                </a:cxn>
                <a:cxn ang="0">
                  <a:pos x="T4" y="T5"/>
                </a:cxn>
              </a:cxnLst>
              <a:rect l="0" t="0" r="r" b="b"/>
              <a:pathLst>
                <a:path w="247" h="346">
                  <a:moveTo>
                    <a:pt x="0" y="0"/>
                  </a:moveTo>
                  <a:cubicBezTo>
                    <a:pt x="21" y="108"/>
                    <a:pt x="43" y="217"/>
                    <a:pt x="84" y="275"/>
                  </a:cubicBezTo>
                  <a:cubicBezTo>
                    <a:pt x="125" y="333"/>
                    <a:pt x="186" y="339"/>
                    <a:pt x="247" y="346"/>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sp>
          <p:nvSpPr>
            <p:cNvPr id="43032" name="Freeform 24"/>
            <p:cNvSpPr>
              <a:spLocks/>
            </p:cNvSpPr>
            <p:nvPr/>
          </p:nvSpPr>
          <p:spPr bwMode="auto">
            <a:xfrm>
              <a:off x="2544" y="1681"/>
              <a:ext cx="108" cy="306"/>
            </a:xfrm>
            <a:custGeom>
              <a:avLst/>
              <a:gdLst>
                <a:gd name="T0" fmla="*/ 192 w 192"/>
                <a:gd name="T1" fmla="*/ 720 h 720"/>
                <a:gd name="T2" fmla="*/ 0 w 192"/>
                <a:gd name="T3" fmla="*/ 240 h 720"/>
                <a:gd name="T4" fmla="*/ 192 w 192"/>
                <a:gd name="T5" fmla="*/ 0 h 720"/>
              </a:gdLst>
              <a:ahLst/>
              <a:cxnLst>
                <a:cxn ang="0">
                  <a:pos x="T0" y="T1"/>
                </a:cxn>
                <a:cxn ang="0">
                  <a:pos x="T2" y="T3"/>
                </a:cxn>
                <a:cxn ang="0">
                  <a:pos x="T4" y="T5"/>
                </a:cxn>
              </a:cxnLst>
              <a:rect l="0" t="0" r="r" b="b"/>
              <a:pathLst>
                <a:path w="192" h="720">
                  <a:moveTo>
                    <a:pt x="192" y="720"/>
                  </a:moveTo>
                  <a:cubicBezTo>
                    <a:pt x="96" y="540"/>
                    <a:pt x="0" y="360"/>
                    <a:pt x="0" y="240"/>
                  </a:cubicBezTo>
                  <a:cubicBezTo>
                    <a:pt x="0" y="120"/>
                    <a:pt x="96" y="60"/>
                    <a:pt x="192" y="0"/>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fr-FR"/>
            </a:p>
          </p:txBody>
        </p:sp>
      </p:grpSp>
    </p:spTree>
    <p:extLst>
      <p:ext uri="{BB962C8B-B14F-4D97-AF65-F5344CB8AC3E}">
        <p14:creationId xmlns:p14="http://schemas.microsoft.com/office/powerpoint/2010/main" val="272614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7"/>
          </p:nvPr>
        </p:nvSpPr>
        <p:spPr/>
        <p:txBody>
          <a:bodyPr/>
          <a:lstStyle/>
          <a:p>
            <a:fld id="{F689ADB6-0628-4F26-BAB1-07894C41DC5F}" type="slidenum">
              <a:rPr lang="fr-FR" altLang="fr-FR"/>
              <a:pPr/>
              <a:t>15</a:t>
            </a:fld>
            <a:endParaRPr lang="fr-FR" altLang="fr-FR"/>
          </a:p>
        </p:txBody>
      </p:sp>
      <p:sp>
        <p:nvSpPr>
          <p:cNvPr id="44034" name="Rectangle 2"/>
          <p:cNvSpPr>
            <a:spLocks noGrp="1" noChangeArrowheads="1"/>
          </p:cNvSpPr>
          <p:nvPr>
            <p:ph type="title" idx="4294967295"/>
          </p:nvPr>
        </p:nvSpPr>
        <p:spPr>
          <a:xfrm>
            <a:off x="990600" y="481033"/>
            <a:ext cx="9839325" cy="738664"/>
          </a:xfrm>
        </p:spPr>
        <p:txBody>
          <a:bodyPr/>
          <a:lstStyle/>
          <a:p>
            <a:r>
              <a:rPr lang="fr-FR" altLang="fr-FR" dirty="0"/>
              <a:t>II. 3 la transition - </a:t>
            </a:r>
            <a:r>
              <a:rPr lang="fr-FR" altLang="fr-FR" b="1" dirty="0">
                <a:solidFill>
                  <a:srgbClr val="FF0000"/>
                </a:solidFill>
              </a:rPr>
              <a:t>Transition externe</a:t>
            </a:r>
          </a:p>
        </p:txBody>
      </p:sp>
      <p:pic>
        <p:nvPicPr>
          <p:cNvPr id="44037" name="Picture 5"/>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981200" y="3598862"/>
            <a:ext cx="7715250" cy="744538"/>
          </a:xfrm>
          <a:noFill/>
          <a:ln/>
        </p:spPr>
      </p:pic>
      <p:sp>
        <p:nvSpPr>
          <p:cNvPr id="44036" name="Text Box 4"/>
          <p:cNvSpPr txBox="1">
            <a:spLocks noChangeArrowheads="1"/>
          </p:cNvSpPr>
          <p:nvPr/>
        </p:nvSpPr>
        <p:spPr bwMode="auto">
          <a:xfrm>
            <a:off x="685800" y="1488230"/>
            <a:ext cx="10896600" cy="1431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1800"/>
              </a:spcBef>
              <a:buFontTx/>
              <a:buChar char="•"/>
            </a:pPr>
            <a:r>
              <a:rPr lang="fr-FR" altLang="fr-FR" sz="2400" dirty="0"/>
              <a:t> Une transition externe est une transition qui modifie l’état actif. Il s’agit du type  de transition le plus répandu. </a:t>
            </a:r>
          </a:p>
          <a:p>
            <a:pPr>
              <a:spcBef>
                <a:spcPts val="1800"/>
              </a:spcBef>
              <a:buFontTx/>
              <a:buChar char="•"/>
            </a:pPr>
            <a:r>
              <a:rPr lang="fr-FR" altLang="fr-FR" sz="2400" dirty="0"/>
              <a:t> Elle est représentée par une flèche allant de l’état source vers l’état cible. </a:t>
            </a:r>
          </a:p>
        </p:txBody>
      </p:sp>
    </p:spTree>
    <p:extLst>
      <p:ext uri="{BB962C8B-B14F-4D97-AF65-F5344CB8AC3E}">
        <p14:creationId xmlns:p14="http://schemas.microsoft.com/office/powerpoint/2010/main" val="2373384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7"/>
          </p:nvPr>
        </p:nvSpPr>
        <p:spPr/>
        <p:txBody>
          <a:bodyPr/>
          <a:lstStyle/>
          <a:p>
            <a:fld id="{3CBBBBBA-AE9E-4D87-A7B2-56BC7EFCB5BE}" type="slidenum">
              <a:rPr lang="fr-FR" altLang="fr-FR"/>
              <a:pPr/>
              <a:t>16</a:t>
            </a:fld>
            <a:endParaRPr lang="fr-FR" altLang="fr-FR"/>
          </a:p>
        </p:txBody>
      </p:sp>
      <p:sp>
        <p:nvSpPr>
          <p:cNvPr id="46082" name="Rectangle 2"/>
          <p:cNvSpPr>
            <a:spLocks noGrp="1" noChangeArrowheads="1"/>
          </p:cNvSpPr>
          <p:nvPr>
            <p:ph type="title" idx="4294967295"/>
          </p:nvPr>
        </p:nvSpPr>
        <p:spPr>
          <a:xfrm>
            <a:off x="685800" y="533400"/>
            <a:ext cx="11963400" cy="1477328"/>
          </a:xfrm>
        </p:spPr>
        <p:txBody>
          <a:bodyPr/>
          <a:lstStyle/>
          <a:p>
            <a:r>
              <a:rPr lang="fr-FR" altLang="fr-FR" dirty="0"/>
              <a:t>II. 3 la transition - </a:t>
            </a:r>
            <a:r>
              <a:rPr lang="fr-FR" altLang="fr-FR" b="1" dirty="0">
                <a:solidFill>
                  <a:srgbClr val="FF0000"/>
                </a:solidFill>
              </a:rPr>
              <a:t>Transition d’achèvement</a:t>
            </a:r>
          </a:p>
        </p:txBody>
      </p:sp>
      <p:sp>
        <p:nvSpPr>
          <p:cNvPr id="46084" name="Text Box 4"/>
          <p:cNvSpPr txBox="1">
            <a:spLocks noChangeArrowheads="1"/>
          </p:cNvSpPr>
          <p:nvPr/>
        </p:nvSpPr>
        <p:spPr bwMode="auto">
          <a:xfrm>
            <a:off x="1143000" y="2209025"/>
            <a:ext cx="9519016" cy="114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buFontTx/>
              <a:buChar char="•"/>
            </a:pPr>
            <a:r>
              <a:rPr lang="fr-FR" altLang="fr-FR" sz="2400" dirty="0"/>
              <a:t> C’est une transition dépourvue d’événement déclencheur explicite </a:t>
            </a:r>
          </a:p>
          <a:p>
            <a:pPr>
              <a:lnSpc>
                <a:spcPct val="150000"/>
              </a:lnSpc>
              <a:buFontTx/>
              <a:buChar char="•"/>
            </a:pPr>
            <a:r>
              <a:rPr lang="fr-FR" altLang="fr-FR" sz="2400" dirty="0"/>
              <a:t> Elle se déclenche à la fin de l’activité contenue dans l’état source</a:t>
            </a:r>
          </a:p>
        </p:txBody>
      </p:sp>
    </p:spTree>
    <p:extLst>
      <p:ext uri="{BB962C8B-B14F-4D97-AF65-F5344CB8AC3E}">
        <p14:creationId xmlns:p14="http://schemas.microsoft.com/office/powerpoint/2010/main" val="3386787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7"/>
          </p:nvPr>
        </p:nvSpPr>
        <p:spPr/>
        <p:txBody>
          <a:bodyPr/>
          <a:lstStyle/>
          <a:p>
            <a:fld id="{81B3FE07-437C-4B45-BCDD-366135BF9441}" type="slidenum">
              <a:rPr lang="fr-FR" altLang="fr-FR"/>
              <a:pPr/>
              <a:t>17</a:t>
            </a:fld>
            <a:endParaRPr lang="fr-FR" altLang="fr-FR"/>
          </a:p>
        </p:txBody>
      </p:sp>
      <p:sp>
        <p:nvSpPr>
          <p:cNvPr id="47106" name="Rectangle 2"/>
          <p:cNvSpPr>
            <a:spLocks noGrp="1" noChangeArrowheads="1"/>
          </p:cNvSpPr>
          <p:nvPr>
            <p:ph type="title" idx="4294967295"/>
          </p:nvPr>
        </p:nvSpPr>
        <p:spPr>
          <a:xfrm>
            <a:off x="990600" y="457200"/>
            <a:ext cx="9839325" cy="738664"/>
          </a:xfrm>
        </p:spPr>
        <p:txBody>
          <a:bodyPr/>
          <a:lstStyle/>
          <a:p>
            <a:r>
              <a:rPr lang="fr-FR" altLang="fr-FR" dirty="0"/>
              <a:t>II. 3 La transition - </a:t>
            </a:r>
            <a:r>
              <a:rPr lang="fr-FR" altLang="fr-FR" b="1" dirty="0">
                <a:solidFill>
                  <a:srgbClr val="FF0000"/>
                </a:solidFill>
              </a:rPr>
              <a:t>Transition interne</a:t>
            </a:r>
          </a:p>
        </p:txBody>
      </p:sp>
      <p:sp>
        <p:nvSpPr>
          <p:cNvPr id="47110" name="Text Box 6"/>
          <p:cNvSpPr txBox="1">
            <a:spLocks noChangeArrowheads="1"/>
          </p:cNvSpPr>
          <p:nvPr/>
        </p:nvSpPr>
        <p:spPr bwMode="auto">
          <a:xfrm>
            <a:off x="152400" y="1432555"/>
            <a:ext cx="118872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ts val="600"/>
              </a:spcBef>
              <a:buFontTx/>
              <a:buChar char="•"/>
            </a:pPr>
            <a:r>
              <a:rPr lang="fr-FR" altLang="fr-FR" sz="2400" dirty="0"/>
              <a:t> Les règles de déclenchement sont les mêmes que pour une transition externe sauf: </a:t>
            </a:r>
          </a:p>
          <a:p>
            <a:pPr lvl="1">
              <a:lnSpc>
                <a:spcPct val="150000"/>
              </a:lnSpc>
              <a:spcBef>
                <a:spcPts val="600"/>
              </a:spcBef>
              <a:buFontTx/>
              <a:buChar char="•"/>
            </a:pPr>
            <a:r>
              <a:rPr lang="fr-FR" altLang="fr-FR" sz="2400" dirty="0"/>
              <a:t> qu’une transition interne ne possède pas d’état cible </a:t>
            </a:r>
          </a:p>
          <a:p>
            <a:pPr lvl="1">
              <a:lnSpc>
                <a:spcPct val="150000"/>
              </a:lnSpc>
              <a:spcBef>
                <a:spcPts val="600"/>
              </a:spcBef>
              <a:buFontTx/>
              <a:buChar char="•"/>
            </a:pPr>
            <a:r>
              <a:rPr lang="fr-FR" altLang="fr-FR" sz="2400" dirty="0"/>
              <a:t> que l’état actif reste le même à la suite de son déclenchement. </a:t>
            </a:r>
          </a:p>
          <a:p>
            <a:pPr>
              <a:lnSpc>
                <a:spcPct val="150000"/>
              </a:lnSpc>
              <a:spcBef>
                <a:spcPts val="600"/>
              </a:spcBef>
              <a:buFontTx/>
              <a:buChar char="•"/>
            </a:pPr>
            <a:r>
              <a:rPr lang="fr-FR" altLang="fr-FR" sz="2400" dirty="0"/>
              <a:t>  Les transitions internes ne sont pas représentées par des arcs mais sont </a:t>
            </a:r>
          </a:p>
          <a:p>
            <a:pPr>
              <a:lnSpc>
                <a:spcPct val="150000"/>
              </a:lnSpc>
              <a:spcBef>
                <a:spcPts val="600"/>
              </a:spcBef>
            </a:pPr>
            <a:r>
              <a:rPr lang="fr-FR" altLang="fr-FR" sz="2400" dirty="0"/>
              <a:t>   spécifiées dans un compartiment de leur état associé.</a:t>
            </a:r>
          </a:p>
          <a:p>
            <a:endParaRPr lang="fr-FR" altLang="fr-FR" sz="2400" dirty="0"/>
          </a:p>
        </p:txBody>
      </p:sp>
      <p:grpSp>
        <p:nvGrpSpPr>
          <p:cNvPr id="8" name="Groupe 7"/>
          <p:cNvGrpSpPr/>
          <p:nvPr/>
        </p:nvGrpSpPr>
        <p:grpSpPr>
          <a:xfrm>
            <a:off x="7548562" y="4191000"/>
            <a:ext cx="4186238" cy="2438400"/>
            <a:chOff x="5943600" y="3352800"/>
            <a:chExt cx="4529138" cy="2438400"/>
          </a:xfrm>
        </p:grpSpPr>
        <p:sp>
          <p:nvSpPr>
            <p:cNvPr id="2" name="Rectangle à coins arrondis 1"/>
            <p:cNvSpPr/>
            <p:nvPr/>
          </p:nvSpPr>
          <p:spPr>
            <a:xfrm>
              <a:off x="5943600" y="3352800"/>
              <a:ext cx="4495800" cy="24384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cxnSp>
          <p:nvCxnSpPr>
            <p:cNvPr id="4" name="Connecteur droit 3"/>
            <p:cNvCxnSpPr/>
            <p:nvPr/>
          </p:nvCxnSpPr>
          <p:spPr>
            <a:xfrm>
              <a:off x="5943600" y="3886200"/>
              <a:ext cx="4529138" cy="0"/>
            </a:xfrm>
            <a:prstGeom prst="line">
              <a:avLst/>
            </a:prstGeom>
            <a:ln w="28575"/>
          </p:spPr>
          <p:style>
            <a:lnRef idx="1">
              <a:schemeClr val="dk1"/>
            </a:lnRef>
            <a:fillRef idx="0">
              <a:schemeClr val="dk1"/>
            </a:fillRef>
            <a:effectRef idx="0">
              <a:schemeClr val="dk1"/>
            </a:effectRef>
            <a:fontRef idx="minor">
              <a:schemeClr val="tx1"/>
            </a:fontRef>
          </p:style>
        </p:cxnSp>
      </p:grpSp>
      <p:sp>
        <p:nvSpPr>
          <p:cNvPr id="6" name="ZoneTexte 5"/>
          <p:cNvSpPr txBox="1"/>
          <p:nvPr/>
        </p:nvSpPr>
        <p:spPr>
          <a:xfrm>
            <a:off x="8227219" y="4343400"/>
            <a:ext cx="2667000" cy="369332"/>
          </a:xfrm>
          <a:prstGeom prst="rect">
            <a:avLst/>
          </a:prstGeom>
          <a:noFill/>
        </p:spPr>
        <p:txBody>
          <a:bodyPr wrap="square" rtlCol="0">
            <a:spAutoFit/>
          </a:bodyPr>
          <a:lstStyle/>
          <a:p>
            <a:pPr algn="ctr"/>
            <a:r>
              <a:rPr lang="fr-FR" dirty="0">
                <a:latin typeface="Calibri" panose="020F0502020204030204" pitchFamily="34" charset="0"/>
                <a:cs typeface="Calibri" panose="020F0502020204030204" pitchFamily="34" charset="0"/>
              </a:rPr>
              <a:t>Au bureau</a:t>
            </a:r>
          </a:p>
        </p:txBody>
      </p:sp>
      <p:sp>
        <p:nvSpPr>
          <p:cNvPr id="12" name="ZoneTexte 11"/>
          <p:cNvSpPr txBox="1"/>
          <p:nvPr/>
        </p:nvSpPr>
        <p:spPr>
          <a:xfrm>
            <a:off x="7696200" y="5069545"/>
            <a:ext cx="4186238" cy="1477328"/>
          </a:xfrm>
          <a:prstGeom prst="rect">
            <a:avLst/>
          </a:prstGeom>
          <a:noFill/>
        </p:spPr>
        <p:txBody>
          <a:bodyPr wrap="square" rtlCol="0">
            <a:spAutoFit/>
          </a:bodyPr>
          <a:lstStyle/>
          <a:p>
            <a:r>
              <a:rPr lang="fr-FR" b="1" dirty="0">
                <a:latin typeface="Calibri" panose="020F0502020204030204" pitchFamily="34" charset="0"/>
                <a:cs typeface="Calibri" panose="020F0502020204030204" pitchFamily="34" charset="0"/>
              </a:rPr>
              <a:t>Entry / </a:t>
            </a:r>
            <a:r>
              <a:rPr lang="fr-FR" dirty="0" err="1">
                <a:latin typeface="Calibri" panose="020F0502020204030204" pitchFamily="34" charset="0"/>
                <a:cs typeface="Calibri" panose="020F0502020204030204" pitchFamily="34" charset="0"/>
              </a:rPr>
              <a:t>débrancherRépondeur</a:t>
            </a:r>
            <a:r>
              <a:rPr lang="fr-FR" dirty="0">
                <a:latin typeface="Calibri" panose="020F0502020204030204" pitchFamily="34" charset="0"/>
                <a:cs typeface="Calibri" panose="020F0502020204030204" pitchFamily="34" charset="0"/>
              </a:rPr>
              <a:t>()</a:t>
            </a:r>
          </a:p>
          <a:p>
            <a:r>
              <a:rPr lang="fr-FR" b="1" dirty="0">
                <a:latin typeface="Calibri" panose="020F0502020204030204" pitchFamily="34" charset="0"/>
                <a:cs typeface="Calibri" panose="020F0502020204030204" pitchFamily="34" charset="0"/>
              </a:rPr>
              <a:t>Exit / </a:t>
            </a:r>
            <a:r>
              <a:rPr lang="fr-FR" dirty="0" err="1">
                <a:latin typeface="Calibri" panose="020F0502020204030204" pitchFamily="34" charset="0"/>
                <a:cs typeface="Calibri" panose="020F0502020204030204" pitchFamily="34" charset="0"/>
              </a:rPr>
              <a:t>brancherRépondeur</a:t>
            </a:r>
            <a:r>
              <a:rPr lang="fr-FR" dirty="0">
                <a:latin typeface="Calibri" panose="020F0502020204030204" pitchFamily="34" charset="0"/>
                <a:cs typeface="Calibri" panose="020F0502020204030204" pitchFamily="34" charset="0"/>
              </a:rPr>
              <a:t>()</a:t>
            </a:r>
          </a:p>
          <a:p>
            <a:r>
              <a:rPr lang="fr-FR" b="1" dirty="0" err="1">
                <a:latin typeface="Calibri" panose="020F0502020204030204" pitchFamily="34" charset="0"/>
                <a:cs typeface="Calibri" panose="020F0502020204030204" pitchFamily="34" charset="0"/>
              </a:rPr>
              <a:t>télephoneSonne</a:t>
            </a:r>
            <a:r>
              <a:rPr lang="fr-FR" b="1" dirty="0">
                <a:latin typeface="Calibri" panose="020F0502020204030204" pitchFamily="34" charset="0"/>
                <a:cs typeface="Calibri" panose="020F0502020204030204" pitchFamily="34" charset="0"/>
              </a:rPr>
              <a:t> / </a:t>
            </a:r>
            <a:r>
              <a:rPr lang="fr-FR" dirty="0" err="1">
                <a:latin typeface="Calibri" panose="020F0502020204030204" pitchFamily="34" charset="0"/>
                <a:cs typeface="Calibri" panose="020F0502020204030204" pitchFamily="34" charset="0"/>
              </a:rPr>
              <a:t>répondreTélephone</a:t>
            </a:r>
            <a:r>
              <a:rPr lang="fr-FR" dirty="0">
                <a:latin typeface="Calibri" panose="020F0502020204030204" pitchFamily="34" charset="0"/>
                <a:cs typeface="Calibri" panose="020F0502020204030204" pitchFamily="34" charset="0"/>
              </a:rPr>
              <a:t>()</a:t>
            </a:r>
          </a:p>
          <a:p>
            <a:r>
              <a:rPr lang="fr-FR" b="1" dirty="0" err="1">
                <a:latin typeface="Calibri" panose="020F0502020204030204" pitchFamily="34" charset="0"/>
                <a:cs typeface="Calibri" panose="020F0502020204030204" pitchFamily="34" charset="0"/>
              </a:rPr>
              <a:t>sonneriePorte</a:t>
            </a:r>
            <a:r>
              <a:rPr lang="fr-FR" b="1" dirty="0">
                <a:latin typeface="Calibri" panose="020F0502020204030204" pitchFamily="34" charset="0"/>
                <a:cs typeface="Calibri" panose="020F0502020204030204" pitchFamily="34" charset="0"/>
              </a:rPr>
              <a:t> / </a:t>
            </a:r>
            <a:r>
              <a:rPr lang="fr-FR" dirty="0" err="1">
                <a:latin typeface="Calibri" panose="020F0502020204030204" pitchFamily="34" charset="0"/>
                <a:cs typeface="Calibri" panose="020F0502020204030204" pitchFamily="34" charset="0"/>
              </a:rPr>
              <a:t>ouvrirPorte</a:t>
            </a:r>
            <a:r>
              <a:rPr lang="fr-FR" dirty="0">
                <a:latin typeface="Calibri" panose="020F0502020204030204" pitchFamily="34" charset="0"/>
                <a:cs typeface="Calibri" panose="020F0502020204030204" pitchFamily="34" charset="0"/>
              </a:rPr>
              <a:t>()</a:t>
            </a:r>
          </a:p>
          <a:p>
            <a:r>
              <a:rPr lang="fr-FR" b="1" dirty="0">
                <a:latin typeface="Calibri" panose="020F0502020204030204" pitchFamily="34" charset="0"/>
                <a:cs typeface="Calibri" panose="020F0502020204030204" pitchFamily="34" charset="0"/>
              </a:rPr>
              <a:t>Do / </a:t>
            </a:r>
            <a:r>
              <a:rPr lang="fr-FR" dirty="0">
                <a:latin typeface="Calibri" panose="020F0502020204030204" pitchFamily="34" charset="0"/>
                <a:cs typeface="Calibri" panose="020F0502020204030204" pitchFamily="34" charset="0"/>
              </a:rPr>
              <a:t>travailler</a:t>
            </a:r>
          </a:p>
        </p:txBody>
      </p:sp>
    </p:spTree>
    <p:extLst>
      <p:ext uri="{BB962C8B-B14F-4D97-AF65-F5344CB8AC3E}">
        <p14:creationId xmlns:p14="http://schemas.microsoft.com/office/powerpoint/2010/main" val="1090757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7"/>
          </p:nvPr>
        </p:nvSpPr>
        <p:spPr/>
        <p:txBody>
          <a:bodyPr/>
          <a:lstStyle/>
          <a:p>
            <a:fld id="{0B47D931-7B08-4FF7-8BC7-98800A78E2CA}" type="slidenum">
              <a:rPr lang="fr-FR" altLang="fr-FR"/>
              <a:pPr/>
              <a:t>18</a:t>
            </a:fld>
            <a:endParaRPr lang="fr-FR" altLang="fr-FR"/>
          </a:p>
        </p:txBody>
      </p:sp>
      <p:sp>
        <p:nvSpPr>
          <p:cNvPr id="49154" name="Rectangle 2"/>
          <p:cNvSpPr>
            <a:spLocks noGrp="1" noChangeArrowheads="1"/>
          </p:cNvSpPr>
          <p:nvPr>
            <p:ph type="title" idx="4294967295"/>
          </p:nvPr>
        </p:nvSpPr>
        <p:spPr>
          <a:xfrm>
            <a:off x="838200" y="533400"/>
            <a:ext cx="9839325" cy="1108075"/>
          </a:xfrm>
        </p:spPr>
        <p:txBody>
          <a:bodyPr/>
          <a:lstStyle/>
          <a:p>
            <a:r>
              <a:rPr lang="fr-FR" altLang="fr-FR" b="1" dirty="0">
                <a:solidFill>
                  <a:srgbClr val="FF0000"/>
                </a:solidFill>
              </a:rPr>
              <a:t>Transition interne</a:t>
            </a:r>
          </a:p>
        </p:txBody>
      </p:sp>
      <p:sp>
        <p:nvSpPr>
          <p:cNvPr id="49156" name="Text Box 4"/>
          <p:cNvSpPr txBox="1">
            <a:spLocks noChangeArrowheads="1"/>
          </p:cNvSpPr>
          <p:nvPr/>
        </p:nvSpPr>
        <p:spPr bwMode="auto">
          <a:xfrm>
            <a:off x="1066800" y="1295400"/>
            <a:ext cx="10668000" cy="5013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1200"/>
              </a:spcBef>
              <a:buFontTx/>
              <a:buChar char="•"/>
            </a:pPr>
            <a:r>
              <a:rPr lang="fr-FR" altLang="fr-FR" sz="2100" dirty="0"/>
              <a:t> Les transitions internes possèdent des noms d’événements prédéfinis </a:t>
            </a:r>
          </a:p>
          <a:p>
            <a:pPr>
              <a:spcBef>
                <a:spcPts val="1200"/>
              </a:spcBef>
            </a:pPr>
            <a:r>
              <a:rPr lang="fr-FR" altLang="fr-FR" sz="2100" dirty="0"/>
              <a:t>   correspondant à des déclencheurs particuliers : </a:t>
            </a:r>
            <a:r>
              <a:rPr lang="fr-FR" altLang="fr-FR" sz="2100" i="1" dirty="0"/>
              <a:t>entry</a:t>
            </a:r>
            <a:r>
              <a:rPr lang="fr-FR" altLang="fr-FR" sz="2100" dirty="0"/>
              <a:t>, </a:t>
            </a:r>
            <a:r>
              <a:rPr lang="fr-FR" altLang="fr-FR" sz="2100" i="1" dirty="0"/>
              <a:t>exit</a:t>
            </a:r>
            <a:r>
              <a:rPr lang="fr-FR" altLang="fr-FR" sz="2100" dirty="0"/>
              <a:t>, </a:t>
            </a:r>
            <a:r>
              <a:rPr lang="fr-FR" altLang="fr-FR" sz="2100" i="1" dirty="0"/>
              <a:t>do</a:t>
            </a:r>
            <a:r>
              <a:rPr lang="fr-FR" altLang="fr-FR" sz="2100" dirty="0"/>
              <a:t> et </a:t>
            </a:r>
            <a:r>
              <a:rPr lang="fr-FR" altLang="fr-FR" sz="2100" i="1" dirty="0" err="1"/>
              <a:t>include</a:t>
            </a:r>
            <a:r>
              <a:rPr lang="fr-FR" altLang="fr-FR" sz="2100" dirty="0"/>
              <a:t>. </a:t>
            </a:r>
          </a:p>
          <a:p>
            <a:pPr>
              <a:spcBef>
                <a:spcPts val="1200"/>
              </a:spcBef>
              <a:buFontTx/>
              <a:buChar char="•"/>
            </a:pPr>
            <a:r>
              <a:rPr lang="fr-FR" altLang="fr-FR" sz="2100" dirty="0"/>
              <a:t>  Ces mots clefs réservés viennent prendre la place du nom de l’événement dans </a:t>
            </a:r>
          </a:p>
          <a:p>
            <a:pPr>
              <a:spcBef>
                <a:spcPts val="1200"/>
              </a:spcBef>
            </a:pPr>
            <a:r>
              <a:rPr lang="fr-FR" altLang="fr-FR" sz="2100" dirty="0"/>
              <a:t>   la syntaxe d’une transition interne. </a:t>
            </a:r>
          </a:p>
          <a:p>
            <a:pPr marL="342900" indent="-342900">
              <a:lnSpc>
                <a:spcPct val="150000"/>
              </a:lnSpc>
              <a:spcBef>
                <a:spcPts val="600"/>
              </a:spcBef>
              <a:buFont typeface="Wingdings" panose="05000000000000000000" pitchFamily="2" charset="2"/>
              <a:buChar char="ü"/>
            </a:pPr>
            <a:r>
              <a:rPr lang="fr-FR" altLang="fr-FR" sz="2100" b="1" i="1" dirty="0"/>
              <a:t>entry</a:t>
            </a:r>
            <a:r>
              <a:rPr lang="fr-FR" altLang="fr-FR" sz="2100" b="1" dirty="0"/>
              <a:t> –</a:t>
            </a:r>
            <a:r>
              <a:rPr lang="fr-FR" altLang="fr-FR" sz="2100" dirty="0"/>
              <a:t>  permet de spécifier une activité qui s’accomplit quand on entre dans l’état. </a:t>
            </a:r>
          </a:p>
          <a:p>
            <a:pPr marL="342900" indent="-342900">
              <a:lnSpc>
                <a:spcPct val="150000"/>
              </a:lnSpc>
              <a:spcBef>
                <a:spcPts val="600"/>
              </a:spcBef>
              <a:buFont typeface="Wingdings" panose="05000000000000000000" pitchFamily="2" charset="2"/>
              <a:buChar char="ü"/>
            </a:pPr>
            <a:r>
              <a:rPr lang="fr-FR" altLang="fr-FR" sz="2100" b="1" i="1" dirty="0"/>
              <a:t>exit</a:t>
            </a:r>
            <a:r>
              <a:rPr lang="fr-FR" altLang="fr-FR" sz="2100" b="1" dirty="0"/>
              <a:t> –</a:t>
            </a:r>
            <a:r>
              <a:rPr lang="fr-FR" altLang="fr-FR" sz="2100" dirty="0"/>
              <a:t>  permet de spécifier une activité qui s’accomplit quand on sort de l’état. </a:t>
            </a:r>
          </a:p>
          <a:p>
            <a:pPr marL="342900" indent="-342900">
              <a:lnSpc>
                <a:spcPct val="150000"/>
              </a:lnSpc>
              <a:spcBef>
                <a:spcPts val="600"/>
              </a:spcBef>
              <a:buFont typeface="Wingdings" panose="05000000000000000000" pitchFamily="2" charset="2"/>
              <a:buChar char="ü"/>
            </a:pPr>
            <a:r>
              <a:rPr lang="fr-FR" altLang="fr-FR" sz="2100" b="1" i="1" dirty="0"/>
              <a:t>do</a:t>
            </a:r>
            <a:r>
              <a:rPr lang="fr-FR" altLang="fr-FR" sz="2100" b="1" dirty="0"/>
              <a:t> –</a:t>
            </a:r>
            <a:r>
              <a:rPr lang="fr-FR" altLang="fr-FR" sz="2100" dirty="0"/>
              <a:t>  Une activité </a:t>
            </a:r>
            <a:r>
              <a:rPr lang="fr-FR" altLang="fr-FR" sz="2100" i="1" dirty="0"/>
              <a:t>do</a:t>
            </a:r>
            <a:r>
              <a:rPr lang="fr-FR" altLang="fr-FR" sz="2100" dirty="0"/>
              <a:t> commence dès que l’activité </a:t>
            </a:r>
            <a:r>
              <a:rPr lang="fr-FR" altLang="fr-FR" sz="2100" i="1" dirty="0"/>
              <a:t>entry</a:t>
            </a:r>
            <a:r>
              <a:rPr lang="fr-FR" altLang="fr-FR" sz="2100" dirty="0"/>
              <a:t> est terminée. Si une transition se déclenche pendant que l’activité </a:t>
            </a:r>
            <a:r>
              <a:rPr lang="fr-FR" altLang="fr-FR" sz="2100" i="1" dirty="0"/>
              <a:t>do</a:t>
            </a:r>
            <a:r>
              <a:rPr lang="fr-FR" altLang="fr-FR" sz="2100" dirty="0"/>
              <a:t> est en cours, cette dernière  est interrompue et l’activité </a:t>
            </a:r>
            <a:r>
              <a:rPr lang="fr-FR" altLang="fr-FR" sz="2100" i="1" dirty="0"/>
              <a:t>exit</a:t>
            </a:r>
            <a:r>
              <a:rPr lang="fr-FR" altLang="fr-FR" sz="2100" dirty="0"/>
              <a:t> de l’état s’exécute. </a:t>
            </a:r>
          </a:p>
          <a:p>
            <a:pPr marL="342900" indent="-342900">
              <a:lnSpc>
                <a:spcPct val="150000"/>
              </a:lnSpc>
              <a:spcBef>
                <a:spcPts val="600"/>
              </a:spcBef>
              <a:buFont typeface="Wingdings" panose="05000000000000000000" pitchFamily="2" charset="2"/>
              <a:buChar char="ü"/>
            </a:pPr>
            <a:r>
              <a:rPr lang="fr-FR" altLang="fr-FR" sz="2100" b="1" i="1" dirty="0" err="1"/>
              <a:t>include</a:t>
            </a:r>
            <a:r>
              <a:rPr lang="fr-FR" altLang="fr-FR" sz="2100" b="1" dirty="0"/>
              <a:t> –</a:t>
            </a:r>
            <a:r>
              <a:rPr lang="fr-FR" altLang="fr-FR" sz="2100" dirty="0"/>
              <a:t>  permet d’invoquer un sous-diagramme d’états-transitions. </a:t>
            </a:r>
          </a:p>
        </p:txBody>
      </p:sp>
    </p:spTree>
    <p:extLst>
      <p:ext uri="{BB962C8B-B14F-4D97-AF65-F5344CB8AC3E}">
        <p14:creationId xmlns:p14="http://schemas.microsoft.com/office/powerpoint/2010/main" val="2633723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1176337" y="545471"/>
            <a:ext cx="9839325" cy="554038"/>
          </a:xfrm>
        </p:spPr>
        <p:txBody>
          <a:bodyPr/>
          <a:lstStyle/>
          <a:p>
            <a:r>
              <a:rPr lang="fr-FR" altLang="fr-FR" sz="3600" dirty="0"/>
              <a:t>II. 2 la transition</a:t>
            </a:r>
          </a:p>
        </p:txBody>
      </p:sp>
      <p:pic>
        <p:nvPicPr>
          <p:cNvPr id="4" name="Picture 2"/>
          <p:cNvPicPr>
            <a:picLocks noChangeAspect="1" noChangeArrowheads="1"/>
          </p:cNvPicPr>
          <p:nvPr/>
        </p:nvPicPr>
        <p:blipFill>
          <a:blip r:embed="rId2" cstate="print"/>
          <a:srcRect/>
          <a:stretch>
            <a:fillRect/>
          </a:stretch>
        </p:blipFill>
        <p:spPr bwMode="auto">
          <a:xfrm>
            <a:off x="2209799" y="1295400"/>
            <a:ext cx="7493939" cy="5017129"/>
          </a:xfrm>
          <a:prstGeom prst="rect">
            <a:avLst/>
          </a:prstGeom>
          <a:noFill/>
          <a:ln w="9525">
            <a:noFill/>
            <a:miter lim="800000"/>
            <a:headEnd/>
            <a:tailEnd/>
          </a:ln>
        </p:spPr>
      </p:pic>
    </p:spTree>
    <p:extLst>
      <p:ext uri="{BB962C8B-B14F-4D97-AF65-F5344CB8AC3E}">
        <p14:creationId xmlns:p14="http://schemas.microsoft.com/office/powerpoint/2010/main" val="171803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7"/>
          </p:nvPr>
        </p:nvSpPr>
        <p:spPr/>
        <p:txBody>
          <a:bodyPr/>
          <a:lstStyle/>
          <a:p>
            <a:fld id="{1BA6F7B1-5A06-40F5-80FD-68A59DBD719F}" type="slidenum">
              <a:rPr lang="fr-FR" altLang="fr-FR"/>
              <a:pPr/>
              <a:t>20</a:t>
            </a:fld>
            <a:endParaRPr lang="fr-FR" altLang="fr-FR"/>
          </a:p>
        </p:txBody>
      </p:sp>
      <p:sp>
        <p:nvSpPr>
          <p:cNvPr id="58370" name="Rectangle 2"/>
          <p:cNvSpPr>
            <a:spLocks noGrp="1" noChangeArrowheads="1"/>
          </p:cNvSpPr>
          <p:nvPr>
            <p:ph type="title" idx="4294967295"/>
          </p:nvPr>
        </p:nvSpPr>
        <p:spPr>
          <a:xfrm>
            <a:off x="762000" y="539518"/>
            <a:ext cx="9839325" cy="738664"/>
          </a:xfrm>
        </p:spPr>
        <p:txBody>
          <a:bodyPr/>
          <a:lstStyle/>
          <a:p>
            <a:r>
              <a:rPr lang="fr-FR" altLang="fr-FR" b="1" dirty="0"/>
              <a:t> </a:t>
            </a:r>
            <a:r>
              <a:rPr lang="fr-FR" altLang="fr-FR" dirty="0"/>
              <a:t> IV. États composites - </a:t>
            </a:r>
            <a:r>
              <a:rPr lang="fr-FR" altLang="fr-FR" b="1" dirty="0">
                <a:solidFill>
                  <a:srgbClr val="FF0000"/>
                </a:solidFill>
              </a:rPr>
              <a:t>Présentation</a:t>
            </a:r>
          </a:p>
        </p:txBody>
      </p:sp>
      <p:sp>
        <p:nvSpPr>
          <p:cNvPr id="58374" name="Text Box 6"/>
          <p:cNvSpPr txBox="1">
            <a:spLocks noChangeArrowheads="1"/>
          </p:cNvSpPr>
          <p:nvPr/>
        </p:nvSpPr>
        <p:spPr bwMode="auto">
          <a:xfrm>
            <a:off x="609600" y="1309444"/>
            <a:ext cx="10668000"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1200"/>
              </a:spcBef>
              <a:buFontTx/>
              <a:buChar char="•"/>
            </a:pPr>
            <a:r>
              <a:rPr lang="fr-FR" altLang="fr-FR" sz="2400" dirty="0"/>
              <a:t> Un état composite possède une sous-structure ( un jeu de transitions internes). </a:t>
            </a:r>
          </a:p>
          <a:p>
            <a:pPr>
              <a:spcBef>
                <a:spcPts val="1200"/>
              </a:spcBef>
              <a:buFontTx/>
              <a:buChar char="•"/>
            </a:pPr>
            <a:r>
              <a:rPr lang="fr-FR" altLang="fr-FR" sz="2400" dirty="0"/>
              <a:t> Un état composite est un état décomposé éventuellement en régions contenant chacune un ou plusieurs sous-états. </a:t>
            </a:r>
          </a:p>
        </p:txBody>
      </p:sp>
      <p:pic>
        <p:nvPicPr>
          <p:cNvPr id="2" name="Image 1"/>
          <p:cNvPicPr>
            <a:picLocks noChangeAspect="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p:blipFill>
        <p:spPr>
          <a:xfrm>
            <a:off x="3124200" y="3581400"/>
            <a:ext cx="6300787" cy="2660476"/>
          </a:xfrm>
          <a:prstGeom prst="rect">
            <a:avLst/>
          </a:prstGeom>
        </p:spPr>
      </p:pic>
    </p:spTree>
    <p:extLst>
      <p:ext uri="{BB962C8B-B14F-4D97-AF65-F5344CB8AC3E}">
        <p14:creationId xmlns:p14="http://schemas.microsoft.com/office/powerpoint/2010/main" val="3081685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7"/>
          </p:nvPr>
        </p:nvSpPr>
        <p:spPr/>
        <p:txBody>
          <a:bodyPr/>
          <a:lstStyle/>
          <a:p>
            <a:fld id="{6CF494B8-73CA-4788-AB35-DA4B0E661E06}" type="slidenum">
              <a:rPr lang="fr-FR" altLang="fr-FR"/>
              <a:pPr/>
              <a:t>21</a:t>
            </a:fld>
            <a:endParaRPr lang="fr-FR" altLang="fr-FR"/>
          </a:p>
        </p:txBody>
      </p:sp>
      <p:sp>
        <p:nvSpPr>
          <p:cNvPr id="60422" name="Rectangle 6"/>
          <p:cNvSpPr>
            <a:spLocks noGrp="1" noChangeArrowheads="1"/>
          </p:cNvSpPr>
          <p:nvPr>
            <p:ph type="title" idx="4294967295"/>
          </p:nvPr>
        </p:nvSpPr>
        <p:spPr>
          <a:xfrm>
            <a:off x="627185" y="545805"/>
            <a:ext cx="11582400" cy="1477328"/>
          </a:xfrm>
        </p:spPr>
        <p:txBody>
          <a:bodyPr/>
          <a:lstStyle/>
          <a:p>
            <a:r>
              <a:rPr lang="fr-FR" altLang="fr-FR" b="1" dirty="0"/>
              <a:t> </a:t>
            </a:r>
            <a:r>
              <a:rPr lang="fr-FR" altLang="fr-FR" dirty="0"/>
              <a:t> IV. États composites - Notation abrégée </a:t>
            </a:r>
          </a:p>
        </p:txBody>
      </p:sp>
      <p:pic>
        <p:nvPicPr>
          <p:cNvPr id="60421" name="Picture 5"/>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8458200" y="4114800"/>
            <a:ext cx="3040063" cy="893514"/>
          </a:xfrm>
          <a:noFill/>
          <a:ln/>
        </p:spPr>
      </p:pic>
      <p:sp>
        <p:nvSpPr>
          <p:cNvPr id="60420" name="Text Box 4"/>
          <p:cNvSpPr txBox="1">
            <a:spLocks noChangeArrowheads="1"/>
          </p:cNvSpPr>
          <p:nvPr/>
        </p:nvSpPr>
        <p:spPr bwMode="auto">
          <a:xfrm>
            <a:off x="990600" y="1676400"/>
            <a:ext cx="107442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1200"/>
              </a:spcBef>
              <a:buFontTx/>
              <a:buChar char="•"/>
            </a:pPr>
            <a:r>
              <a:rPr lang="fr-FR" altLang="fr-FR" sz="2400" dirty="0"/>
              <a:t> L’utilisation d’états composites permet de développer une spécification par </a:t>
            </a:r>
          </a:p>
          <a:p>
            <a:pPr>
              <a:spcBef>
                <a:spcPts val="1200"/>
              </a:spcBef>
            </a:pPr>
            <a:r>
              <a:rPr lang="fr-FR" altLang="fr-FR" sz="2400" dirty="0"/>
              <a:t>   raffinements successifs. </a:t>
            </a:r>
          </a:p>
          <a:p>
            <a:pPr>
              <a:spcBef>
                <a:spcPts val="1200"/>
              </a:spcBef>
              <a:buFontTx/>
              <a:buChar char="•"/>
            </a:pPr>
            <a:r>
              <a:rPr lang="fr-FR" altLang="fr-FR" sz="2400" dirty="0"/>
              <a:t> Une notation abrégée permet d’indiquer qu’un état est composite et </a:t>
            </a:r>
          </a:p>
          <a:p>
            <a:pPr>
              <a:spcBef>
                <a:spcPts val="1200"/>
              </a:spcBef>
            </a:pPr>
            <a:r>
              <a:rPr lang="fr-FR" altLang="fr-FR" sz="2400" dirty="0"/>
              <a:t>  que sa définition est donnée sur un autre diagramme. </a:t>
            </a:r>
          </a:p>
        </p:txBody>
      </p:sp>
      <p:pic>
        <p:nvPicPr>
          <p:cNvPr id="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914400" y="3733800"/>
            <a:ext cx="6478341" cy="1981200"/>
          </a:xfrm>
          <a:prstGeom prst="rect">
            <a:avLst/>
          </a:prstGeom>
          <a:noFill/>
          <a:ln/>
        </p:spPr>
      </p:pic>
    </p:spTree>
    <p:extLst>
      <p:ext uri="{BB962C8B-B14F-4D97-AF65-F5344CB8AC3E}">
        <p14:creationId xmlns:p14="http://schemas.microsoft.com/office/powerpoint/2010/main" val="634057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7"/>
          </p:nvPr>
        </p:nvSpPr>
        <p:spPr/>
        <p:txBody>
          <a:bodyPr/>
          <a:lstStyle/>
          <a:p>
            <a:fld id="{38103565-EC58-47AF-9124-B976AA42D395}" type="slidenum">
              <a:rPr lang="fr-FR" altLang="fr-FR"/>
              <a:pPr/>
              <a:t>22</a:t>
            </a:fld>
            <a:endParaRPr lang="fr-FR" altLang="fr-FR"/>
          </a:p>
        </p:txBody>
      </p:sp>
      <p:sp>
        <p:nvSpPr>
          <p:cNvPr id="63490" name="Rectangle 2"/>
          <p:cNvSpPr>
            <a:spLocks noGrp="1" noChangeArrowheads="1"/>
          </p:cNvSpPr>
          <p:nvPr>
            <p:ph type="title" idx="4294967295"/>
          </p:nvPr>
        </p:nvSpPr>
        <p:spPr>
          <a:xfrm>
            <a:off x="914400" y="602058"/>
            <a:ext cx="9839325" cy="738664"/>
          </a:xfrm>
        </p:spPr>
        <p:txBody>
          <a:bodyPr/>
          <a:lstStyle/>
          <a:p>
            <a:r>
              <a:rPr lang="fr-FR" altLang="fr-FR" b="1" dirty="0"/>
              <a:t> </a:t>
            </a:r>
            <a:r>
              <a:rPr lang="fr-FR" altLang="fr-FR" dirty="0"/>
              <a:t> IV. États composites - </a:t>
            </a:r>
            <a:r>
              <a:rPr lang="fr-FR" altLang="fr-FR" b="1" dirty="0">
                <a:solidFill>
                  <a:srgbClr val="FF0000"/>
                </a:solidFill>
              </a:rPr>
              <a:t>Transition</a:t>
            </a:r>
          </a:p>
        </p:txBody>
      </p:sp>
      <p:sp>
        <p:nvSpPr>
          <p:cNvPr id="63492" name="Text Box 4"/>
          <p:cNvSpPr txBox="1">
            <a:spLocks noChangeArrowheads="1"/>
          </p:cNvSpPr>
          <p:nvPr/>
        </p:nvSpPr>
        <p:spPr bwMode="auto">
          <a:xfrm>
            <a:off x="1371600" y="1647825"/>
            <a:ext cx="10513712" cy="410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buFontTx/>
              <a:buChar char="•"/>
            </a:pPr>
            <a:r>
              <a:rPr lang="fr-FR" altLang="fr-FR" sz="2200" dirty="0"/>
              <a:t>  Les transitions peuvent avoir pour cible la frontière d’un état composite. Elles </a:t>
            </a:r>
          </a:p>
          <a:p>
            <a:pPr>
              <a:lnSpc>
                <a:spcPct val="150000"/>
              </a:lnSpc>
            </a:pPr>
            <a:r>
              <a:rPr lang="fr-FR" altLang="fr-FR" sz="2200" dirty="0"/>
              <a:t>    sont équivalentes à une transition ayant pour cible l’état initial de l’état </a:t>
            </a:r>
          </a:p>
          <a:p>
            <a:pPr>
              <a:lnSpc>
                <a:spcPct val="150000"/>
              </a:lnSpc>
            </a:pPr>
            <a:r>
              <a:rPr lang="fr-FR" altLang="fr-FR" sz="2200" dirty="0"/>
              <a:t>    composite. </a:t>
            </a:r>
          </a:p>
          <a:p>
            <a:pPr>
              <a:lnSpc>
                <a:spcPct val="150000"/>
              </a:lnSpc>
              <a:buFontTx/>
              <a:buChar char="•"/>
            </a:pPr>
            <a:r>
              <a:rPr lang="fr-FR" altLang="fr-FR" sz="2200" dirty="0"/>
              <a:t> Une transition ayant pour source la frontière d’un état composite est équivalente </a:t>
            </a:r>
          </a:p>
          <a:p>
            <a:pPr>
              <a:lnSpc>
                <a:spcPct val="150000"/>
              </a:lnSpc>
            </a:pPr>
            <a:r>
              <a:rPr lang="fr-FR" altLang="fr-FR" sz="2200" dirty="0"/>
              <a:t>    à une transition qui s’applique à tout sous-état de l’état composite source. </a:t>
            </a:r>
          </a:p>
          <a:p>
            <a:pPr>
              <a:lnSpc>
                <a:spcPct val="150000"/>
              </a:lnSpc>
              <a:buFontTx/>
              <a:buChar char="•"/>
            </a:pPr>
            <a:r>
              <a:rPr lang="fr-FR" altLang="fr-FR" sz="2200" dirty="0"/>
              <a:t>Si la transition ayant pour source la frontière d’un état composite </a:t>
            </a:r>
          </a:p>
          <a:p>
            <a:pPr>
              <a:lnSpc>
                <a:spcPct val="150000"/>
              </a:lnSpc>
            </a:pPr>
            <a:r>
              <a:rPr lang="fr-FR" altLang="fr-FR" sz="2200" dirty="0"/>
              <a:t>   ne porte pas de déclencheur explicite (transition d’achèvement), elle est </a:t>
            </a:r>
          </a:p>
          <a:p>
            <a:pPr>
              <a:lnSpc>
                <a:spcPct val="150000"/>
              </a:lnSpc>
            </a:pPr>
            <a:r>
              <a:rPr lang="fr-FR" altLang="fr-FR" sz="2200" dirty="0"/>
              <a:t>   franchissable quand l’état final de l’état composite est atteint.</a:t>
            </a:r>
          </a:p>
        </p:txBody>
      </p:sp>
    </p:spTree>
    <p:extLst>
      <p:ext uri="{BB962C8B-B14F-4D97-AF65-F5344CB8AC3E}">
        <p14:creationId xmlns:p14="http://schemas.microsoft.com/office/powerpoint/2010/main" val="1550519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7"/>
          </p:nvPr>
        </p:nvSpPr>
        <p:spPr/>
        <p:txBody>
          <a:bodyPr/>
          <a:lstStyle/>
          <a:p>
            <a:fld id="{BA90362C-0206-4DF0-AF6E-0A4E4D10F490}" type="slidenum">
              <a:rPr lang="fr-FR" altLang="fr-FR"/>
              <a:pPr/>
              <a:t>23</a:t>
            </a:fld>
            <a:endParaRPr lang="fr-FR" altLang="fr-FR"/>
          </a:p>
        </p:txBody>
      </p:sp>
      <p:sp>
        <p:nvSpPr>
          <p:cNvPr id="64517" name="Rectangle 5"/>
          <p:cNvSpPr>
            <a:spLocks noGrp="1" noChangeArrowheads="1"/>
          </p:cNvSpPr>
          <p:nvPr>
            <p:ph type="title" idx="4294967295"/>
          </p:nvPr>
        </p:nvSpPr>
        <p:spPr>
          <a:xfrm>
            <a:off x="762000" y="500223"/>
            <a:ext cx="9839325" cy="738664"/>
          </a:xfrm>
        </p:spPr>
        <p:txBody>
          <a:bodyPr/>
          <a:lstStyle/>
          <a:p>
            <a:r>
              <a:rPr lang="fr-FR" altLang="fr-FR" b="1" dirty="0"/>
              <a:t> </a:t>
            </a:r>
            <a:r>
              <a:rPr lang="fr-FR" altLang="fr-FR" dirty="0"/>
              <a:t> IV. États composites - </a:t>
            </a:r>
            <a:r>
              <a:rPr lang="fr-FR" altLang="fr-FR" b="1" dirty="0">
                <a:solidFill>
                  <a:srgbClr val="FF0000"/>
                </a:solidFill>
              </a:rPr>
              <a:t>Transitions</a:t>
            </a:r>
          </a:p>
        </p:txBody>
      </p:sp>
      <p:pic>
        <p:nvPicPr>
          <p:cNvPr id="64516" name="Picture 4"/>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063750" y="1557338"/>
            <a:ext cx="8229600" cy="3084512"/>
          </a:xfrm>
          <a:noFill/>
          <a:ln/>
        </p:spPr>
      </p:pic>
      <p:sp>
        <p:nvSpPr>
          <p:cNvPr id="64519" name="Text Box 7"/>
          <p:cNvSpPr txBox="1">
            <a:spLocks noChangeArrowheads="1"/>
          </p:cNvSpPr>
          <p:nvPr/>
        </p:nvSpPr>
        <p:spPr bwMode="auto">
          <a:xfrm>
            <a:off x="2063750" y="4868864"/>
            <a:ext cx="78930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dirty="0"/>
              <a:t>Depuis l’état </a:t>
            </a:r>
            <a:r>
              <a:rPr lang="fr-FR" altLang="fr-FR" i="1" dirty="0"/>
              <a:t>État 1</a:t>
            </a:r>
            <a:r>
              <a:rPr lang="fr-FR" altLang="fr-FR" dirty="0"/>
              <a:t>, la réception de l’événement </a:t>
            </a:r>
            <a:r>
              <a:rPr lang="fr-FR" altLang="fr-FR" i="1" dirty="0"/>
              <a:t>event1</a:t>
            </a:r>
            <a:r>
              <a:rPr lang="fr-FR" altLang="fr-FR" dirty="0"/>
              <a:t> produit la séquence </a:t>
            </a:r>
          </a:p>
          <a:p>
            <a:r>
              <a:rPr lang="fr-FR" altLang="fr-FR" dirty="0"/>
              <a:t>d’activités:</a:t>
            </a:r>
          </a:p>
          <a:p>
            <a:r>
              <a:rPr lang="fr-FR" altLang="fr-FR" i="1" dirty="0"/>
              <a:t>QuitterE11</a:t>
            </a:r>
            <a:r>
              <a:rPr lang="fr-FR" altLang="fr-FR" dirty="0"/>
              <a:t>, </a:t>
            </a:r>
            <a:r>
              <a:rPr lang="fr-FR" altLang="fr-FR" i="1" dirty="0"/>
              <a:t>QuitterE1</a:t>
            </a:r>
            <a:r>
              <a:rPr lang="fr-FR" altLang="fr-FR" dirty="0"/>
              <a:t>, </a:t>
            </a:r>
            <a:r>
              <a:rPr lang="fr-FR" altLang="fr-FR" i="1" dirty="0"/>
              <a:t>action1</a:t>
            </a:r>
            <a:r>
              <a:rPr lang="fr-FR" altLang="fr-FR" dirty="0"/>
              <a:t>, </a:t>
            </a:r>
            <a:r>
              <a:rPr lang="fr-FR" altLang="fr-FR" i="1" dirty="0"/>
              <a:t>EntrerE2</a:t>
            </a:r>
            <a:r>
              <a:rPr lang="fr-FR" altLang="fr-FR" dirty="0"/>
              <a:t>, </a:t>
            </a:r>
            <a:r>
              <a:rPr lang="fr-FR" altLang="fr-FR" i="1" dirty="0"/>
              <a:t>EntrerE21</a:t>
            </a:r>
            <a:r>
              <a:rPr lang="fr-FR" altLang="fr-FR" dirty="0"/>
              <a:t>, </a:t>
            </a:r>
            <a:r>
              <a:rPr lang="fr-FR" altLang="fr-FR" i="1" dirty="0"/>
              <a:t>initialiser()</a:t>
            </a:r>
            <a:r>
              <a:rPr lang="fr-FR" altLang="fr-FR" dirty="0"/>
              <a:t>, </a:t>
            </a:r>
            <a:r>
              <a:rPr lang="fr-FR" altLang="fr-FR" i="1" dirty="0"/>
              <a:t>EntrerE22</a:t>
            </a:r>
            <a:r>
              <a:rPr lang="fr-FR" altLang="fr-FR" dirty="0"/>
              <a:t>, </a:t>
            </a:r>
          </a:p>
          <a:p>
            <a:r>
              <a:rPr lang="fr-FR" altLang="fr-FR" dirty="0"/>
              <a:t>et place le système dans l’état </a:t>
            </a:r>
            <a:r>
              <a:rPr lang="fr-FR" altLang="fr-FR" i="1" dirty="0"/>
              <a:t>État22</a:t>
            </a:r>
            <a:r>
              <a:rPr lang="fr-FR" altLang="fr-FR" dirty="0"/>
              <a:t>. </a:t>
            </a:r>
          </a:p>
        </p:txBody>
      </p:sp>
    </p:spTree>
    <p:extLst>
      <p:ext uri="{BB962C8B-B14F-4D97-AF65-F5344CB8AC3E}">
        <p14:creationId xmlns:p14="http://schemas.microsoft.com/office/powerpoint/2010/main" val="1332617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5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9" grpId="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7"/>
          </p:nvPr>
        </p:nvSpPr>
        <p:spPr/>
        <p:txBody>
          <a:bodyPr/>
          <a:lstStyle/>
          <a:p>
            <a:fld id="{7755B903-3C70-447A-B085-6E2FCAC30F20}" type="slidenum">
              <a:rPr lang="fr-FR" altLang="fr-FR"/>
              <a:pPr/>
              <a:t>24</a:t>
            </a:fld>
            <a:endParaRPr lang="fr-FR" altLang="fr-FR"/>
          </a:p>
        </p:txBody>
      </p:sp>
      <p:sp>
        <p:nvSpPr>
          <p:cNvPr id="66562" name="Rectangle 2"/>
          <p:cNvSpPr>
            <a:spLocks noGrp="1" noChangeArrowheads="1"/>
          </p:cNvSpPr>
          <p:nvPr>
            <p:ph type="title" idx="4294967295"/>
          </p:nvPr>
        </p:nvSpPr>
        <p:spPr>
          <a:xfrm>
            <a:off x="838200" y="533400"/>
            <a:ext cx="9839325" cy="738664"/>
          </a:xfrm>
        </p:spPr>
        <p:txBody>
          <a:bodyPr/>
          <a:lstStyle/>
          <a:p>
            <a:r>
              <a:rPr lang="fr-FR" altLang="fr-FR" b="1" dirty="0"/>
              <a:t> </a:t>
            </a:r>
            <a:r>
              <a:rPr lang="fr-FR" altLang="fr-FR" dirty="0"/>
              <a:t> IV. États composites - </a:t>
            </a:r>
            <a:r>
              <a:rPr lang="fr-FR" altLang="fr-FR" b="1" dirty="0">
                <a:solidFill>
                  <a:srgbClr val="FF0000"/>
                </a:solidFill>
              </a:rPr>
              <a:t>État historique</a:t>
            </a:r>
          </a:p>
        </p:txBody>
      </p:sp>
      <p:sp>
        <p:nvSpPr>
          <p:cNvPr id="66564" name="Text Box 4"/>
          <p:cNvSpPr txBox="1">
            <a:spLocks noChangeArrowheads="1"/>
          </p:cNvSpPr>
          <p:nvPr/>
        </p:nvSpPr>
        <p:spPr bwMode="auto">
          <a:xfrm>
            <a:off x="1143000" y="1894344"/>
            <a:ext cx="10215562"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1800"/>
              </a:spcBef>
              <a:buFontTx/>
              <a:buChar char="•"/>
            </a:pPr>
            <a:r>
              <a:rPr lang="fr-FR" altLang="fr-FR" sz="2400" dirty="0"/>
              <a:t> Un état historique est un pseudo-état  qui mémorise le dernier sous-état actif d’un état composite. </a:t>
            </a:r>
          </a:p>
          <a:p>
            <a:pPr>
              <a:spcBef>
                <a:spcPts val="1800"/>
              </a:spcBef>
              <a:buFontTx/>
              <a:buChar char="•"/>
            </a:pPr>
            <a:r>
              <a:rPr lang="fr-FR" altLang="fr-FR" sz="2400" dirty="0"/>
              <a:t> Graphiquement, il est représenté par un cercle contenant un </a:t>
            </a:r>
            <a:r>
              <a:rPr lang="fr-FR" altLang="fr-FR" sz="2400" i="1" dirty="0"/>
              <a:t>H</a:t>
            </a:r>
            <a:r>
              <a:rPr lang="fr-FR" altLang="fr-FR" sz="2400" dirty="0"/>
              <a:t>.</a:t>
            </a:r>
          </a:p>
          <a:p>
            <a:pPr>
              <a:spcBef>
                <a:spcPts val="1800"/>
              </a:spcBef>
              <a:buFontTx/>
              <a:buChar char="•"/>
            </a:pPr>
            <a:r>
              <a:rPr lang="fr-FR" altLang="fr-FR" sz="2400" dirty="0"/>
              <a:t> Une transition ayant pour cible l’état historique est équivalente à une transition  qui a pour cible le dernier état visité de l’état englobant. </a:t>
            </a:r>
          </a:p>
        </p:txBody>
      </p:sp>
    </p:spTree>
    <p:extLst>
      <p:ext uri="{BB962C8B-B14F-4D97-AF65-F5344CB8AC3E}">
        <p14:creationId xmlns:p14="http://schemas.microsoft.com/office/powerpoint/2010/main" val="13092419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7"/>
          </p:nvPr>
        </p:nvSpPr>
        <p:spPr/>
        <p:txBody>
          <a:bodyPr/>
          <a:lstStyle/>
          <a:p>
            <a:fld id="{16CC4AEE-725E-417E-B03B-1D4E2153CDCB}" type="slidenum">
              <a:rPr lang="fr-FR" altLang="fr-FR"/>
              <a:pPr/>
              <a:t>25</a:t>
            </a:fld>
            <a:endParaRPr lang="fr-FR" altLang="fr-FR"/>
          </a:p>
        </p:txBody>
      </p:sp>
      <p:sp>
        <p:nvSpPr>
          <p:cNvPr id="67586" name="Rectangle 2"/>
          <p:cNvSpPr>
            <a:spLocks noGrp="1" noChangeArrowheads="1"/>
          </p:cNvSpPr>
          <p:nvPr>
            <p:ph type="title" idx="4294967295"/>
          </p:nvPr>
        </p:nvSpPr>
        <p:spPr>
          <a:xfrm>
            <a:off x="685800" y="514668"/>
            <a:ext cx="11430000" cy="738664"/>
          </a:xfrm>
        </p:spPr>
        <p:txBody>
          <a:bodyPr/>
          <a:lstStyle/>
          <a:p>
            <a:r>
              <a:rPr lang="fr-FR" altLang="fr-FR" b="1" dirty="0"/>
              <a:t> </a:t>
            </a:r>
            <a:r>
              <a:rPr lang="fr-FR" altLang="fr-FR" dirty="0"/>
              <a:t> IV. États composites - </a:t>
            </a:r>
            <a:r>
              <a:rPr lang="fr-FR" altLang="fr-FR" b="1" dirty="0">
                <a:solidFill>
                  <a:srgbClr val="FF0000"/>
                </a:solidFill>
              </a:rPr>
              <a:t>État historique</a:t>
            </a:r>
          </a:p>
        </p:txBody>
      </p:sp>
      <p:pic>
        <p:nvPicPr>
          <p:cNvPr id="67589" name="Picture 5"/>
          <p:cNvPicPr>
            <a:picLocks noGrp="1" noChangeAspect="1" noChangeArrowheads="1"/>
          </p:cNvPicPr>
          <p:nvPr>
            <p:ph idx="4294967295"/>
          </p:nvPr>
        </p:nvPicPr>
        <p:blipFill>
          <a:blip r:embed="rId2" cstate="print">
            <a:extLst>
              <a:ext uri="{28A0092B-C50C-407E-A947-70E740481C1C}">
                <a14:useLocalDpi xmlns:a14="http://schemas.microsoft.com/office/drawing/2010/main" val="0"/>
              </a:ext>
            </a:extLst>
          </a:blip>
          <a:srcRect/>
          <a:stretch>
            <a:fillRect/>
          </a:stretch>
        </p:blipFill>
        <p:spPr>
          <a:xfrm>
            <a:off x="2057400" y="2168525"/>
            <a:ext cx="7150100" cy="3317875"/>
          </a:xfrm>
          <a:noFill/>
          <a:ln/>
        </p:spPr>
      </p:pic>
    </p:spTree>
    <p:extLst>
      <p:ext uri="{BB962C8B-B14F-4D97-AF65-F5344CB8AC3E}">
        <p14:creationId xmlns:p14="http://schemas.microsoft.com/office/powerpoint/2010/main" val="1551271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7"/>
          </p:nvPr>
        </p:nvSpPr>
        <p:spPr/>
        <p:txBody>
          <a:bodyPr/>
          <a:lstStyle/>
          <a:p>
            <a:fld id="{9D5591D8-463F-492E-AC78-88125237A188}" type="slidenum">
              <a:rPr lang="fr-FR" altLang="fr-FR"/>
              <a:pPr/>
              <a:t>26</a:t>
            </a:fld>
            <a:endParaRPr lang="fr-FR" altLang="fr-FR"/>
          </a:p>
        </p:txBody>
      </p:sp>
      <p:sp>
        <p:nvSpPr>
          <p:cNvPr id="69634" name="Rectangle 2"/>
          <p:cNvSpPr>
            <a:spLocks noGrp="1" noChangeArrowheads="1"/>
          </p:cNvSpPr>
          <p:nvPr>
            <p:ph type="title" idx="4294967295"/>
          </p:nvPr>
        </p:nvSpPr>
        <p:spPr>
          <a:xfrm>
            <a:off x="914400" y="508715"/>
            <a:ext cx="10668000" cy="553998"/>
          </a:xfrm>
        </p:spPr>
        <p:txBody>
          <a:bodyPr/>
          <a:lstStyle/>
          <a:p>
            <a:r>
              <a:rPr lang="fr-FR" altLang="fr-FR" sz="3600" b="1" dirty="0"/>
              <a:t> </a:t>
            </a:r>
            <a:r>
              <a:rPr lang="fr-FR" altLang="fr-FR" sz="3600" dirty="0"/>
              <a:t> IV. États composites - </a:t>
            </a:r>
            <a:r>
              <a:rPr lang="fr-FR" altLang="fr-FR" sz="3600" b="1" dirty="0">
                <a:solidFill>
                  <a:srgbClr val="FF0000"/>
                </a:solidFill>
              </a:rPr>
              <a:t>Points de connexion</a:t>
            </a:r>
          </a:p>
        </p:txBody>
      </p:sp>
      <p:sp>
        <p:nvSpPr>
          <p:cNvPr id="69636" name="Text Box 4"/>
          <p:cNvSpPr txBox="1">
            <a:spLocks noChangeArrowheads="1"/>
          </p:cNvSpPr>
          <p:nvPr/>
        </p:nvSpPr>
        <p:spPr bwMode="auto">
          <a:xfrm>
            <a:off x="1857376" y="1196975"/>
            <a:ext cx="8810625" cy="503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Char char="•"/>
            </a:pPr>
            <a:r>
              <a:rPr lang="fr-FR" altLang="fr-FR" dirty="0"/>
              <a:t> Il est possible de masquer les sous-états d’un état composite et de les définir </a:t>
            </a:r>
          </a:p>
          <a:p>
            <a:r>
              <a:rPr lang="fr-FR" altLang="fr-FR" dirty="0"/>
              <a:t>    dans un autre diagramme. </a:t>
            </a:r>
          </a:p>
          <a:p>
            <a:pPr>
              <a:buFontTx/>
              <a:buChar char="•"/>
            </a:pPr>
            <a:r>
              <a:rPr lang="fr-FR" altLang="fr-FR" dirty="0"/>
              <a:t> Cette pratique nécessite parfois l’utilisation de pseudo-états appelés </a:t>
            </a:r>
          </a:p>
          <a:p>
            <a:r>
              <a:rPr lang="fr-FR" altLang="fr-FR" dirty="0"/>
              <a:t>    points de connexion.</a:t>
            </a:r>
          </a:p>
          <a:p>
            <a:pPr>
              <a:buFontTx/>
              <a:buChar char="•"/>
            </a:pPr>
            <a:r>
              <a:rPr lang="fr-FR" altLang="fr-FR" dirty="0"/>
              <a:t> Lorsque l’on utilise le comportement par défaut de l’état composite, c’est-à-dire </a:t>
            </a:r>
          </a:p>
          <a:p>
            <a:r>
              <a:rPr lang="fr-FR" altLang="fr-FR" dirty="0"/>
              <a:t>   entrer par l’état initial par défaut et considérer les traitements finis quand l’état </a:t>
            </a:r>
          </a:p>
          <a:p>
            <a:r>
              <a:rPr lang="fr-FR" altLang="fr-FR" dirty="0"/>
              <a:t>   final est atteint, aucun problème ne se pose car on utilise des transitions ayant </a:t>
            </a:r>
          </a:p>
          <a:p>
            <a:r>
              <a:rPr lang="fr-FR" altLang="fr-FR" dirty="0"/>
              <a:t>   pour cible, ou pour source, la frontière de l’état composite. Dans ce cas, les points </a:t>
            </a:r>
          </a:p>
          <a:p>
            <a:r>
              <a:rPr lang="fr-FR" altLang="fr-FR" dirty="0"/>
              <a:t>   de connexion sont inutiles.</a:t>
            </a:r>
          </a:p>
          <a:p>
            <a:pPr>
              <a:buFontTx/>
              <a:buChar char="•"/>
            </a:pPr>
            <a:r>
              <a:rPr lang="fr-FR" altLang="fr-FR" dirty="0"/>
              <a:t> Le problème se pose lorsqu’il est possible d’entrer ou de sortir d’un état composite </a:t>
            </a:r>
          </a:p>
          <a:p>
            <a:r>
              <a:rPr lang="fr-FR" altLang="fr-FR" dirty="0"/>
              <a:t>   de plusieurs façons. C’est, par exemple, le cas lorsqu’il existe des transitions </a:t>
            </a:r>
          </a:p>
          <a:p>
            <a:r>
              <a:rPr lang="fr-FR" altLang="fr-FR" dirty="0"/>
              <a:t>   traversant la frontière de l’état composite et visant directement, ou ayant pour </a:t>
            </a:r>
          </a:p>
          <a:p>
            <a:r>
              <a:rPr lang="fr-FR" altLang="fr-FR" dirty="0"/>
              <a:t>   source, un sous-état de l’état composite. </a:t>
            </a:r>
          </a:p>
          <a:p>
            <a:pPr>
              <a:buFontTx/>
              <a:buChar char="•"/>
            </a:pPr>
            <a:r>
              <a:rPr lang="fr-FR" altLang="fr-FR" dirty="0"/>
              <a:t> Dans ce cas, la solution est d’utiliser des points de connexion sur la frontière de </a:t>
            </a:r>
          </a:p>
          <a:p>
            <a:r>
              <a:rPr lang="fr-FR" altLang="fr-FR" dirty="0"/>
              <a:t>   l’état composite. </a:t>
            </a:r>
          </a:p>
          <a:p>
            <a:pPr>
              <a:buFontTx/>
              <a:buChar char="•"/>
            </a:pPr>
            <a:r>
              <a:rPr lang="fr-FR" altLang="fr-FR" dirty="0"/>
              <a:t> Les points de connexion sont des points d’entrée et de sortie portant un nom, </a:t>
            </a:r>
          </a:p>
          <a:p>
            <a:r>
              <a:rPr lang="fr-FR" altLang="fr-FR" dirty="0"/>
              <a:t>   et situés sur la frontière d’un état composite. </a:t>
            </a:r>
          </a:p>
          <a:p>
            <a:pPr>
              <a:buFontTx/>
              <a:buChar char="•"/>
            </a:pPr>
            <a:r>
              <a:rPr lang="fr-FR" altLang="fr-FR" dirty="0"/>
              <a:t> Ils sont respectivement représentés par un cercle vide et un cercle barré d’une croix</a:t>
            </a:r>
          </a:p>
        </p:txBody>
      </p:sp>
    </p:spTree>
    <p:extLst>
      <p:ext uri="{BB962C8B-B14F-4D97-AF65-F5344CB8AC3E}">
        <p14:creationId xmlns:p14="http://schemas.microsoft.com/office/powerpoint/2010/main" val="13141551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7"/>
          </p:nvPr>
        </p:nvSpPr>
        <p:spPr/>
        <p:txBody>
          <a:bodyPr/>
          <a:lstStyle/>
          <a:p>
            <a:fld id="{46E1336D-88A4-4DF3-B121-E2A7F2F0CD8C}" type="slidenum">
              <a:rPr lang="fr-FR" altLang="fr-FR"/>
              <a:pPr/>
              <a:t>27</a:t>
            </a:fld>
            <a:endParaRPr lang="fr-FR" altLang="fr-FR"/>
          </a:p>
        </p:txBody>
      </p:sp>
      <p:sp>
        <p:nvSpPr>
          <p:cNvPr id="70661" name="Rectangle 5"/>
          <p:cNvSpPr>
            <a:spLocks noGrp="1" noChangeArrowheads="1"/>
          </p:cNvSpPr>
          <p:nvPr>
            <p:ph type="title" idx="4294967295"/>
          </p:nvPr>
        </p:nvSpPr>
        <p:spPr>
          <a:xfrm>
            <a:off x="990600" y="533400"/>
            <a:ext cx="9839325" cy="677108"/>
          </a:xfrm>
        </p:spPr>
        <p:txBody>
          <a:bodyPr/>
          <a:lstStyle/>
          <a:p>
            <a:r>
              <a:rPr lang="fr-FR" altLang="fr-FR" sz="4400" b="1" dirty="0"/>
              <a:t> </a:t>
            </a:r>
            <a:r>
              <a:rPr lang="fr-FR" altLang="fr-FR" sz="4400" dirty="0"/>
              <a:t> IV. États composites - </a:t>
            </a:r>
            <a:r>
              <a:rPr lang="fr-FR" altLang="fr-FR" sz="4400" b="1" dirty="0">
                <a:solidFill>
                  <a:srgbClr val="FF0000"/>
                </a:solidFill>
              </a:rPr>
              <a:t>Points de connexion</a:t>
            </a:r>
          </a:p>
        </p:txBody>
      </p:sp>
      <p:pic>
        <p:nvPicPr>
          <p:cNvPr id="70660" name="Picture 4"/>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057400" y="1676400"/>
            <a:ext cx="8229600" cy="4414838"/>
          </a:xfrm>
          <a:noFill/>
          <a:ln/>
        </p:spPr>
      </p:pic>
    </p:spTree>
    <p:extLst>
      <p:ext uri="{BB962C8B-B14F-4D97-AF65-F5344CB8AC3E}">
        <p14:creationId xmlns:p14="http://schemas.microsoft.com/office/powerpoint/2010/main" val="28228147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7"/>
          </p:nvPr>
        </p:nvSpPr>
        <p:spPr/>
        <p:txBody>
          <a:bodyPr/>
          <a:lstStyle/>
          <a:p>
            <a:fld id="{B0E61D94-F021-4402-BC5A-B881CBCA1082}" type="slidenum">
              <a:rPr lang="fr-FR" altLang="fr-FR"/>
              <a:pPr/>
              <a:t>28</a:t>
            </a:fld>
            <a:endParaRPr lang="fr-FR" altLang="fr-FR"/>
          </a:p>
        </p:txBody>
      </p:sp>
      <p:sp>
        <p:nvSpPr>
          <p:cNvPr id="73730" name="Rectangle 2"/>
          <p:cNvSpPr>
            <a:spLocks noGrp="1" noChangeArrowheads="1"/>
          </p:cNvSpPr>
          <p:nvPr>
            <p:ph type="title" idx="4294967295"/>
          </p:nvPr>
        </p:nvSpPr>
        <p:spPr>
          <a:xfrm>
            <a:off x="838200" y="523913"/>
            <a:ext cx="9839325" cy="738664"/>
          </a:xfrm>
        </p:spPr>
        <p:txBody>
          <a:bodyPr/>
          <a:lstStyle/>
          <a:p>
            <a:r>
              <a:rPr lang="fr-FR" altLang="fr-FR" b="1" dirty="0"/>
              <a:t> </a:t>
            </a:r>
            <a:r>
              <a:rPr lang="fr-FR" altLang="fr-FR" dirty="0"/>
              <a:t> IV. États composites - </a:t>
            </a:r>
            <a:r>
              <a:rPr lang="fr-FR" altLang="fr-FR" b="1" dirty="0">
                <a:solidFill>
                  <a:srgbClr val="FF0000"/>
                </a:solidFill>
              </a:rPr>
              <a:t>Concurrence</a:t>
            </a:r>
          </a:p>
        </p:txBody>
      </p:sp>
      <p:pic>
        <p:nvPicPr>
          <p:cNvPr id="73733" name="Picture 5"/>
          <p:cNvPicPr>
            <a:picLocks noGrp="1" noChangeAspect="1" noChangeArrowheads="1"/>
          </p:cNvPicPr>
          <p:nvPr>
            <p:ph idx="4294967295"/>
          </p:nvPr>
        </p:nvPicPr>
        <p:blipFill>
          <a:blip r:embed="rId3" cstate="print">
            <a:extLst>
              <a:ext uri="{28A0092B-C50C-407E-A947-70E740481C1C}">
                <a14:useLocalDpi xmlns:a14="http://schemas.microsoft.com/office/drawing/2010/main" val="0"/>
              </a:ext>
            </a:extLst>
          </a:blip>
          <a:srcRect/>
          <a:stretch>
            <a:fillRect/>
          </a:stretch>
        </p:blipFill>
        <p:spPr>
          <a:xfrm>
            <a:off x="4776691" y="4075544"/>
            <a:ext cx="7364118" cy="2743200"/>
          </a:xfrm>
          <a:noFill/>
          <a:ln/>
        </p:spPr>
      </p:pic>
      <p:sp>
        <p:nvSpPr>
          <p:cNvPr id="73732" name="Text Box 4"/>
          <p:cNvSpPr txBox="1">
            <a:spLocks noChangeArrowheads="1"/>
          </p:cNvSpPr>
          <p:nvPr/>
        </p:nvSpPr>
        <p:spPr bwMode="auto">
          <a:xfrm>
            <a:off x="990600" y="1295400"/>
            <a:ext cx="102108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308100" indent="-342900">
              <a:defRPr>
                <a:solidFill>
                  <a:schemeClr val="tx1"/>
                </a:solidFill>
                <a:latin typeface="Arial" panose="020B0604020202020204" pitchFamily="34" charset="0"/>
              </a:defRPr>
            </a:lvl3pPr>
            <a:lvl4pPr marL="1830388" indent="-342900">
              <a:defRPr>
                <a:solidFill>
                  <a:schemeClr val="tx1"/>
                </a:solidFill>
                <a:latin typeface="Arial" panose="020B0604020202020204" pitchFamily="34" charset="0"/>
              </a:defRPr>
            </a:lvl4pPr>
            <a:lvl5pPr marL="2352675" indent="-342900">
              <a:defRPr>
                <a:solidFill>
                  <a:schemeClr val="tx1"/>
                </a:solidFill>
                <a:latin typeface="Arial" panose="020B0604020202020204" pitchFamily="34" charset="0"/>
              </a:defRPr>
            </a:lvl5pPr>
            <a:lvl6pPr marL="2809875" indent="-342900" fontAlgn="base">
              <a:spcBef>
                <a:spcPct val="0"/>
              </a:spcBef>
              <a:spcAft>
                <a:spcPct val="0"/>
              </a:spcAft>
              <a:defRPr>
                <a:solidFill>
                  <a:schemeClr val="tx1"/>
                </a:solidFill>
                <a:latin typeface="Arial" panose="020B0604020202020204" pitchFamily="34" charset="0"/>
              </a:defRPr>
            </a:lvl6pPr>
            <a:lvl7pPr marL="3267075" indent="-342900" fontAlgn="base">
              <a:spcBef>
                <a:spcPct val="0"/>
              </a:spcBef>
              <a:spcAft>
                <a:spcPct val="0"/>
              </a:spcAft>
              <a:defRPr>
                <a:solidFill>
                  <a:schemeClr val="tx1"/>
                </a:solidFill>
                <a:latin typeface="Arial" panose="020B0604020202020204" pitchFamily="34" charset="0"/>
              </a:defRPr>
            </a:lvl7pPr>
            <a:lvl8pPr marL="3724275" indent="-342900" fontAlgn="base">
              <a:spcBef>
                <a:spcPct val="0"/>
              </a:spcBef>
              <a:spcAft>
                <a:spcPct val="0"/>
              </a:spcAft>
              <a:defRPr>
                <a:solidFill>
                  <a:schemeClr val="tx1"/>
                </a:solidFill>
                <a:latin typeface="Arial" panose="020B0604020202020204" pitchFamily="34" charset="0"/>
              </a:defRPr>
            </a:lvl8pPr>
            <a:lvl9pPr marL="4181475" indent="-342900" fontAlgn="base">
              <a:spcBef>
                <a:spcPct val="0"/>
              </a:spcBef>
              <a:spcAft>
                <a:spcPct val="0"/>
              </a:spcAft>
              <a:defRPr>
                <a:solidFill>
                  <a:schemeClr val="tx1"/>
                </a:solidFill>
                <a:latin typeface="Arial" panose="020B0604020202020204" pitchFamily="34" charset="0"/>
              </a:defRPr>
            </a:lvl9pPr>
          </a:lstStyle>
          <a:p>
            <a:pPr>
              <a:spcBef>
                <a:spcPts val="1200"/>
              </a:spcBef>
              <a:buFontTx/>
              <a:buChar char="•"/>
            </a:pPr>
            <a:r>
              <a:rPr lang="fr-FR" altLang="fr-FR" sz="2000" dirty="0"/>
              <a:t>  Les diagrammes d’états-transitions permettent de décrire efficacement des mécanismes concurrents grâce à l’utilisation d’</a:t>
            </a:r>
            <a:r>
              <a:rPr lang="fr-FR" altLang="fr-FR" sz="2000" i="1" dirty="0"/>
              <a:t>états orthogonaux</a:t>
            </a:r>
          </a:p>
          <a:p>
            <a:pPr>
              <a:spcBef>
                <a:spcPts val="1200"/>
              </a:spcBef>
              <a:buFontTx/>
              <a:buChar char="•"/>
            </a:pPr>
            <a:r>
              <a:rPr lang="fr-FR" altLang="fr-FR" sz="2000" dirty="0"/>
              <a:t>  Un état orthogonal est un état composite comportant plus d’une région </a:t>
            </a:r>
          </a:p>
          <a:p>
            <a:pPr>
              <a:spcBef>
                <a:spcPts val="1200"/>
              </a:spcBef>
              <a:buFontTx/>
              <a:buChar char="•"/>
            </a:pPr>
            <a:r>
              <a:rPr lang="fr-FR" altLang="fr-FR" sz="2000" dirty="0"/>
              <a:t>  Chaque région représentant un flot d’exécution</a:t>
            </a:r>
          </a:p>
          <a:p>
            <a:pPr>
              <a:spcBef>
                <a:spcPts val="1200"/>
              </a:spcBef>
              <a:buFontTx/>
              <a:buChar char="•"/>
            </a:pPr>
            <a:r>
              <a:rPr lang="fr-FR" altLang="fr-FR" sz="2000" dirty="0"/>
              <a:t>  Les différentes régions sont séparées par un trait horizontal en pointillé allant du bord gauche au bord droit de l’état composite.</a:t>
            </a:r>
          </a:p>
          <a:p>
            <a:pPr>
              <a:spcBef>
                <a:spcPts val="1200"/>
              </a:spcBef>
              <a:buFontTx/>
              <a:buChar char="•"/>
            </a:pPr>
            <a:r>
              <a:rPr lang="fr-FR" altLang="fr-FR" sz="2000" dirty="0"/>
              <a:t> Chaque région peut posséder un état initial et final.</a:t>
            </a:r>
          </a:p>
        </p:txBody>
      </p:sp>
    </p:spTree>
    <p:extLst>
      <p:ext uri="{BB962C8B-B14F-4D97-AF65-F5344CB8AC3E}">
        <p14:creationId xmlns:p14="http://schemas.microsoft.com/office/powerpoint/2010/main" val="35615874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7"/>
          </p:nvPr>
        </p:nvSpPr>
        <p:spPr/>
        <p:txBody>
          <a:bodyPr/>
          <a:lstStyle/>
          <a:p>
            <a:fld id="{8F298E81-B0E3-4348-8B33-0872006E2E38}" type="slidenum">
              <a:rPr lang="fr-FR" altLang="fr-FR"/>
              <a:pPr/>
              <a:t>29</a:t>
            </a:fld>
            <a:endParaRPr lang="fr-FR" altLang="fr-FR"/>
          </a:p>
        </p:txBody>
      </p:sp>
      <p:sp>
        <p:nvSpPr>
          <p:cNvPr id="76802" name="Rectangle 2"/>
          <p:cNvSpPr>
            <a:spLocks noGrp="1" noChangeArrowheads="1"/>
          </p:cNvSpPr>
          <p:nvPr>
            <p:ph type="title" idx="4294967295"/>
          </p:nvPr>
        </p:nvSpPr>
        <p:spPr>
          <a:xfrm>
            <a:off x="2352675" y="533400"/>
            <a:ext cx="9839325" cy="584200"/>
          </a:xfrm>
        </p:spPr>
        <p:txBody>
          <a:bodyPr/>
          <a:lstStyle/>
          <a:p>
            <a:r>
              <a:rPr lang="fr-FR" altLang="fr-FR" sz="3800" dirty="0"/>
              <a:t>Exercice d’application</a:t>
            </a:r>
          </a:p>
        </p:txBody>
      </p:sp>
      <p:sp>
        <p:nvSpPr>
          <p:cNvPr id="76806" name="Text Box 6"/>
          <p:cNvSpPr txBox="1">
            <a:spLocks noChangeArrowheads="1"/>
          </p:cNvSpPr>
          <p:nvPr/>
        </p:nvSpPr>
        <p:spPr bwMode="auto">
          <a:xfrm>
            <a:off x="1066800" y="1600200"/>
            <a:ext cx="96774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fr-FR" altLang="fr-FR" dirty="0"/>
              <a:t>On considère une boîte de vitesses automatique de voiture. </a:t>
            </a:r>
          </a:p>
          <a:p>
            <a:r>
              <a:rPr lang="fr-FR" altLang="fr-FR" dirty="0"/>
              <a:t>La boîte au démarrage est au point mort. </a:t>
            </a:r>
          </a:p>
          <a:p>
            <a:r>
              <a:rPr lang="fr-FR" altLang="fr-FR" dirty="0"/>
              <a:t>La marche arrière ainsi que la position parking peuvent être enclenchées à partir du point mort. </a:t>
            </a:r>
          </a:p>
          <a:p>
            <a:r>
              <a:rPr lang="fr-FR" altLang="fr-FR" dirty="0"/>
              <a:t>La première marche avant peut également être enclenchée à partir du point mort. </a:t>
            </a:r>
          </a:p>
          <a:p>
            <a:r>
              <a:rPr lang="fr-FR" altLang="fr-FR" dirty="0"/>
              <a:t>En revanche, les autres marches avant, la seconde et la troisième, sont enclenchées en séquence: 1 2 3 pour une accélération, et 3→2→ 1 pour une décélération. </a:t>
            </a:r>
          </a:p>
          <a:p>
            <a:r>
              <a:rPr lang="fr-FR" altLang="fr-FR" dirty="0"/>
              <a:t>Seules la marche arrière, la position parking et la première marche avant peuvent être ramenées directement au point mort.</a:t>
            </a:r>
          </a:p>
        </p:txBody>
      </p:sp>
    </p:spTree>
    <p:extLst>
      <p:ext uri="{BB962C8B-B14F-4D97-AF65-F5344CB8AC3E}">
        <p14:creationId xmlns:p14="http://schemas.microsoft.com/office/powerpoint/2010/main" val="1700185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7"/>
          </p:nvPr>
        </p:nvSpPr>
        <p:spPr/>
        <p:txBody>
          <a:bodyPr/>
          <a:lstStyle/>
          <a:p>
            <a:fld id="{8F298E81-B0E3-4348-8B33-0872006E2E38}" type="slidenum">
              <a:rPr lang="fr-FR" altLang="fr-FR"/>
              <a:pPr/>
              <a:t>30</a:t>
            </a:fld>
            <a:endParaRPr lang="fr-FR" altLang="fr-FR"/>
          </a:p>
        </p:txBody>
      </p:sp>
      <p:sp>
        <p:nvSpPr>
          <p:cNvPr id="76802" name="Rectangle 2"/>
          <p:cNvSpPr>
            <a:spLocks noGrp="1" noChangeArrowheads="1"/>
          </p:cNvSpPr>
          <p:nvPr>
            <p:ph type="title" idx="4294967295"/>
          </p:nvPr>
        </p:nvSpPr>
        <p:spPr>
          <a:xfrm>
            <a:off x="2352675" y="533400"/>
            <a:ext cx="7324725" cy="584200"/>
          </a:xfrm>
        </p:spPr>
        <p:txBody>
          <a:bodyPr/>
          <a:lstStyle/>
          <a:p>
            <a:r>
              <a:rPr lang="fr-FR" altLang="fr-FR" sz="3800" dirty="0"/>
              <a:t>Exercice d’application</a:t>
            </a:r>
          </a:p>
        </p:txBody>
      </p:sp>
      <p:pic>
        <p:nvPicPr>
          <p:cNvPr id="2" name="Image 1"/>
          <p:cNvPicPr>
            <a:picLocks noChangeAspect="1"/>
          </p:cNvPicPr>
          <p:nvPr/>
        </p:nvPicPr>
        <p:blipFill>
          <a:blip r:embed="rId2"/>
          <a:stretch>
            <a:fillRect/>
          </a:stretch>
        </p:blipFill>
        <p:spPr>
          <a:xfrm>
            <a:off x="2514600" y="1285557"/>
            <a:ext cx="7077075" cy="4924425"/>
          </a:xfrm>
          <a:prstGeom prst="rect">
            <a:avLst/>
          </a:prstGeom>
        </p:spPr>
      </p:pic>
    </p:spTree>
    <p:extLst>
      <p:ext uri="{BB962C8B-B14F-4D97-AF65-F5344CB8AC3E}">
        <p14:creationId xmlns:p14="http://schemas.microsoft.com/office/powerpoint/2010/main" val="3327716655"/>
      </p:ext>
    </p:extLst>
  </p:cSld>
  <p:clrMapOvr>
    <a:masterClrMapping/>
  </p:clrMapOvr>
</p:sld>
</file>

<file path=ppt/theme/theme1.xml><?xml version="1.0" encoding="utf-8"?>
<a:theme xmlns:a="http://schemas.openxmlformats.org/drawingml/2006/main" name="Office Theme">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Palatino Linotype">
      <a:majorFont>
        <a:latin typeface="Century Gothic" panose="020B0502020202020204"/>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13443</TotalTime>
  <Words>2364</Words>
  <Application>Microsoft Office PowerPoint</Application>
  <PresentationFormat>Grand écran</PresentationFormat>
  <Paragraphs>223</Paragraphs>
  <Slides>30</Slides>
  <Notes>3</Notes>
  <HiddenSlides>2</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30</vt:i4>
      </vt:variant>
    </vt:vector>
  </HeadingPairs>
  <TitlesOfParts>
    <vt:vector size="37" baseType="lpstr">
      <vt:lpstr>Arial</vt:lpstr>
      <vt:lpstr>Bernard MT Condensed</vt:lpstr>
      <vt:lpstr>Calibri</vt:lpstr>
      <vt:lpstr>Calibri Light</vt:lpstr>
      <vt:lpstr>Palatino Linotype</vt:lpstr>
      <vt:lpstr>Wingdings</vt:lpstr>
      <vt:lpstr>Office Theme</vt:lpstr>
      <vt:lpstr>Méthodes de conception orienté objet </vt:lpstr>
      <vt:lpstr>I. Définition</vt:lpstr>
      <vt:lpstr>II. Formalisme</vt:lpstr>
      <vt:lpstr>II. 1 l’état</vt:lpstr>
      <vt:lpstr>II. 1 l’état - Représentation</vt:lpstr>
      <vt:lpstr>II. 1 l’état - État initial et final</vt:lpstr>
      <vt:lpstr>II. 1 l’état - État initial et final</vt:lpstr>
      <vt:lpstr>II. 1 l’état</vt:lpstr>
      <vt:lpstr>II. 2 L’évènement</vt:lpstr>
      <vt:lpstr>II. 2 L’évènement - Notion d’évènement</vt:lpstr>
      <vt:lpstr>II. 3 la transition</vt:lpstr>
      <vt:lpstr>II. 3 la transition - Définition et syntaxe</vt:lpstr>
      <vt:lpstr>II. 3 la transition - Condition de garde</vt:lpstr>
      <vt:lpstr>II. 3 la transition - Effet d’une transition</vt:lpstr>
      <vt:lpstr>II. 3 la transition - Transition externe</vt:lpstr>
      <vt:lpstr>II. 3 la transition - Transition d’achèvement</vt:lpstr>
      <vt:lpstr>II. 3 La transition - Transition interne</vt:lpstr>
      <vt:lpstr>Transition interne</vt:lpstr>
      <vt:lpstr>II. 2 la transition</vt:lpstr>
      <vt:lpstr>  IV. États composites - Présentation</vt:lpstr>
      <vt:lpstr>  IV. États composites - Notation abrégée </vt:lpstr>
      <vt:lpstr>  IV. États composites - Transition</vt:lpstr>
      <vt:lpstr>  IV. États composites - Transitions</vt:lpstr>
      <vt:lpstr>  IV. États composites - État historique</vt:lpstr>
      <vt:lpstr>  IV. États composites - État historique</vt:lpstr>
      <vt:lpstr>  IV. États composites - Points de connexion</vt:lpstr>
      <vt:lpstr>  IV. États composites - Points de connexion</vt:lpstr>
      <vt:lpstr>  IV. États composites - Concurrence</vt:lpstr>
      <vt:lpstr>Exercice d’application</vt:lpstr>
      <vt:lpstr>Exercice d’application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Méthodes de conception orienté objet</dc:title>
  <dc:creator>Lenovo Yoga</dc:creator>
  <cp:lastModifiedBy>mohamed elyaakoubi</cp:lastModifiedBy>
  <cp:revision>78</cp:revision>
  <dcterms:created xsi:type="dcterms:W3CDTF">2023-10-24T18:10:37Z</dcterms:created>
  <dcterms:modified xsi:type="dcterms:W3CDTF">2025-11-24T13:10:11Z</dcterms:modified>
</cp:coreProperties>
</file>