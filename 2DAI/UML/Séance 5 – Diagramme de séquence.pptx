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8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92" r:id="rId20"/>
    <p:sldId id="276" r:id="rId21"/>
    <p:sldId id="277" r:id="rId22"/>
    <p:sldId id="278" r:id="rId23"/>
    <p:sldId id="279" r:id="rId24"/>
    <p:sldId id="280" r:id="rId25"/>
    <p:sldId id="281" r:id="rId26"/>
    <p:sldId id="293" r:id="rId27"/>
    <p:sldId id="282" r:id="rId28"/>
    <p:sldId id="294" r:id="rId29"/>
    <p:sldId id="285" r:id="rId30"/>
    <p:sldId id="286" r:id="rId31"/>
    <p:sldId id="295" r:id="rId32"/>
    <p:sldId id="287" r:id="rId33"/>
    <p:sldId id="299" r:id="rId34"/>
  </p:sldIdLst>
  <p:sldSz cx="12192000" cy="6858000"/>
  <p:notesSz cx="12192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682" y="6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1311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003F0-5C33-451F-933B-10C9D73608C6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C06CF-5162-4857-9CBC-57AD9728205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361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5DB66-4298-44BB-89DF-988DE822FD2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5CD93-5FD1-403B-B8EB-C47997AC4A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84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6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7300"/>
            <a:ext cx="12192000" cy="63500"/>
          </a:xfrm>
          <a:custGeom>
            <a:avLst/>
            <a:gdLst/>
            <a:ahLst/>
            <a:cxnLst/>
            <a:rect l="l" t="t" r="r" b="b"/>
            <a:pathLst>
              <a:path w="12192000" h="63500">
                <a:moveTo>
                  <a:pt x="12192000" y="0"/>
                </a:moveTo>
                <a:lnTo>
                  <a:pt x="0" y="0"/>
                </a:lnTo>
                <a:lnTo>
                  <a:pt x="0" y="63500"/>
                </a:lnTo>
                <a:lnTo>
                  <a:pt x="12192000" y="6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533400"/>
            <a:ext cx="9839960" cy="2062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262626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Bernard MT Condensed" panose="020508060609050204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151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7300"/>
            <a:ext cx="12192000" cy="63500"/>
          </a:xfrm>
          <a:custGeom>
            <a:avLst/>
            <a:gdLst/>
            <a:ahLst/>
            <a:cxnLst/>
            <a:rect l="l" t="t" r="r" b="b"/>
            <a:pathLst>
              <a:path w="12192000" h="63500">
                <a:moveTo>
                  <a:pt x="12192000" y="0"/>
                </a:moveTo>
                <a:lnTo>
                  <a:pt x="0" y="0"/>
                </a:lnTo>
                <a:lnTo>
                  <a:pt x="0" y="63500"/>
                </a:lnTo>
                <a:lnTo>
                  <a:pt x="12192000" y="6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98550" y="123825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1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019" y="309020"/>
            <a:ext cx="983996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4580" y="1519645"/>
            <a:ext cx="9874250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r>
              <a:rPr lang="fr-FR" dirty="0" err="1"/>
              <a:t>ffffffffff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b="1">
          <a:latin typeface="Bernard MT Condensed" panose="020508060609050204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92EA3E-A478-45AF-8BCF-AA318BB5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460021"/>
            <a:ext cx="7769412" cy="1396152"/>
          </a:xfrm>
        </p:spPr>
        <p:txBody>
          <a:bodyPr>
            <a:noAutofit/>
          </a:bodyPr>
          <a:lstStyle/>
          <a:p>
            <a:r>
              <a:rPr lang="fr-FR" sz="5333" dirty="0"/>
              <a:t>Méthodes de conception orienté objet </a:t>
            </a:r>
            <a:endParaRPr lang="en-IN" sz="3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421900"/>
            <a:ext cx="1784972" cy="337453"/>
          </a:xfrm>
        </p:spPr>
        <p:txBody>
          <a:bodyPr/>
          <a:lstStyle/>
          <a:p>
            <a:pPr defTabSz="609585"/>
            <a:r>
              <a:rPr lang="en-US" dirty="0">
                <a:latin typeface="Calibri" panose="020F0502020204030204"/>
              </a:rPr>
              <a:t>MCOO – BTS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21A536-FAB3-A183-8059-3F83B2F9B295}"/>
              </a:ext>
            </a:extLst>
          </p:cNvPr>
          <p:cNvSpPr txBox="1">
            <a:spLocks/>
          </p:cNvSpPr>
          <p:nvPr/>
        </p:nvSpPr>
        <p:spPr>
          <a:xfrm>
            <a:off x="312840" y="5752932"/>
            <a:ext cx="5486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20" tIns="60960" rIns="121920" bIns="6096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lumMod val="95000"/>
                    <a:lumOff val="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3429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3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050" b="0" i="0" u="none" strike="noStrike" cap="none">
                <a:solidFill>
                  <a:schemeClr val="tx1">
                    <a:tint val="75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defTabSz="609585">
              <a:buClr>
                <a:srgbClr val="000000"/>
              </a:buClr>
            </a:pPr>
            <a:r>
              <a:rPr lang="en" sz="1867" dirty="0">
                <a:solidFill>
                  <a:srgbClr val="C00000"/>
                </a:solidFill>
              </a:rPr>
              <a:t>Séance 5 – Diagramme de séquence</a:t>
            </a:r>
            <a:endParaRPr lang="fr-FR" sz="1867" dirty="0">
              <a:solidFill>
                <a:srgbClr val="C0000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613" y="0"/>
            <a:ext cx="8669867" cy="43317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491492"/>
            <a:ext cx="12192000" cy="6366508"/>
          </a:xfrm>
          <a:prstGeom prst="rect">
            <a:avLst/>
          </a:prstGeom>
          <a:solidFill>
            <a:srgbClr val="F5C07F">
              <a:alpha val="1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fr-FR" sz="24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F70F3D5B-21AD-40E2-B2FA-5C660E700671}"/>
              </a:ext>
            </a:extLst>
          </p:cNvPr>
          <p:cNvSpPr txBox="1">
            <a:spLocks/>
          </p:cNvSpPr>
          <p:nvPr/>
        </p:nvSpPr>
        <p:spPr>
          <a:xfrm>
            <a:off x="10291482" y="6444846"/>
            <a:ext cx="1784972" cy="337453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75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r>
              <a:rPr lang="en-US" sz="900" dirty="0">
                <a:latin typeface="Calibri" panose="020F0502020204030204"/>
              </a:rPr>
              <a:t>2023 - 2024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80533A1-1A28-4FDE-C3FE-5A8ACC85E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26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2945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7280" y="1468845"/>
            <a:ext cx="9238615" cy="24257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spcBef>
                <a:spcPts val="100"/>
              </a:spcBef>
              <a:buClr>
                <a:srgbClr val="DD7F46"/>
              </a:buClr>
              <a:buSzPct val="59459"/>
              <a:buFont typeface="Wingdings"/>
              <a:buChar char=""/>
              <a:tabLst>
                <a:tab pos="583565" algn="l"/>
                <a:tab pos="584200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Permet de représenter les interactions entre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2000" lvl="1" indent="-571500">
              <a:spcBef>
                <a:spcPts val="2260"/>
              </a:spcBef>
              <a:buClr>
                <a:srgbClr val="DD7F46"/>
              </a:buClr>
              <a:buSzPct val="60000"/>
              <a:buFont typeface="Wingdings"/>
              <a:buChar char=""/>
              <a:tabLst>
                <a:tab pos="761365" algn="l"/>
                <a:tab pos="762000" algn="l"/>
              </a:tabLst>
            </a:pPr>
            <a:r>
              <a:rPr sz="16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entités,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2000" lvl="1" indent="-571500">
              <a:spcBef>
                <a:spcPts val="2100"/>
              </a:spcBef>
              <a:buClr>
                <a:srgbClr val="DD7F46"/>
              </a:buClr>
              <a:buSzPct val="60000"/>
              <a:buFont typeface="Wingdings"/>
              <a:buChar char=""/>
              <a:tabLst>
                <a:tab pos="761365" algn="l"/>
                <a:tab pos="762000" algn="l"/>
              </a:tabLst>
            </a:pPr>
            <a:r>
              <a:rPr sz="16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instances de classes,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62000" lvl="1" indent="-571500">
              <a:spcBef>
                <a:spcPts val="2100"/>
              </a:spcBef>
              <a:buClr>
                <a:srgbClr val="DD7F46"/>
              </a:buClr>
              <a:buSzPct val="60000"/>
              <a:buFont typeface="Wingdings"/>
              <a:buChar char=""/>
              <a:tabLst>
                <a:tab pos="761365" algn="l"/>
                <a:tab pos="762000" algn="l"/>
              </a:tabLst>
            </a:pPr>
            <a:r>
              <a:rPr sz="16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sous systèmes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4200" marR="5080" indent="-571500">
              <a:spcBef>
                <a:spcPts val="1335"/>
              </a:spcBef>
              <a:buClr>
                <a:srgbClr val="DD7F46"/>
              </a:buClr>
              <a:buSzPct val="59459"/>
              <a:buFont typeface="Wingdings"/>
              <a:buChar char=""/>
              <a:tabLst>
                <a:tab pos="583565" algn="l"/>
                <a:tab pos="584200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Représente la séquence de messages entre les  objets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29457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7280" y="1405345"/>
            <a:ext cx="10332720" cy="2439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Clr>
                <a:srgbClr val="DD7F46"/>
              </a:buClr>
              <a:buSzPct val="59459"/>
              <a:buFont typeface="Wingdings"/>
              <a:buChar char=""/>
              <a:tabLst>
                <a:tab pos="583565" algn="l"/>
                <a:tab pos="584200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Ils représentent :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76300" marR="144780" lvl="1" indent="-571500">
              <a:lnSpc>
                <a:spcPts val="3500"/>
              </a:lnSpc>
              <a:spcBef>
                <a:spcPts val="560"/>
              </a:spcBef>
              <a:buClr>
                <a:srgbClr val="DD7F46"/>
              </a:buClr>
              <a:buSzPct val="60606"/>
              <a:buFont typeface="Wingdings"/>
              <a:buChar char=""/>
              <a:tabLst>
                <a:tab pos="875665" algn="l"/>
                <a:tab pos="876300" algn="l"/>
                <a:tab pos="6743065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 suite </a:t>
            </a:r>
            <a:r>
              <a:rPr sz="20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spécifique</a:t>
            </a: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d'événements</a:t>
            </a:r>
            <a:r>
              <a:rPr lang="fr-FR"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survenant</a:t>
            </a: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dans  le système.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76300" marR="5080" lvl="1" indent="-571500">
              <a:lnSpc>
                <a:spcPts val="3500"/>
              </a:lnSpc>
              <a:spcBef>
                <a:spcPts val="1200"/>
              </a:spcBef>
              <a:buClr>
                <a:srgbClr val="DD7F46"/>
              </a:buClr>
              <a:buSzPct val="60606"/>
              <a:buFont typeface="Wingdings"/>
              <a:buChar char=""/>
              <a:tabLst>
                <a:tab pos="875665" algn="l"/>
                <a:tab pos="876300" algn="l"/>
                <a:tab pos="7187565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 séquence spécifique </a:t>
            </a:r>
            <a:r>
              <a:rPr sz="20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d'actions</a:t>
            </a: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</a:t>
            </a:r>
            <a:r>
              <a:rPr lang="fr-FR"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d'interactions</a:t>
            </a: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entre les acteurs et le système.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4200" indent="-571500">
              <a:lnSpc>
                <a:spcPct val="100000"/>
              </a:lnSpc>
              <a:spcBef>
                <a:spcPts val="1600"/>
              </a:spcBef>
              <a:buClr>
                <a:srgbClr val="DD7F46"/>
              </a:buClr>
              <a:buSzPct val="59459"/>
              <a:buFont typeface="Wingdings"/>
              <a:buChar char=""/>
              <a:tabLst>
                <a:tab pos="583565" algn="l"/>
                <a:tab pos="584200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Suivent une chronologie de haut en bas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4200" marR="1398270" indent="-571500">
              <a:lnSpc>
                <a:spcPct val="101400"/>
              </a:lnSpc>
              <a:spcBef>
                <a:spcPts val="1295"/>
              </a:spcBef>
              <a:buClr>
                <a:srgbClr val="DD7F46"/>
              </a:buClr>
              <a:buSzPct val="59459"/>
              <a:buFont typeface="Wingdings"/>
              <a:buChar char=""/>
              <a:tabLst>
                <a:tab pos="583565" algn="l"/>
                <a:tab pos="584200" algn="l"/>
              </a:tabLst>
            </a:pPr>
            <a:r>
              <a:rPr sz="2000" dirty="0">
                <a:solidFill>
                  <a:srgbClr val="40404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Montre le flux de contrôle entre les  participants d’un point de vue temporel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7016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Représentation</a:t>
            </a:r>
            <a:r>
              <a:rPr spc="215" dirty="0"/>
              <a:t> </a:t>
            </a:r>
            <a:r>
              <a:rPr spc="-60" dirty="0"/>
              <a:t>des</a:t>
            </a:r>
            <a:r>
              <a:rPr spc="-45" dirty="0"/>
              <a:t> </a:t>
            </a:r>
            <a:r>
              <a:rPr spc="-80" dirty="0"/>
              <a:t>Scenarios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676400"/>
            <a:ext cx="9468485" cy="197849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0"/>
              </a:spcBef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Deux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scenarios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possibles:</a:t>
            </a:r>
            <a:endParaRPr sz="2000" dirty="0">
              <a:latin typeface="Calibri"/>
              <a:cs typeface="Calibri"/>
            </a:endParaRPr>
          </a:p>
          <a:p>
            <a:pPr marL="101600" marR="101600" indent="-88900">
              <a:lnSpc>
                <a:spcPts val="4300"/>
              </a:lnSpc>
              <a:spcBef>
                <a:spcPts val="146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Normal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Tout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se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passe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bien;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correspond au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déroulement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du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cas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d’utilisation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5080" indent="-88900">
              <a:lnSpc>
                <a:spcPts val="44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Secondaires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Description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cas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alternatifs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(plusieurs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choix),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d’exceptions</a:t>
            </a:r>
            <a:r>
              <a:rPr sz="20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’erreurs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558183" y="350311"/>
            <a:ext cx="60928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D</a:t>
            </a:r>
            <a:r>
              <a:rPr spc="35" dirty="0"/>
              <a:t>i</a:t>
            </a:r>
            <a:r>
              <a:rPr spc="40" dirty="0"/>
              <a:t>a</a:t>
            </a:r>
            <a:r>
              <a:rPr spc="50" dirty="0"/>
              <a:t>g</a:t>
            </a:r>
            <a:r>
              <a:rPr spc="-60" dirty="0"/>
              <a:t>r</a:t>
            </a:r>
            <a:r>
              <a:rPr spc="40" dirty="0"/>
              <a:t>a</a:t>
            </a:r>
            <a:r>
              <a:rPr spc="5" dirty="0"/>
              <a:t>mm</a:t>
            </a:r>
            <a:r>
              <a:rPr dirty="0"/>
              <a:t>e</a:t>
            </a:r>
            <a:r>
              <a:rPr spc="-265" dirty="0"/>
              <a:t> </a:t>
            </a:r>
            <a:r>
              <a:rPr spc="5" dirty="0"/>
              <a:t>d</a:t>
            </a:r>
            <a:r>
              <a:rPr dirty="0"/>
              <a:t>e</a:t>
            </a:r>
            <a:r>
              <a:rPr spc="-60" dirty="0"/>
              <a:t> </a:t>
            </a:r>
            <a:r>
              <a:rPr spc="40" dirty="0"/>
              <a:t>s</a:t>
            </a:r>
            <a:r>
              <a:rPr spc="25" dirty="0"/>
              <a:t>é</a:t>
            </a:r>
            <a:r>
              <a:rPr spc="5" dirty="0"/>
              <a:t>qu</a:t>
            </a:r>
            <a:r>
              <a:rPr spc="25" dirty="0"/>
              <a:t>e</a:t>
            </a:r>
            <a:r>
              <a:rPr spc="5" dirty="0"/>
              <a:t>n</a:t>
            </a:r>
            <a:r>
              <a:rPr spc="-45" dirty="0"/>
              <a:t>c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58998" y="1682213"/>
            <a:ext cx="5523402" cy="397031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r>
              <a:rPr sz="1500" dirty="0">
                <a:solidFill>
                  <a:srgbClr val="DD7F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	</a:t>
            </a:r>
            <a:r>
              <a:rPr sz="2600" dirty="0">
                <a:latin typeface="Calibri" panose="020F0502020204030204" pitchFamily="34" charset="0"/>
                <a:cs typeface="Calibri" panose="020F0502020204030204" pitchFamily="34" charset="0"/>
              </a:rPr>
              <a:t>L’axe </a:t>
            </a:r>
            <a:r>
              <a:rPr sz="2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vertical</a:t>
            </a:r>
            <a:r>
              <a:rPr sz="2600" dirty="0">
                <a:solidFill>
                  <a:srgbClr val="0032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600" dirty="0">
                <a:latin typeface="Calibri" panose="020F0502020204030204" pitchFamily="34" charset="0"/>
                <a:cs typeface="Calibri" panose="020F0502020204030204" pitchFamily="34" charset="0"/>
              </a:rPr>
              <a:t>représente le  </a:t>
            </a:r>
            <a:r>
              <a:rPr sz="2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temps</a:t>
            </a:r>
            <a:r>
              <a:rPr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r>
              <a:rPr lang="fr-FR" sz="1500" dirty="0">
                <a:solidFill>
                  <a:srgbClr val="DD7F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 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L’axe </a:t>
            </a:r>
            <a:r>
              <a:rPr lang="fr-FR" sz="2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horizontal</a:t>
            </a:r>
            <a:r>
              <a:rPr lang="fr-FR" sz="2600" dirty="0">
                <a:solidFill>
                  <a:srgbClr val="0032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représente  les </a:t>
            </a:r>
            <a:r>
              <a:rPr lang="fr-FR" sz="2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objets/acteurs</a:t>
            </a:r>
            <a:r>
              <a:rPr lang="fr-FR" sz="2600" dirty="0">
                <a:solidFill>
                  <a:srgbClr val="0032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impliqués  dans l'interaction.</a:t>
            </a:r>
          </a:p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r>
              <a:rPr lang="fr-FR" sz="1500" dirty="0">
                <a:solidFill>
                  <a:srgbClr val="DD7F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	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Une ligne </a:t>
            </a:r>
            <a:r>
              <a:rPr lang="fr-FR" sz="26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verticale</a:t>
            </a:r>
            <a:r>
              <a:rPr lang="fr-FR" sz="2600" dirty="0">
                <a:solidFill>
                  <a:srgbClr val="0032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est  attachée à chaque  objet/acteur et représente  sa ligne de vie «</a:t>
            </a:r>
            <a:r>
              <a:rPr lang="fr-FR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lifeline</a:t>
            </a:r>
            <a:r>
              <a:rPr lang="fr-FR" sz="2600" dirty="0">
                <a:latin typeface="Calibri" panose="020F0502020204030204" pitchFamily="34" charset="0"/>
                <a:cs typeface="Calibri" panose="020F0502020204030204" pitchFamily="34" charset="0"/>
              </a:rPr>
              <a:t>».</a:t>
            </a:r>
          </a:p>
          <a:p>
            <a:pPr marL="304800" marR="5080" indent="-292100">
              <a:lnSpc>
                <a:spcPts val="2800"/>
              </a:lnSpc>
              <a:spcBef>
                <a:spcPts val="459"/>
              </a:spcBef>
              <a:tabLst>
                <a:tab pos="304165" algn="l"/>
              </a:tabLst>
            </a:pPr>
            <a:endParaRPr lang="fr-FR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86100" y="2501900"/>
            <a:ext cx="800100" cy="495300"/>
            <a:chOff x="3086100" y="2501900"/>
            <a:chExt cx="800100" cy="495300"/>
          </a:xfrm>
        </p:grpSpPr>
        <p:sp>
          <p:nvSpPr>
            <p:cNvPr id="5" name="object 5"/>
            <p:cNvSpPr/>
            <p:nvPr/>
          </p:nvSpPr>
          <p:spPr>
            <a:xfrm>
              <a:off x="3479800" y="29083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788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6100" y="2501899"/>
              <a:ext cx="800100" cy="419100"/>
            </a:xfrm>
            <a:custGeom>
              <a:avLst/>
              <a:gdLst/>
              <a:ahLst/>
              <a:cxnLst/>
              <a:rect l="l" t="t" r="r" b="b"/>
              <a:pathLst>
                <a:path w="800100" h="419100">
                  <a:moveTo>
                    <a:pt x="799858" y="4254"/>
                  </a:moveTo>
                  <a:lnTo>
                    <a:pt x="795718" y="0"/>
                  </a:lnTo>
                  <a:lnTo>
                    <a:pt x="783285" y="0"/>
                  </a:lnTo>
                  <a:lnTo>
                    <a:pt x="783285" y="16979"/>
                  </a:lnTo>
                  <a:lnTo>
                    <a:pt x="783285" y="400354"/>
                  </a:lnTo>
                  <a:lnTo>
                    <a:pt x="16573" y="400354"/>
                  </a:lnTo>
                  <a:lnTo>
                    <a:pt x="16573" y="16979"/>
                  </a:lnTo>
                  <a:lnTo>
                    <a:pt x="783285" y="16979"/>
                  </a:lnTo>
                  <a:lnTo>
                    <a:pt x="783285" y="0"/>
                  </a:lnTo>
                  <a:lnTo>
                    <a:pt x="4140" y="0"/>
                  </a:lnTo>
                  <a:lnTo>
                    <a:pt x="0" y="4254"/>
                  </a:lnTo>
                  <a:lnTo>
                    <a:pt x="0" y="414502"/>
                  </a:lnTo>
                  <a:lnTo>
                    <a:pt x="4140" y="418757"/>
                  </a:lnTo>
                  <a:lnTo>
                    <a:pt x="8280" y="418757"/>
                  </a:lnTo>
                  <a:lnTo>
                    <a:pt x="16573" y="418757"/>
                  </a:lnTo>
                  <a:lnTo>
                    <a:pt x="783285" y="418757"/>
                  </a:lnTo>
                  <a:lnTo>
                    <a:pt x="791578" y="418757"/>
                  </a:lnTo>
                  <a:lnTo>
                    <a:pt x="795718" y="418757"/>
                  </a:lnTo>
                  <a:lnTo>
                    <a:pt x="799858" y="414502"/>
                  </a:lnTo>
                  <a:lnTo>
                    <a:pt x="799858" y="4254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479800" y="30734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340100" y="3220085"/>
            <a:ext cx="1790700" cy="2367915"/>
            <a:chOff x="3340100" y="3220085"/>
            <a:chExt cx="1790700" cy="2367915"/>
          </a:xfrm>
        </p:grpSpPr>
        <p:sp>
          <p:nvSpPr>
            <p:cNvPr id="9" name="object 9"/>
            <p:cNvSpPr/>
            <p:nvPr/>
          </p:nvSpPr>
          <p:spPr>
            <a:xfrm>
              <a:off x="3479800" y="3225800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h="11430">
                  <a:moveTo>
                    <a:pt x="-12700" y="5714"/>
                  </a:moveTo>
                  <a:lnTo>
                    <a:pt x="12700" y="5714"/>
                  </a:lnTo>
                </a:path>
              </a:pathLst>
            </a:custGeom>
            <a:ln w="11429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0100" y="3225799"/>
              <a:ext cx="279400" cy="2235200"/>
            </a:xfrm>
            <a:custGeom>
              <a:avLst/>
              <a:gdLst/>
              <a:ahLst/>
              <a:cxnLst/>
              <a:rect l="l" t="t" r="r" b="b"/>
              <a:pathLst>
                <a:path w="279400" h="2235200">
                  <a:moveTo>
                    <a:pt x="16649" y="203200"/>
                  </a:moveTo>
                  <a:lnTo>
                    <a:pt x="0" y="203200"/>
                  </a:lnTo>
                  <a:lnTo>
                    <a:pt x="0" y="2232101"/>
                  </a:lnTo>
                  <a:lnTo>
                    <a:pt x="4152" y="2234857"/>
                  </a:lnTo>
                  <a:lnTo>
                    <a:pt x="8318" y="2234857"/>
                  </a:lnTo>
                  <a:lnTo>
                    <a:pt x="8318" y="2218283"/>
                  </a:lnTo>
                  <a:lnTo>
                    <a:pt x="16649" y="2218283"/>
                  </a:lnTo>
                  <a:lnTo>
                    <a:pt x="16649" y="203200"/>
                  </a:lnTo>
                  <a:close/>
                </a:path>
                <a:path w="279400" h="2235200">
                  <a:moveTo>
                    <a:pt x="279044" y="4114"/>
                  </a:moveTo>
                  <a:lnTo>
                    <a:pt x="274878" y="0"/>
                  </a:lnTo>
                  <a:lnTo>
                    <a:pt x="4152" y="0"/>
                  </a:lnTo>
                  <a:lnTo>
                    <a:pt x="0" y="4114"/>
                  </a:lnTo>
                  <a:lnTo>
                    <a:pt x="0" y="202755"/>
                  </a:lnTo>
                  <a:lnTo>
                    <a:pt x="8318" y="202755"/>
                  </a:lnTo>
                  <a:lnTo>
                    <a:pt x="16649" y="202755"/>
                  </a:lnTo>
                  <a:lnTo>
                    <a:pt x="16649" y="17818"/>
                  </a:lnTo>
                  <a:lnTo>
                    <a:pt x="262382" y="17818"/>
                  </a:lnTo>
                  <a:lnTo>
                    <a:pt x="262382" y="202755"/>
                  </a:lnTo>
                  <a:lnTo>
                    <a:pt x="270713" y="202755"/>
                  </a:lnTo>
                  <a:lnTo>
                    <a:pt x="279044" y="202755"/>
                  </a:lnTo>
                  <a:lnTo>
                    <a:pt x="279044" y="4114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9800" y="54864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788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48418" y="3428999"/>
              <a:ext cx="271145" cy="2032000"/>
            </a:xfrm>
            <a:custGeom>
              <a:avLst/>
              <a:gdLst/>
              <a:ahLst/>
              <a:cxnLst/>
              <a:rect l="l" t="t" r="r" b="b"/>
              <a:pathLst>
                <a:path w="271145" h="2032000">
                  <a:moveTo>
                    <a:pt x="270725" y="0"/>
                  </a:moveTo>
                  <a:lnTo>
                    <a:pt x="254063" y="0"/>
                  </a:lnTo>
                  <a:lnTo>
                    <a:pt x="254063" y="2015083"/>
                  </a:lnTo>
                  <a:lnTo>
                    <a:pt x="0" y="2015083"/>
                  </a:lnTo>
                  <a:lnTo>
                    <a:pt x="0" y="2031657"/>
                  </a:lnTo>
                  <a:lnTo>
                    <a:pt x="8331" y="2031657"/>
                  </a:lnTo>
                  <a:lnTo>
                    <a:pt x="254063" y="2031657"/>
                  </a:lnTo>
                  <a:lnTo>
                    <a:pt x="262394" y="2031657"/>
                  </a:lnTo>
                  <a:lnTo>
                    <a:pt x="262394" y="2032000"/>
                  </a:lnTo>
                  <a:lnTo>
                    <a:pt x="267957" y="2032000"/>
                  </a:lnTo>
                  <a:lnTo>
                    <a:pt x="267957" y="2029460"/>
                  </a:lnTo>
                  <a:lnTo>
                    <a:pt x="270725" y="2029460"/>
                  </a:lnTo>
                  <a:lnTo>
                    <a:pt x="270725" y="2015490"/>
                  </a:lnTo>
                  <a:lnTo>
                    <a:pt x="270725" y="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1100" y="3885849"/>
              <a:ext cx="0" cy="76835"/>
            </a:xfrm>
            <a:custGeom>
              <a:avLst/>
              <a:gdLst/>
              <a:ahLst/>
              <a:cxnLst/>
              <a:rect l="l" t="t" r="r" b="b"/>
              <a:pathLst>
                <a:path h="76835">
                  <a:moveTo>
                    <a:pt x="0" y="0"/>
                  </a:moveTo>
                  <a:lnTo>
                    <a:pt x="0" y="76439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51400" y="3555999"/>
              <a:ext cx="279400" cy="342900"/>
            </a:xfrm>
            <a:custGeom>
              <a:avLst/>
              <a:gdLst/>
              <a:ahLst/>
              <a:cxnLst/>
              <a:rect l="l" t="t" r="r" b="b"/>
              <a:pathLst>
                <a:path w="279400" h="342900">
                  <a:moveTo>
                    <a:pt x="279273" y="4152"/>
                  </a:moveTo>
                  <a:lnTo>
                    <a:pt x="275132" y="0"/>
                  </a:lnTo>
                  <a:lnTo>
                    <a:pt x="261302" y="0"/>
                  </a:lnTo>
                  <a:lnTo>
                    <a:pt x="261302" y="16573"/>
                  </a:lnTo>
                  <a:lnTo>
                    <a:pt x="261302" y="325869"/>
                  </a:lnTo>
                  <a:lnTo>
                    <a:pt x="17970" y="325869"/>
                  </a:lnTo>
                  <a:lnTo>
                    <a:pt x="17970" y="16573"/>
                  </a:lnTo>
                  <a:lnTo>
                    <a:pt x="261302" y="16573"/>
                  </a:lnTo>
                  <a:lnTo>
                    <a:pt x="261302" y="0"/>
                  </a:lnTo>
                  <a:lnTo>
                    <a:pt x="4140" y="0"/>
                  </a:lnTo>
                  <a:lnTo>
                    <a:pt x="0" y="4152"/>
                  </a:lnTo>
                  <a:lnTo>
                    <a:pt x="0" y="339686"/>
                  </a:lnTo>
                  <a:lnTo>
                    <a:pt x="4140" y="342442"/>
                  </a:lnTo>
                  <a:lnTo>
                    <a:pt x="9677" y="342442"/>
                  </a:lnTo>
                  <a:lnTo>
                    <a:pt x="17970" y="342442"/>
                  </a:lnTo>
                  <a:lnTo>
                    <a:pt x="261302" y="342442"/>
                  </a:lnTo>
                  <a:lnTo>
                    <a:pt x="270979" y="342442"/>
                  </a:lnTo>
                  <a:lnTo>
                    <a:pt x="275132" y="342442"/>
                  </a:lnTo>
                  <a:lnTo>
                    <a:pt x="279273" y="339686"/>
                  </a:lnTo>
                  <a:lnTo>
                    <a:pt x="279273" y="415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6800" y="3553459"/>
              <a:ext cx="1236345" cy="16510"/>
            </a:xfrm>
            <a:custGeom>
              <a:avLst/>
              <a:gdLst/>
              <a:ahLst/>
              <a:cxnLst/>
              <a:rect l="l" t="t" r="r" b="b"/>
              <a:pathLst>
                <a:path w="1236345" h="16510">
                  <a:moveTo>
                    <a:pt x="1235735" y="8890"/>
                  </a:moveTo>
                  <a:lnTo>
                    <a:pt x="1235417" y="8890"/>
                  </a:lnTo>
                  <a:lnTo>
                    <a:pt x="1235417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6510"/>
                  </a:lnTo>
                  <a:lnTo>
                    <a:pt x="1235735" y="16510"/>
                  </a:lnTo>
                  <a:lnTo>
                    <a:pt x="1235735" y="889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008" y="3505200"/>
              <a:ext cx="114891" cy="1140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91100" y="42037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1100" y="5168900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564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51400" y="4267199"/>
              <a:ext cx="279400" cy="863600"/>
            </a:xfrm>
            <a:custGeom>
              <a:avLst/>
              <a:gdLst/>
              <a:ahLst/>
              <a:cxnLst/>
              <a:rect l="l" t="t" r="r" b="b"/>
              <a:pathLst>
                <a:path w="279400" h="863600">
                  <a:moveTo>
                    <a:pt x="279273" y="4140"/>
                  </a:moveTo>
                  <a:lnTo>
                    <a:pt x="275132" y="0"/>
                  </a:lnTo>
                  <a:lnTo>
                    <a:pt x="261302" y="0"/>
                  </a:lnTo>
                  <a:lnTo>
                    <a:pt x="261302" y="17907"/>
                  </a:lnTo>
                  <a:lnTo>
                    <a:pt x="261302" y="846963"/>
                  </a:lnTo>
                  <a:lnTo>
                    <a:pt x="17970" y="846963"/>
                  </a:lnTo>
                  <a:lnTo>
                    <a:pt x="17970" y="17907"/>
                  </a:lnTo>
                  <a:lnTo>
                    <a:pt x="261302" y="17907"/>
                  </a:lnTo>
                  <a:lnTo>
                    <a:pt x="261302" y="0"/>
                  </a:lnTo>
                  <a:lnTo>
                    <a:pt x="4140" y="0"/>
                  </a:lnTo>
                  <a:lnTo>
                    <a:pt x="0" y="4140"/>
                  </a:lnTo>
                  <a:lnTo>
                    <a:pt x="0" y="859358"/>
                  </a:lnTo>
                  <a:lnTo>
                    <a:pt x="4140" y="863485"/>
                  </a:lnTo>
                  <a:lnTo>
                    <a:pt x="9677" y="863485"/>
                  </a:lnTo>
                  <a:lnTo>
                    <a:pt x="17970" y="863485"/>
                  </a:lnTo>
                  <a:lnTo>
                    <a:pt x="261302" y="863485"/>
                  </a:lnTo>
                  <a:lnTo>
                    <a:pt x="270979" y="863485"/>
                  </a:lnTo>
                  <a:lnTo>
                    <a:pt x="275132" y="863485"/>
                  </a:lnTo>
                  <a:lnTo>
                    <a:pt x="279273" y="859358"/>
                  </a:lnTo>
                  <a:lnTo>
                    <a:pt x="279273" y="414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6800" y="4264659"/>
              <a:ext cx="1235710" cy="17780"/>
            </a:xfrm>
            <a:custGeom>
              <a:avLst/>
              <a:gdLst/>
              <a:ahLst/>
              <a:cxnLst/>
              <a:rect l="l" t="t" r="r" b="b"/>
              <a:pathLst>
                <a:path w="1235710" h="17779">
                  <a:moveTo>
                    <a:pt x="1235646" y="8890"/>
                  </a:moveTo>
                  <a:lnTo>
                    <a:pt x="1234998" y="8890"/>
                  </a:lnTo>
                  <a:lnTo>
                    <a:pt x="12349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1235646" y="17780"/>
                  </a:lnTo>
                  <a:lnTo>
                    <a:pt x="1235646" y="889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008" y="4216400"/>
              <a:ext cx="114891" cy="11384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413080" y="2548595"/>
            <a:ext cx="137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85" dirty="0">
                <a:latin typeface="Microsoft Sans Serif"/>
                <a:cs typeface="Microsoft Sans Serif"/>
              </a:rPr>
              <a:t>X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84700" y="2501899"/>
            <a:ext cx="800100" cy="419100"/>
          </a:xfrm>
          <a:custGeom>
            <a:avLst/>
            <a:gdLst/>
            <a:ahLst/>
            <a:cxnLst/>
            <a:rect l="l" t="t" r="r" b="b"/>
            <a:pathLst>
              <a:path w="800100" h="419100">
                <a:moveTo>
                  <a:pt x="800087" y="4254"/>
                </a:moveTo>
                <a:lnTo>
                  <a:pt x="795959" y="0"/>
                </a:lnTo>
                <a:lnTo>
                  <a:pt x="782154" y="0"/>
                </a:lnTo>
                <a:lnTo>
                  <a:pt x="782154" y="16979"/>
                </a:lnTo>
                <a:lnTo>
                  <a:pt x="782154" y="400354"/>
                </a:lnTo>
                <a:lnTo>
                  <a:pt x="17932" y="400354"/>
                </a:lnTo>
                <a:lnTo>
                  <a:pt x="17932" y="16979"/>
                </a:lnTo>
                <a:lnTo>
                  <a:pt x="782154" y="16979"/>
                </a:lnTo>
                <a:lnTo>
                  <a:pt x="782154" y="0"/>
                </a:lnTo>
                <a:lnTo>
                  <a:pt x="4127" y="0"/>
                </a:lnTo>
                <a:lnTo>
                  <a:pt x="0" y="4254"/>
                </a:lnTo>
                <a:lnTo>
                  <a:pt x="0" y="414502"/>
                </a:lnTo>
                <a:lnTo>
                  <a:pt x="4127" y="418757"/>
                </a:lnTo>
                <a:lnTo>
                  <a:pt x="9652" y="418757"/>
                </a:lnTo>
                <a:lnTo>
                  <a:pt x="17932" y="418757"/>
                </a:lnTo>
                <a:lnTo>
                  <a:pt x="782154" y="418757"/>
                </a:lnTo>
                <a:lnTo>
                  <a:pt x="791819" y="418757"/>
                </a:lnTo>
                <a:lnTo>
                  <a:pt x="795959" y="418757"/>
                </a:lnTo>
                <a:lnTo>
                  <a:pt x="800087" y="414502"/>
                </a:lnTo>
                <a:lnTo>
                  <a:pt x="800087" y="4254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915155" y="2548595"/>
            <a:ext cx="137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85" dirty="0">
                <a:latin typeface="Microsoft Sans Serif"/>
                <a:cs typeface="Microsoft Sans Serif"/>
              </a:rPr>
              <a:t>Y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91100" y="29083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91100" y="30734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91100" y="32258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09800" y="2527299"/>
            <a:ext cx="774700" cy="622300"/>
          </a:xfrm>
          <a:custGeom>
            <a:avLst/>
            <a:gdLst/>
            <a:ahLst/>
            <a:cxnLst/>
            <a:rect l="l" t="t" r="r" b="b"/>
            <a:pathLst>
              <a:path w="774700" h="622300">
                <a:moveTo>
                  <a:pt x="774458" y="38100"/>
                </a:moveTo>
                <a:lnTo>
                  <a:pt x="705510" y="0"/>
                </a:lnTo>
                <a:lnTo>
                  <a:pt x="705510" y="28956"/>
                </a:lnTo>
                <a:lnTo>
                  <a:pt x="38100" y="28956"/>
                </a:lnTo>
                <a:lnTo>
                  <a:pt x="38100" y="38100"/>
                </a:lnTo>
                <a:lnTo>
                  <a:pt x="24117" y="38100"/>
                </a:lnTo>
                <a:lnTo>
                  <a:pt x="24117" y="553796"/>
                </a:lnTo>
                <a:lnTo>
                  <a:pt x="0" y="553796"/>
                </a:lnTo>
                <a:lnTo>
                  <a:pt x="24117" y="605777"/>
                </a:lnTo>
                <a:lnTo>
                  <a:pt x="31737" y="622185"/>
                </a:lnTo>
                <a:lnTo>
                  <a:pt x="39357" y="605777"/>
                </a:lnTo>
                <a:lnTo>
                  <a:pt x="63487" y="553796"/>
                </a:lnTo>
                <a:lnTo>
                  <a:pt x="39357" y="553796"/>
                </a:lnTo>
                <a:lnTo>
                  <a:pt x="39357" y="48768"/>
                </a:lnTo>
                <a:lnTo>
                  <a:pt x="705510" y="48768"/>
                </a:lnTo>
                <a:lnTo>
                  <a:pt x="705510" y="76200"/>
                </a:lnTo>
                <a:lnTo>
                  <a:pt x="717918" y="69342"/>
                </a:lnTo>
                <a:lnTo>
                  <a:pt x="77445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182094" y="2268282"/>
            <a:ext cx="10833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latin typeface="Times New Roman"/>
                <a:cs typeface="Times New Roman"/>
              </a:rPr>
              <a:t>Objets/Acteurs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50696" y="3096774"/>
            <a:ext cx="48387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70" dirty="0">
                <a:latin typeface="Times New Roman"/>
                <a:cs typeface="Times New Roman"/>
              </a:rPr>
              <a:t>T</a:t>
            </a:r>
            <a:r>
              <a:rPr sz="1300" b="1" spc="20" dirty="0">
                <a:latin typeface="Times New Roman"/>
                <a:cs typeface="Times New Roman"/>
              </a:rPr>
              <a:t>e</a:t>
            </a:r>
            <a:r>
              <a:rPr sz="1300" b="1" spc="15" dirty="0">
                <a:latin typeface="Times New Roman"/>
                <a:cs typeface="Times New Roman"/>
              </a:rPr>
              <a:t>m</a:t>
            </a:r>
            <a:r>
              <a:rPr sz="1300" b="1" spc="-25" dirty="0">
                <a:latin typeface="Times New Roman"/>
                <a:cs typeface="Times New Roman"/>
              </a:rPr>
              <a:t>p</a:t>
            </a:r>
            <a:r>
              <a:rPr sz="1300" b="1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79800" y="56515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564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73450" y="583565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75" y="0"/>
                </a:lnTo>
              </a:path>
            </a:pathLst>
          </a:custGeom>
          <a:ln w="381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91100" y="33909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91100" y="40386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91100" y="53213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1100" y="54864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788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91100" y="56515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564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84750" y="5835650"/>
            <a:ext cx="12700" cy="0"/>
          </a:xfrm>
          <a:custGeom>
            <a:avLst/>
            <a:gdLst/>
            <a:ahLst/>
            <a:cxnLst/>
            <a:rect l="l" t="t" r="r" b="b"/>
            <a:pathLst>
              <a:path w="12700">
                <a:moveTo>
                  <a:pt x="6318" y="-19050"/>
                </a:moveTo>
                <a:lnTo>
                  <a:pt x="6318" y="19050"/>
                </a:lnTo>
              </a:path>
            </a:pathLst>
          </a:custGeom>
          <a:ln w="12637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195928" y="3301017"/>
            <a:ext cx="137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Microsoft Sans Serif"/>
                <a:cs typeface="Microsoft Sans Serif"/>
              </a:rPr>
              <a:t>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95928" y="4018859"/>
            <a:ext cx="137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Microsoft Sans Serif"/>
                <a:cs typeface="Microsoft Sans Serif"/>
              </a:rPr>
              <a:t>b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06800" y="5067300"/>
            <a:ext cx="1308100" cy="114300"/>
          </a:xfrm>
          <a:custGeom>
            <a:avLst/>
            <a:gdLst/>
            <a:ahLst/>
            <a:cxnLst/>
            <a:rect l="l" t="t" r="r" b="b"/>
            <a:pathLst>
              <a:path w="1308100" h="114300">
                <a:moveTo>
                  <a:pt x="1308100" y="48260"/>
                </a:moveTo>
                <a:lnTo>
                  <a:pt x="76238" y="48260"/>
                </a:lnTo>
                <a:lnTo>
                  <a:pt x="114884" y="0"/>
                </a:lnTo>
                <a:lnTo>
                  <a:pt x="72669" y="20967"/>
                </a:lnTo>
                <a:lnTo>
                  <a:pt x="72669" y="52717"/>
                </a:lnTo>
                <a:lnTo>
                  <a:pt x="72669" y="57150"/>
                </a:lnTo>
                <a:lnTo>
                  <a:pt x="72351" y="57150"/>
                </a:lnTo>
                <a:lnTo>
                  <a:pt x="72351" y="60972"/>
                </a:lnTo>
                <a:lnTo>
                  <a:pt x="69202" y="57035"/>
                </a:lnTo>
                <a:lnTo>
                  <a:pt x="72669" y="52717"/>
                </a:lnTo>
                <a:lnTo>
                  <a:pt x="72669" y="20967"/>
                </a:lnTo>
                <a:lnTo>
                  <a:pt x="0" y="57035"/>
                </a:lnTo>
                <a:lnTo>
                  <a:pt x="69202" y="91401"/>
                </a:lnTo>
                <a:lnTo>
                  <a:pt x="114884" y="114084"/>
                </a:lnTo>
                <a:lnTo>
                  <a:pt x="75730" y="65189"/>
                </a:lnTo>
                <a:lnTo>
                  <a:pt x="75387" y="64770"/>
                </a:lnTo>
                <a:lnTo>
                  <a:pt x="1308100" y="64770"/>
                </a:lnTo>
                <a:lnTo>
                  <a:pt x="1308100" y="57150"/>
                </a:lnTo>
                <a:lnTo>
                  <a:pt x="1308100" y="4826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213909" y="4869481"/>
            <a:ext cx="1041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85" dirty="0">
                <a:latin typeface="Microsoft Sans Serif"/>
                <a:cs typeface="Microsoft Sans Serif"/>
              </a:rPr>
              <a:t>c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59416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Diagramme</a:t>
            </a:r>
            <a:r>
              <a:rPr spc="105" dirty="0"/>
              <a:t> </a:t>
            </a:r>
            <a:r>
              <a:rPr spc="-50" dirty="0"/>
              <a:t>de</a:t>
            </a:r>
            <a:r>
              <a:rPr spc="-95" dirty="0"/>
              <a:t> </a:t>
            </a:r>
            <a:r>
              <a:rPr spc="-80" dirty="0"/>
              <a:t>séquence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29400" y="1943100"/>
            <a:ext cx="889000" cy="804545"/>
            <a:chOff x="6629400" y="1943100"/>
            <a:chExt cx="889000" cy="804545"/>
          </a:xfrm>
        </p:grpSpPr>
        <p:sp>
          <p:nvSpPr>
            <p:cNvPr id="4" name="object 4"/>
            <p:cNvSpPr/>
            <p:nvPr/>
          </p:nvSpPr>
          <p:spPr>
            <a:xfrm>
              <a:off x="7073900" y="23749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29400" y="1943099"/>
              <a:ext cx="889000" cy="444500"/>
            </a:xfrm>
            <a:custGeom>
              <a:avLst/>
              <a:gdLst/>
              <a:ahLst/>
              <a:cxnLst/>
              <a:rect l="l" t="t" r="r" b="b"/>
              <a:pathLst>
                <a:path w="889000" h="444500">
                  <a:moveTo>
                    <a:pt x="888733" y="4508"/>
                  </a:moveTo>
                  <a:lnTo>
                    <a:pt x="884135" y="0"/>
                  </a:lnTo>
                  <a:lnTo>
                    <a:pt x="870318" y="0"/>
                  </a:lnTo>
                  <a:lnTo>
                    <a:pt x="870318" y="18008"/>
                  </a:lnTo>
                  <a:lnTo>
                    <a:pt x="870318" y="424624"/>
                  </a:lnTo>
                  <a:lnTo>
                    <a:pt x="18415" y="424624"/>
                  </a:lnTo>
                  <a:lnTo>
                    <a:pt x="18415" y="18008"/>
                  </a:lnTo>
                  <a:lnTo>
                    <a:pt x="870318" y="18008"/>
                  </a:lnTo>
                  <a:lnTo>
                    <a:pt x="870318" y="0"/>
                  </a:lnTo>
                  <a:lnTo>
                    <a:pt x="4597" y="0"/>
                  </a:lnTo>
                  <a:lnTo>
                    <a:pt x="0" y="4508"/>
                  </a:lnTo>
                  <a:lnTo>
                    <a:pt x="0" y="439623"/>
                  </a:lnTo>
                  <a:lnTo>
                    <a:pt x="4597" y="444131"/>
                  </a:lnTo>
                  <a:lnTo>
                    <a:pt x="9207" y="444131"/>
                  </a:lnTo>
                  <a:lnTo>
                    <a:pt x="18415" y="444131"/>
                  </a:lnTo>
                  <a:lnTo>
                    <a:pt x="870318" y="444131"/>
                  </a:lnTo>
                  <a:lnTo>
                    <a:pt x="879525" y="444131"/>
                  </a:lnTo>
                  <a:lnTo>
                    <a:pt x="884135" y="444131"/>
                  </a:lnTo>
                  <a:lnTo>
                    <a:pt x="888733" y="439623"/>
                  </a:lnTo>
                  <a:lnTo>
                    <a:pt x="888733" y="450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73900" y="25527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73900" y="2730500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h="11430">
                  <a:moveTo>
                    <a:pt x="-12700" y="5714"/>
                  </a:moveTo>
                  <a:lnTo>
                    <a:pt x="12700" y="5714"/>
                  </a:lnTo>
                </a:path>
              </a:pathLst>
            </a:custGeom>
            <a:ln w="11429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97569" y="198714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0000"/>
                </a:solidFill>
                <a:latin typeface="Microsoft Sans Serif"/>
                <a:cs typeface="Microsoft Sans Serif"/>
              </a:rPr>
              <a:t>X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93100" y="1943099"/>
            <a:ext cx="876300" cy="444500"/>
          </a:xfrm>
          <a:custGeom>
            <a:avLst/>
            <a:gdLst/>
            <a:ahLst/>
            <a:cxnLst/>
            <a:rect l="l" t="t" r="r" b="b"/>
            <a:pathLst>
              <a:path w="876300" h="444500">
                <a:moveTo>
                  <a:pt x="876287" y="4508"/>
                </a:moveTo>
                <a:lnTo>
                  <a:pt x="871766" y="0"/>
                </a:lnTo>
                <a:lnTo>
                  <a:pt x="856653" y="0"/>
                </a:lnTo>
                <a:lnTo>
                  <a:pt x="856653" y="18008"/>
                </a:lnTo>
                <a:lnTo>
                  <a:pt x="856653" y="424624"/>
                </a:lnTo>
                <a:lnTo>
                  <a:pt x="19634" y="424624"/>
                </a:lnTo>
                <a:lnTo>
                  <a:pt x="19634" y="18008"/>
                </a:lnTo>
                <a:lnTo>
                  <a:pt x="856653" y="18008"/>
                </a:lnTo>
                <a:lnTo>
                  <a:pt x="856653" y="0"/>
                </a:lnTo>
                <a:lnTo>
                  <a:pt x="4521" y="0"/>
                </a:lnTo>
                <a:lnTo>
                  <a:pt x="0" y="4508"/>
                </a:lnTo>
                <a:lnTo>
                  <a:pt x="0" y="439623"/>
                </a:lnTo>
                <a:lnTo>
                  <a:pt x="4521" y="444131"/>
                </a:lnTo>
                <a:lnTo>
                  <a:pt x="10566" y="444131"/>
                </a:lnTo>
                <a:lnTo>
                  <a:pt x="19634" y="444131"/>
                </a:lnTo>
                <a:lnTo>
                  <a:pt x="856653" y="444131"/>
                </a:lnTo>
                <a:lnTo>
                  <a:pt x="867232" y="444131"/>
                </a:lnTo>
                <a:lnTo>
                  <a:pt x="871766" y="444131"/>
                </a:lnTo>
                <a:lnTo>
                  <a:pt x="876287" y="439623"/>
                </a:lnTo>
                <a:lnTo>
                  <a:pt x="876287" y="4508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54157" y="198714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solidFill>
                  <a:srgbClr val="FF0000"/>
                </a:solidFill>
                <a:latin typeface="Microsoft Sans Serif"/>
                <a:cs typeface="Microsoft Sans Serif"/>
              </a:rPr>
              <a:t>Y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37600" y="25527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37600" y="27305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37600" y="29083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37600" y="53975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31250" y="5607050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75" y="0"/>
                </a:lnTo>
              </a:path>
            </a:pathLst>
          </a:custGeom>
          <a:ln w="381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267200" y="2133600"/>
            <a:ext cx="4622800" cy="3492500"/>
            <a:chOff x="4267200" y="2133600"/>
            <a:chExt cx="4622800" cy="3492500"/>
          </a:xfrm>
        </p:grpSpPr>
        <p:sp>
          <p:nvSpPr>
            <p:cNvPr id="17" name="object 17"/>
            <p:cNvSpPr/>
            <p:nvPr/>
          </p:nvSpPr>
          <p:spPr>
            <a:xfrm>
              <a:off x="6921500" y="2730499"/>
              <a:ext cx="304800" cy="508000"/>
            </a:xfrm>
            <a:custGeom>
              <a:avLst/>
              <a:gdLst/>
              <a:ahLst/>
              <a:cxnLst/>
              <a:rect l="l" t="t" r="r" b="b"/>
              <a:pathLst>
                <a:path w="304800" h="508000">
                  <a:moveTo>
                    <a:pt x="304419" y="4521"/>
                  </a:moveTo>
                  <a:lnTo>
                    <a:pt x="299872" y="0"/>
                  </a:lnTo>
                  <a:lnTo>
                    <a:pt x="4533" y="0"/>
                  </a:lnTo>
                  <a:lnTo>
                    <a:pt x="0" y="4521"/>
                  </a:lnTo>
                  <a:lnTo>
                    <a:pt x="0" y="507885"/>
                  </a:lnTo>
                  <a:lnTo>
                    <a:pt x="9080" y="507885"/>
                  </a:lnTo>
                  <a:lnTo>
                    <a:pt x="18173" y="507885"/>
                  </a:lnTo>
                  <a:lnTo>
                    <a:pt x="18173" y="19596"/>
                  </a:lnTo>
                  <a:lnTo>
                    <a:pt x="286245" y="19596"/>
                  </a:lnTo>
                  <a:lnTo>
                    <a:pt x="286245" y="507885"/>
                  </a:lnTo>
                  <a:lnTo>
                    <a:pt x="295325" y="507885"/>
                  </a:lnTo>
                  <a:lnTo>
                    <a:pt x="304419" y="507885"/>
                  </a:lnTo>
                  <a:lnTo>
                    <a:pt x="304419" y="4521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37600" y="30861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-12700" y="6095"/>
                  </a:moveTo>
                  <a:lnTo>
                    <a:pt x="12700" y="6095"/>
                  </a:lnTo>
                </a:path>
              </a:pathLst>
            </a:custGeom>
            <a:ln w="1219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72500" y="3086099"/>
              <a:ext cx="317500" cy="152400"/>
            </a:xfrm>
            <a:custGeom>
              <a:avLst/>
              <a:gdLst/>
              <a:ahLst/>
              <a:cxnLst/>
              <a:rect l="l" t="t" r="r" b="b"/>
              <a:pathLst>
                <a:path w="317500" h="152400">
                  <a:moveTo>
                    <a:pt x="317360" y="4572"/>
                  </a:moveTo>
                  <a:lnTo>
                    <a:pt x="312648" y="0"/>
                  </a:lnTo>
                  <a:lnTo>
                    <a:pt x="4711" y="0"/>
                  </a:lnTo>
                  <a:lnTo>
                    <a:pt x="0" y="4572"/>
                  </a:lnTo>
                  <a:lnTo>
                    <a:pt x="0" y="152400"/>
                  </a:lnTo>
                  <a:lnTo>
                    <a:pt x="10985" y="152400"/>
                  </a:lnTo>
                  <a:lnTo>
                    <a:pt x="20421" y="152400"/>
                  </a:lnTo>
                  <a:lnTo>
                    <a:pt x="20421" y="18288"/>
                  </a:lnTo>
                  <a:lnTo>
                    <a:pt x="296938" y="18288"/>
                  </a:lnTo>
                  <a:lnTo>
                    <a:pt x="296938" y="152400"/>
                  </a:lnTo>
                  <a:lnTo>
                    <a:pt x="307936" y="152400"/>
                  </a:lnTo>
                  <a:lnTo>
                    <a:pt x="317360" y="152400"/>
                  </a:lnTo>
                  <a:lnTo>
                    <a:pt x="317360" y="457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13600" y="3088639"/>
              <a:ext cx="1400810" cy="19050"/>
            </a:xfrm>
            <a:custGeom>
              <a:avLst/>
              <a:gdLst/>
              <a:ahLst/>
              <a:cxnLst/>
              <a:rect l="l" t="t" r="r" b="b"/>
              <a:pathLst>
                <a:path w="1400809" h="19050">
                  <a:moveTo>
                    <a:pt x="1400759" y="10160"/>
                  </a:moveTo>
                  <a:lnTo>
                    <a:pt x="1400556" y="10160"/>
                  </a:lnTo>
                  <a:lnTo>
                    <a:pt x="1400556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9050"/>
                  </a:lnTo>
                  <a:lnTo>
                    <a:pt x="1400759" y="19050"/>
                  </a:lnTo>
                  <a:lnTo>
                    <a:pt x="1400759" y="1016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5854" y="3022600"/>
              <a:ext cx="145545" cy="15188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533900" y="3024873"/>
              <a:ext cx="3289935" cy="213360"/>
            </a:xfrm>
            <a:custGeom>
              <a:avLst/>
              <a:gdLst/>
              <a:ahLst/>
              <a:cxnLst/>
              <a:rect l="l" t="t" r="r" b="b"/>
              <a:pathLst>
                <a:path w="3289934" h="213360">
                  <a:moveTo>
                    <a:pt x="3272529" y="0"/>
                  </a:moveTo>
                  <a:lnTo>
                    <a:pt x="0" y="213137"/>
                  </a:lnTo>
                  <a:lnTo>
                    <a:pt x="294016" y="213137"/>
                  </a:lnTo>
                  <a:lnTo>
                    <a:pt x="3272678" y="19138"/>
                  </a:lnTo>
                  <a:lnTo>
                    <a:pt x="3289382" y="8100"/>
                  </a:lnTo>
                  <a:lnTo>
                    <a:pt x="3272529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2923" y="2984500"/>
              <a:ext cx="108224" cy="10550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267200" y="2167883"/>
              <a:ext cx="2173605" cy="575310"/>
            </a:xfrm>
            <a:custGeom>
              <a:avLst/>
              <a:gdLst/>
              <a:ahLst/>
              <a:cxnLst/>
              <a:rect l="l" t="t" r="r" b="b"/>
              <a:pathLst>
                <a:path w="2173604" h="575310">
                  <a:moveTo>
                    <a:pt x="2156261" y="0"/>
                  </a:moveTo>
                  <a:lnTo>
                    <a:pt x="0" y="556964"/>
                  </a:lnTo>
                  <a:lnTo>
                    <a:pt x="4573" y="575063"/>
                  </a:lnTo>
                  <a:lnTo>
                    <a:pt x="2159213" y="18517"/>
                  </a:lnTo>
                  <a:lnTo>
                    <a:pt x="2173118" y="4763"/>
                  </a:lnTo>
                  <a:lnTo>
                    <a:pt x="2156261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3905" y="2133600"/>
              <a:ext cx="112840" cy="1070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921500" y="3238500"/>
              <a:ext cx="18415" cy="1955800"/>
            </a:xfrm>
            <a:custGeom>
              <a:avLst/>
              <a:gdLst/>
              <a:ahLst/>
              <a:cxnLst/>
              <a:rect l="l" t="t" r="r" b="b"/>
              <a:pathLst>
                <a:path w="18415" h="1955800">
                  <a:moveTo>
                    <a:pt x="18173" y="0"/>
                  </a:moveTo>
                  <a:lnTo>
                    <a:pt x="0" y="0"/>
                  </a:lnTo>
                  <a:lnTo>
                    <a:pt x="0" y="1952621"/>
                  </a:lnTo>
                  <a:lnTo>
                    <a:pt x="4542" y="1955671"/>
                  </a:lnTo>
                  <a:lnTo>
                    <a:pt x="9086" y="1955671"/>
                  </a:lnTo>
                  <a:lnTo>
                    <a:pt x="9086" y="1937365"/>
                  </a:lnTo>
                  <a:lnTo>
                    <a:pt x="18173" y="1937365"/>
                  </a:lnTo>
                  <a:lnTo>
                    <a:pt x="18173" y="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73900" y="52197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0580" y="3238499"/>
              <a:ext cx="295910" cy="1955800"/>
            </a:xfrm>
            <a:custGeom>
              <a:avLst/>
              <a:gdLst/>
              <a:ahLst/>
              <a:cxnLst/>
              <a:rect l="l" t="t" r="r" b="b"/>
              <a:pathLst>
                <a:path w="295909" h="1955800">
                  <a:moveTo>
                    <a:pt x="295338" y="0"/>
                  </a:moveTo>
                  <a:lnTo>
                    <a:pt x="277164" y="0"/>
                  </a:lnTo>
                  <a:lnTo>
                    <a:pt x="277164" y="1936750"/>
                  </a:lnTo>
                  <a:lnTo>
                    <a:pt x="286245" y="1936750"/>
                  </a:lnTo>
                  <a:lnTo>
                    <a:pt x="286245" y="1937372"/>
                  </a:lnTo>
                  <a:lnTo>
                    <a:pt x="0" y="1937372"/>
                  </a:lnTo>
                  <a:lnTo>
                    <a:pt x="0" y="1955673"/>
                  </a:lnTo>
                  <a:lnTo>
                    <a:pt x="9093" y="1955673"/>
                  </a:lnTo>
                  <a:lnTo>
                    <a:pt x="277164" y="1955673"/>
                  </a:lnTo>
                  <a:lnTo>
                    <a:pt x="286245" y="1955673"/>
                  </a:lnTo>
                  <a:lnTo>
                    <a:pt x="286245" y="1955800"/>
                  </a:lnTo>
                  <a:lnTo>
                    <a:pt x="293433" y="1955800"/>
                  </a:lnTo>
                  <a:lnTo>
                    <a:pt x="293433" y="1951990"/>
                  </a:lnTo>
                  <a:lnTo>
                    <a:pt x="295338" y="1951990"/>
                  </a:lnTo>
                  <a:lnTo>
                    <a:pt x="295338" y="1936750"/>
                  </a:lnTo>
                  <a:lnTo>
                    <a:pt x="295338" y="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37600" y="3454272"/>
              <a:ext cx="0" cy="88900"/>
            </a:xfrm>
            <a:custGeom>
              <a:avLst/>
              <a:gdLst/>
              <a:ahLst/>
              <a:cxnLst/>
              <a:rect l="l" t="t" r="r" b="b"/>
              <a:pathLst>
                <a:path h="88900">
                  <a:moveTo>
                    <a:pt x="0" y="0"/>
                  </a:moveTo>
                  <a:lnTo>
                    <a:pt x="0" y="88899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37600" y="36195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37600" y="37973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37600" y="48641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37600" y="50419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37600" y="52197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572500" y="3238499"/>
              <a:ext cx="317500" cy="1600200"/>
            </a:xfrm>
            <a:custGeom>
              <a:avLst/>
              <a:gdLst/>
              <a:ahLst/>
              <a:cxnLst/>
              <a:rect l="l" t="t" r="r" b="b"/>
              <a:pathLst>
                <a:path w="317500" h="1600200">
                  <a:moveTo>
                    <a:pt x="317360" y="652259"/>
                  </a:moveTo>
                  <a:lnTo>
                    <a:pt x="312648" y="647700"/>
                  </a:lnTo>
                  <a:lnTo>
                    <a:pt x="296938" y="647700"/>
                  </a:lnTo>
                  <a:lnTo>
                    <a:pt x="296938" y="667448"/>
                  </a:lnTo>
                  <a:lnTo>
                    <a:pt x="296938" y="1581848"/>
                  </a:lnTo>
                  <a:lnTo>
                    <a:pt x="20421" y="1581848"/>
                  </a:lnTo>
                  <a:lnTo>
                    <a:pt x="20421" y="667448"/>
                  </a:lnTo>
                  <a:lnTo>
                    <a:pt x="296938" y="667448"/>
                  </a:lnTo>
                  <a:lnTo>
                    <a:pt x="296938" y="647700"/>
                  </a:lnTo>
                  <a:lnTo>
                    <a:pt x="4711" y="647700"/>
                  </a:lnTo>
                  <a:lnTo>
                    <a:pt x="0" y="652259"/>
                  </a:lnTo>
                  <a:lnTo>
                    <a:pt x="0" y="1595526"/>
                  </a:lnTo>
                  <a:lnTo>
                    <a:pt x="4711" y="1600073"/>
                  </a:lnTo>
                  <a:lnTo>
                    <a:pt x="10985" y="1600073"/>
                  </a:lnTo>
                  <a:lnTo>
                    <a:pt x="20421" y="1600073"/>
                  </a:lnTo>
                  <a:lnTo>
                    <a:pt x="296938" y="1600073"/>
                  </a:lnTo>
                  <a:lnTo>
                    <a:pt x="307936" y="1600073"/>
                  </a:lnTo>
                  <a:lnTo>
                    <a:pt x="312648" y="1600073"/>
                  </a:lnTo>
                  <a:lnTo>
                    <a:pt x="317360" y="1595526"/>
                  </a:lnTo>
                  <a:lnTo>
                    <a:pt x="317360" y="652259"/>
                  </a:lnTo>
                  <a:close/>
                </a:path>
                <a:path w="317500" h="1600200">
                  <a:moveTo>
                    <a:pt x="317360" y="0"/>
                  </a:moveTo>
                  <a:lnTo>
                    <a:pt x="296938" y="0"/>
                  </a:lnTo>
                  <a:lnTo>
                    <a:pt x="296938" y="209550"/>
                  </a:lnTo>
                  <a:lnTo>
                    <a:pt x="307936" y="209550"/>
                  </a:lnTo>
                  <a:lnTo>
                    <a:pt x="20421" y="209600"/>
                  </a:lnTo>
                  <a:lnTo>
                    <a:pt x="20421" y="0"/>
                  </a:lnTo>
                  <a:lnTo>
                    <a:pt x="0" y="0"/>
                  </a:lnTo>
                  <a:lnTo>
                    <a:pt x="0" y="225005"/>
                  </a:lnTo>
                  <a:lnTo>
                    <a:pt x="4711" y="228092"/>
                  </a:lnTo>
                  <a:lnTo>
                    <a:pt x="10985" y="228092"/>
                  </a:lnTo>
                  <a:lnTo>
                    <a:pt x="20421" y="228092"/>
                  </a:lnTo>
                  <a:lnTo>
                    <a:pt x="296938" y="228092"/>
                  </a:lnTo>
                  <a:lnTo>
                    <a:pt x="307936" y="228092"/>
                  </a:lnTo>
                  <a:lnTo>
                    <a:pt x="307936" y="228600"/>
                  </a:lnTo>
                  <a:lnTo>
                    <a:pt x="314769" y="228600"/>
                  </a:lnTo>
                  <a:lnTo>
                    <a:pt x="314769" y="224790"/>
                  </a:lnTo>
                  <a:lnTo>
                    <a:pt x="317360" y="224790"/>
                  </a:lnTo>
                  <a:lnTo>
                    <a:pt x="317360" y="209550"/>
                  </a:lnTo>
                  <a:lnTo>
                    <a:pt x="317360" y="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13600" y="3876039"/>
              <a:ext cx="1367790" cy="20320"/>
            </a:xfrm>
            <a:custGeom>
              <a:avLst/>
              <a:gdLst/>
              <a:ahLst/>
              <a:cxnLst/>
              <a:rect l="l" t="t" r="r" b="b"/>
              <a:pathLst>
                <a:path w="1367790" h="20320">
                  <a:moveTo>
                    <a:pt x="1367485" y="10160"/>
                  </a:moveTo>
                  <a:lnTo>
                    <a:pt x="1366774" y="10160"/>
                  </a:lnTo>
                  <a:lnTo>
                    <a:pt x="1366774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20320"/>
                  </a:lnTo>
                  <a:lnTo>
                    <a:pt x="1367485" y="20320"/>
                  </a:lnTo>
                  <a:lnTo>
                    <a:pt x="1367485" y="1016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4238" y="3822700"/>
              <a:ext cx="127161" cy="1264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073900" y="53975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67550" y="5607050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>
                  <a:moveTo>
                    <a:pt x="0" y="0"/>
                  </a:moveTo>
                  <a:lnTo>
                    <a:pt x="25275" y="0"/>
                  </a:lnTo>
                </a:path>
              </a:pathLst>
            </a:custGeom>
            <a:ln w="381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37600" y="23749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61677" y="281620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61677" y="362900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B050"/>
                </a:solidFill>
                <a:latin typeface="Microsoft Sans Serif"/>
                <a:cs typeface="Microsoft Sans Serif"/>
              </a:rPr>
              <a:t>b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13600" y="4762500"/>
            <a:ext cx="1444625" cy="127000"/>
            <a:chOff x="7213600" y="4762500"/>
            <a:chExt cx="1444625" cy="127000"/>
          </a:xfrm>
        </p:grpSpPr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3600" y="4762500"/>
              <a:ext cx="133235" cy="12674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66744" y="4825872"/>
              <a:ext cx="1282065" cy="0"/>
            </a:xfrm>
            <a:custGeom>
              <a:avLst/>
              <a:gdLst/>
              <a:ahLst/>
              <a:cxnLst/>
              <a:rect l="l" t="t" r="r" b="b"/>
              <a:pathLst>
                <a:path w="1282065">
                  <a:moveTo>
                    <a:pt x="0" y="0"/>
                  </a:moveTo>
                  <a:lnTo>
                    <a:pt x="1281827" y="0"/>
                  </a:lnTo>
                </a:path>
              </a:pathLst>
            </a:custGeom>
            <a:ln w="18107">
              <a:solidFill>
                <a:srgbClr val="93B5D2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881489" y="4544416"/>
            <a:ext cx="113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10" dirty="0">
                <a:latin typeface="Microsoft Sans Serif"/>
                <a:cs typeface="Microsoft Sans Serif"/>
              </a:rPr>
              <a:t>c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619500" y="2171700"/>
            <a:ext cx="5105398" cy="3161920"/>
            <a:chOff x="3619500" y="2171700"/>
            <a:chExt cx="5105398" cy="3161920"/>
          </a:xfrm>
        </p:grpSpPr>
        <p:sp>
          <p:nvSpPr>
            <p:cNvPr id="48" name="object 48"/>
            <p:cNvSpPr/>
            <p:nvPr/>
          </p:nvSpPr>
          <p:spPr>
            <a:xfrm>
              <a:off x="3619500" y="3238500"/>
              <a:ext cx="1219200" cy="88900"/>
            </a:xfrm>
            <a:custGeom>
              <a:avLst/>
              <a:gdLst/>
              <a:ahLst/>
              <a:cxnLst/>
              <a:rect l="l" t="t" r="r" b="b"/>
              <a:pathLst>
                <a:path w="1219200" h="88900">
                  <a:moveTo>
                    <a:pt x="1218798" y="0"/>
                  </a:moveTo>
                  <a:lnTo>
                    <a:pt x="924223" y="0"/>
                  </a:lnTo>
                  <a:lnTo>
                    <a:pt x="0" y="67289"/>
                  </a:lnTo>
                  <a:lnTo>
                    <a:pt x="1526" y="88625"/>
                  </a:lnTo>
                  <a:lnTo>
                    <a:pt x="1218798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559300" y="4326164"/>
              <a:ext cx="2486025" cy="575945"/>
            </a:xfrm>
            <a:custGeom>
              <a:avLst/>
              <a:gdLst/>
              <a:ahLst/>
              <a:cxnLst/>
              <a:rect l="l" t="t" r="r" b="b"/>
              <a:pathLst>
                <a:path w="2486025" h="575945">
                  <a:moveTo>
                    <a:pt x="2469365" y="0"/>
                  </a:moveTo>
                  <a:lnTo>
                    <a:pt x="0" y="560699"/>
                  </a:lnTo>
                  <a:lnTo>
                    <a:pt x="3039" y="575782"/>
                  </a:lnTo>
                  <a:lnTo>
                    <a:pt x="2472576" y="16875"/>
                  </a:lnTo>
                  <a:lnTo>
                    <a:pt x="2485517" y="4954"/>
                  </a:lnTo>
                  <a:lnTo>
                    <a:pt x="246936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65713" y="4292600"/>
              <a:ext cx="107932" cy="10407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114800" y="3886200"/>
              <a:ext cx="2925445" cy="1424305"/>
            </a:xfrm>
            <a:custGeom>
              <a:avLst/>
              <a:gdLst/>
              <a:ahLst/>
              <a:cxnLst/>
              <a:rect l="l" t="t" r="r" b="b"/>
              <a:pathLst>
                <a:path w="2925445" h="1424304">
                  <a:moveTo>
                    <a:pt x="9151" y="0"/>
                  </a:moveTo>
                  <a:lnTo>
                    <a:pt x="0" y="16653"/>
                  </a:lnTo>
                  <a:lnTo>
                    <a:pt x="2906773" y="1424115"/>
                  </a:lnTo>
                  <a:lnTo>
                    <a:pt x="2925309" y="1422847"/>
                  </a:lnTo>
                  <a:lnTo>
                    <a:pt x="2915244" y="1407862"/>
                  </a:lnTo>
                  <a:lnTo>
                    <a:pt x="9151" y="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59500" y="5233694"/>
              <a:ext cx="114399" cy="9992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279900" y="2211674"/>
              <a:ext cx="4205605" cy="531495"/>
            </a:xfrm>
            <a:custGeom>
              <a:avLst/>
              <a:gdLst/>
              <a:ahLst/>
              <a:cxnLst/>
              <a:rect l="l" t="t" r="r" b="b"/>
              <a:pathLst>
                <a:path w="4205605" h="531494">
                  <a:moveTo>
                    <a:pt x="4188880" y="0"/>
                  </a:moveTo>
                  <a:lnTo>
                    <a:pt x="0" y="513161"/>
                  </a:lnTo>
                  <a:lnTo>
                    <a:pt x="1520" y="531149"/>
                  </a:lnTo>
                  <a:lnTo>
                    <a:pt x="4189181" y="18322"/>
                  </a:lnTo>
                  <a:lnTo>
                    <a:pt x="4204991" y="6468"/>
                  </a:lnTo>
                  <a:lnTo>
                    <a:pt x="4188880" y="0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1660" y="2171700"/>
              <a:ext cx="109531" cy="10792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619500" y="3302000"/>
              <a:ext cx="4203700" cy="452755"/>
            </a:xfrm>
            <a:custGeom>
              <a:avLst/>
              <a:gdLst/>
              <a:ahLst/>
              <a:cxnLst/>
              <a:rect l="l" t="t" r="r" b="b"/>
              <a:pathLst>
                <a:path w="4203700" h="452754">
                  <a:moveTo>
                    <a:pt x="1520" y="0"/>
                  </a:moveTo>
                  <a:lnTo>
                    <a:pt x="0" y="18620"/>
                  </a:lnTo>
                  <a:lnTo>
                    <a:pt x="4186607" y="452625"/>
                  </a:lnTo>
                  <a:lnTo>
                    <a:pt x="4203421" y="444708"/>
                  </a:lnTo>
                  <a:lnTo>
                    <a:pt x="4188799" y="433915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51260" y="3685306"/>
              <a:ext cx="109531" cy="11173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114800" y="3886200"/>
              <a:ext cx="4575175" cy="1223645"/>
            </a:xfrm>
            <a:custGeom>
              <a:avLst/>
              <a:gdLst/>
              <a:ahLst/>
              <a:cxnLst/>
              <a:rect l="l" t="t" r="r" b="b"/>
              <a:pathLst>
                <a:path w="4575175" h="1223645">
                  <a:moveTo>
                    <a:pt x="4570" y="0"/>
                  </a:moveTo>
                  <a:lnTo>
                    <a:pt x="0" y="18213"/>
                  </a:lnTo>
                  <a:lnTo>
                    <a:pt x="4556006" y="1223439"/>
                  </a:lnTo>
                  <a:lnTo>
                    <a:pt x="4574660" y="1218463"/>
                  </a:lnTo>
                  <a:lnTo>
                    <a:pt x="4561657" y="1205510"/>
                  </a:lnTo>
                  <a:lnTo>
                    <a:pt x="4570" y="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10598" y="5036743"/>
              <a:ext cx="114300" cy="106250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2768992" y="2322118"/>
            <a:ext cx="137287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Acteurs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/</a:t>
            </a:r>
          </a:p>
          <a:p>
            <a:pPr marL="12700">
              <a:lnSpc>
                <a:spcPts val="2130"/>
              </a:lnSpc>
            </a:pPr>
            <a:r>
              <a:rPr sz="1800" spc="-35" dirty="0">
                <a:latin typeface="Calibri"/>
                <a:cs typeface="Calibri"/>
              </a:rPr>
              <a:t>Sous</a:t>
            </a:r>
            <a:r>
              <a:rPr sz="1800" spc="4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Systèmes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652739" y="3126090"/>
            <a:ext cx="9283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M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ss</a:t>
            </a:r>
            <a:r>
              <a:rPr sz="1800" spc="35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g</a:t>
            </a:r>
            <a:r>
              <a:rPr sz="1800" dirty="0">
                <a:latin typeface="Calibri"/>
                <a:cs typeface="Calibri"/>
              </a:rPr>
              <a:t>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665173" y="3706845"/>
            <a:ext cx="1220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Ligne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559300" y="4203700"/>
            <a:ext cx="4241800" cy="698500"/>
            <a:chOff x="4559300" y="4203700"/>
            <a:chExt cx="4241800" cy="698500"/>
          </a:xfrm>
        </p:grpSpPr>
        <p:sp>
          <p:nvSpPr>
            <p:cNvPr id="65" name="object 65"/>
            <p:cNvSpPr/>
            <p:nvPr/>
          </p:nvSpPr>
          <p:spPr>
            <a:xfrm>
              <a:off x="4559300" y="4241361"/>
              <a:ext cx="4210685" cy="660400"/>
            </a:xfrm>
            <a:custGeom>
              <a:avLst/>
              <a:gdLst/>
              <a:ahLst/>
              <a:cxnLst/>
              <a:rect l="l" t="t" r="r" b="b"/>
              <a:pathLst>
                <a:path w="4210684" h="660400">
                  <a:moveTo>
                    <a:pt x="4196834" y="0"/>
                  </a:moveTo>
                  <a:lnTo>
                    <a:pt x="0" y="645259"/>
                  </a:lnTo>
                  <a:lnTo>
                    <a:pt x="3041" y="660335"/>
                  </a:lnTo>
                  <a:lnTo>
                    <a:pt x="4198816" y="15006"/>
                  </a:lnTo>
                  <a:lnTo>
                    <a:pt x="4210690" y="5594"/>
                  </a:lnTo>
                  <a:lnTo>
                    <a:pt x="419683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94103" y="4203700"/>
              <a:ext cx="106488" cy="10402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2635430" y="4650568"/>
            <a:ext cx="1701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Points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de</a:t>
            </a:r>
            <a:r>
              <a:rPr sz="1800" spc="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contrôle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77787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Objets</a:t>
            </a:r>
            <a:r>
              <a:rPr spc="135" dirty="0"/>
              <a:t> </a:t>
            </a:r>
            <a:r>
              <a:rPr dirty="0"/>
              <a:t>/</a:t>
            </a:r>
            <a:r>
              <a:rPr spc="-145" dirty="0"/>
              <a:t> </a:t>
            </a:r>
            <a:r>
              <a:rPr spc="-95" dirty="0"/>
              <a:t>Acteurs</a:t>
            </a:r>
            <a:r>
              <a:rPr spc="35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70" dirty="0"/>
              <a:t>Sous</a:t>
            </a:r>
            <a:r>
              <a:rPr spc="-60" dirty="0"/>
              <a:t> </a:t>
            </a:r>
            <a:r>
              <a:rPr spc="-110" dirty="0"/>
              <a:t>Systèmes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8204" y="1752600"/>
            <a:ext cx="9170035" cy="2603277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séquence:</a:t>
            </a:r>
            <a:endParaRPr sz="2000" dirty="0">
              <a:latin typeface="Calibri"/>
              <a:cs typeface="Calibri"/>
            </a:endParaRPr>
          </a:p>
          <a:p>
            <a:pPr marL="558800" marR="568960" lvl="1" indent="-88900">
              <a:lnSpc>
                <a:spcPts val="4300"/>
              </a:lnSpc>
              <a:spcBef>
                <a:spcPts val="146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Les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objets,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acteurs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et/ou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sous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systèmes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apparaissent dans la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partie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supérieur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du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558800" marR="5080" lvl="1" indent="-88900">
              <a:lnSpc>
                <a:spcPts val="43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Ils correspondent aux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classes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participant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l’interaction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2370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</a:t>
            </a:r>
            <a:r>
              <a:rPr spc="-70" dirty="0"/>
              <a:t>e</a:t>
            </a:r>
            <a:r>
              <a:rPr spc="-55" dirty="0"/>
              <a:t>ss</a:t>
            </a:r>
            <a:r>
              <a:rPr spc="-60" dirty="0"/>
              <a:t>a</a:t>
            </a:r>
            <a:r>
              <a:rPr spc="-55" dirty="0"/>
              <a:t>g</a:t>
            </a:r>
            <a:r>
              <a:rPr spc="-75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752600"/>
            <a:ext cx="9709785" cy="28212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Représentés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rgbClr val="404040"/>
                </a:solidFill>
                <a:latin typeface="Calibri"/>
                <a:cs typeface="Calibri"/>
              </a:rPr>
              <a:t>flèches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 err="1">
                <a:solidFill>
                  <a:srgbClr val="404040"/>
                </a:solidFill>
                <a:latin typeface="Calibri"/>
                <a:cs typeface="Calibri"/>
              </a:rPr>
              <a:t>directionnelles</a:t>
            </a:r>
            <a:endParaRPr lang="fr-FR" sz="2000" dirty="0">
              <a:latin typeface="Calibri"/>
              <a:cs typeface="Calibri"/>
            </a:endParaRPr>
          </a:p>
          <a:p>
            <a:pPr marL="469900" indent="-457200">
              <a:lnSpc>
                <a:spcPct val="15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20" dirty="0" err="1">
                <a:solidFill>
                  <a:srgbClr val="404040"/>
                </a:solidFill>
                <a:latin typeface="Calibri"/>
                <a:cs typeface="Calibri"/>
              </a:rPr>
              <a:t>Représentant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 communication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entre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objets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(instances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classes)</a:t>
            </a:r>
            <a:endParaRPr lang="fr-FR" sz="2000" dirty="0">
              <a:latin typeface="Calibri"/>
              <a:cs typeface="Calibri"/>
            </a:endParaRPr>
          </a:p>
          <a:p>
            <a:pPr marL="469900" indent="-457200">
              <a:lnSpc>
                <a:spcPct val="15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30" dirty="0" err="1">
                <a:solidFill>
                  <a:srgbClr val="404040"/>
                </a:solidFill>
                <a:latin typeface="Calibri"/>
                <a:cs typeface="Calibri"/>
              </a:rPr>
              <a:t>Différents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la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relation</a:t>
            </a:r>
            <a:r>
              <a:rPr sz="20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structurelle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entre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les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classes</a:t>
            </a:r>
            <a:endParaRPr lang="fr-FR" sz="2000" dirty="0">
              <a:latin typeface="Calibri"/>
              <a:cs typeface="Calibri"/>
            </a:endParaRPr>
          </a:p>
          <a:p>
            <a:pPr marL="469900" indent="-457200">
              <a:lnSpc>
                <a:spcPct val="15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texte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sur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la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flèche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caractérise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message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envoyé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5" dirty="0" err="1">
                <a:solidFill>
                  <a:srgbClr val="404040"/>
                </a:solidFill>
                <a:latin typeface="Calibri"/>
                <a:cs typeface="Calibri"/>
              </a:rPr>
              <a:t>l’objet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 err="1">
                <a:solidFill>
                  <a:srgbClr val="404040"/>
                </a:solidFill>
                <a:latin typeface="Calibri"/>
                <a:cs typeface="Calibri"/>
              </a:rPr>
              <a:t>appelé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: nom de l’opération ou du signal invoqué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3142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110" dirty="0"/>
              <a:t> </a:t>
            </a:r>
            <a:r>
              <a:rPr spc="-9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3318" y="1924869"/>
            <a:ext cx="10345420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734">
              <a:lnSpc>
                <a:spcPct val="150000"/>
              </a:lnSpc>
              <a:spcBef>
                <a:spcPts val="100"/>
              </a:spcBef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étant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orienté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haut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vers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bas,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5" dirty="0">
                <a:solidFill>
                  <a:srgbClr val="404040"/>
                </a:solidFill>
                <a:latin typeface="Calibri"/>
                <a:cs typeface="Calibri"/>
              </a:rPr>
              <a:t>l’ordre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45" dirty="0">
                <a:solidFill>
                  <a:srgbClr val="404040"/>
                </a:solidFill>
                <a:latin typeface="Calibri"/>
                <a:cs typeface="Calibri"/>
              </a:rPr>
              <a:t>d’apparition</a:t>
            </a:r>
            <a:r>
              <a:rPr lang="fr-FR" sz="2000" spc="2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lang="fr-FR"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représente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5" dirty="0">
                <a:solidFill>
                  <a:srgbClr val="404040"/>
                </a:solidFill>
                <a:latin typeface="Calibri"/>
                <a:cs typeface="Calibri"/>
              </a:rPr>
              <a:t>l’ordre </a:t>
            </a:r>
            <a:r>
              <a:rPr lang="fr-FR" sz="2000" spc="-80" dirty="0">
                <a:solidFill>
                  <a:srgbClr val="404040"/>
                </a:solidFill>
                <a:latin typeface="Calibri"/>
                <a:cs typeface="Calibri"/>
              </a:rPr>
              <a:t>d’appel.</a:t>
            </a:r>
          </a:p>
          <a:p>
            <a:pPr marL="431800" indent="-419734">
              <a:lnSpc>
                <a:spcPct val="150000"/>
              </a:lnSpc>
              <a:spcBef>
                <a:spcPts val="100"/>
              </a:spcBef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objet</a:t>
            </a:r>
            <a:r>
              <a:rPr lang="fr-FR"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peut</a:t>
            </a:r>
            <a:r>
              <a:rPr lang="fr-FR" sz="2000" spc="2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envoyer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lui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même 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(ces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sont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dits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45" dirty="0">
                <a:solidFill>
                  <a:srgbClr val="404040"/>
                </a:solidFill>
                <a:latin typeface="Calibri"/>
                <a:cs typeface="Calibri"/>
              </a:rPr>
              <a:t>réflexifs).</a:t>
            </a:r>
          </a:p>
          <a:p>
            <a:pPr marL="431800" indent="-419734">
              <a:lnSpc>
                <a:spcPct val="150000"/>
              </a:lnSpc>
              <a:spcBef>
                <a:spcPts val="100"/>
              </a:spcBef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flèches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peuvent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être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orientées</a:t>
            </a:r>
            <a:r>
              <a:rPr lang="fr-FR"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lang="fr-FR"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sens 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ou</a:t>
            </a:r>
            <a:r>
              <a:rPr lang="fr-FR"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lang="fr-FR"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65" dirty="0">
                <a:solidFill>
                  <a:srgbClr val="404040"/>
                </a:solidFill>
                <a:latin typeface="Calibri"/>
                <a:cs typeface="Calibri"/>
              </a:rPr>
              <a:t>l’autre</a:t>
            </a:r>
            <a:endParaRPr lang="fr-FR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3142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110" dirty="0"/>
              <a:t> </a:t>
            </a:r>
            <a:r>
              <a:rPr spc="-9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143000"/>
            <a:ext cx="6384290" cy="529632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>
              <a:lnSpc>
                <a:spcPct val="150000"/>
              </a:lnSpc>
              <a:spcBef>
                <a:spcPts val="500"/>
              </a:spcBef>
            </a:pP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Différents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types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sz="20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200000"/>
              </a:lnSpc>
              <a:spcBef>
                <a:spcPts val="4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synchrones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200000"/>
              </a:lnSpc>
              <a:spcBef>
                <a:spcPts val="5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asynchrones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200000"/>
              </a:lnSpc>
              <a:spcBef>
                <a:spcPts val="4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 réflexifs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200000"/>
              </a:lnSpc>
              <a:spcBef>
                <a:spcPts val="4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retour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150000"/>
              </a:lnSpc>
              <a:spcBef>
                <a:spcPts val="5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endParaRPr lang="fr-FR" sz="2000" spc="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927100" lvl="1" indent="-457200">
              <a:lnSpc>
                <a:spcPct val="150000"/>
              </a:lnSpc>
              <a:spcBef>
                <a:spcPts val="5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lang="fr-FR" sz="20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conditionnel</a:t>
            </a:r>
            <a:endParaRPr lang="fr-FR" sz="2000" spc="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927100" lvl="1" indent="-457200">
              <a:lnSpc>
                <a:spcPct val="150000"/>
              </a:lnSpc>
              <a:spcBef>
                <a:spcPts val="5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création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150000"/>
              </a:lnSpc>
              <a:spcBef>
                <a:spcPts val="4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destruction</a:t>
            </a:r>
            <a:endParaRPr sz="2000" dirty="0">
              <a:latin typeface="Calibri"/>
              <a:cs typeface="Calibri"/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4953000" y="1981200"/>
            <a:ext cx="19050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5029200" y="2514600"/>
            <a:ext cx="1905000" cy="0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Forme libre 12"/>
          <p:cNvSpPr/>
          <p:nvPr/>
        </p:nvSpPr>
        <p:spPr>
          <a:xfrm rot="16200000">
            <a:off x="5724770" y="2998775"/>
            <a:ext cx="513860" cy="533401"/>
          </a:xfrm>
          <a:custGeom>
            <a:avLst/>
            <a:gdLst>
              <a:gd name="connsiteX0" fmla="*/ 0 w 1649046"/>
              <a:gd name="connsiteY0" fmla="*/ 0 h 1688123"/>
              <a:gd name="connsiteX1" fmla="*/ 15631 w 1649046"/>
              <a:gd name="connsiteY1" fmla="*/ 1688123 h 1688123"/>
              <a:gd name="connsiteX2" fmla="*/ 1649046 w 1649046"/>
              <a:gd name="connsiteY2" fmla="*/ 1656862 h 1688123"/>
              <a:gd name="connsiteX3" fmla="*/ 1609969 w 1649046"/>
              <a:gd name="connsiteY3" fmla="*/ 46893 h 1688123"/>
              <a:gd name="connsiteX0" fmla="*/ 0 w 1672492"/>
              <a:gd name="connsiteY0" fmla="*/ 0 h 1688123"/>
              <a:gd name="connsiteX1" fmla="*/ 15631 w 1672492"/>
              <a:gd name="connsiteY1" fmla="*/ 1688123 h 1688123"/>
              <a:gd name="connsiteX2" fmla="*/ 1649046 w 1672492"/>
              <a:gd name="connsiteY2" fmla="*/ 1656862 h 1688123"/>
              <a:gd name="connsiteX3" fmla="*/ 1672492 w 1672492"/>
              <a:gd name="connsiteY3" fmla="*/ 70340 h 1688123"/>
              <a:gd name="connsiteX0" fmla="*/ 0 w 1649046"/>
              <a:gd name="connsiteY0" fmla="*/ 0 h 1688123"/>
              <a:gd name="connsiteX1" fmla="*/ 15631 w 1649046"/>
              <a:gd name="connsiteY1" fmla="*/ 1688123 h 1688123"/>
              <a:gd name="connsiteX2" fmla="*/ 1649046 w 1649046"/>
              <a:gd name="connsiteY2" fmla="*/ 1656862 h 1688123"/>
              <a:gd name="connsiteX3" fmla="*/ 1633415 w 1649046"/>
              <a:gd name="connsiteY3" fmla="*/ 70340 h 168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046" h="1688123">
                <a:moveTo>
                  <a:pt x="0" y="0"/>
                </a:moveTo>
                <a:lnTo>
                  <a:pt x="15631" y="1688123"/>
                </a:lnTo>
                <a:lnTo>
                  <a:pt x="1649046" y="1656862"/>
                </a:lnTo>
                <a:lnTo>
                  <a:pt x="1633415" y="70340"/>
                </a:lnTo>
              </a:path>
            </a:pathLst>
          </a:custGeom>
          <a:ln w="28575">
            <a:headEnd type="arrow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029200" y="4038600"/>
            <a:ext cx="1905000" cy="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5189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85" dirty="0"/>
              <a:t> </a:t>
            </a:r>
            <a:r>
              <a:rPr spc="-110" dirty="0"/>
              <a:t>Synchrones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1905000"/>
            <a:ext cx="9231630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Appel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/>
                <a:cs typeface="Calibri"/>
              </a:rPr>
              <a:t>bloquant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: l’expéditeur reste bloqué tant que le destinataire n’a pas fait fin de traiter le message reçu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L’emeteur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attend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l’exécution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du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rgbClr val="404040"/>
                </a:solidFill>
                <a:latin typeface="Calibri"/>
                <a:cs typeface="Calibri"/>
              </a:rPr>
              <a:t>récepteur</a:t>
            </a:r>
            <a:endParaRPr lang="fr-FR" sz="2000" spc="-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spc="-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 messages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synchrones</a:t>
            </a:r>
            <a:r>
              <a:rPr lang="fr-FR"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peuvent</a:t>
            </a:r>
            <a:r>
              <a:rPr lang="fr-FR" sz="2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renvoyer</a:t>
            </a:r>
            <a:r>
              <a:rPr lang="fr-FR"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 de</a:t>
            </a:r>
            <a:r>
              <a:rPr lang="fr-FR"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retour</a:t>
            </a:r>
            <a:endParaRPr lang="fr-FR" sz="2000" dirty="0">
              <a:latin typeface="Calibri"/>
              <a:cs typeface="Calibri"/>
            </a:endParaRPr>
          </a:p>
          <a:p>
            <a:pPr marL="397510" indent="-385445"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dirty="0">
              <a:latin typeface="Calibri"/>
              <a:cs typeface="Calibri"/>
            </a:endParaRPr>
          </a:p>
          <a:p>
            <a:pPr marL="397510" indent="-385445"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es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ssa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s 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4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spc="-4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spc="-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1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s  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flèches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lang="fr-FR"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traits</a:t>
            </a:r>
            <a:r>
              <a:rPr lang="fr-FR" sz="20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discontinus</a:t>
            </a:r>
            <a:endParaRPr lang="fr-FR" sz="2000" dirty="0">
              <a:latin typeface="Calibri"/>
              <a:cs typeface="Calibri"/>
            </a:endParaRPr>
          </a:p>
          <a:p>
            <a:pPr marL="397510" indent="-385445"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dirty="0"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0200" y="4513850"/>
            <a:ext cx="2832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54825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75" dirty="0"/>
              <a:t> </a:t>
            </a:r>
            <a:r>
              <a:rPr spc="-110" dirty="0"/>
              <a:t>Asynchrones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676400"/>
            <a:ext cx="10193020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Appel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non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/>
                <a:cs typeface="Calibri"/>
              </a:rPr>
              <a:t>bloquant</a:t>
            </a:r>
            <a:endParaRPr lang="fr-FR" sz="200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Les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asynchrones</a:t>
            </a:r>
            <a:r>
              <a:rPr lang="fr-FR" sz="200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sont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non 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qu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spc="-4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  <a:p>
            <a:pPr marL="397510" indent="-385445"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lang="fr-FR" sz="2000" spc="20" dirty="0">
                <a:solidFill>
                  <a:srgbClr val="404040"/>
                </a:solidFill>
                <a:latin typeface="Calibri"/>
                <a:cs typeface="Calibri"/>
              </a:rPr>
              <a:t>Ils</a:t>
            </a:r>
            <a:r>
              <a:rPr lang="fr-FR"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n’attendent</a:t>
            </a:r>
            <a:r>
              <a:rPr lang="fr-FR"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pas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1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fin</a:t>
            </a:r>
            <a:r>
              <a:rPr lang="fr-FR"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lang="fr-FR"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40" dirty="0">
                <a:solidFill>
                  <a:srgbClr val="404040"/>
                </a:solidFill>
                <a:latin typeface="Calibri"/>
                <a:cs typeface="Calibri"/>
              </a:rPr>
              <a:t>l’exécution</a:t>
            </a:r>
            <a:r>
              <a:rPr lang="fr-FR"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du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récepteur</a:t>
            </a:r>
            <a:endParaRPr lang="fr-FR" sz="2000" dirty="0"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endParaRPr lang="fr-FR" sz="200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asynchrones</a:t>
            </a:r>
            <a:r>
              <a:rPr lang="fr-FR"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peuvent</a:t>
            </a:r>
            <a:r>
              <a:rPr lang="fr-FR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également</a:t>
            </a:r>
            <a:r>
              <a:rPr lang="fr-FR"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envoyer </a:t>
            </a:r>
            <a:r>
              <a:rPr lang="fr-FR" sz="2000" spc="-7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lang="fr-FR"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lang="fr-FR"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retour</a:t>
            </a:r>
            <a:endParaRPr lang="fr-FR" sz="2000" dirty="0">
              <a:latin typeface="Calibri"/>
              <a:cs typeface="Calibri"/>
            </a:endParaRPr>
          </a:p>
        </p:txBody>
      </p:sp>
      <p:pic>
        <p:nvPicPr>
          <p:cNvPr id="4" name="object 2"/>
          <p:cNvPicPr/>
          <p:nvPr/>
        </p:nvPicPr>
        <p:blipFill rotWithShape="1">
          <a:blip r:embed="rId2" cstate="print"/>
          <a:srcRect t="-1" b="59167"/>
          <a:stretch/>
        </p:blipFill>
        <p:spPr>
          <a:xfrm>
            <a:off x="6400800" y="4114800"/>
            <a:ext cx="5486400" cy="1866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0700" y="1257300"/>
            <a:ext cx="5486400" cy="4571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63011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65" dirty="0"/>
              <a:t> </a:t>
            </a:r>
            <a:r>
              <a:rPr spc="-110" dirty="0"/>
              <a:t>Asynchrones</a:t>
            </a:r>
            <a:r>
              <a:rPr spc="335" dirty="0"/>
              <a:t> </a:t>
            </a:r>
            <a:r>
              <a:rPr spc="-95" dirty="0"/>
              <a:t>(2)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4834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Messages</a:t>
            </a:r>
            <a:r>
              <a:rPr spc="-75" dirty="0"/>
              <a:t> </a:t>
            </a:r>
            <a:r>
              <a:rPr spc="-40" dirty="0"/>
              <a:t>et</a:t>
            </a:r>
            <a:r>
              <a:rPr spc="-100" dirty="0"/>
              <a:t> </a:t>
            </a:r>
            <a:r>
              <a:rPr spc="-55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828800"/>
            <a:ext cx="9683115" cy="195976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01600" marR="118110" indent="-88900">
              <a:lnSpc>
                <a:spcPct val="78800"/>
              </a:lnSpc>
              <a:spcBef>
                <a:spcPts val="1040"/>
              </a:spcBef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notion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classes</a:t>
            </a:r>
            <a:r>
              <a:rPr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correspond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aux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méthodes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sz="20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classes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1517015" indent="-88900">
              <a:lnSpc>
                <a:spcPts val="3600"/>
              </a:lnSpc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méthode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implémentée</a:t>
            </a:r>
            <a:r>
              <a:rPr sz="2000" spc="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du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coté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du </a:t>
            </a:r>
            <a:r>
              <a:rPr sz="2000" spc="-8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récepteur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5080" indent="-88900">
              <a:lnSpc>
                <a:spcPct val="78800"/>
              </a:lnSpc>
              <a:buClr>
                <a:srgbClr val="E48312"/>
              </a:buClr>
              <a:buSzPct val="97297"/>
              <a:buFont typeface="Wingdings"/>
              <a:buChar char=""/>
              <a:tabLst>
                <a:tab pos="432434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Il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aussi</a:t>
            </a:r>
            <a:r>
              <a:rPr sz="200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sz="200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préciser</a:t>
            </a:r>
            <a:r>
              <a:rPr sz="20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paramètres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 </a:t>
            </a:r>
            <a:r>
              <a:rPr sz="2000" spc="-81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l’envoi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messages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7803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Message</a:t>
            </a:r>
            <a:r>
              <a:rPr spc="-80" dirty="0"/>
              <a:t> Conditionnel</a:t>
            </a:r>
            <a:r>
              <a:rPr spc="229" dirty="0"/>
              <a:t> </a:t>
            </a:r>
            <a:r>
              <a:rPr spc="-40" dirty="0"/>
              <a:t>et</a:t>
            </a:r>
            <a:r>
              <a:rPr spc="-80" dirty="0"/>
              <a:t> </a:t>
            </a:r>
            <a:r>
              <a:rPr spc="-100" dirty="0"/>
              <a:t>Réflexif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0" y="1587500"/>
            <a:ext cx="1104900" cy="546100"/>
            <a:chOff x="5334000" y="1587500"/>
            <a:chExt cx="1104900" cy="546100"/>
          </a:xfrm>
        </p:grpSpPr>
        <p:sp>
          <p:nvSpPr>
            <p:cNvPr id="4" name="object 4"/>
            <p:cNvSpPr/>
            <p:nvPr/>
          </p:nvSpPr>
          <p:spPr>
            <a:xfrm>
              <a:off x="5918200" y="20320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0" y="1587499"/>
              <a:ext cx="1104900" cy="457200"/>
            </a:xfrm>
            <a:custGeom>
              <a:avLst/>
              <a:gdLst/>
              <a:ahLst/>
              <a:cxnLst/>
              <a:rect l="l" t="t" r="r" b="b"/>
              <a:pathLst>
                <a:path w="1104900" h="457200">
                  <a:moveTo>
                    <a:pt x="1104506" y="4635"/>
                  </a:moveTo>
                  <a:lnTo>
                    <a:pt x="1101445" y="0"/>
                  </a:lnTo>
                  <a:lnTo>
                    <a:pt x="1086129" y="0"/>
                  </a:lnTo>
                  <a:lnTo>
                    <a:pt x="1086129" y="20066"/>
                  </a:lnTo>
                  <a:lnTo>
                    <a:pt x="1086129" y="438302"/>
                  </a:lnTo>
                  <a:lnTo>
                    <a:pt x="19913" y="438302"/>
                  </a:lnTo>
                  <a:lnTo>
                    <a:pt x="19913" y="20066"/>
                  </a:lnTo>
                  <a:lnTo>
                    <a:pt x="1086129" y="20066"/>
                  </a:lnTo>
                  <a:lnTo>
                    <a:pt x="1086129" y="0"/>
                  </a:lnTo>
                  <a:lnTo>
                    <a:pt x="4584" y="0"/>
                  </a:lnTo>
                  <a:lnTo>
                    <a:pt x="0" y="4635"/>
                  </a:lnTo>
                  <a:lnTo>
                    <a:pt x="0" y="452183"/>
                  </a:lnTo>
                  <a:lnTo>
                    <a:pt x="4584" y="456819"/>
                  </a:lnTo>
                  <a:lnTo>
                    <a:pt x="9182" y="456819"/>
                  </a:lnTo>
                  <a:lnTo>
                    <a:pt x="19913" y="456819"/>
                  </a:lnTo>
                  <a:lnTo>
                    <a:pt x="1086129" y="456819"/>
                  </a:lnTo>
                  <a:lnTo>
                    <a:pt x="1095324" y="456819"/>
                  </a:lnTo>
                  <a:lnTo>
                    <a:pt x="1101445" y="456819"/>
                  </a:lnTo>
                  <a:lnTo>
                    <a:pt x="1104506" y="452183"/>
                  </a:lnTo>
                  <a:lnTo>
                    <a:pt x="1104506" y="4635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918200" y="22098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035300" y="2019300"/>
            <a:ext cx="5864225" cy="1108075"/>
            <a:chOff x="3035300" y="2019300"/>
            <a:chExt cx="5864225" cy="1108075"/>
          </a:xfrm>
        </p:grpSpPr>
        <p:sp>
          <p:nvSpPr>
            <p:cNvPr id="8" name="object 8"/>
            <p:cNvSpPr/>
            <p:nvPr/>
          </p:nvSpPr>
          <p:spPr>
            <a:xfrm>
              <a:off x="5918200" y="29210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65800" y="2387599"/>
              <a:ext cx="304800" cy="520700"/>
            </a:xfrm>
            <a:custGeom>
              <a:avLst/>
              <a:gdLst/>
              <a:ahLst/>
              <a:cxnLst/>
              <a:rect l="l" t="t" r="r" b="b"/>
              <a:pathLst>
                <a:path w="304800" h="520700">
                  <a:moveTo>
                    <a:pt x="304419" y="4559"/>
                  </a:moveTo>
                  <a:lnTo>
                    <a:pt x="299872" y="0"/>
                  </a:lnTo>
                  <a:lnTo>
                    <a:pt x="286245" y="0"/>
                  </a:lnTo>
                  <a:lnTo>
                    <a:pt x="286245" y="18199"/>
                  </a:lnTo>
                  <a:lnTo>
                    <a:pt x="286245" y="502005"/>
                  </a:lnTo>
                  <a:lnTo>
                    <a:pt x="18173" y="502005"/>
                  </a:lnTo>
                  <a:lnTo>
                    <a:pt x="18173" y="18199"/>
                  </a:lnTo>
                  <a:lnTo>
                    <a:pt x="286245" y="18199"/>
                  </a:lnTo>
                  <a:lnTo>
                    <a:pt x="286245" y="0"/>
                  </a:lnTo>
                  <a:lnTo>
                    <a:pt x="4533" y="0"/>
                  </a:lnTo>
                  <a:lnTo>
                    <a:pt x="0" y="4559"/>
                  </a:lnTo>
                  <a:lnTo>
                    <a:pt x="0" y="515645"/>
                  </a:lnTo>
                  <a:lnTo>
                    <a:pt x="4533" y="520204"/>
                  </a:lnTo>
                  <a:lnTo>
                    <a:pt x="9080" y="520204"/>
                  </a:lnTo>
                  <a:lnTo>
                    <a:pt x="18173" y="520204"/>
                  </a:lnTo>
                  <a:lnTo>
                    <a:pt x="286245" y="520204"/>
                  </a:lnTo>
                  <a:lnTo>
                    <a:pt x="295325" y="520204"/>
                  </a:lnTo>
                  <a:lnTo>
                    <a:pt x="299872" y="520204"/>
                  </a:lnTo>
                  <a:lnTo>
                    <a:pt x="304419" y="515645"/>
                  </a:lnTo>
                  <a:lnTo>
                    <a:pt x="304419" y="4559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48000" y="23876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8000" y="2385059"/>
              <a:ext cx="2682875" cy="17780"/>
            </a:xfrm>
            <a:custGeom>
              <a:avLst/>
              <a:gdLst/>
              <a:ahLst/>
              <a:cxnLst/>
              <a:rect l="l" t="t" r="r" b="b"/>
              <a:pathLst>
                <a:path w="2682875" h="17780">
                  <a:moveTo>
                    <a:pt x="2682722" y="8890"/>
                  </a:moveTo>
                  <a:lnTo>
                    <a:pt x="2681465" y="8890"/>
                  </a:lnTo>
                  <a:lnTo>
                    <a:pt x="2681465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2682722" y="17780"/>
                  </a:lnTo>
                  <a:lnTo>
                    <a:pt x="2682722" y="889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3708" y="2324100"/>
              <a:ext cx="144410" cy="1392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48000" y="25654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8000" y="27432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8000" y="29210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48000" y="20320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48000" y="22098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82025" y="3111500"/>
              <a:ext cx="314325" cy="12700"/>
            </a:xfrm>
            <a:custGeom>
              <a:avLst/>
              <a:gdLst/>
              <a:ahLst/>
              <a:cxnLst/>
              <a:rect l="l" t="t" r="r" b="b"/>
              <a:pathLst>
                <a:path w="314325" h="12700">
                  <a:moveTo>
                    <a:pt x="0" y="0"/>
                  </a:moveTo>
                  <a:lnTo>
                    <a:pt x="0" y="12700"/>
                  </a:lnTo>
                </a:path>
                <a:path w="314325" h="12700">
                  <a:moveTo>
                    <a:pt x="295017" y="6350"/>
                  </a:moveTo>
                  <a:lnTo>
                    <a:pt x="314193" y="6350"/>
                  </a:lnTo>
                </a:path>
              </a:pathLst>
            </a:custGeom>
            <a:ln w="6350">
              <a:solidFill>
                <a:srgbClr val="6B8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27494" y="1657884"/>
            <a:ext cx="5314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u="sng" spc="-9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1600" u="sng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</a:t>
            </a:r>
            <a:r>
              <a:rPr sz="1600" u="sng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r>
              <a:rPr sz="1600" u="sng" spc="-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01000" y="1587499"/>
            <a:ext cx="1460500" cy="457200"/>
          </a:xfrm>
          <a:custGeom>
            <a:avLst/>
            <a:gdLst/>
            <a:ahLst/>
            <a:cxnLst/>
            <a:rect l="l" t="t" r="r" b="b"/>
            <a:pathLst>
              <a:path w="1460500" h="457200">
                <a:moveTo>
                  <a:pt x="1459979" y="4635"/>
                </a:moveTo>
                <a:lnTo>
                  <a:pt x="1455407" y="0"/>
                </a:lnTo>
                <a:lnTo>
                  <a:pt x="1440167" y="0"/>
                </a:lnTo>
                <a:lnTo>
                  <a:pt x="1440167" y="20066"/>
                </a:lnTo>
                <a:lnTo>
                  <a:pt x="1440167" y="438302"/>
                </a:lnTo>
                <a:lnTo>
                  <a:pt x="19799" y="438302"/>
                </a:lnTo>
                <a:lnTo>
                  <a:pt x="19799" y="20066"/>
                </a:lnTo>
                <a:lnTo>
                  <a:pt x="1440167" y="20066"/>
                </a:lnTo>
                <a:lnTo>
                  <a:pt x="1440167" y="0"/>
                </a:lnTo>
                <a:lnTo>
                  <a:pt x="4559" y="0"/>
                </a:lnTo>
                <a:lnTo>
                  <a:pt x="0" y="4635"/>
                </a:lnTo>
                <a:lnTo>
                  <a:pt x="0" y="452183"/>
                </a:lnTo>
                <a:lnTo>
                  <a:pt x="4559" y="456819"/>
                </a:lnTo>
                <a:lnTo>
                  <a:pt x="10655" y="456819"/>
                </a:lnTo>
                <a:lnTo>
                  <a:pt x="19799" y="456819"/>
                </a:lnTo>
                <a:lnTo>
                  <a:pt x="1440167" y="456819"/>
                </a:lnTo>
                <a:lnTo>
                  <a:pt x="1450835" y="456819"/>
                </a:lnTo>
                <a:lnTo>
                  <a:pt x="1455407" y="456819"/>
                </a:lnTo>
                <a:lnTo>
                  <a:pt x="1459979" y="452183"/>
                </a:lnTo>
                <a:lnTo>
                  <a:pt x="1459979" y="4635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39273" y="1641628"/>
            <a:ext cx="58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180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</a:t>
            </a:r>
            <a:r>
              <a:rPr sz="1800" u="heavy" spc="-10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:</a:t>
            </a:r>
            <a:r>
              <a:rPr sz="1800" u="heavy" spc="-20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737600" y="20320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737600" y="22098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37600" y="23876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37600" y="2565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737600" y="27432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37600" y="29210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344543" y="2109496"/>
            <a:ext cx="2221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Microsoft Sans Serif"/>
                <a:cs typeface="Microsoft Sans Serif"/>
              </a:rPr>
              <a:t>[condition]:Operation1()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08351" y="2152168"/>
            <a:ext cx="1104265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88900">
              <a:lnSpc>
                <a:spcPct val="101899"/>
              </a:lnSpc>
              <a:spcBef>
                <a:spcPts val="55"/>
              </a:spcBef>
            </a:pPr>
            <a:r>
              <a:rPr sz="1800" spc="-155" dirty="0">
                <a:solidFill>
                  <a:srgbClr val="00B0F0"/>
                </a:solidFill>
                <a:latin typeface="Microsoft Sans Serif"/>
                <a:cs typeface="Microsoft Sans Serif"/>
              </a:rPr>
              <a:t>Messages </a:t>
            </a:r>
            <a:r>
              <a:rPr sz="1800" spc="-150" dirty="0">
                <a:solidFill>
                  <a:srgbClr val="00B0F0"/>
                </a:solidFill>
                <a:latin typeface="Microsoft Sans Serif"/>
                <a:cs typeface="Microsoft Sans Serif"/>
              </a:rPr>
              <a:t> </a:t>
            </a:r>
            <a:r>
              <a:rPr sz="1800" spc="-204" dirty="0">
                <a:solidFill>
                  <a:srgbClr val="00B0F0"/>
                </a:solidFill>
                <a:latin typeface="Microsoft Sans Serif"/>
                <a:cs typeface="Microsoft Sans Serif"/>
              </a:rPr>
              <a:t>c</a:t>
            </a:r>
            <a:r>
              <a:rPr sz="1800" spc="-160" dirty="0">
                <a:solidFill>
                  <a:srgbClr val="00B0F0"/>
                </a:solidFill>
                <a:latin typeface="Microsoft Sans Serif"/>
                <a:cs typeface="Microsoft Sans Serif"/>
              </a:rPr>
              <a:t>o</a:t>
            </a:r>
            <a:r>
              <a:rPr sz="1800" spc="-150" dirty="0">
                <a:solidFill>
                  <a:srgbClr val="00B0F0"/>
                </a:solidFill>
                <a:latin typeface="Microsoft Sans Serif"/>
                <a:cs typeface="Microsoft Sans Serif"/>
              </a:rPr>
              <a:t>n</a:t>
            </a: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d</a:t>
            </a:r>
            <a:r>
              <a:rPr sz="1800" spc="-15" dirty="0">
                <a:solidFill>
                  <a:srgbClr val="00B0F0"/>
                </a:solidFill>
                <a:latin typeface="Microsoft Sans Serif"/>
                <a:cs typeface="Microsoft Sans Serif"/>
              </a:rPr>
              <a:t>i</a:t>
            </a: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t</a:t>
            </a:r>
            <a:r>
              <a:rPr sz="1800" spc="-15" dirty="0">
                <a:solidFill>
                  <a:srgbClr val="00B0F0"/>
                </a:solidFill>
                <a:latin typeface="Microsoft Sans Serif"/>
                <a:cs typeface="Microsoft Sans Serif"/>
              </a:rPr>
              <a:t>i</a:t>
            </a:r>
            <a:r>
              <a:rPr sz="1800" spc="-160" dirty="0">
                <a:solidFill>
                  <a:srgbClr val="00B0F0"/>
                </a:solidFill>
                <a:latin typeface="Microsoft Sans Serif"/>
                <a:cs typeface="Microsoft Sans Serif"/>
              </a:rPr>
              <a:t>o</a:t>
            </a:r>
            <a:r>
              <a:rPr sz="1800" spc="-150" dirty="0">
                <a:solidFill>
                  <a:srgbClr val="00B0F0"/>
                </a:solidFill>
                <a:latin typeface="Microsoft Sans Serif"/>
                <a:cs typeface="Microsoft Sans Serif"/>
              </a:rPr>
              <a:t>n</a:t>
            </a:r>
            <a:r>
              <a:rPr sz="1800" spc="-204" dirty="0">
                <a:solidFill>
                  <a:srgbClr val="00B0F0"/>
                </a:solidFill>
                <a:latin typeface="Microsoft Sans Serif"/>
                <a:cs typeface="Microsoft Sans Serif"/>
              </a:rPr>
              <a:t>n</a:t>
            </a:r>
            <a:r>
              <a:rPr sz="1800" spc="-60" dirty="0">
                <a:solidFill>
                  <a:srgbClr val="00B0F0"/>
                </a:solidFill>
                <a:latin typeface="Microsoft Sans Serif"/>
                <a:cs typeface="Microsoft Sans Serif"/>
              </a:rPr>
              <a:t>el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527300" y="1524000"/>
            <a:ext cx="1104900" cy="660400"/>
            <a:chOff x="2527300" y="1524000"/>
            <a:chExt cx="1104900" cy="660400"/>
          </a:xfrm>
        </p:grpSpPr>
        <p:sp>
          <p:nvSpPr>
            <p:cNvPr id="31" name="object 31"/>
            <p:cNvSpPr/>
            <p:nvPr/>
          </p:nvSpPr>
          <p:spPr>
            <a:xfrm>
              <a:off x="2679700" y="2036648"/>
              <a:ext cx="863600" cy="147320"/>
            </a:xfrm>
            <a:custGeom>
              <a:avLst/>
              <a:gdLst/>
              <a:ahLst/>
              <a:cxnLst/>
              <a:rect l="l" t="t" r="r" b="b"/>
              <a:pathLst>
                <a:path w="863600" h="147319">
                  <a:moveTo>
                    <a:pt x="332007" y="0"/>
                  </a:moveTo>
                  <a:lnTo>
                    <a:pt x="300024" y="1550"/>
                  </a:lnTo>
                  <a:lnTo>
                    <a:pt x="284794" y="1550"/>
                  </a:lnTo>
                  <a:lnTo>
                    <a:pt x="269565" y="3100"/>
                  </a:lnTo>
                  <a:lnTo>
                    <a:pt x="214737" y="9298"/>
                  </a:lnTo>
                  <a:lnTo>
                    <a:pt x="147727" y="26347"/>
                  </a:lnTo>
                  <a:lnTo>
                    <a:pt x="111175" y="41845"/>
                  </a:lnTo>
                  <a:lnTo>
                    <a:pt x="67010" y="71292"/>
                  </a:lnTo>
                  <a:lnTo>
                    <a:pt x="31981" y="105388"/>
                  </a:lnTo>
                  <a:lnTo>
                    <a:pt x="21320" y="116238"/>
                  </a:lnTo>
                  <a:lnTo>
                    <a:pt x="0" y="139485"/>
                  </a:lnTo>
                  <a:lnTo>
                    <a:pt x="7613" y="147233"/>
                  </a:lnTo>
                  <a:lnTo>
                    <a:pt x="38073" y="111588"/>
                  </a:lnTo>
                  <a:lnTo>
                    <a:pt x="50256" y="100738"/>
                  </a:lnTo>
                  <a:lnTo>
                    <a:pt x="86808" y="69742"/>
                  </a:lnTo>
                  <a:lnTo>
                    <a:pt x="134020" y="43395"/>
                  </a:lnTo>
                  <a:lnTo>
                    <a:pt x="172095" y="29447"/>
                  </a:lnTo>
                  <a:lnTo>
                    <a:pt x="216260" y="18597"/>
                  </a:lnTo>
                  <a:lnTo>
                    <a:pt x="269565" y="12399"/>
                  </a:lnTo>
                  <a:lnTo>
                    <a:pt x="284794" y="12399"/>
                  </a:lnTo>
                  <a:lnTo>
                    <a:pt x="300024" y="10848"/>
                  </a:lnTo>
                  <a:lnTo>
                    <a:pt x="367035" y="10848"/>
                  </a:lnTo>
                  <a:lnTo>
                    <a:pt x="403586" y="13948"/>
                  </a:lnTo>
                  <a:lnTo>
                    <a:pt x="441660" y="15499"/>
                  </a:lnTo>
                  <a:lnTo>
                    <a:pt x="481257" y="20148"/>
                  </a:lnTo>
                  <a:lnTo>
                    <a:pt x="522377" y="23247"/>
                  </a:lnTo>
                  <a:lnTo>
                    <a:pt x="566544" y="29447"/>
                  </a:lnTo>
                  <a:lnTo>
                    <a:pt x="609187" y="34096"/>
                  </a:lnTo>
                  <a:lnTo>
                    <a:pt x="700566" y="46494"/>
                  </a:lnTo>
                  <a:lnTo>
                    <a:pt x="747777" y="54244"/>
                  </a:lnTo>
                  <a:lnTo>
                    <a:pt x="794989" y="60443"/>
                  </a:lnTo>
                  <a:lnTo>
                    <a:pt x="842201" y="68192"/>
                  </a:lnTo>
                  <a:lnTo>
                    <a:pt x="859237" y="70670"/>
                  </a:lnTo>
                  <a:lnTo>
                    <a:pt x="863523" y="66643"/>
                  </a:lnTo>
                  <a:lnTo>
                    <a:pt x="860579" y="61344"/>
                  </a:lnTo>
                  <a:lnTo>
                    <a:pt x="843724" y="58893"/>
                  </a:lnTo>
                  <a:lnTo>
                    <a:pt x="749301" y="43395"/>
                  </a:lnTo>
                  <a:lnTo>
                    <a:pt x="702089" y="37195"/>
                  </a:lnTo>
                  <a:lnTo>
                    <a:pt x="610709" y="24798"/>
                  </a:lnTo>
                  <a:lnTo>
                    <a:pt x="566544" y="18597"/>
                  </a:lnTo>
                  <a:lnTo>
                    <a:pt x="482780" y="9298"/>
                  </a:lnTo>
                  <a:lnTo>
                    <a:pt x="403586" y="3100"/>
                  </a:lnTo>
                  <a:lnTo>
                    <a:pt x="332007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3827" y="2032000"/>
              <a:ext cx="135544" cy="12708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527300" y="1523999"/>
              <a:ext cx="1104900" cy="444500"/>
            </a:xfrm>
            <a:custGeom>
              <a:avLst/>
              <a:gdLst/>
              <a:ahLst/>
              <a:cxnLst/>
              <a:rect l="l" t="t" r="r" b="b"/>
              <a:pathLst>
                <a:path w="1104900" h="444500">
                  <a:moveTo>
                    <a:pt x="1104773" y="4508"/>
                  </a:moveTo>
                  <a:lnTo>
                    <a:pt x="1100175" y="0"/>
                  </a:lnTo>
                  <a:lnTo>
                    <a:pt x="1084872" y="0"/>
                  </a:lnTo>
                  <a:lnTo>
                    <a:pt x="1084872" y="18008"/>
                  </a:lnTo>
                  <a:lnTo>
                    <a:pt x="1084872" y="424624"/>
                  </a:lnTo>
                  <a:lnTo>
                    <a:pt x="19888" y="424624"/>
                  </a:lnTo>
                  <a:lnTo>
                    <a:pt x="19888" y="18008"/>
                  </a:lnTo>
                  <a:lnTo>
                    <a:pt x="1084872" y="18008"/>
                  </a:lnTo>
                  <a:lnTo>
                    <a:pt x="1084872" y="0"/>
                  </a:lnTo>
                  <a:lnTo>
                    <a:pt x="4584" y="0"/>
                  </a:lnTo>
                  <a:lnTo>
                    <a:pt x="0" y="4508"/>
                  </a:lnTo>
                  <a:lnTo>
                    <a:pt x="0" y="439623"/>
                  </a:lnTo>
                  <a:lnTo>
                    <a:pt x="4584" y="444131"/>
                  </a:lnTo>
                  <a:lnTo>
                    <a:pt x="10706" y="444131"/>
                  </a:lnTo>
                  <a:lnTo>
                    <a:pt x="19888" y="444131"/>
                  </a:lnTo>
                  <a:lnTo>
                    <a:pt x="1084872" y="444131"/>
                  </a:lnTo>
                  <a:lnTo>
                    <a:pt x="1094054" y="444131"/>
                  </a:lnTo>
                  <a:lnTo>
                    <a:pt x="1100175" y="444131"/>
                  </a:lnTo>
                  <a:lnTo>
                    <a:pt x="1104773" y="439623"/>
                  </a:lnTo>
                  <a:lnTo>
                    <a:pt x="1104773" y="450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931538" y="1584733"/>
            <a:ext cx="3009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90" dirty="0">
                <a:latin typeface="Microsoft Sans Serif"/>
                <a:cs typeface="Microsoft Sans Serif"/>
              </a:rPr>
              <a:t>o</a:t>
            </a:r>
            <a:r>
              <a:rPr sz="1600" spc="-50" dirty="0">
                <a:latin typeface="Microsoft Sans Serif"/>
                <a:cs typeface="Microsoft Sans Serif"/>
              </a:rPr>
              <a:t>:</a:t>
            </a:r>
            <a:r>
              <a:rPr sz="1600" spc="-190" dirty="0">
                <a:latin typeface="Microsoft Sans Serif"/>
                <a:cs typeface="Microsoft Sans Serif"/>
              </a:rPr>
              <a:t>C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44238" y="1819683"/>
            <a:ext cx="1297305" cy="1291590"/>
            <a:chOff x="2944238" y="1819683"/>
            <a:chExt cx="1297305" cy="1291590"/>
          </a:xfrm>
        </p:grpSpPr>
        <p:sp>
          <p:nvSpPr>
            <p:cNvPr id="36" name="object 36"/>
            <p:cNvSpPr/>
            <p:nvPr/>
          </p:nvSpPr>
          <p:spPr>
            <a:xfrm>
              <a:off x="3035300" y="2387599"/>
              <a:ext cx="1206500" cy="723900"/>
            </a:xfrm>
            <a:custGeom>
              <a:avLst/>
              <a:gdLst/>
              <a:ahLst/>
              <a:cxnLst/>
              <a:rect l="l" t="t" r="r" b="b"/>
              <a:pathLst>
                <a:path w="1206500" h="723900">
                  <a:moveTo>
                    <a:pt x="7675" y="0"/>
                  </a:moveTo>
                  <a:lnTo>
                    <a:pt x="0" y="13679"/>
                  </a:lnTo>
                  <a:lnTo>
                    <a:pt x="1174262" y="723521"/>
                  </a:lnTo>
                  <a:lnTo>
                    <a:pt x="1205978" y="723521"/>
                  </a:lnTo>
                  <a:lnTo>
                    <a:pt x="7675" y="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44238" y="1819683"/>
              <a:ext cx="279400" cy="12700"/>
            </a:xfrm>
            <a:custGeom>
              <a:avLst/>
              <a:gdLst/>
              <a:ahLst/>
              <a:cxnLst/>
              <a:rect l="l" t="t" r="r" b="b"/>
              <a:pathLst>
                <a:path w="279400" h="12700">
                  <a:moveTo>
                    <a:pt x="279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79400" y="127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97270" y="2865400"/>
            <a:ext cx="2589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[</a:t>
            </a:r>
            <a:r>
              <a:rPr sz="1800" spc="-204" dirty="0">
                <a:latin typeface="Microsoft Sans Serif"/>
                <a:cs typeface="Microsoft Sans Serif"/>
              </a:rPr>
              <a:t>n</a:t>
            </a:r>
            <a:r>
              <a:rPr sz="1800" spc="-160" dirty="0">
                <a:latin typeface="Microsoft Sans Serif"/>
                <a:cs typeface="Microsoft Sans Serif"/>
              </a:rPr>
              <a:t>on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204" dirty="0">
                <a:latin typeface="Microsoft Sans Serif"/>
                <a:cs typeface="Microsoft Sans Serif"/>
              </a:rPr>
              <a:t>c</a:t>
            </a:r>
            <a:r>
              <a:rPr sz="1800" spc="-160" dirty="0">
                <a:latin typeface="Microsoft Sans Serif"/>
                <a:cs typeface="Microsoft Sans Serif"/>
              </a:rPr>
              <a:t>o</a:t>
            </a:r>
            <a:r>
              <a:rPr sz="1800" spc="-15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d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t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-160" dirty="0">
                <a:latin typeface="Microsoft Sans Serif"/>
                <a:cs typeface="Microsoft Sans Serif"/>
              </a:rPr>
              <a:t>o</a:t>
            </a:r>
            <a:r>
              <a:rPr sz="1800" spc="-15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]</a:t>
            </a:r>
            <a:r>
              <a:rPr sz="1800" spc="-105" dirty="0">
                <a:latin typeface="Microsoft Sans Serif"/>
                <a:cs typeface="Microsoft Sans Serif"/>
              </a:rPr>
              <a:t>:</a:t>
            </a:r>
            <a:r>
              <a:rPr sz="1800" spc="-5" dirty="0">
                <a:latin typeface="Microsoft Sans Serif"/>
                <a:cs typeface="Microsoft Sans Serif"/>
              </a:rPr>
              <a:t>Op</a:t>
            </a:r>
            <a:r>
              <a:rPr sz="1800" spc="-55" dirty="0">
                <a:latin typeface="Microsoft Sans Serif"/>
                <a:cs typeface="Microsoft Sans Serif"/>
              </a:rPr>
              <a:t>er</a:t>
            </a:r>
            <a:r>
              <a:rPr sz="1800" spc="-5" dirty="0">
                <a:latin typeface="Microsoft Sans Serif"/>
                <a:cs typeface="Microsoft Sans Serif"/>
              </a:rPr>
              <a:t>at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-160" dirty="0">
                <a:latin typeface="Microsoft Sans Serif"/>
                <a:cs typeface="Microsoft Sans Serif"/>
              </a:rPr>
              <a:t>o</a:t>
            </a:r>
            <a:r>
              <a:rPr sz="1800" spc="-150" dirty="0">
                <a:latin typeface="Microsoft Sans Serif"/>
                <a:cs typeface="Microsoft Sans Serif"/>
              </a:rPr>
              <a:t>n</a:t>
            </a:r>
            <a:r>
              <a:rPr sz="1800" spc="-5" dirty="0">
                <a:latin typeface="Microsoft Sans Serif"/>
                <a:cs typeface="Microsoft Sans Serif"/>
              </a:rPr>
              <a:t>2</a:t>
            </a:r>
            <a:r>
              <a:rPr sz="1800" spc="-105" dirty="0">
                <a:latin typeface="Microsoft Sans Serif"/>
                <a:cs typeface="Microsoft Sans Serif"/>
              </a:rPr>
              <a:t>(</a:t>
            </a:r>
            <a:r>
              <a:rPr sz="1800" spc="-114" dirty="0"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47747" y="1481609"/>
            <a:ext cx="76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00B0F0"/>
                </a:solidFill>
                <a:latin typeface="Microsoft Sans Serif"/>
                <a:cs typeface="Microsoft Sans Serif"/>
              </a:rPr>
              <a:t>Branche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918200" y="32766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21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18200" y="34544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18200" y="36322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2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2324100" y="1651000"/>
            <a:ext cx="6565900" cy="2082800"/>
            <a:chOff x="2324100" y="1651000"/>
            <a:chExt cx="6565900" cy="2082800"/>
          </a:xfrm>
        </p:grpSpPr>
        <p:sp>
          <p:nvSpPr>
            <p:cNvPr id="44" name="object 44"/>
            <p:cNvSpPr/>
            <p:nvPr/>
          </p:nvSpPr>
          <p:spPr>
            <a:xfrm>
              <a:off x="2324100" y="1651000"/>
              <a:ext cx="729615" cy="681990"/>
            </a:xfrm>
            <a:custGeom>
              <a:avLst/>
              <a:gdLst/>
              <a:ahLst/>
              <a:cxnLst/>
              <a:rect l="l" t="t" r="r" b="b"/>
              <a:pathLst>
                <a:path w="729614" h="681989">
                  <a:moveTo>
                    <a:pt x="133029" y="0"/>
                  </a:moveTo>
                  <a:lnTo>
                    <a:pt x="65750" y="4585"/>
                  </a:lnTo>
                  <a:lnTo>
                    <a:pt x="44343" y="7645"/>
                  </a:lnTo>
                  <a:lnTo>
                    <a:pt x="0" y="15290"/>
                  </a:lnTo>
                  <a:lnTo>
                    <a:pt x="1527" y="24466"/>
                  </a:lnTo>
                  <a:lnTo>
                    <a:pt x="88686" y="12232"/>
                  </a:lnTo>
                  <a:lnTo>
                    <a:pt x="111622" y="10703"/>
                  </a:lnTo>
                  <a:lnTo>
                    <a:pt x="155967" y="10703"/>
                  </a:lnTo>
                  <a:lnTo>
                    <a:pt x="200310" y="16819"/>
                  </a:lnTo>
                  <a:lnTo>
                    <a:pt x="221717" y="22936"/>
                  </a:lnTo>
                  <a:lnTo>
                    <a:pt x="244654" y="30582"/>
                  </a:lnTo>
                  <a:lnTo>
                    <a:pt x="255357" y="35170"/>
                  </a:lnTo>
                  <a:lnTo>
                    <a:pt x="267591" y="39757"/>
                  </a:lnTo>
                  <a:lnTo>
                    <a:pt x="278295" y="45874"/>
                  </a:lnTo>
                  <a:lnTo>
                    <a:pt x="290527" y="51991"/>
                  </a:lnTo>
                  <a:lnTo>
                    <a:pt x="301231" y="59636"/>
                  </a:lnTo>
                  <a:lnTo>
                    <a:pt x="313463" y="67283"/>
                  </a:lnTo>
                  <a:lnTo>
                    <a:pt x="324167" y="76457"/>
                  </a:lnTo>
                  <a:lnTo>
                    <a:pt x="348632" y="94808"/>
                  </a:lnTo>
                  <a:lnTo>
                    <a:pt x="383802" y="129979"/>
                  </a:lnTo>
                  <a:lnTo>
                    <a:pt x="396035" y="143742"/>
                  </a:lnTo>
                  <a:lnTo>
                    <a:pt x="406739" y="157505"/>
                  </a:lnTo>
                  <a:lnTo>
                    <a:pt x="443437" y="203380"/>
                  </a:lnTo>
                  <a:lnTo>
                    <a:pt x="504601" y="293602"/>
                  </a:lnTo>
                  <a:lnTo>
                    <a:pt x="555061" y="376177"/>
                  </a:lnTo>
                  <a:lnTo>
                    <a:pt x="579526" y="418995"/>
                  </a:lnTo>
                  <a:lnTo>
                    <a:pt x="629987" y="510745"/>
                  </a:lnTo>
                  <a:lnTo>
                    <a:pt x="720333" y="680886"/>
                  </a:lnTo>
                  <a:lnTo>
                    <a:pt x="725210" y="681805"/>
                  </a:lnTo>
                  <a:lnTo>
                    <a:pt x="726763" y="681029"/>
                  </a:lnTo>
                  <a:lnTo>
                    <a:pt x="729096" y="675830"/>
                  </a:lnTo>
                  <a:lnTo>
                    <a:pt x="714086" y="649902"/>
                  </a:lnTo>
                  <a:lnTo>
                    <a:pt x="689621" y="600967"/>
                  </a:lnTo>
                  <a:lnTo>
                    <a:pt x="663627" y="552034"/>
                  </a:lnTo>
                  <a:lnTo>
                    <a:pt x="639161" y="504629"/>
                  </a:lnTo>
                  <a:lnTo>
                    <a:pt x="613167" y="458754"/>
                  </a:lnTo>
                  <a:lnTo>
                    <a:pt x="588700" y="414407"/>
                  </a:lnTo>
                  <a:lnTo>
                    <a:pt x="538241" y="328773"/>
                  </a:lnTo>
                  <a:lnTo>
                    <a:pt x="513775" y="289013"/>
                  </a:lnTo>
                  <a:lnTo>
                    <a:pt x="487780" y="250785"/>
                  </a:lnTo>
                  <a:lnTo>
                    <a:pt x="475547" y="232435"/>
                  </a:lnTo>
                  <a:lnTo>
                    <a:pt x="463315" y="215614"/>
                  </a:lnTo>
                  <a:lnTo>
                    <a:pt x="451082" y="197264"/>
                  </a:lnTo>
                  <a:lnTo>
                    <a:pt x="414384" y="151387"/>
                  </a:lnTo>
                  <a:lnTo>
                    <a:pt x="402151" y="137626"/>
                  </a:lnTo>
                  <a:lnTo>
                    <a:pt x="391448" y="123863"/>
                  </a:lnTo>
                  <a:lnTo>
                    <a:pt x="379215" y="110100"/>
                  </a:lnTo>
                  <a:lnTo>
                    <a:pt x="366981" y="99395"/>
                  </a:lnTo>
                  <a:lnTo>
                    <a:pt x="354749" y="87162"/>
                  </a:lnTo>
                  <a:lnTo>
                    <a:pt x="342516" y="77986"/>
                  </a:lnTo>
                  <a:lnTo>
                    <a:pt x="330283" y="67283"/>
                  </a:lnTo>
                  <a:lnTo>
                    <a:pt x="319580" y="59636"/>
                  </a:lnTo>
                  <a:lnTo>
                    <a:pt x="307347" y="50462"/>
                  </a:lnTo>
                  <a:lnTo>
                    <a:pt x="295114" y="42815"/>
                  </a:lnTo>
                  <a:lnTo>
                    <a:pt x="282882" y="36699"/>
                  </a:lnTo>
                  <a:lnTo>
                    <a:pt x="272178" y="30582"/>
                  </a:lnTo>
                  <a:lnTo>
                    <a:pt x="259946" y="25995"/>
                  </a:lnTo>
                  <a:lnTo>
                    <a:pt x="247712" y="19878"/>
                  </a:lnTo>
                  <a:lnTo>
                    <a:pt x="224776" y="12232"/>
                  </a:lnTo>
                  <a:lnTo>
                    <a:pt x="178903" y="3056"/>
                  </a:lnTo>
                  <a:lnTo>
                    <a:pt x="133029" y="0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9378" y="2258085"/>
              <a:ext cx="116211" cy="14221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18200" y="30988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43400" y="3177571"/>
              <a:ext cx="4164329" cy="33020"/>
            </a:xfrm>
            <a:custGeom>
              <a:avLst/>
              <a:gdLst/>
              <a:ahLst/>
              <a:cxnLst/>
              <a:rect l="l" t="t" r="r" b="b"/>
              <a:pathLst>
                <a:path w="4164329" h="33019">
                  <a:moveTo>
                    <a:pt x="0" y="0"/>
                  </a:moveTo>
                  <a:lnTo>
                    <a:pt x="0" y="18837"/>
                  </a:lnTo>
                  <a:lnTo>
                    <a:pt x="4146555" y="32840"/>
                  </a:lnTo>
                  <a:lnTo>
                    <a:pt x="4164009" y="22762"/>
                  </a:lnTo>
                  <a:lnTo>
                    <a:pt x="4148853" y="1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37600" y="30988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-12700" y="6234"/>
                  </a:moveTo>
                  <a:lnTo>
                    <a:pt x="12700" y="6234"/>
                  </a:lnTo>
                </a:path>
              </a:pathLst>
            </a:custGeom>
            <a:ln w="12468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572500" y="3111499"/>
              <a:ext cx="317500" cy="520700"/>
            </a:xfrm>
            <a:custGeom>
              <a:avLst/>
              <a:gdLst/>
              <a:ahLst/>
              <a:cxnLst/>
              <a:rect l="l" t="t" r="r" b="b"/>
              <a:pathLst>
                <a:path w="317500" h="520700">
                  <a:moveTo>
                    <a:pt x="317360" y="0"/>
                  </a:moveTo>
                  <a:lnTo>
                    <a:pt x="296938" y="0"/>
                  </a:lnTo>
                  <a:lnTo>
                    <a:pt x="296938" y="10782"/>
                  </a:lnTo>
                  <a:lnTo>
                    <a:pt x="296938" y="500189"/>
                  </a:lnTo>
                  <a:lnTo>
                    <a:pt x="20421" y="500189"/>
                  </a:lnTo>
                  <a:lnTo>
                    <a:pt x="20421" y="10782"/>
                  </a:lnTo>
                  <a:lnTo>
                    <a:pt x="296938" y="10782"/>
                  </a:lnTo>
                  <a:lnTo>
                    <a:pt x="296938" y="0"/>
                  </a:lnTo>
                  <a:lnTo>
                    <a:pt x="0" y="0"/>
                  </a:lnTo>
                  <a:lnTo>
                    <a:pt x="0" y="515569"/>
                  </a:lnTo>
                  <a:lnTo>
                    <a:pt x="4711" y="520192"/>
                  </a:lnTo>
                  <a:lnTo>
                    <a:pt x="10985" y="520192"/>
                  </a:lnTo>
                  <a:lnTo>
                    <a:pt x="20421" y="520192"/>
                  </a:lnTo>
                  <a:lnTo>
                    <a:pt x="296938" y="520192"/>
                  </a:lnTo>
                  <a:lnTo>
                    <a:pt x="307936" y="520192"/>
                  </a:lnTo>
                  <a:lnTo>
                    <a:pt x="312648" y="520192"/>
                  </a:lnTo>
                  <a:lnTo>
                    <a:pt x="317360" y="515569"/>
                  </a:lnTo>
                  <a:lnTo>
                    <a:pt x="317360" y="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2091" y="3124200"/>
              <a:ext cx="144627" cy="15226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048000" y="30988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048000" y="32766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216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48000" y="34544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48000" y="36322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03700" y="3111500"/>
              <a:ext cx="139700" cy="76200"/>
            </a:xfrm>
            <a:custGeom>
              <a:avLst/>
              <a:gdLst/>
              <a:ahLst/>
              <a:cxnLst/>
              <a:rect l="l" t="t" r="r" b="b"/>
              <a:pathLst>
                <a:path w="139700" h="76200">
                  <a:moveTo>
                    <a:pt x="31624" y="0"/>
                  </a:moveTo>
                  <a:lnTo>
                    <a:pt x="0" y="0"/>
                  </a:lnTo>
                  <a:lnTo>
                    <a:pt x="130383" y="76076"/>
                  </a:lnTo>
                  <a:lnTo>
                    <a:pt x="139567" y="62909"/>
                  </a:lnTo>
                  <a:lnTo>
                    <a:pt x="31624" y="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5918200" y="3810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53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48000" y="3810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536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2514600" y="4038600"/>
            <a:ext cx="1473200" cy="1892300"/>
            <a:chOff x="1524000" y="4038600"/>
            <a:chExt cx="1473200" cy="1892300"/>
          </a:xfrm>
        </p:grpSpPr>
        <p:sp>
          <p:nvSpPr>
            <p:cNvPr id="59" name="object 59"/>
            <p:cNvSpPr/>
            <p:nvPr/>
          </p:nvSpPr>
          <p:spPr>
            <a:xfrm>
              <a:off x="2032000" y="4546600"/>
              <a:ext cx="0" cy="101600"/>
            </a:xfrm>
            <a:custGeom>
              <a:avLst/>
              <a:gdLst/>
              <a:ahLst/>
              <a:cxnLst/>
              <a:rect l="l" t="t" r="r" b="b"/>
              <a:pathLst>
                <a:path h="101600">
                  <a:moveTo>
                    <a:pt x="0" y="0"/>
                  </a:moveTo>
                  <a:lnTo>
                    <a:pt x="0" y="101472"/>
                  </a:lnTo>
                </a:path>
              </a:pathLst>
            </a:custGeom>
            <a:ln w="25400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32000" y="5854700"/>
              <a:ext cx="0" cy="50800"/>
            </a:xfrm>
            <a:custGeom>
              <a:avLst/>
              <a:gdLst/>
              <a:ahLst/>
              <a:cxnLst/>
              <a:rect l="l" t="t" r="r" b="b"/>
              <a:pathLst>
                <a:path h="50800">
                  <a:moveTo>
                    <a:pt x="-12700" y="25145"/>
                  </a:moveTo>
                  <a:lnTo>
                    <a:pt x="12700" y="25145"/>
                  </a:lnTo>
                </a:path>
              </a:pathLst>
            </a:custGeom>
            <a:ln w="50291">
              <a:solidFill>
                <a:srgbClr val="93B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879600" y="4686299"/>
              <a:ext cx="304800" cy="1168400"/>
            </a:xfrm>
            <a:custGeom>
              <a:avLst/>
              <a:gdLst/>
              <a:ahLst/>
              <a:cxnLst/>
              <a:rect l="l" t="t" r="r" b="b"/>
              <a:pathLst>
                <a:path w="304800" h="1168400">
                  <a:moveTo>
                    <a:pt x="304673" y="4572"/>
                  </a:moveTo>
                  <a:lnTo>
                    <a:pt x="300139" y="0"/>
                  </a:lnTo>
                  <a:lnTo>
                    <a:pt x="285064" y="0"/>
                  </a:lnTo>
                  <a:lnTo>
                    <a:pt x="285064" y="18249"/>
                  </a:lnTo>
                  <a:lnTo>
                    <a:pt x="285064" y="1149654"/>
                  </a:lnTo>
                  <a:lnTo>
                    <a:pt x="19596" y="1149654"/>
                  </a:lnTo>
                  <a:lnTo>
                    <a:pt x="19596" y="18249"/>
                  </a:lnTo>
                  <a:lnTo>
                    <a:pt x="285064" y="18249"/>
                  </a:lnTo>
                  <a:lnTo>
                    <a:pt x="285064" y="0"/>
                  </a:lnTo>
                  <a:lnTo>
                    <a:pt x="4521" y="0"/>
                  </a:lnTo>
                  <a:lnTo>
                    <a:pt x="0" y="4572"/>
                  </a:lnTo>
                  <a:lnTo>
                    <a:pt x="0" y="1163332"/>
                  </a:lnTo>
                  <a:lnTo>
                    <a:pt x="4521" y="1167904"/>
                  </a:lnTo>
                  <a:lnTo>
                    <a:pt x="9042" y="1167904"/>
                  </a:lnTo>
                  <a:lnTo>
                    <a:pt x="19596" y="1167904"/>
                  </a:lnTo>
                  <a:lnTo>
                    <a:pt x="285064" y="1167904"/>
                  </a:lnTo>
                  <a:lnTo>
                    <a:pt x="294106" y="1167904"/>
                  </a:lnTo>
                  <a:lnTo>
                    <a:pt x="300139" y="1167904"/>
                  </a:lnTo>
                  <a:lnTo>
                    <a:pt x="304673" y="1163332"/>
                  </a:lnTo>
                  <a:lnTo>
                    <a:pt x="304673" y="457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84400" y="4864100"/>
              <a:ext cx="812800" cy="825500"/>
            </a:xfrm>
            <a:custGeom>
              <a:avLst/>
              <a:gdLst/>
              <a:ahLst/>
              <a:cxnLst/>
              <a:rect l="l" t="t" r="r" b="b"/>
              <a:pathLst>
                <a:path w="812800" h="825500">
                  <a:moveTo>
                    <a:pt x="809471" y="0"/>
                  </a:moveTo>
                  <a:lnTo>
                    <a:pt x="0" y="0"/>
                  </a:lnTo>
                  <a:lnTo>
                    <a:pt x="0" y="12087"/>
                  </a:lnTo>
                  <a:lnTo>
                    <a:pt x="800254" y="12087"/>
                  </a:lnTo>
                  <a:lnTo>
                    <a:pt x="800254" y="6042"/>
                  </a:lnTo>
                  <a:lnTo>
                    <a:pt x="806399" y="12087"/>
                  </a:lnTo>
                  <a:lnTo>
                    <a:pt x="806399" y="825031"/>
                  </a:lnTo>
                  <a:lnTo>
                    <a:pt x="809471" y="825031"/>
                  </a:lnTo>
                  <a:lnTo>
                    <a:pt x="812543" y="822009"/>
                  </a:lnTo>
                  <a:lnTo>
                    <a:pt x="812543" y="3021"/>
                  </a:lnTo>
                  <a:lnTo>
                    <a:pt x="809471" y="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4400" y="5612067"/>
              <a:ext cx="135167" cy="14052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215756" y="4870145"/>
              <a:ext cx="775335" cy="819785"/>
            </a:xfrm>
            <a:custGeom>
              <a:avLst/>
              <a:gdLst/>
              <a:ahLst/>
              <a:cxnLst/>
              <a:rect l="l" t="t" r="r" b="b"/>
              <a:pathLst>
                <a:path w="775335" h="819785">
                  <a:moveTo>
                    <a:pt x="775042" y="805395"/>
                  </a:moveTo>
                  <a:lnTo>
                    <a:pt x="771715" y="808672"/>
                  </a:lnTo>
                  <a:lnTo>
                    <a:pt x="771715" y="805484"/>
                  </a:lnTo>
                  <a:lnTo>
                    <a:pt x="0" y="805484"/>
                  </a:lnTo>
                  <a:lnTo>
                    <a:pt x="0" y="811834"/>
                  </a:lnTo>
                  <a:lnTo>
                    <a:pt x="266" y="811834"/>
                  </a:lnTo>
                  <a:lnTo>
                    <a:pt x="266" y="819454"/>
                  </a:lnTo>
                  <a:lnTo>
                    <a:pt x="768896" y="819454"/>
                  </a:lnTo>
                  <a:lnTo>
                    <a:pt x="768896" y="818997"/>
                  </a:lnTo>
                  <a:lnTo>
                    <a:pt x="775042" y="818997"/>
                  </a:lnTo>
                  <a:lnTo>
                    <a:pt x="775042" y="805395"/>
                  </a:lnTo>
                  <a:close/>
                </a:path>
                <a:path w="775335" h="819785">
                  <a:moveTo>
                    <a:pt x="775042" y="6045"/>
                  </a:moveTo>
                  <a:lnTo>
                    <a:pt x="768896" y="0"/>
                  </a:lnTo>
                  <a:lnTo>
                    <a:pt x="768896" y="6045"/>
                  </a:lnTo>
                  <a:lnTo>
                    <a:pt x="768896" y="805395"/>
                  </a:lnTo>
                  <a:lnTo>
                    <a:pt x="775042" y="805395"/>
                  </a:lnTo>
                  <a:lnTo>
                    <a:pt x="775042" y="6045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24000" y="4038599"/>
              <a:ext cx="1092200" cy="457200"/>
            </a:xfrm>
            <a:custGeom>
              <a:avLst/>
              <a:gdLst/>
              <a:ahLst/>
              <a:cxnLst/>
              <a:rect l="l" t="t" r="r" b="b"/>
              <a:pathLst>
                <a:path w="1092200" h="457200">
                  <a:moveTo>
                    <a:pt x="1091806" y="4635"/>
                  </a:moveTo>
                  <a:lnTo>
                    <a:pt x="1087259" y="0"/>
                  </a:lnTo>
                  <a:lnTo>
                    <a:pt x="1073632" y="0"/>
                  </a:lnTo>
                  <a:lnTo>
                    <a:pt x="1073632" y="20066"/>
                  </a:lnTo>
                  <a:lnTo>
                    <a:pt x="1073632" y="438302"/>
                  </a:lnTo>
                  <a:lnTo>
                    <a:pt x="19672" y="438302"/>
                  </a:lnTo>
                  <a:lnTo>
                    <a:pt x="19672" y="20066"/>
                  </a:lnTo>
                  <a:lnTo>
                    <a:pt x="1073632" y="20066"/>
                  </a:lnTo>
                  <a:lnTo>
                    <a:pt x="1073632" y="0"/>
                  </a:lnTo>
                  <a:lnTo>
                    <a:pt x="4533" y="0"/>
                  </a:lnTo>
                  <a:lnTo>
                    <a:pt x="0" y="4635"/>
                  </a:lnTo>
                  <a:lnTo>
                    <a:pt x="0" y="453732"/>
                  </a:lnTo>
                  <a:lnTo>
                    <a:pt x="4533" y="456819"/>
                  </a:lnTo>
                  <a:lnTo>
                    <a:pt x="9067" y="456819"/>
                  </a:lnTo>
                  <a:lnTo>
                    <a:pt x="19672" y="456819"/>
                  </a:lnTo>
                  <a:lnTo>
                    <a:pt x="1073632" y="456819"/>
                  </a:lnTo>
                  <a:lnTo>
                    <a:pt x="1082725" y="456819"/>
                  </a:lnTo>
                  <a:lnTo>
                    <a:pt x="1087259" y="456819"/>
                  </a:lnTo>
                  <a:lnTo>
                    <a:pt x="1091806" y="453732"/>
                  </a:lnTo>
                  <a:lnTo>
                    <a:pt x="1091806" y="4635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3048000" y="59817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0"/>
                </a:moveTo>
                <a:lnTo>
                  <a:pt x="0" y="88563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048000" y="6146800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0"/>
                </a:moveTo>
                <a:lnTo>
                  <a:pt x="0" y="101473"/>
                </a:lnTo>
              </a:path>
            </a:pathLst>
          </a:custGeom>
          <a:ln w="25400">
            <a:solidFill>
              <a:srgbClr val="93B5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200400" y="4138931"/>
            <a:ext cx="2209800" cy="89026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600" u="sng" spc="-1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o:C</a:t>
            </a:r>
            <a:endParaRPr sz="1600" dirty="0">
              <a:latin typeface="Microsoft Sans Serif"/>
              <a:cs typeface="Microsoft Sans Serif"/>
            </a:endParaRPr>
          </a:p>
          <a:p>
            <a:pPr marL="1549400" marR="5080" indent="-165100" algn="r">
              <a:lnSpc>
                <a:spcPct val="101899"/>
              </a:lnSpc>
              <a:spcBef>
                <a:spcPts val="240"/>
              </a:spcBef>
            </a:pPr>
            <a:r>
              <a:rPr sz="1800" spc="-105" dirty="0">
                <a:solidFill>
                  <a:srgbClr val="00B0F0"/>
                </a:solidFill>
                <a:latin typeface="Microsoft Sans Serif"/>
                <a:cs typeface="Microsoft Sans Serif"/>
              </a:rPr>
              <a:t>M</a:t>
            </a:r>
            <a:r>
              <a:rPr sz="1800" spc="-204" dirty="0">
                <a:solidFill>
                  <a:srgbClr val="00B0F0"/>
                </a:solidFill>
                <a:latin typeface="Microsoft Sans Serif"/>
                <a:cs typeface="Microsoft Sans Serif"/>
              </a:rPr>
              <a:t>es</a:t>
            </a:r>
            <a:r>
              <a:rPr sz="1800" spc="-305" dirty="0">
                <a:solidFill>
                  <a:srgbClr val="00B0F0"/>
                </a:solidFill>
                <a:latin typeface="Microsoft Sans Serif"/>
                <a:cs typeface="Microsoft Sans Serif"/>
              </a:rPr>
              <a:t>s</a:t>
            </a: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ag</a:t>
            </a:r>
            <a:r>
              <a:rPr sz="1800" spc="-70" dirty="0">
                <a:solidFill>
                  <a:srgbClr val="00B0F0"/>
                </a:solidFill>
                <a:latin typeface="Microsoft Sans Serif"/>
                <a:cs typeface="Microsoft Sans Serif"/>
              </a:rPr>
              <a:t>e  </a:t>
            </a:r>
            <a:r>
              <a:rPr sz="1800" dirty="0">
                <a:solidFill>
                  <a:srgbClr val="00B0F0"/>
                </a:solidFill>
                <a:latin typeface="Microsoft Sans Serif"/>
                <a:cs typeface="Microsoft Sans Serif"/>
              </a:rPr>
              <a:t>r</a:t>
            </a:r>
            <a:r>
              <a:rPr sz="1800" spc="-5" dirty="0">
                <a:solidFill>
                  <a:srgbClr val="00B0F0"/>
                </a:solidFill>
                <a:latin typeface="Microsoft Sans Serif"/>
                <a:cs typeface="Microsoft Sans Serif"/>
              </a:rPr>
              <a:t>éf</a:t>
            </a:r>
            <a:r>
              <a:rPr sz="1800" spc="-15" dirty="0">
                <a:solidFill>
                  <a:srgbClr val="00B0F0"/>
                </a:solidFill>
                <a:latin typeface="Microsoft Sans Serif"/>
                <a:cs typeface="Microsoft Sans Serif"/>
              </a:rPr>
              <a:t>l</a:t>
            </a:r>
            <a:r>
              <a:rPr sz="1800" spc="-305" dirty="0">
                <a:solidFill>
                  <a:srgbClr val="00B0F0"/>
                </a:solidFill>
                <a:latin typeface="Microsoft Sans Serif"/>
                <a:cs typeface="Microsoft Sans Serif"/>
              </a:rPr>
              <a:t>e</a:t>
            </a:r>
            <a:r>
              <a:rPr sz="1800" spc="-15" dirty="0">
                <a:solidFill>
                  <a:srgbClr val="00B0F0"/>
                </a:solidFill>
                <a:latin typeface="Microsoft Sans Serif"/>
                <a:cs typeface="Microsoft Sans Serif"/>
              </a:rPr>
              <a:t>x</a:t>
            </a:r>
            <a:r>
              <a:rPr sz="1800" dirty="0">
                <a:solidFill>
                  <a:srgbClr val="00B0F0"/>
                </a:solidFill>
                <a:latin typeface="Microsoft Sans Serif"/>
                <a:cs typeface="Microsoft Sans Serif"/>
              </a:rPr>
              <a:t>i</a:t>
            </a:r>
            <a:r>
              <a:rPr sz="1800" spc="95" dirty="0">
                <a:solidFill>
                  <a:srgbClr val="00B0F0"/>
                </a:solidFill>
                <a:latin typeface="Microsoft Sans Serif"/>
                <a:cs typeface="Microsoft Sans Serif"/>
              </a:rPr>
              <a:t>f</a:t>
            </a:r>
            <a:endParaRPr sz="1800" dirty="0">
              <a:latin typeface="Microsoft Sans Serif"/>
              <a:cs typeface="Microsoft Sans Serif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62400" y="4495800"/>
            <a:ext cx="609600" cy="381000"/>
            <a:chOff x="2578100" y="4432300"/>
            <a:chExt cx="609600" cy="381000"/>
          </a:xfrm>
        </p:grpSpPr>
        <p:pic>
          <p:nvPicPr>
            <p:cNvPr id="70" name="object 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8100" y="4676442"/>
              <a:ext cx="122170" cy="13647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623007" y="4432299"/>
              <a:ext cx="564515" cy="309880"/>
            </a:xfrm>
            <a:custGeom>
              <a:avLst/>
              <a:gdLst/>
              <a:ahLst/>
              <a:cxnLst/>
              <a:rect l="l" t="t" r="r" b="b"/>
              <a:pathLst>
                <a:path w="564514" h="309879">
                  <a:moveTo>
                    <a:pt x="564438" y="90995"/>
                  </a:moveTo>
                  <a:lnTo>
                    <a:pt x="562927" y="89471"/>
                  </a:lnTo>
                  <a:lnTo>
                    <a:pt x="562927" y="87960"/>
                  </a:lnTo>
                  <a:lnTo>
                    <a:pt x="561416" y="87960"/>
                  </a:lnTo>
                  <a:lnTo>
                    <a:pt x="558406" y="84924"/>
                  </a:lnTo>
                  <a:lnTo>
                    <a:pt x="555383" y="83413"/>
                  </a:lnTo>
                  <a:lnTo>
                    <a:pt x="550862" y="83413"/>
                  </a:lnTo>
                  <a:lnTo>
                    <a:pt x="538797" y="80378"/>
                  </a:lnTo>
                  <a:lnTo>
                    <a:pt x="531253" y="77343"/>
                  </a:lnTo>
                  <a:lnTo>
                    <a:pt x="511644" y="74307"/>
                  </a:lnTo>
                  <a:lnTo>
                    <a:pt x="493547" y="69761"/>
                  </a:lnTo>
                  <a:lnTo>
                    <a:pt x="486003" y="68249"/>
                  </a:lnTo>
                  <a:lnTo>
                    <a:pt x="476948" y="66725"/>
                  </a:lnTo>
                  <a:lnTo>
                    <a:pt x="458851" y="60655"/>
                  </a:lnTo>
                  <a:lnTo>
                    <a:pt x="448297" y="57632"/>
                  </a:lnTo>
                  <a:lnTo>
                    <a:pt x="378917" y="34886"/>
                  </a:lnTo>
                  <a:lnTo>
                    <a:pt x="327634" y="19723"/>
                  </a:lnTo>
                  <a:lnTo>
                    <a:pt x="273329" y="7581"/>
                  </a:lnTo>
                  <a:lnTo>
                    <a:pt x="223558" y="0"/>
                  </a:lnTo>
                  <a:lnTo>
                    <a:pt x="199428" y="0"/>
                  </a:lnTo>
                  <a:lnTo>
                    <a:pt x="155689" y="7581"/>
                  </a:lnTo>
                  <a:lnTo>
                    <a:pt x="113461" y="33362"/>
                  </a:lnTo>
                  <a:lnTo>
                    <a:pt x="80276" y="72796"/>
                  </a:lnTo>
                  <a:lnTo>
                    <a:pt x="59156" y="113741"/>
                  </a:lnTo>
                  <a:lnTo>
                    <a:pt x="39547" y="159232"/>
                  </a:lnTo>
                  <a:lnTo>
                    <a:pt x="22961" y="210781"/>
                  </a:lnTo>
                  <a:lnTo>
                    <a:pt x="9385" y="265379"/>
                  </a:lnTo>
                  <a:lnTo>
                    <a:pt x="0" y="301612"/>
                  </a:lnTo>
                  <a:lnTo>
                    <a:pt x="4699" y="307632"/>
                  </a:lnTo>
                  <a:lnTo>
                    <a:pt x="5092" y="307721"/>
                  </a:lnTo>
                  <a:lnTo>
                    <a:pt x="12395" y="309359"/>
                  </a:lnTo>
                  <a:lnTo>
                    <a:pt x="13017" y="303733"/>
                  </a:lnTo>
                  <a:lnTo>
                    <a:pt x="13906" y="295706"/>
                  </a:lnTo>
                  <a:lnTo>
                    <a:pt x="21450" y="268414"/>
                  </a:lnTo>
                  <a:lnTo>
                    <a:pt x="35026" y="213817"/>
                  </a:lnTo>
                  <a:lnTo>
                    <a:pt x="51612" y="163779"/>
                  </a:lnTo>
                  <a:lnTo>
                    <a:pt x="69710" y="119799"/>
                  </a:lnTo>
                  <a:lnTo>
                    <a:pt x="90830" y="80378"/>
                  </a:lnTo>
                  <a:lnTo>
                    <a:pt x="114960" y="50050"/>
                  </a:lnTo>
                  <a:lnTo>
                    <a:pt x="151168" y="22745"/>
                  </a:lnTo>
                  <a:lnTo>
                    <a:pt x="188874" y="13652"/>
                  </a:lnTo>
                  <a:lnTo>
                    <a:pt x="199428" y="13652"/>
                  </a:lnTo>
                  <a:lnTo>
                    <a:pt x="209981" y="12141"/>
                  </a:lnTo>
                  <a:lnTo>
                    <a:pt x="222059" y="13652"/>
                  </a:lnTo>
                  <a:lnTo>
                    <a:pt x="246189" y="15163"/>
                  </a:lnTo>
                  <a:lnTo>
                    <a:pt x="271830" y="19723"/>
                  </a:lnTo>
                  <a:lnTo>
                    <a:pt x="323113" y="31851"/>
                  </a:lnTo>
                  <a:lnTo>
                    <a:pt x="375894" y="47015"/>
                  </a:lnTo>
                  <a:lnTo>
                    <a:pt x="445274" y="69761"/>
                  </a:lnTo>
                  <a:lnTo>
                    <a:pt x="455841" y="72796"/>
                  </a:lnTo>
                  <a:lnTo>
                    <a:pt x="473938" y="78854"/>
                  </a:lnTo>
                  <a:lnTo>
                    <a:pt x="482981" y="80378"/>
                  </a:lnTo>
                  <a:lnTo>
                    <a:pt x="490524" y="83413"/>
                  </a:lnTo>
                  <a:lnTo>
                    <a:pt x="498068" y="84924"/>
                  </a:lnTo>
                  <a:lnTo>
                    <a:pt x="519188" y="87960"/>
                  </a:lnTo>
                  <a:lnTo>
                    <a:pt x="528231" y="90995"/>
                  </a:lnTo>
                  <a:lnTo>
                    <a:pt x="535774" y="92506"/>
                  </a:lnTo>
                  <a:lnTo>
                    <a:pt x="541807" y="94018"/>
                  </a:lnTo>
                  <a:lnTo>
                    <a:pt x="546341" y="95542"/>
                  </a:lnTo>
                  <a:lnTo>
                    <a:pt x="549351" y="95542"/>
                  </a:lnTo>
                  <a:lnTo>
                    <a:pt x="552373" y="97053"/>
                  </a:lnTo>
                  <a:lnTo>
                    <a:pt x="553872" y="97053"/>
                  </a:lnTo>
                  <a:lnTo>
                    <a:pt x="552373" y="94018"/>
                  </a:lnTo>
                  <a:lnTo>
                    <a:pt x="552970" y="92202"/>
                  </a:lnTo>
                  <a:lnTo>
                    <a:pt x="553872" y="94018"/>
                  </a:lnTo>
                  <a:lnTo>
                    <a:pt x="558406" y="103124"/>
                  </a:lnTo>
                  <a:lnTo>
                    <a:pt x="559904" y="101600"/>
                  </a:lnTo>
                  <a:lnTo>
                    <a:pt x="561416" y="101600"/>
                  </a:lnTo>
                  <a:lnTo>
                    <a:pt x="561416" y="100088"/>
                  </a:lnTo>
                  <a:lnTo>
                    <a:pt x="562927" y="98577"/>
                  </a:lnTo>
                  <a:lnTo>
                    <a:pt x="564438" y="98577"/>
                  </a:lnTo>
                  <a:lnTo>
                    <a:pt x="564438" y="90995"/>
                  </a:lnTo>
                  <a:close/>
                </a:path>
              </a:pathLst>
            </a:custGeom>
            <a:solidFill>
              <a:srgbClr val="00A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5393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Ligne</a:t>
            </a:r>
            <a:r>
              <a:rPr spc="25" dirty="0"/>
              <a:t> </a:t>
            </a:r>
            <a:r>
              <a:rPr spc="-50" dirty="0"/>
              <a:t>de</a:t>
            </a:r>
            <a:r>
              <a:rPr spc="-80" dirty="0"/>
              <a:t> </a:t>
            </a:r>
            <a:r>
              <a:rPr spc="-60" dirty="0"/>
              <a:t>vie</a:t>
            </a:r>
            <a:r>
              <a:rPr spc="-75" dirty="0"/>
              <a:t> </a:t>
            </a:r>
            <a:r>
              <a:rPr spc="-95" dirty="0"/>
              <a:t>d’un</a:t>
            </a:r>
            <a:r>
              <a:rPr dirty="0"/>
              <a:t> </a:t>
            </a:r>
            <a:r>
              <a:rPr spc="-80" dirty="0"/>
              <a:t>objet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8665" y="1752600"/>
            <a:ext cx="9815195" cy="2140073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01600" marR="1391285" indent="-88900">
              <a:lnSpc>
                <a:spcPct val="71100"/>
              </a:lnSpc>
              <a:spcBef>
                <a:spcPts val="1280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Représente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durée</a:t>
            </a:r>
            <a:r>
              <a:rPr sz="20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vie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d’un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dans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sz="2000" spc="-7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séquence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600710" indent="-88900">
              <a:lnSpc>
                <a:spcPct val="71100"/>
              </a:lnSpc>
              <a:spcBef>
                <a:spcPts val="5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nouveaux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objets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peuvent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être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créés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pendant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le </a:t>
            </a:r>
            <a:r>
              <a:rPr sz="2000" spc="-7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cycle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spcBef>
                <a:spcPts val="5"/>
              </a:spcBef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objet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est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créé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quand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lui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envoyé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97510" indent="-385445">
              <a:lnSpc>
                <a:spcPct val="100000"/>
              </a:lnSpc>
              <a:buClr>
                <a:srgbClr val="E48312"/>
              </a:buClr>
              <a:buSzPct val="97058"/>
              <a:buFont typeface="Wingdings"/>
              <a:buChar char=""/>
              <a:tabLst>
                <a:tab pos="398145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ligne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correspond</a:t>
            </a:r>
            <a:r>
              <a:rPr sz="2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la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description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l’objet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00" y="2133600"/>
            <a:ext cx="4648200" cy="4038600"/>
          </a:xfrm>
          <a:prstGeom prst="rect">
            <a:avLst/>
          </a:prstGeom>
        </p:spPr>
      </p:pic>
      <p:cxnSp>
        <p:nvCxnSpPr>
          <p:cNvPr id="6" name="Connecteur droit 5"/>
          <p:cNvCxnSpPr/>
          <p:nvPr/>
        </p:nvCxnSpPr>
        <p:spPr>
          <a:xfrm>
            <a:off x="10134600" y="4724400"/>
            <a:ext cx="0" cy="129540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7296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Création</a:t>
            </a:r>
            <a:r>
              <a:rPr spc="-5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spc="-90" dirty="0"/>
              <a:t>Destruction</a:t>
            </a:r>
            <a:r>
              <a:rPr spc="200" dirty="0"/>
              <a:t> </a:t>
            </a:r>
            <a:r>
              <a:rPr spc="-130" dirty="0"/>
              <a:t>d’objets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1" y="1524000"/>
            <a:ext cx="7315199" cy="4090863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91135" indent="-179070">
              <a:lnSpc>
                <a:spcPct val="10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Arial MT"/>
              <a:buChar char="•"/>
              <a:tabLst>
                <a:tab pos="191770" algn="l"/>
              </a:tabLst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Création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ts val="4300"/>
              </a:lnSpc>
              <a:spcBef>
                <a:spcPts val="1460"/>
              </a:spcBef>
            </a:pP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En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faisant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pointer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message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création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sur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rectangle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symbolisant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l’objet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diagramme.</a:t>
            </a:r>
            <a:endParaRPr sz="2000" dirty="0">
              <a:latin typeface="Calibri"/>
              <a:cs typeface="Calibri"/>
            </a:endParaRPr>
          </a:p>
          <a:p>
            <a:pPr marL="191135" indent="-17907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SzPct val="97500"/>
              <a:buFont typeface="Arial MT"/>
              <a:buChar char="•"/>
              <a:tabLst>
                <a:tab pos="191770" algn="l"/>
              </a:tabLst>
            </a:pPr>
            <a:r>
              <a:rPr sz="2000" b="1" spc="-5" dirty="0">
                <a:solidFill>
                  <a:srgbClr val="404040"/>
                </a:solidFill>
                <a:latin typeface="Calibri"/>
                <a:cs typeface="Calibri"/>
              </a:rPr>
              <a:t>Destruction</a:t>
            </a:r>
            <a:endParaRPr lang="fr-FR" sz="2000" b="1" spc="-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91135" indent="-179070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SzPct val="97500"/>
              <a:buFont typeface="Arial MT"/>
              <a:buChar char="•"/>
              <a:tabLst>
                <a:tab pos="191770" algn="l"/>
              </a:tabLst>
            </a:pPr>
            <a:endParaRPr sz="2000" dirty="0">
              <a:latin typeface="Calibri"/>
              <a:cs typeface="Calibri"/>
            </a:endParaRPr>
          </a:p>
          <a:p>
            <a:pPr marL="393700" lvl="1" indent="-177800">
              <a:lnSpc>
                <a:spcPct val="100000"/>
              </a:lnSpc>
              <a:buClr>
                <a:srgbClr val="E48312"/>
              </a:buClr>
              <a:buFont typeface="Arial MT"/>
              <a:buChar char="•"/>
              <a:tabLst>
                <a:tab pos="3937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Représenté</a:t>
            </a:r>
            <a:r>
              <a:rPr sz="2000" spc="-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une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croix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fin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ligne</a:t>
            </a:r>
            <a:r>
              <a:rPr sz="20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vie</a:t>
            </a:r>
            <a:endParaRPr lang="fr-FR" sz="2000" spc="-2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93700" lvl="1" indent="-177800">
              <a:lnSpc>
                <a:spcPct val="100000"/>
              </a:lnSpc>
              <a:buClr>
                <a:srgbClr val="E48312"/>
              </a:buClr>
              <a:buFont typeface="Arial MT"/>
              <a:buChar char="•"/>
              <a:tabLst>
                <a:tab pos="3937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393700" lvl="1" indent="-177800">
              <a:lnSpc>
                <a:spcPct val="100000"/>
              </a:lnSpc>
              <a:spcBef>
                <a:spcPts val="180"/>
              </a:spcBef>
              <a:buClr>
                <a:srgbClr val="E48312"/>
              </a:buClr>
              <a:buFont typeface="Arial MT"/>
              <a:buChar char="•"/>
              <a:tabLst>
                <a:tab pos="3937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objet</a:t>
            </a:r>
            <a:r>
              <a:rPr sz="20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peut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s’auto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détruire</a:t>
            </a:r>
            <a:endParaRPr sz="2000" dirty="0">
              <a:latin typeface="Calibri"/>
              <a:cs typeface="Calibri"/>
            </a:endParaRPr>
          </a:p>
          <a:p>
            <a:pPr marL="393700" marR="669290" lvl="1" indent="-177800">
              <a:lnSpc>
                <a:spcPts val="3900"/>
              </a:lnSpc>
              <a:spcBef>
                <a:spcPts val="660"/>
              </a:spcBef>
              <a:buClr>
                <a:srgbClr val="E48312"/>
              </a:buClr>
              <a:buFont typeface="Arial MT"/>
              <a:buChar char="•"/>
              <a:tabLst>
                <a:tab pos="3937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objet</a:t>
            </a:r>
            <a:r>
              <a:rPr sz="20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peut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détruire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pointé </a:t>
            </a:r>
            <a:r>
              <a:rPr sz="2000" spc="-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sur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croix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1576263"/>
            <a:ext cx="4572000" cy="4038600"/>
          </a:xfrm>
          <a:prstGeom prst="rect">
            <a:avLst/>
          </a:prstGeom>
        </p:spPr>
      </p:pic>
      <p:cxnSp>
        <p:nvCxnSpPr>
          <p:cNvPr id="5" name="Connecteur droit 4"/>
          <p:cNvCxnSpPr/>
          <p:nvPr/>
        </p:nvCxnSpPr>
        <p:spPr>
          <a:xfrm>
            <a:off x="8382000" y="4090863"/>
            <a:ext cx="1143000" cy="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8382000" y="5081463"/>
            <a:ext cx="1143000" cy="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11582400" y="2719263"/>
            <a:ext cx="0" cy="45720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4784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Le</a:t>
            </a:r>
            <a:r>
              <a:rPr spc="-80" dirty="0"/>
              <a:t> </a:t>
            </a:r>
            <a:r>
              <a:rPr spc="-75" dirty="0"/>
              <a:t>point</a:t>
            </a:r>
            <a:r>
              <a:rPr spc="15" dirty="0"/>
              <a:t> </a:t>
            </a:r>
            <a:r>
              <a:rPr spc="-50" dirty="0"/>
              <a:t>de</a:t>
            </a:r>
            <a:r>
              <a:rPr spc="-80" dirty="0"/>
              <a:t> </a:t>
            </a:r>
            <a:r>
              <a:rPr spc="-95" dirty="0"/>
              <a:t>contrôle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970283"/>
            <a:ext cx="9305925" cy="166391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01600" marR="5080" indent="-88900">
              <a:lnSpc>
                <a:spcPct val="79200"/>
              </a:lnSpc>
              <a:spcBef>
                <a:spcPts val="1095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Période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pendant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laquelle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objet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effectue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une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action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1471295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La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mention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du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point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contrôle </a:t>
            </a:r>
            <a:r>
              <a:rPr sz="2000" spc="10" dirty="0" err="1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facultative</a:t>
            </a:r>
            <a:endParaRPr lang="fr-FR" sz="2000" dirty="0">
              <a:latin typeface="Calibri"/>
              <a:cs typeface="Calibri"/>
            </a:endParaRPr>
          </a:p>
          <a:p>
            <a:pPr marL="101600" marR="1471295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endParaRPr lang="fr-FR" sz="2000" spc="-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01600" marR="1471295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modélisé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graphiquement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rectangle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sur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ligne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vie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l’objet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1576263"/>
            <a:ext cx="4572000" cy="4038600"/>
          </a:xfrm>
          <a:prstGeom prst="rect">
            <a:avLst/>
          </a:prstGeom>
        </p:spPr>
      </p:pic>
      <p:cxnSp>
        <p:nvCxnSpPr>
          <p:cNvPr id="8" name="Connecteur droit 7"/>
          <p:cNvCxnSpPr/>
          <p:nvPr/>
        </p:nvCxnSpPr>
        <p:spPr>
          <a:xfrm flipH="1">
            <a:off x="11125200" y="2209800"/>
            <a:ext cx="381000" cy="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896600" y="2127358"/>
            <a:ext cx="144000" cy="2286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0896600" y="2914379"/>
            <a:ext cx="144000" cy="252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0905000" y="3634200"/>
            <a:ext cx="144000" cy="2520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198056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</a:t>
            </a:r>
            <a:r>
              <a:rPr spc="-75" dirty="0"/>
              <a:t>é</a:t>
            </a:r>
            <a:r>
              <a:rPr spc="-114" dirty="0"/>
              <a:t>v</a:t>
            </a:r>
            <a:r>
              <a:rPr spc="-65" dirty="0"/>
              <a:t>i</a:t>
            </a:r>
            <a:r>
              <a:rPr spc="-60" dirty="0"/>
              <a:t>s</a:t>
            </a:r>
            <a:r>
              <a:rPr spc="-65" dirty="0"/>
              <a:t>i</a:t>
            </a:r>
            <a:r>
              <a:rPr spc="-105" dirty="0"/>
              <a:t>o</a:t>
            </a:r>
            <a:r>
              <a:rPr dirty="0"/>
              <a:t>n</a:t>
            </a:r>
          </a:p>
        </p:txBody>
      </p:sp>
      <p:grpSp>
        <p:nvGrpSpPr>
          <p:cNvPr id="6" name="Groupe 5"/>
          <p:cNvGrpSpPr/>
          <p:nvPr/>
        </p:nvGrpSpPr>
        <p:grpSpPr>
          <a:xfrm>
            <a:off x="2286000" y="1446940"/>
            <a:ext cx="8382000" cy="4496660"/>
            <a:chOff x="2286000" y="1752600"/>
            <a:chExt cx="7659905" cy="3810000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2"/>
            <a:srcRect t="1961"/>
            <a:stretch/>
          </p:blipFill>
          <p:spPr>
            <a:xfrm>
              <a:off x="2286000" y="1752600"/>
              <a:ext cx="7659905" cy="3810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2362200" y="1752600"/>
              <a:ext cx="3886200" cy="228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19958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198056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</a:t>
            </a:r>
            <a:r>
              <a:rPr spc="-75" dirty="0"/>
              <a:t>é</a:t>
            </a:r>
            <a:r>
              <a:rPr spc="-114" dirty="0"/>
              <a:t>v</a:t>
            </a:r>
            <a:r>
              <a:rPr spc="-65" dirty="0"/>
              <a:t>i</a:t>
            </a:r>
            <a:r>
              <a:rPr spc="-60" dirty="0"/>
              <a:t>s</a:t>
            </a:r>
            <a:r>
              <a:rPr spc="-65" dirty="0"/>
              <a:t>i</a:t>
            </a:r>
            <a:r>
              <a:rPr spc="-105" dirty="0"/>
              <a:t>o</a:t>
            </a:r>
            <a:r>
              <a:rPr dirty="0"/>
              <a:t>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2900" y="1308100"/>
            <a:ext cx="6413498" cy="4927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2534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Fragments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905000"/>
            <a:ext cx="9852025" cy="142077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01600" marR="5080" indent="-88900">
              <a:lnSpc>
                <a:spcPct val="79200"/>
              </a:lnSpc>
              <a:spcBef>
                <a:spcPts val="1095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Ils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permettent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découper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diagramme</a:t>
            </a:r>
            <a:r>
              <a:rPr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8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séquence</a:t>
            </a:r>
            <a:r>
              <a:rPr sz="20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unité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101600" marR="1010919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fragments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sont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représentés</a:t>
            </a:r>
            <a:r>
              <a:rPr sz="20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dans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rectangles</a:t>
            </a:r>
            <a:endParaRPr lang="fr-FR" sz="2000" dirty="0">
              <a:latin typeface="Calibri"/>
              <a:cs typeface="Calibri"/>
            </a:endParaRPr>
          </a:p>
          <a:p>
            <a:pPr marL="101600" marR="1010919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endParaRPr lang="fr-FR" sz="2000" spc="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01600" marR="1010919" indent="-88900">
              <a:lnSpc>
                <a:spcPct val="79200"/>
              </a:lnSpc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Le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type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du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fragment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est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précisé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dans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pentagone</a:t>
            </a:r>
            <a:r>
              <a:rPr sz="20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à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l’intérieur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du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rectangle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0" y="4267200"/>
            <a:ext cx="3276600" cy="14912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6374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Fragment</a:t>
            </a:r>
            <a:r>
              <a:rPr spc="2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95" dirty="0"/>
              <a:t>Représentation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3600" y="2994620"/>
            <a:ext cx="4850753" cy="2711528"/>
            <a:chOff x="2603500" y="1796058"/>
            <a:chExt cx="5270500" cy="2941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3500" y="2133600"/>
              <a:ext cx="5270500" cy="2603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38577" y="1796058"/>
              <a:ext cx="201930" cy="1075055"/>
            </a:xfrm>
            <a:custGeom>
              <a:avLst/>
              <a:gdLst/>
              <a:ahLst/>
              <a:cxnLst/>
              <a:rect l="l" t="t" r="r" b="b"/>
              <a:pathLst>
                <a:path w="201929" h="1075055">
                  <a:moveTo>
                    <a:pt x="12545" y="0"/>
                  </a:moveTo>
                  <a:lnTo>
                    <a:pt x="0" y="1983"/>
                  </a:lnTo>
                  <a:lnTo>
                    <a:pt x="157913" y="1000380"/>
                  </a:lnTo>
                  <a:lnTo>
                    <a:pt x="126552" y="1005340"/>
                  </a:lnTo>
                  <a:lnTo>
                    <a:pt x="176089" y="1074653"/>
                  </a:lnTo>
                  <a:lnTo>
                    <a:pt x="201816" y="993435"/>
                  </a:lnTo>
                  <a:lnTo>
                    <a:pt x="170456" y="998396"/>
                  </a:lnTo>
                  <a:lnTo>
                    <a:pt x="12545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00567" y="2704797"/>
            <a:ext cx="196056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Calibri"/>
                <a:cs typeface="Calibri"/>
              </a:rPr>
              <a:t>Type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du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fragment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34579" y="2966579"/>
            <a:ext cx="3522385" cy="2977021"/>
          </a:xfrm>
          <a:custGeom>
            <a:avLst/>
            <a:gdLst/>
            <a:ahLst/>
            <a:cxnLst/>
            <a:rect l="l" t="t" r="r" b="b"/>
            <a:pathLst>
              <a:path w="4574540" h="3609340">
                <a:moveTo>
                  <a:pt x="555244" y="1980044"/>
                </a:moveTo>
                <a:lnTo>
                  <a:pt x="541642" y="1895932"/>
                </a:lnTo>
                <a:lnTo>
                  <a:pt x="482523" y="1957273"/>
                </a:lnTo>
                <a:lnTo>
                  <a:pt x="512826" y="1966760"/>
                </a:lnTo>
                <a:lnTo>
                  <a:pt x="0" y="3605276"/>
                </a:lnTo>
                <a:lnTo>
                  <a:pt x="12128" y="3609073"/>
                </a:lnTo>
                <a:lnTo>
                  <a:pt x="524941" y="1970557"/>
                </a:lnTo>
                <a:lnTo>
                  <a:pt x="555244" y="1980044"/>
                </a:lnTo>
                <a:close/>
              </a:path>
              <a:path w="4574540" h="3609340">
                <a:moveTo>
                  <a:pt x="1742795" y="7264"/>
                </a:moveTo>
                <a:lnTo>
                  <a:pt x="1732381" y="0"/>
                </a:lnTo>
                <a:lnTo>
                  <a:pt x="1098537" y="908913"/>
                </a:lnTo>
                <a:lnTo>
                  <a:pt x="1072502" y="890752"/>
                </a:lnTo>
                <a:lnTo>
                  <a:pt x="1060170" y="975042"/>
                </a:lnTo>
                <a:lnTo>
                  <a:pt x="1134999" y="934339"/>
                </a:lnTo>
                <a:lnTo>
                  <a:pt x="1108964" y="916178"/>
                </a:lnTo>
                <a:lnTo>
                  <a:pt x="1742795" y="7264"/>
                </a:lnTo>
                <a:close/>
              </a:path>
              <a:path w="4574540" h="3609340">
                <a:moveTo>
                  <a:pt x="4574070" y="1660982"/>
                </a:moveTo>
                <a:lnTo>
                  <a:pt x="3422370" y="1660994"/>
                </a:lnTo>
                <a:lnTo>
                  <a:pt x="3422370" y="1629244"/>
                </a:lnTo>
                <a:lnTo>
                  <a:pt x="3346170" y="1667344"/>
                </a:lnTo>
                <a:lnTo>
                  <a:pt x="3422370" y="1705444"/>
                </a:lnTo>
                <a:lnTo>
                  <a:pt x="3422370" y="1673694"/>
                </a:lnTo>
                <a:lnTo>
                  <a:pt x="4574070" y="1673682"/>
                </a:lnTo>
                <a:lnTo>
                  <a:pt x="4574070" y="1660982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67600" y="5961040"/>
            <a:ext cx="89957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Contenu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33164" y="4236538"/>
            <a:ext cx="161302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Fragment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combiné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83616" y="2617849"/>
            <a:ext cx="166374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(Facultatif)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05570" y="1506856"/>
            <a:ext cx="9688783" cy="536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79200"/>
              </a:lnSpc>
              <a:spcBef>
                <a:spcPts val="1095"/>
              </a:spcBef>
              <a:buClr>
                <a:srgbClr val="E48312"/>
              </a:buClr>
              <a:buSzPct val="97500"/>
              <a:tabLst>
                <a:tab pos="469900" algn="l"/>
              </a:tabLst>
            </a:pPr>
            <a:r>
              <a:rPr lang="fr-FR" spc="-20" dirty="0">
                <a:solidFill>
                  <a:srgbClr val="404040"/>
                </a:solidFill>
                <a:latin typeface="Calibri"/>
                <a:cs typeface="Calibri"/>
              </a:rPr>
              <a:t>Les fragments composés représentent les expressions spécifiques dans la séquence. Ils doivent couvrir au moins une ligne de vie à tout moment, afin d'avoir une signification.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8305800" y="2762760"/>
            <a:ext cx="0" cy="372141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734579" y="2316123"/>
            <a:ext cx="1212851" cy="3953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u="sng" dirty="0">
                <a:latin typeface="Calibri" panose="020F0502020204030204" pitchFamily="34" charset="0"/>
                <a:cs typeface="Calibri" panose="020F0502020204030204" pitchFamily="34" charset="0"/>
              </a:rPr>
              <a:t>OBJ: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46551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Types</a:t>
            </a:r>
            <a:r>
              <a:rPr spc="114" dirty="0"/>
              <a:t> </a:t>
            </a:r>
            <a:r>
              <a:rPr spc="-50" dirty="0"/>
              <a:t>de</a:t>
            </a:r>
            <a:r>
              <a:rPr spc="-95" dirty="0"/>
              <a:t> </a:t>
            </a:r>
            <a:r>
              <a:rPr spc="-85" dirty="0"/>
              <a:t>fragments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219200"/>
            <a:ext cx="11658600" cy="4847481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al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4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ér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ond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oo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ér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’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ér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4000" spc="-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4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ér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op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el</a:t>
            </a:r>
            <a:r>
              <a:rPr sz="20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469900" indent="-457200">
              <a:spcBef>
                <a:spcPts val="9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4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Exécution</a:t>
            </a:r>
            <a:r>
              <a:rPr sz="20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25" dirty="0" err="1">
                <a:solidFill>
                  <a:srgbClr val="404040"/>
                </a:solidFill>
                <a:latin typeface="Calibri"/>
                <a:cs typeface="Calibri"/>
              </a:rPr>
              <a:t>parallèle</a:t>
            </a:r>
            <a:r>
              <a:rPr lang="fr-FR" sz="3600" spc="-5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lang="fr-FR" sz="3600" spc="-9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36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3600" spc="-2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3600" dirty="0">
                <a:solidFill>
                  <a:srgbClr val="404040"/>
                </a:solidFill>
                <a:latin typeface="Calibri"/>
                <a:cs typeface="Calibri"/>
              </a:rPr>
              <a:t>k</a:t>
            </a:r>
            <a:r>
              <a:rPr lang="fr-FR" sz="36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3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lang="fr-FR"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5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lang="fr-FR" sz="2000" spc="-4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lang="fr-FR"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25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spc="-4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qu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spc="-3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-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fr-FR"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000" spc="4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lang="fr-FR" sz="2000" spc="4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nd</a:t>
            </a:r>
            <a:r>
              <a:rPr lang="fr-FR" sz="2000" spc="3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lang="fr-FR" sz="2000" spc="-6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spc="4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lang="fr-FR" sz="2000" dirty="0">
                <a:solidFill>
                  <a:srgbClr val="404040"/>
                </a:solidFill>
                <a:latin typeface="Calibri"/>
                <a:cs typeface="Calibri"/>
              </a:rPr>
              <a:t>é</a:t>
            </a:r>
            <a:endParaRPr lang="fr-FR"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4000" spc="10" dirty="0">
                <a:solidFill>
                  <a:srgbClr val="404040"/>
                </a:solidFill>
                <a:latin typeface="Calibri"/>
                <a:cs typeface="Calibri"/>
              </a:rPr>
              <a:t>seq</a:t>
            </a:r>
            <a:r>
              <a:rPr sz="4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Message</a:t>
            </a:r>
            <a:r>
              <a:rPr sz="2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d’une</a:t>
            </a:r>
            <a:r>
              <a:rPr sz="2200" spc="-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20" dirty="0">
                <a:solidFill>
                  <a:srgbClr val="404040"/>
                </a:solidFill>
                <a:latin typeface="Calibri"/>
                <a:cs typeface="Calibri"/>
              </a:rPr>
              <a:t>même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ligne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20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2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vie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35" dirty="0" err="1">
                <a:solidFill>
                  <a:srgbClr val="404040"/>
                </a:solidFill>
                <a:latin typeface="Calibri"/>
                <a:cs typeface="Calibri"/>
              </a:rPr>
              <a:t>s’execute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10" dirty="0" err="1">
                <a:solidFill>
                  <a:srgbClr val="404040"/>
                </a:solidFill>
                <a:latin typeface="Calibri"/>
                <a:cs typeface="Calibri"/>
              </a:rPr>
              <a:t>sequentiellement</a:t>
            </a:r>
            <a:endParaRPr lang="fr-FR" sz="2200" spc="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lang="fr-FR" sz="4000" spc="10" dirty="0" err="1">
                <a:solidFill>
                  <a:srgbClr val="404040"/>
                </a:solidFill>
                <a:latin typeface="Calibri"/>
                <a:cs typeface="Calibri"/>
              </a:rPr>
              <a:t>ref</a:t>
            </a:r>
            <a:r>
              <a:rPr lang="fr-FR" sz="4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4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lang="fr-FR" sz="4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fr-FR" sz="2200" spc="10" dirty="0">
                <a:solidFill>
                  <a:srgbClr val="404040"/>
                </a:solidFill>
                <a:latin typeface="Calibri"/>
                <a:cs typeface="Calibri"/>
              </a:rPr>
              <a:t>utilisé pour indiquer une référence sur un autre diagramme de séquence existant.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3215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Opérateur</a:t>
            </a:r>
            <a:r>
              <a:rPr spc="-10" dirty="0"/>
              <a:t> </a:t>
            </a:r>
            <a:r>
              <a:rPr spc="-60" dirty="0"/>
              <a:t>alt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981200"/>
            <a:ext cx="9805035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Modélise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alternatifs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(des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choix)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Se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base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sur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0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conditions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sont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spécifiés</a:t>
            </a:r>
            <a:r>
              <a:rPr sz="2000" spc="2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entre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[]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Les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alternatives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sont</a:t>
            </a:r>
            <a:r>
              <a:rPr sz="20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spécifiées</a:t>
            </a:r>
            <a:r>
              <a:rPr sz="20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dans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zones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pointillés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Une</a:t>
            </a:r>
            <a:r>
              <a:rPr sz="20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clause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[else]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peut</a:t>
            </a:r>
            <a:r>
              <a:rPr sz="200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être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spécifiée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2133600"/>
            <a:ext cx="4572000" cy="2971800"/>
          </a:xfrm>
          <a:prstGeom prst="rect">
            <a:avLst/>
          </a:prstGeom>
        </p:spPr>
      </p:pic>
      <p:cxnSp>
        <p:nvCxnSpPr>
          <p:cNvPr id="6" name="Connecteur droit 5"/>
          <p:cNvCxnSpPr/>
          <p:nvPr/>
        </p:nvCxnSpPr>
        <p:spPr>
          <a:xfrm>
            <a:off x="8001000" y="4038600"/>
            <a:ext cx="2895600" cy="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56749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Opérateur</a:t>
            </a:r>
            <a:r>
              <a:rPr spc="40" dirty="0"/>
              <a:t> </a:t>
            </a:r>
            <a:r>
              <a:rPr spc="-40" dirty="0"/>
              <a:t>alt</a:t>
            </a:r>
            <a:r>
              <a:rPr spc="-8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100" dirty="0"/>
              <a:t>Exemple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828800"/>
            <a:ext cx="6457950" cy="30831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8" y="309020"/>
            <a:ext cx="499618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 err="1"/>
              <a:t>Opérateur</a:t>
            </a:r>
            <a:r>
              <a:rPr spc="-10" dirty="0"/>
              <a:t> </a:t>
            </a:r>
            <a:r>
              <a:rPr lang="fr-FR" spc="-60" dirty="0" err="1"/>
              <a:t>opt</a:t>
            </a:r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1676400"/>
            <a:ext cx="9805035" cy="2192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L’opérateur « </a:t>
            </a:r>
            <a:r>
              <a:rPr lang="fr-FR" sz="2000" spc="-15" dirty="0" err="1">
                <a:solidFill>
                  <a:srgbClr val="404040"/>
                </a:solidFill>
                <a:latin typeface="Calibri"/>
                <a:cs typeface="Calibri"/>
              </a:rPr>
              <a:t>opt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 » désigne un choix de comportement où:</a:t>
            </a:r>
          </a:p>
          <a:p>
            <a:pPr marL="825500" lvl="1" indent="-355600">
              <a:spcBef>
                <a:spcPts val="100"/>
              </a:spcBef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Soit l’opérande seul s’exécute</a:t>
            </a:r>
          </a:p>
          <a:p>
            <a:pPr marL="825500" lvl="1" indent="-355600">
              <a:spcBef>
                <a:spcPts val="100"/>
              </a:spcBef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Soit rien ne s’exécute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Il est équivalent à SI … ALORS … , il est équivalent à un « </a:t>
            </a:r>
            <a:r>
              <a:rPr lang="fr-FR" sz="2000" spc="-15" dirty="0" err="1">
                <a:solidFill>
                  <a:srgbClr val="404040"/>
                </a:solidFill>
                <a:latin typeface="Calibri"/>
                <a:cs typeface="Calibri"/>
              </a:rPr>
              <a:t>alt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 » sans [</a:t>
            </a:r>
            <a:r>
              <a:rPr lang="fr-FR" sz="2000" spc="-15" dirty="0" err="1">
                <a:solidFill>
                  <a:srgbClr val="404040"/>
                </a:solidFill>
                <a:latin typeface="Calibri"/>
                <a:cs typeface="Calibri"/>
              </a:rPr>
              <a:t>else</a:t>
            </a:r>
            <a:r>
              <a:rPr lang="fr-FR" sz="2000" spc="-15" dirty="0">
                <a:solidFill>
                  <a:srgbClr val="404040"/>
                </a:solidFill>
                <a:latin typeface="Calibri"/>
                <a:cs typeface="Calibri"/>
              </a:rPr>
              <a:t>]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48312"/>
              </a:buClr>
              <a:buFont typeface="Wingdings"/>
              <a:buChar char=""/>
            </a:pPr>
            <a:endParaRPr sz="2000" dirty="0">
              <a:latin typeface="Calibri"/>
              <a:cs typeface="Calibri"/>
            </a:endParaRPr>
          </a:p>
          <a:p>
            <a:pPr marL="368300" indent="-355600">
              <a:lnSpc>
                <a:spcPct val="100000"/>
              </a:lnSpc>
              <a:buClr>
                <a:srgbClr val="E48312"/>
              </a:buClr>
              <a:buSzPct val="96774"/>
              <a:buFont typeface="Wingdings"/>
              <a:buChar char=""/>
              <a:tabLst>
                <a:tab pos="368300" algn="l"/>
              </a:tabLst>
            </a:pPr>
            <a:endParaRPr sz="2000" spc="-20" dirty="0">
              <a:solidFill>
                <a:srgbClr val="404040"/>
              </a:solidFill>
              <a:latin typeface="Calibri"/>
              <a:cs typeface="Calibri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605283"/>
            <a:ext cx="5043487" cy="233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44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3670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Opérateur</a:t>
            </a:r>
            <a:r>
              <a:rPr spc="5" dirty="0"/>
              <a:t> </a:t>
            </a:r>
            <a:r>
              <a:rPr spc="-70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2133600"/>
            <a:ext cx="9359900" cy="961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Modélise les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itérations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000" spc="-20" dirty="0" err="1">
                <a:solidFill>
                  <a:srgbClr val="404040"/>
                </a:solidFill>
                <a:latin typeface="Calibri"/>
                <a:cs typeface="Calibri"/>
              </a:rPr>
              <a:t>répétitions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lang="fr-FR" sz="20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endParaRPr lang="fr-FR" sz="2000" spc="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La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séquence 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d’activité 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se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répète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tant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que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condition 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d’arrêt</a:t>
            </a:r>
            <a:r>
              <a:rPr sz="20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n’est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pas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vérifiée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3"/>
          <p:cNvPicPr/>
          <p:nvPr/>
        </p:nvPicPr>
        <p:blipFill rotWithShape="1">
          <a:blip r:embed="rId2" cstate="print"/>
          <a:srcRect l="13745" t="26263" r="22909" b="5554"/>
          <a:stretch/>
        </p:blipFill>
        <p:spPr>
          <a:xfrm>
            <a:off x="8229600" y="3657600"/>
            <a:ext cx="2620646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3670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 err="1"/>
              <a:t>Opérateur</a:t>
            </a:r>
            <a:r>
              <a:rPr spc="5" dirty="0"/>
              <a:t> </a:t>
            </a:r>
            <a:r>
              <a:rPr lang="fr-FR" spc="-70" dirty="0"/>
              <a:t>par</a:t>
            </a:r>
            <a:endParaRPr spc="-70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1552281"/>
            <a:ext cx="99822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SzPct val="97500"/>
              <a:tabLst>
                <a:tab pos="469900" algn="l"/>
              </a:tabLst>
            </a:pPr>
            <a:r>
              <a:rPr lang="fr-FR" sz="2000" spc="-5" dirty="0">
                <a:solidFill>
                  <a:srgbClr val="404040"/>
                </a:solidFill>
                <a:latin typeface="Calibri"/>
                <a:cs typeface="Calibri"/>
              </a:rPr>
              <a:t>L’opérateur « par » est utilisé pour représenter des interactions qui se réalisent en parallèle.</a:t>
            </a:r>
            <a:endParaRPr lang="fr-FR" sz="2000" dirty="0">
              <a:latin typeface="Calibri"/>
              <a:cs typeface="Calibri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667000"/>
            <a:ext cx="7949254" cy="32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32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6559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Réutilisation</a:t>
            </a:r>
            <a:r>
              <a:rPr spc="80" dirty="0"/>
              <a:t> </a:t>
            </a:r>
            <a:r>
              <a:rPr spc="-60" dirty="0"/>
              <a:t>des</a:t>
            </a:r>
            <a:r>
              <a:rPr spc="-80" dirty="0"/>
              <a:t> séquences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312782"/>
            <a:ext cx="9956800" cy="135421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1600" marR="5080" indent="-88900">
              <a:spcBef>
                <a:spcPts val="66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est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réutiliser</a:t>
            </a:r>
            <a:r>
              <a:rPr sz="20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séquences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déjà </a:t>
            </a:r>
            <a:r>
              <a:rPr sz="2000" spc="-8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définies</a:t>
            </a:r>
            <a:endParaRPr sz="2000" dirty="0">
              <a:latin typeface="Calibri"/>
              <a:cs typeface="Calibri"/>
            </a:endParaRPr>
          </a:p>
          <a:p>
            <a:pPr marL="101600" marR="362585" indent="-88900">
              <a:spcBef>
                <a:spcPts val="140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Le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fragment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combiné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«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ref</a:t>
            </a:r>
            <a:r>
              <a:rPr sz="20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»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permet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faire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référence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à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une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séquence</a:t>
            </a:r>
            <a:r>
              <a:rPr sz="20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déjà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définie</a:t>
            </a:r>
            <a:endParaRPr sz="2000" dirty="0">
              <a:latin typeface="Calibri"/>
              <a:cs typeface="Calibri"/>
            </a:endParaRPr>
          </a:p>
          <a:p>
            <a:pPr marL="101600" marR="1759585" indent="-88900">
              <a:spcBef>
                <a:spcPts val="1320"/>
              </a:spcBef>
              <a:buClr>
                <a:srgbClr val="E48312"/>
              </a:buClr>
              <a:buSzPct val="97500"/>
              <a:buFont typeface="Wingdings"/>
              <a:buChar char=""/>
              <a:tabLst>
                <a:tab pos="46990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Permet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définir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des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diagrammes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 </a:t>
            </a:r>
            <a:r>
              <a:rPr sz="2000" spc="-8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séquences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plus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lisibles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743200"/>
            <a:ext cx="6500812" cy="358849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65982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Réutilisation</a:t>
            </a:r>
            <a:r>
              <a:rPr spc="95" dirty="0"/>
              <a:t> </a:t>
            </a:r>
            <a:r>
              <a:rPr spc="-60" dirty="0"/>
              <a:t>des</a:t>
            </a:r>
            <a:r>
              <a:rPr spc="-65" dirty="0"/>
              <a:t> </a:t>
            </a:r>
            <a:r>
              <a:rPr spc="-85" dirty="0"/>
              <a:t>Séquences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1100" y="1739900"/>
            <a:ext cx="30226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309020"/>
            <a:ext cx="65982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pc="-75" dirty="0"/>
              <a:t>Récapitulatif</a:t>
            </a:r>
            <a:endParaRPr spc="-85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447800"/>
            <a:ext cx="6324525" cy="460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64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76019" y="309020"/>
            <a:ext cx="19284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Exercice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1600200"/>
            <a:ext cx="9418320" cy="40431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600"/>
              </a:spcBef>
            </a:pPr>
            <a:r>
              <a:rPr sz="2000" spc="-15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</a:t>
            </a:r>
            <a:r>
              <a:rPr sz="2000" spc="55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</a:t>
            </a:r>
            <a:r>
              <a:rPr sz="2000" spc="15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diagramme</a:t>
            </a:r>
            <a:r>
              <a:rPr sz="2000" spc="-1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</a:t>
            </a:r>
            <a:r>
              <a:rPr sz="2000" spc="-15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séquence</a:t>
            </a:r>
            <a:r>
              <a:rPr lang="fr-FR" sz="2000" spc="-1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d’un magasin de vente de fleurs</a:t>
            </a:r>
            <a:r>
              <a:rPr lang="fr-FR" sz="2000" spc="-3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Le client demande au vendeur des renseignements sur les compositions florales.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Le vendeur lui fournit toutes les informations nécessaires.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Le client commande alors la composition de son choix et le vendeur émet le bon de fabrication qu'il transmet à son ouvrier fleuriste.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Le vendeur édite ensuite la facture correspondante.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L'ouvrier fleuriste crée la composition puis archive le bon de fabrication.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Il remet alors la composition au vendeur.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La facture est remise au client pour règlement une fois le bouquet réalisé.</a:t>
            </a:r>
          </a:p>
          <a:p>
            <a:pPr marL="295910" indent="-283845">
              <a:lnSpc>
                <a:spcPts val="2750"/>
              </a:lnSpc>
              <a:spcBef>
                <a:spcPts val="500"/>
              </a:spcBef>
              <a:buClr>
                <a:srgbClr val="E48312"/>
              </a:buClr>
              <a:buSzPct val="96000"/>
              <a:buFont typeface="Wingdings"/>
              <a:buChar char=""/>
              <a:tabLst>
                <a:tab pos="296545" algn="l"/>
              </a:tabLst>
            </a:pPr>
            <a:r>
              <a:rPr lang="fr-FR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Une fois la facture réglée, le client récupère sa composition et quitte le magasin. </a:t>
            </a:r>
            <a:endParaRPr lang="fr-F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28600"/>
            <a:ext cx="643890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51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1056</Words>
  <Application>Microsoft Office PowerPoint</Application>
  <PresentationFormat>Grand écran</PresentationFormat>
  <Paragraphs>187</Paragraphs>
  <Slides>33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2" baseType="lpstr">
      <vt:lpstr>Arial MT</vt:lpstr>
      <vt:lpstr>Bernard MT Condensed</vt:lpstr>
      <vt:lpstr>Calibri</vt:lpstr>
      <vt:lpstr>Calibri Light</vt:lpstr>
      <vt:lpstr>Microsoft Sans Serif</vt:lpstr>
      <vt:lpstr>Palatino Linotype</vt:lpstr>
      <vt:lpstr>Times New Roman</vt:lpstr>
      <vt:lpstr>Wingdings</vt:lpstr>
      <vt:lpstr>Office Theme</vt:lpstr>
      <vt:lpstr>Méthodes de conception orienté objet </vt:lpstr>
      <vt:lpstr>Introduction</vt:lpstr>
      <vt:lpstr>Introduction</vt:lpstr>
      <vt:lpstr>Représentation des Scenarios</vt:lpstr>
      <vt:lpstr>Diagramme de séquence</vt:lpstr>
      <vt:lpstr>Diagramme de séquence</vt:lpstr>
      <vt:lpstr>Objets / Acteurs / Sous Systèmes</vt:lpstr>
      <vt:lpstr>Messages</vt:lpstr>
      <vt:lpstr>Messages (2)</vt:lpstr>
      <vt:lpstr>Messages (3)</vt:lpstr>
      <vt:lpstr>Messages Synchrones</vt:lpstr>
      <vt:lpstr>Messages Asynchrones</vt:lpstr>
      <vt:lpstr>Messages Asynchrones (2)</vt:lpstr>
      <vt:lpstr>Messages et Classes</vt:lpstr>
      <vt:lpstr>Message Conditionnel et Réflexif</vt:lpstr>
      <vt:lpstr>Ligne de vie d’un objet</vt:lpstr>
      <vt:lpstr>Création / Destruction d’objets</vt:lpstr>
      <vt:lpstr>Le point de contrôle</vt:lpstr>
      <vt:lpstr>Révision</vt:lpstr>
      <vt:lpstr>Révision</vt:lpstr>
      <vt:lpstr>Fragments</vt:lpstr>
      <vt:lpstr>Fragment - Représentation</vt:lpstr>
      <vt:lpstr>Types de fragments</vt:lpstr>
      <vt:lpstr>Opérateur alt</vt:lpstr>
      <vt:lpstr>Opérateur alt - Exemple</vt:lpstr>
      <vt:lpstr>Opérateur opt</vt:lpstr>
      <vt:lpstr>Opérateur loop</vt:lpstr>
      <vt:lpstr>Opérateur par</vt:lpstr>
      <vt:lpstr>Réutilisation des séquences</vt:lpstr>
      <vt:lpstr>Réutilisation des Séquences</vt:lpstr>
      <vt:lpstr>Récapitulatif</vt:lpstr>
      <vt:lpstr>Exercice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Méthodes de conception orienté objet</dc:title>
  <dc:creator>Lenovo Yoga</dc:creator>
  <cp:lastModifiedBy>mohamed elyaakoubi</cp:lastModifiedBy>
  <cp:revision>33</cp:revision>
  <dcterms:created xsi:type="dcterms:W3CDTF">2023-10-24T18:10:37Z</dcterms:created>
  <dcterms:modified xsi:type="dcterms:W3CDTF">2025-11-16T17:35:58Z</dcterms:modified>
</cp:coreProperties>
</file>