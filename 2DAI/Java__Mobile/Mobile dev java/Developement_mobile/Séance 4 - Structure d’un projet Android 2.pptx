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31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963" y="36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3378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14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14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3378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14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14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14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14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14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14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14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14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092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685784" lvl="1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675" lvl="2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566" lvl="3" indent="-22859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457" lvl="4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349" lvl="5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240" lvl="6" indent="-22859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132" lvl="7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023" lvl="8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685784" lvl="1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675" lvl="2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566" lvl="3" indent="-22859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457" lvl="4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349" lvl="5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240" lvl="6" indent="-22859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132" lvl="7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023" lvl="8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513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2859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marL="685784" lvl="1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675" lvl="2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566" lvl="3" indent="-22859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457" lvl="4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349" lvl="5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240" lvl="6" indent="-228595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132" lvl="7" indent="-228595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023" lvl="8" indent="-228595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584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001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342892" lvl="0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685784" lvl="1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28675" lvl="2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566" lvl="3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714457" lvl="4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57349" lvl="5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00240" lvl="6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743132" lvl="7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086023" lvl="8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10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188237" y="4574539"/>
            <a:ext cx="9489163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892" lvl="0" indent="-171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25" b="1">
                <a:solidFill>
                  <a:srgbClr val="40804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60B665D-9C23-4E79-9793-C791A8FE7E4B}"/>
              </a:ext>
            </a:extLst>
          </p:cNvPr>
          <p:cNvCxnSpPr>
            <a:cxnSpLocks/>
          </p:cNvCxnSpPr>
          <p:nvPr userDrawn="1"/>
        </p:nvCxnSpPr>
        <p:spPr>
          <a:xfrm flipV="1">
            <a:off x="194003" y="5381339"/>
            <a:ext cx="9483399" cy="26894"/>
          </a:xfrm>
          <a:prstGeom prst="line">
            <a:avLst/>
          </a:prstGeom>
          <a:ln w="38100">
            <a:solidFill>
              <a:srgbClr val="408043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ED613C6-68D5-4583-97D9-EDF1C63909BE}"/>
              </a:ext>
            </a:extLst>
          </p:cNvPr>
          <p:cNvSpPr/>
          <p:nvPr userDrawn="1"/>
        </p:nvSpPr>
        <p:spPr>
          <a:xfrm>
            <a:off x="0" y="373320"/>
            <a:ext cx="9829800" cy="914363"/>
          </a:xfrm>
          <a:prstGeom prst="rect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4080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2" name="Larme 1">
            <a:extLst>
              <a:ext uri="{FF2B5EF4-FFF2-40B4-BE49-F238E27FC236}">
                <a16:creationId xmlns:a16="http://schemas.microsoft.com/office/drawing/2014/main" id="{3E464C7D-C6A4-4A10-B6F0-5E8AAC53FFB7}"/>
              </a:ext>
            </a:extLst>
          </p:cNvPr>
          <p:cNvSpPr/>
          <p:nvPr userDrawn="1"/>
        </p:nvSpPr>
        <p:spPr>
          <a:xfrm>
            <a:off x="9067802" y="0"/>
            <a:ext cx="3142129" cy="2971800"/>
          </a:xfrm>
          <a:prstGeom prst="teardrop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042619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38119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685784" lvl="1" indent="-238119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28675" lvl="2" indent="-238119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566" lvl="3" indent="-238119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714457" lvl="4" indent="-238119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57349" lvl="5" indent="-238119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00240" lvl="6" indent="-238119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743132" lvl="7" indent="-238119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086023" lvl="8" indent="-238119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9955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384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6CA8F-396F-4983-AE31-0C02BB3F84EA}"/>
              </a:ext>
            </a:extLst>
          </p:cNvPr>
          <p:cNvSpPr/>
          <p:nvPr userDrawn="1"/>
        </p:nvSpPr>
        <p:spPr>
          <a:xfrm>
            <a:off x="0" y="22971"/>
            <a:ext cx="12192000" cy="1043833"/>
          </a:xfrm>
          <a:prstGeom prst="rect">
            <a:avLst/>
          </a:prstGeom>
          <a:gradFill>
            <a:gsLst>
              <a:gs pos="100000">
                <a:srgbClr val="408043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45000" endPos="20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2E01707-A541-45B2-850C-B1ED883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283"/>
            <a:ext cx="10972800" cy="495200"/>
          </a:xfrm>
        </p:spPr>
        <p:txBody>
          <a:bodyPr>
            <a:noAutofit/>
          </a:bodyPr>
          <a:lstStyle>
            <a:lvl1pPr>
              <a:defRPr sz="2025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2106868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17605" y="342901"/>
            <a:ext cx="10809817" cy="5461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117605" y="1130300"/>
            <a:ext cx="10809817" cy="5410200"/>
          </a:xfrm>
        </p:spPr>
        <p:txBody>
          <a:bodyPr/>
          <a:lstStyle/>
          <a:p>
            <a:pPr lv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15952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2813" b="0" spc="113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1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57169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3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0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6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43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1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18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349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14B3-67E1-467A-B937-2787C2860C82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7"/>
            <a:ext cx="0" cy="91440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Application Development Services | Web &amp; Mobile Apps">
            <a:extLst>
              <a:ext uri="{FF2B5EF4-FFF2-40B4-BE49-F238E27FC236}">
                <a16:creationId xmlns:a16="http://schemas.microsoft.com/office/drawing/2014/main" id="{7FF2CECF-2DD2-4D12-81ED-725A02EC6D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3E46C9BB-2184-49F6-929C-B63DCCC43EC0}"/>
              </a:ext>
            </a:extLst>
          </p:cNvPr>
          <p:cNvSpPr/>
          <p:nvPr userDrawn="1"/>
        </p:nvSpPr>
        <p:spPr>
          <a:xfrm>
            <a:off x="-1" y="-2309"/>
            <a:ext cx="12192001" cy="4802909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8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F99D5-362B-4E9D-827E-12E0AEE28714}"/>
              </a:ext>
            </a:extLst>
          </p:cNvPr>
          <p:cNvSpPr/>
          <p:nvPr userDrawn="1"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19683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266"/>
            <a:ext cx="12192000" cy="71641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0807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747" y="7366"/>
            <a:ext cx="10644463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1421" y="1327620"/>
            <a:ext cx="95453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3378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6906" y="6584086"/>
            <a:ext cx="2103119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250602" y="6589877"/>
            <a:ext cx="1779693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82043" y="6560997"/>
            <a:ext cx="357293" cy="2080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14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14"/>
                </a:lnSpc>
              </a:pPr>
              <a:t>‹N°›</a:t>
            </a:fld>
            <a:endParaRPr lang="fr-FR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585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elearning.univ-constantine2.dz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c.chaouche@misc-umc.org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://developer.android.com/guide/topics/resources/providing-resourc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lugins.jetbrains.com/plugin/7658-android-drawable-importer" TargetMode="External"/><Relationship Id="rId4" Type="http://schemas.openxmlformats.org/officeDocument/2006/relationships/hyperlink" Target="http://vogella.developpez.com/tutoriels/android/utilisation-drawable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1.png"/><Relationship Id="rId7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47.png"/><Relationship Id="rId5" Type="http://schemas.openxmlformats.org/officeDocument/2006/relationships/image" Target="../media/image2.png"/><Relationship Id="rId10" Type="http://schemas.openxmlformats.org/officeDocument/2006/relationships/image" Target="../media/image46.png"/><Relationship Id="rId4" Type="http://schemas.openxmlformats.org/officeDocument/2006/relationships/image" Target="../media/image12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2EA3E-A478-45AF-8BCF-AA318BB5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14" y="5298655"/>
            <a:ext cx="4929188" cy="346269"/>
          </a:xfrm>
        </p:spPr>
        <p:txBody>
          <a:bodyPr>
            <a:noAutofit/>
          </a:bodyPr>
          <a:lstStyle/>
          <a:p>
            <a:pPr algn="l"/>
            <a:r>
              <a:rPr lang="en" sz="2250" b="1" dirty="0">
                <a:solidFill>
                  <a:srgbClr val="002060"/>
                </a:solidFill>
              </a:rPr>
              <a:t>Cours de </a:t>
            </a:r>
            <a:r>
              <a:rPr lang="en-US" sz="2250" b="1" dirty="0" err="1">
                <a:solidFill>
                  <a:srgbClr val="002060"/>
                </a:solidFill>
              </a:rPr>
              <a:t>Développement</a:t>
            </a:r>
            <a:r>
              <a:rPr lang="en-US" sz="2250" b="1" dirty="0">
                <a:solidFill>
                  <a:srgbClr val="002060"/>
                </a:solidFill>
              </a:rPr>
              <a:t> Mobile</a:t>
            </a:r>
            <a:endParaRPr lang="en-IN" sz="1350" b="1" dirty="0">
              <a:solidFill>
                <a:srgbClr val="00206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0F3D5B-21AD-40E2-B2FA-5C660E70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766" rtl="0">
              <a:buClr>
                <a:srgbClr val="000000"/>
              </a:buClr>
            </a:pPr>
            <a:r>
              <a:rPr lang="en-US" sz="1050" dirty="0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rPr>
              <a:t>AMINA ABOULMIRA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21A536-FAB3-A183-8059-3F83B2F9B295}"/>
              </a:ext>
            </a:extLst>
          </p:cNvPr>
          <p:cNvSpPr txBox="1">
            <a:spLocks/>
          </p:cNvSpPr>
          <p:nvPr/>
        </p:nvSpPr>
        <p:spPr>
          <a:xfrm>
            <a:off x="838200" y="5638800"/>
            <a:ext cx="3086100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685766">
              <a:buClr>
                <a:srgbClr val="000000"/>
              </a:buClr>
            </a:pPr>
            <a:r>
              <a:rPr lang="fr-FR" sz="1050" b="1" dirty="0">
                <a:solidFill>
                  <a:srgbClr val="00B050"/>
                </a:solidFill>
              </a:rPr>
              <a:t>Structure d’un projet Android  2</a:t>
            </a:r>
            <a:endParaRPr lang="en" sz="1050" b="1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1DCF9-588E-4536-BE09-9F9C6D554AD1}"/>
              </a:ext>
            </a:extLst>
          </p:cNvPr>
          <p:cNvSpPr/>
          <p:nvPr/>
        </p:nvSpPr>
        <p:spPr>
          <a:xfrm>
            <a:off x="7675110" y="3817134"/>
            <a:ext cx="1585913" cy="5584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257175" rtl="0"/>
            <a:endParaRPr lang="ar-MA" sz="1013" kern="1200">
              <a:solidFill>
                <a:prstClr val="white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53F4EF88-02C2-421B-A5A3-19CFFE18F05F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1852" y="3873534"/>
            <a:ext cx="1252428" cy="4456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4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2091183"/>
            <a:ext cx="114300" cy="1249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87068" y="1504431"/>
            <a:ext cx="5476875" cy="11131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spcBef>
                <a:spcPts val="434"/>
              </a:spcBef>
            </a:pPr>
            <a:r>
              <a:rPr sz="2400" b="1" spc="-10" dirty="0">
                <a:solidFill>
                  <a:srgbClr val="3A8B39"/>
                </a:solidFill>
                <a:latin typeface="Calibri"/>
                <a:cs typeface="Calibri"/>
              </a:rPr>
              <a:t>Prérequis</a:t>
            </a:r>
            <a:endParaRPr sz="2400">
              <a:latin typeface="Calibri"/>
              <a:cs typeface="Calibri"/>
            </a:endParaRPr>
          </a:p>
          <a:p>
            <a:pPr marL="570230">
              <a:spcBef>
                <a:spcPts val="280"/>
              </a:spcBef>
            </a:pPr>
            <a:r>
              <a:rPr sz="2000" dirty="0">
                <a:latin typeface="Calibri"/>
                <a:cs typeface="Calibri"/>
              </a:rPr>
              <a:t>Maîtrise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Android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Studio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265"/>
              </a:spcBef>
            </a:pPr>
            <a:r>
              <a:rPr sz="2000" dirty="0">
                <a:latin typeface="Calibri"/>
                <a:cs typeface="Calibri"/>
              </a:rPr>
              <a:t>Assimilation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structure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Android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2429637"/>
            <a:ext cx="114300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4354448"/>
            <a:ext cx="114300" cy="1249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7067" y="3768783"/>
            <a:ext cx="5124450" cy="11125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spcBef>
                <a:spcPts val="430"/>
              </a:spcBef>
            </a:pP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Objectifs</a:t>
            </a:r>
            <a:r>
              <a:rPr sz="24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du</a:t>
            </a:r>
            <a:r>
              <a:rPr sz="24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A8B39"/>
                </a:solidFill>
                <a:latin typeface="Calibri"/>
                <a:cs typeface="Calibri"/>
              </a:rPr>
              <a:t>cours</a:t>
            </a:r>
            <a:endParaRPr sz="2400">
              <a:latin typeface="Calibri"/>
              <a:cs typeface="Calibri"/>
            </a:endParaRPr>
          </a:p>
          <a:p>
            <a:pPr marL="547370" marR="5080">
              <a:lnSpc>
                <a:spcPct val="111000"/>
              </a:lnSpc>
              <a:spcBef>
                <a:spcPts val="15"/>
              </a:spcBef>
            </a:pPr>
            <a:r>
              <a:rPr sz="2000" dirty="0">
                <a:latin typeface="Calibri"/>
                <a:cs typeface="Calibri"/>
              </a:rPr>
              <a:t>Gérer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ressources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fonction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matériel Internationaliser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Android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4692650"/>
            <a:ext cx="114300" cy="1249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140462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Résumé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0701" y="1772411"/>
            <a:ext cx="586739" cy="61417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2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6" y="1937385"/>
            <a:ext cx="88391" cy="990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87068" y="1378019"/>
            <a:ext cx="3782695" cy="7112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spcBef>
                <a:spcPts val="585"/>
              </a:spcBef>
            </a:pPr>
            <a:r>
              <a:rPr sz="2200" b="1" spc="-25" dirty="0">
                <a:solidFill>
                  <a:srgbClr val="3A8B39"/>
                </a:solidFill>
                <a:latin typeface="Calibri"/>
                <a:cs typeface="Calibri"/>
              </a:rPr>
              <a:t>Taille</a:t>
            </a:r>
            <a:r>
              <a:rPr sz="22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des</a:t>
            </a:r>
            <a:r>
              <a:rPr sz="2200" b="1" spc="-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écrans</a:t>
            </a:r>
            <a:r>
              <a:rPr sz="2200" b="1" spc="-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22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2,54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cm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350"/>
              </a:spcBef>
            </a:pPr>
            <a:r>
              <a:rPr sz="1600" b="1" dirty="0">
                <a:latin typeface="Consolas"/>
                <a:cs typeface="Consolas"/>
              </a:rPr>
              <a:t>small,</a:t>
            </a:r>
            <a:r>
              <a:rPr sz="1600" b="1" spc="-4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normal,</a:t>
            </a:r>
            <a:r>
              <a:rPr sz="1600" b="1" spc="-4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large,</a:t>
            </a:r>
            <a:r>
              <a:rPr sz="1600" b="1" spc="-30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xlarge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6" y="4255389"/>
            <a:ext cx="88391" cy="990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87068" y="3693675"/>
            <a:ext cx="5031105" cy="7137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spcBef>
                <a:spcPts val="595"/>
              </a:spcBef>
            </a:pP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Densité</a:t>
            </a:r>
            <a:r>
              <a:rPr sz="2200" b="1" spc="-1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22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DPI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(Dot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Inch)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360"/>
              </a:spcBef>
            </a:pPr>
            <a:r>
              <a:rPr sz="1600" b="1" dirty="0">
                <a:latin typeface="Consolas"/>
                <a:cs typeface="Consolas"/>
              </a:rPr>
              <a:t>ldpi,</a:t>
            </a:r>
            <a:r>
              <a:rPr sz="1600" b="1" spc="-3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mdpi,</a:t>
            </a:r>
            <a:r>
              <a:rPr sz="1600" b="1" spc="-3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hdpi,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xhdpi,</a:t>
            </a:r>
            <a:r>
              <a:rPr sz="1600" b="1" spc="-3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xxhdpi,</a:t>
            </a:r>
            <a:r>
              <a:rPr sz="1600" b="1" spc="-30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xxxhdpi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30" dirty="0"/>
              <a:t>Taille</a:t>
            </a:r>
            <a:r>
              <a:rPr spc="-65" dirty="0"/>
              <a:t> </a:t>
            </a:r>
            <a:r>
              <a:rPr dirty="0"/>
              <a:t>et</a:t>
            </a:r>
            <a:r>
              <a:rPr spc="-70" dirty="0"/>
              <a:t> </a:t>
            </a:r>
            <a:r>
              <a:rPr dirty="0"/>
              <a:t>densité</a:t>
            </a:r>
            <a:r>
              <a:rPr spc="-60" dirty="0"/>
              <a:t> </a:t>
            </a:r>
            <a:r>
              <a:rPr dirty="0"/>
              <a:t>des</a:t>
            </a:r>
            <a:r>
              <a:rPr spc="-75" dirty="0"/>
              <a:t> </a:t>
            </a:r>
            <a:r>
              <a:rPr spc="-10" dirty="0"/>
              <a:t>écrans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0120" y="4903626"/>
            <a:ext cx="5230665" cy="621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60120" y="2494358"/>
            <a:ext cx="5230665" cy="6456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53529" y="1611737"/>
            <a:ext cx="2529839" cy="227577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3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9376" y="1906777"/>
            <a:ext cx="88391" cy="9906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30" dirty="0"/>
              <a:t>Taille</a:t>
            </a:r>
            <a:r>
              <a:rPr spc="-65" dirty="0"/>
              <a:t> </a:t>
            </a:r>
            <a:r>
              <a:rPr dirty="0"/>
              <a:t>et</a:t>
            </a:r>
            <a:r>
              <a:rPr spc="-70" dirty="0"/>
              <a:t> </a:t>
            </a:r>
            <a:r>
              <a:rPr dirty="0"/>
              <a:t>densité</a:t>
            </a:r>
            <a:r>
              <a:rPr spc="-60" dirty="0"/>
              <a:t> </a:t>
            </a:r>
            <a:r>
              <a:rPr dirty="0"/>
              <a:t>des</a:t>
            </a:r>
            <a:r>
              <a:rPr spc="-75" dirty="0"/>
              <a:t> </a:t>
            </a:r>
            <a:r>
              <a:rPr spc="-10" dirty="0"/>
              <a:t>écrans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2573" y="683514"/>
            <a:ext cx="6031865" cy="195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Indépendance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5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densité</a:t>
            </a:r>
            <a:endParaRPr sz="2400">
              <a:latin typeface="Calibri Light"/>
              <a:cs typeface="Calibri Light"/>
            </a:endParaRPr>
          </a:p>
          <a:p>
            <a:pPr>
              <a:spcBef>
                <a:spcPts val="150"/>
              </a:spcBef>
            </a:pPr>
            <a:endParaRPr sz="2400">
              <a:latin typeface="Calibri Light"/>
              <a:cs typeface="Calibri Light"/>
            </a:endParaRPr>
          </a:p>
          <a:p>
            <a:pPr marL="316865"/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Density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independant</a:t>
            </a:r>
            <a:r>
              <a:rPr sz="20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Pixel</a:t>
            </a:r>
            <a:r>
              <a:rPr sz="20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3A8B39"/>
                </a:solidFill>
                <a:latin typeface="Calibri"/>
                <a:cs typeface="Calibri"/>
              </a:rPr>
              <a:t>(dp)</a:t>
            </a:r>
            <a:endParaRPr sz="2000">
              <a:latin typeface="Calibri"/>
              <a:cs typeface="Calibri"/>
            </a:endParaRPr>
          </a:p>
          <a:p>
            <a:pPr marL="874394">
              <a:spcBef>
                <a:spcPts val="340"/>
              </a:spcBef>
            </a:pPr>
            <a:r>
              <a:rPr sz="1600" b="1" dirty="0">
                <a:latin typeface="Consolas"/>
                <a:cs typeface="Consolas"/>
              </a:rPr>
              <a:t>dp</a:t>
            </a:r>
            <a:r>
              <a:rPr sz="1600" b="1" spc="-1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spc="-1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px</a:t>
            </a:r>
            <a:r>
              <a:rPr sz="1600" b="1" spc="-1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/</a:t>
            </a:r>
            <a:r>
              <a:rPr sz="1600" b="1" spc="-1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(dpi</a:t>
            </a:r>
            <a:r>
              <a:rPr sz="1600" b="1" spc="-2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/</a:t>
            </a:r>
            <a:r>
              <a:rPr sz="1600" b="1" spc="-10" dirty="0">
                <a:latin typeface="Consolas"/>
                <a:cs typeface="Consolas"/>
              </a:rPr>
              <a:t> </a:t>
            </a:r>
            <a:r>
              <a:rPr sz="1600" b="1" spc="-20" dirty="0">
                <a:latin typeface="Consolas"/>
                <a:cs typeface="Consolas"/>
              </a:rPr>
              <a:t>160)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25"/>
              </a:spcBef>
            </a:pPr>
            <a:endParaRPr sz="1600">
              <a:latin typeface="Consolas"/>
              <a:cs typeface="Consolas"/>
            </a:endParaRPr>
          </a:p>
          <a:p>
            <a:pPr marL="2936240"/>
            <a:r>
              <a:rPr sz="2200" spc="-25" dirty="0">
                <a:solidFill>
                  <a:srgbClr val="337817"/>
                </a:solidFill>
                <a:latin typeface="Calibri Light"/>
                <a:cs typeface="Calibri Light"/>
              </a:rPr>
              <a:t>Dépendance</a:t>
            </a:r>
            <a:r>
              <a:rPr sz="2200" spc="-60" dirty="0">
                <a:solidFill>
                  <a:srgbClr val="337817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337817"/>
                </a:solidFill>
                <a:latin typeface="Calibri Light"/>
                <a:cs typeface="Calibri Light"/>
              </a:rPr>
              <a:t>de</a:t>
            </a:r>
            <a:r>
              <a:rPr sz="2200" spc="-40" dirty="0">
                <a:solidFill>
                  <a:srgbClr val="337817"/>
                </a:solidFill>
                <a:latin typeface="Calibri Light"/>
                <a:cs typeface="Calibri Light"/>
              </a:rPr>
              <a:t> </a:t>
            </a:r>
            <a:r>
              <a:rPr sz="2200" spc="-20" dirty="0">
                <a:solidFill>
                  <a:srgbClr val="337817"/>
                </a:solidFill>
                <a:latin typeface="Calibri Light"/>
                <a:cs typeface="Calibri Light"/>
              </a:rPr>
              <a:t>densité</a:t>
            </a:r>
            <a:r>
              <a:rPr sz="2200" spc="-60" dirty="0">
                <a:solidFill>
                  <a:srgbClr val="337817"/>
                </a:solidFill>
                <a:latin typeface="Calibri Light"/>
                <a:cs typeface="Calibri Light"/>
              </a:rPr>
              <a:t> </a:t>
            </a:r>
            <a:r>
              <a:rPr sz="2200" spc="-20" dirty="0">
                <a:solidFill>
                  <a:srgbClr val="337817"/>
                </a:solidFill>
                <a:latin typeface="Calibri Light"/>
                <a:cs typeface="Calibri Light"/>
              </a:rPr>
              <a:t>(px)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6510" y="4319778"/>
            <a:ext cx="33299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spc="-20" dirty="0">
                <a:solidFill>
                  <a:srgbClr val="337817"/>
                </a:solidFill>
                <a:latin typeface="Calibri Light"/>
                <a:cs typeface="Calibri Light"/>
              </a:rPr>
              <a:t>Indépendance</a:t>
            </a:r>
            <a:r>
              <a:rPr sz="2200" spc="-65" dirty="0">
                <a:solidFill>
                  <a:srgbClr val="337817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337817"/>
                </a:solidFill>
                <a:latin typeface="Calibri Light"/>
                <a:cs typeface="Calibri Light"/>
              </a:rPr>
              <a:t>de</a:t>
            </a:r>
            <a:r>
              <a:rPr sz="2200" spc="-45" dirty="0">
                <a:solidFill>
                  <a:srgbClr val="337817"/>
                </a:solidFill>
                <a:latin typeface="Calibri Light"/>
                <a:cs typeface="Calibri Light"/>
              </a:rPr>
              <a:t> </a:t>
            </a:r>
            <a:r>
              <a:rPr sz="2200" spc="-20" dirty="0">
                <a:solidFill>
                  <a:srgbClr val="337817"/>
                </a:solidFill>
                <a:latin typeface="Calibri Light"/>
                <a:cs typeface="Calibri Light"/>
              </a:rPr>
              <a:t>densité</a:t>
            </a:r>
            <a:r>
              <a:rPr sz="2200" spc="-55" dirty="0">
                <a:solidFill>
                  <a:srgbClr val="337817"/>
                </a:solidFill>
                <a:latin typeface="Calibri Light"/>
                <a:cs typeface="Calibri Light"/>
              </a:rPr>
              <a:t> </a:t>
            </a:r>
            <a:r>
              <a:rPr sz="2200" spc="-20" dirty="0">
                <a:solidFill>
                  <a:srgbClr val="337817"/>
                </a:solidFill>
                <a:latin typeface="Calibri Light"/>
                <a:cs typeface="Calibri Light"/>
              </a:rPr>
              <a:t>(dp)</a:t>
            </a:r>
            <a:endParaRPr sz="2200">
              <a:latin typeface="Calibri Light"/>
              <a:cs typeface="Calibri Ligh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9273" y="4668011"/>
            <a:ext cx="5618987" cy="12420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19272" y="2558796"/>
            <a:ext cx="5626608" cy="1336547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4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30" dirty="0"/>
              <a:t>Taille</a:t>
            </a:r>
            <a:r>
              <a:rPr spc="-65" dirty="0"/>
              <a:t> </a:t>
            </a:r>
            <a:r>
              <a:rPr dirty="0"/>
              <a:t>et</a:t>
            </a:r>
            <a:r>
              <a:rPr spc="-70" dirty="0"/>
              <a:t> </a:t>
            </a:r>
            <a:r>
              <a:rPr dirty="0"/>
              <a:t>densité</a:t>
            </a:r>
            <a:r>
              <a:rPr spc="-60" dirty="0"/>
              <a:t> </a:t>
            </a:r>
            <a:r>
              <a:rPr dirty="0"/>
              <a:t>des</a:t>
            </a:r>
            <a:r>
              <a:rPr spc="-75" dirty="0"/>
              <a:t> </a:t>
            </a:r>
            <a:r>
              <a:rPr spc="-10" dirty="0"/>
              <a:t>écrans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5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2" y="683514"/>
            <a:ext cx="1466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Distribution</a:t>
            </a:r>
            <a:endParaRPr sz="2400">
              <a:latin typeface="Calibri Light"/>
              <a:cs typeface="Calibri Ligh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011362" y="2414652"/>
          <a:ext cx="8171180" cy="2769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5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7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ldpi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7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mdpi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tvdpi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7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hdpi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marR="246379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xhdpi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xxhdpi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0.4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0.1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0.5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Normal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R w="3810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0.8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0.3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25.4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41.2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24.4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0025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92.1</a:t>
                      </a:r>
                      <a:r>
                        <a:rPr sz="1700" b="1" spc="-15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00" b="1" spc="-50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8CAAC"/>
                      </a:solidFill>
                      <a:prstDash val="solid"/>
                    </a:lnT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2.4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1.4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0.3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0.5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4.9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Xlarge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1.6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0.5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0.4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2.5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R w="3810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337817"/>
                    </a:solidFil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0.4</a:t>
                      </a:r>
                      <a:r>
                        <a:rPr sz="17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4.8</a:t>
                      </a:r>
                      <a:r>
                        <a:rPr sz="17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1.7</a:t>
                      </a:r>
                      <a:r>
                        <a:rPr sz="17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200025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26.2</a:t>
                      </a:r>
                      <a:r>
                        <a:rPr sz="1700" b="1" spc="-20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00" b="1" spc="-50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200025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41.9</a:t>
                      </a:r>
                      <a:r>
                        <a:rPr sz="1700" b="1" spc="-20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00" b="1" spc="-50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b="1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25.0</a:t>
                      </a:r>
                      <a:r>
                        <a:rPr sz="1700" b="1" spc="-20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00" b="1" spc="-50" dirty="0">
                          <a:solidFill>
                            <a:srgbClr val="337817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22987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%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8CAAC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582280" y="5196966"/>
            <a:ext cx="25171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i="1" dirty="0">
                <a:latin typeface="Calibri Light"/>
                <a:cs typeface="Calibri Light"/>
              </a:rPr>
              <a:t>Source</a:t>
            </a:r>
            <a:r>
              <a:rPr sz="1200" i="1" spc="-40" dirty="0">
                <a:latin typeface="Calibri Light"/>
                <a:cs typeface="Calibri Light"/>
              </a:rPr>
              <a:t> </a:t>
            </a:r>
            <a:r>
              <a:rPr sz="1200" i="1" dirty="0">
                <a:latin typeface="Calibri Light"/>
                <a:cs typeface="Calibri Light"/>
              </a:rPr>
              <a:t>:</a:t>
            </a:r>
            <a:r>
              <a:rPr sz="1200" i="1" spc="-15" dirty="0">
                <a:latin typeface="Calibri Light"/>
                <a:cs typeface="Calibri Light"/>
              </a:rPr>
              <a:t> </a:t>
            </a:r>
            <a:r>
              <a:rPr sz="1200" i="1" dirty="0">
                <a:latin typeface="Calibri Light"/>
                <a:cs typeface="Calibri Light"/>
              </a:rPr>
              <a:t>Google</a:t>
            </a:r>
            <a:r>
              <a:rPr sz="1200" i="1" spc="-20" dirty="0">
                <a:latin typeface="Calibri Light"/>
                <a:cs typeface="Calibri Light"/>
              </a:rPr>
              <a:t> </a:t>
            </a:r>
            <a:r>
              <a:rPr sz="1200" i="1" dirty="0">
                <a:latin typeface="Calibri Light"/>
                <a:cs typeface="Calibri Light"/>
              </a:rPr>
              <a:t>Play</a:t>
            </a:r>
            <a:r>
              <a:rPr sz="1200" i="1" spc="-5" dirty="0">
                <a:latin typeface="Calibri Light"/>
                <a:cs typeface="Calibri Light"/>
              </a:rPr>
              <a:t> </a:t>
            </a:r>
            <a:r>
              <a:rPr sz="1200" i="1" dirty="0">
                <a:latin typeface="Calibri Light"/>
                <a:cs typeface="Calibri Light"/>
              </a:rPr>
              <a:t>Store,</a:t>
            </a:r>
            <a:r>
              <a:rPr sz="1200" i="1" spc="-30" dirty="0">
                <a:latin typeface="Calibri Light"/>
                <a:cs typeface="Calibri Light"/>
              </a:rPr>
              <a:t> </a:t>
            </a:r>
            <a:r>
              <a:rPr sz="1200" i="1" dirty="0">
                <a:latin typeface="Calibri Light"/>
                <a:cs typeface="Calibri Light"/>
              </a:rPr>
              <a:t>31</a:t>
            </a:r>
            <a:r>
              <a:rPr sz="1200" i="1" spc="-15" dirty="0">
                <a:latin typeface="Calibri Light"/>
                <a:cs typeface="Calibri Light"/>
              </a:rPr>
              <a:t> </a:t>
            </a:r>
            <a:r>
              <a:rPr sz="1200" i="1" dirty="0">
                <a:latin typeface="Calibri Light"/>
                <a:cs typeface="Calibri Light"/>
              </a:rPr>
              <a:t>Août </a:t>
            </a:r>
            <a:r>
              <a:rPr sz="1200" i="1" spc="-20" dirty="0">
                <a:latin typeface="Calibri Light"/>
                <a:cs typeface="Calibri Light"/>
              </a:rPr>
              <a:t>2018</a:t>
            </a:r>
            <a:endParaRPr sz="1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50673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291080" algn="l"/>
                <a:tab pos="2945130" algn="l"/>
              </a:tabLst>
            </a:pPr>
            <a:r>
              <a:rPr dirty="0"/>
              <a:t>Vue</a:t>
            </a:r>
            <a:r>
              <a:rPr spc="-110" dirty="0"/>
              <a:t> </a:t>
            </a:r>
            <a:r>
              <a:rPr spc="-10" dirty="0"/>
              <a:t>portrait</a:t>
            </a:r>
            <a:r>
              <a:rPr dirty="0"/>
              <a:t>	</a:t>
            </a:r>
            <a:r>
              <a:rPr spc="-25" dirty="0"/>
              <a:t>vs.</a:t>
            </a:r>
            <a:r>
              <a:rPr dirty="0"/>
              <a:t>	vue</a:t>
            </a:r>
            <a:r>
              <a:rPr spc="-65" dirty="0"/>
              <a:t> </a:t>
            </a:r>
            <a:r>
              <a:rPr spc="-10" dirty="0"/>
              <a:t>paysage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14004" y="2796540"/>
            <a:ext cx="1918970" cy="1106805"/>
            <a:chOff x="6890004" y="2796539"/>
            <a:chExt cx="1918970" cy="1106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8960" y="2825495"/>
              <a:ext cx="1860803" cy="10485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04482" y="2811017"/>
              <a:ext cx="1889760" cy="1077595"/>
            </a:xfrm>
            <a:custGeom>
              <a:avLst/>
              <a:gdLst/>
              <a:ahLst/>
              <a:cxnLst/>
              <a:rect l="l" t="t" r="r" b="b"/>
              <a:pathLst>
                <a:path w="1889759" h="1077595">
                  <a:moveTo>
                    <a:pt x="0" y="1077467"/>
                  </a:moveTo>
                  <a:lnTo>
                    <a:pt x="1889760" y="1077467"/>
                  </a:lnTo>
                  <a:lnTo>
                    <a:pt x="1889760" y="0"/>
                  </a:lnTo>
                  <a:lnTo>
                    <a:pt x="0" y="0"/>
                  </a:lnTo>
                  <a:lnTo>
                    <a:pt x="0" y="1077467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941576" y="2394205"/>
            <a:ext cx="1187450" cy="2068195"/>
            <a:chOff x="417576" y="2394204"/>
            <a:chExt cx="1187450" cy="20681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32" y="2423160"/>
              <a:ext cx="1129284" cy="20101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2054" y="2408682"/>
              <a:ext cx="1158240" cy="2039620"/>
            </a:xfrm>
            <a:custGeom>
              <a:avLst/>
              <a:gdLst/>
              <a:ahLst/>
              <a:cxnLst/>
              <a:rect l="l" t="t" r="r" b="b"/>
              <a:pathLst>
                <a:path w="1158240" h="2039620">
                  <a:moveTo>
                    <a:pt x="0" y="2039112"/>
                  </a:moveTo>
                  <a:lnTo>
                    <a:pt x="1158239" y="2039112"/>
                  </a:lnTo>
                  <a:lnTo>
                    <a:pt x="1158239" y="0"/>
                  </a:lnTo>
                  <a:lnTo>
                    <a:pt x="0" y="0"/>
                  </a:lnTo>
                  <a:lnTo>
                    <a:pt x="0" y="2039112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368040" y="2830067"/>
            <a:ext cx="1876425" cy="1275080"/>
            <a:chOff x="1844039" y="2830067"/>
            <a:chExt cx="1876425" cy="12750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7755" y="2843783"/>
              <a:ext cx="1847088" cy="12609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58517" y="2844545"/>
              <a:ext cx="1847214" cy="1031875"/>
            </a:xfrm>
            <a:custGeom>
              <a:avLst/>
              <a:gdLst/>
              <a:ahLst/>
              <a:cxnLst/>
              <a:rect l="l" t="t" r="r" b="b"/>
              <a:pathLst>
                <a:path w="1847214" h="1031875">
                  <a:moveTo>
                    <a:pt x="0" y="1031747"/>
                  </a:moveTo>
                  <a:lnTo>
                    <a:pt x="1847087" y="1031747"/>
                  </a:lnTo>
                  <a:lnTo>
                    <a:pt x="1847087" y="0"/>
                  </a:lnTo>
                  <a:lnTo>
                    <a:pt x="0" y="0"/>
                  </a:lnTo>
                  <a:lnTo>
                    <a:pt x="0" y="1031747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606796" y="2938272"/>
            <a:ext cx="990600" cy="789940"/>
            <a:chOff x="4082796" y="2938272"/>
            <a:chExt cx="990600" cy="789940"/>
          </a:xfrm>
        </p:grpSpPr>
        <p:sp>
          <p:nvSpPr>
            <p:cNvPr id="13" name="object 13"/>
            <p:cNvSpPr/>
            <p:nvPr/>
          </p:nvSpPr>
          <p:spPr>
            <a:xfrm>
              <a:off x="4088892" y="2944368"/>
              <a:ext cx="978535" cy="777240"/>
            </a:xfrm>
            <a:custGeom>
              <a:avLst/>
              <a:gdLst/>
              <a:ahLst/>
              <a:cxnLst/>
              <a:rect l="l" t="t" r="r" b="b"/>
              <a:pathLst>
                <a:path w="978535" h="777239">
                  <a:moveTo>
                    <a:pt x="589788" y="0"/>
                  </a:moveTo>
                  <a:lnTo>
                    <a:pt x="589788" y="194310"/>
                  </a:lnTo>
                  <a:lnTo>
                    <a:pt x="0" y="194310"/>
                  </a:lnTo>
                  <a:lnTo>
                    <a:pt x="0" y="582930"/>
                  </a:lnTo>
                  <a:lnTo>
                    <a:pt x="589788" y="582930"/>
                  </a:lnTo>
                  <a:lnTo>
                    <a:pt x="589788" y="777240"/>
                  </a:lnTo>
                  <a:lnTo>
                    <a:pt x="978408" y="388620"/>
                  </a:lnTo>
                  <a:lnTo>
                    <a:pt x="589788" y="0"/>
                  </a:lnTo>
                  <a:close/>
                </a:path>
              </a:pathLst>
            </a:custGeom>
            <a:solidFill>
              <a:srgbClr val="3A8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8892" y="2944368"/>
              <a:ext cx="978535" cy="777240"/>
            </a:xfrm>
            <a:custGeom>
              <a:avLst/>
              <a:gdLst/>
              <a:ahLst/>
              <a:cxnLst/>
              <a:rect l="l" t="t" r="r" b="b"/>
              <a:pathLst>
                <a:path w="978535" h="777239">
                  <a:moveTo>
                    <a:pt x="0" y="194310"/>
                  </a:moveTo>
                  <a:lnTo>
                    <a:pt x="589788" y="194310"/>
                  </a:lnTo>
                  <a:lnTo>
                    <a:pt x="589788" y="0"/>
                  </a:lnTo>
                  <a:lnTo>
                    <a:pt x="978408" y="388620"/>
                  </a:lnTo>
                  <a:lnTo>
                    <a:pt x="589788" y="777240"/>
                  </a:lnTo>
                  <a:lnTo>
                    <a:pt x="589788" y="582930"/>
                  </a:lnTo>
                  <a:lnTo>
                    <a:pt x="0" y="582930"/>
                  </a:lnTo>
                  <a:lnTo>
                    <a:pt x="0" y="19431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014971" y="2394205"/>
            <a:ext cx="1188720" cy="2068195"/>
            <a:chOff x="5490971" y="2394204"/>
            <a:chExt cx="1188720" cy="206819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9927" y="2423160"/>
              <a:ext cx="1130807" cy="20101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505449" y="2408682"/>
              <a:ext cx="1160145" cy="2039620"/>
            </a:xfrm>
            <a:custGeom>
              <a:avLst/>
              <a:gdLst/>
              <a:ahLst/>
              <a:cxnLst/>
              <a:rect l="l" t="t" r="r" b="b"/>
              <a:pathLst>
                <a:path w="1160145" h="2039620">
                  <a:moveTo>
                    <a:pt x="0" y="2039112"/>
                  </a:moveTo>
                  <a:lnTo>
                    <a:pt x="1159763" y="2039112"/>
                  </a:lnTo>
                  <a:lnTo>
                    <a:pt x="1159763" y="0"/>
                  </a:lnTo>
                  <a:lnTo>
                    <a:pt x="0" y="0"/>
                  </a:lnTo>
                  <a:lnTo>
                    <a:pt x="0" y="2039112"/>
                  </a:lnTo>
                  <a:close/>
                </a:path>
              </a:pathLst>
            </a:custGeom>
            <a:ln w="289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6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7" y="1101979"/>
            <a:ext cx="60921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Il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est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possible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personnaliser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ressources,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fonction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4374135"/>
            <a:ext cx="102107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4697222"/>
            <a:ext cx="102107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5020310"/>
            <a:ext cx="102107" cy="112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5343526"/>
            <a:ext cx="102107" cy="1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5666550"/>
            <a:ext cx="102107" cy="112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87067" y="3834697"/>
            <a:ext cx="6282690" cy="232600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spcBef>
                <a:spcPts val="540"/>
              </a:spcBef>
            </a:pP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En</a:t>
            </a:r>
            <a:r>
              <a:rPr sz="2000" b="1" spc="-2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utilisant</a:t>
            </a:r>
            <a:r>
              <a:rPr sz="20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des</a:t>
            </a:r>
            <a:r>
              <a:rPr sz="2000" b="1" spc="-2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37817"/>
                </a:solidFill>
                <a:latin typeface="Calibri"/>
                <a:cs typeface="Calibri"/>
              </a:rPr>
              <a:t>qualificateurs</a:t>
            </a:r>
            <a:r>
              <a:rPr sz="20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r>
              <a:rPr sz="2000" b="1" spc="-2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exemple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390"/>
              </a:spcBef>
            </a:pPr>
            <a:r>
              <a:rPr b="1" dirty="0">
                <a:latin typeface="Calibri"/>
                <a:cs typeface="Calibri"/>
              </a:rPr>
              <a:t>Par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défaut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sz="1600" b="1" spc="-60" dirty="0">
                <a:solidFill>
                  <a:srgbClr val="0000FF"/>
                </a:solidFill>
                <a:latin typeface="Consolas"/>
                <a:cs typeface="Consolas"/>
              </a:rPr>
              <a:t>layout</a:t>
            </a:r>
            <a:r>
              <a:rPr sz="1600" b="1" spc="-59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b="1" spc="-11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pc="-75" dirty="0">
                <a:latin typeface="Calibri"/>
                <a:cs typeface="Calibri"/>
              </a:rPr>
              <a:t>layouts</a:t>
            </a:r>
            <a:r>
              <a:rPr spc="-110" dirty="0">
                <a:latin typeface="Calibri"/>
                <a:cs typeface="Calibri"/>
              </a:rPr>
              <a:t> </a:t>
            </a:r>
            <a:r>
              <a:rPr spc="-55" dirty="0">
                <a:latin typeface="Calibri"/>
                <a:cs typeface="Calibri"/>
              </a:rPr>
              <a:t>par</a:t>
            </a:r>
            <a:r>
              <a:rPr spc="-114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défaut</a:t>
            </a:r>
            <a:endParaRPr>
              <a:latin typeface="Calibri"/>
              <a:cs typeface="Calibri"/>
            </a:endParaRPr>
          </a:p>
          <a:p>
            <a:pPr marL="355600">
              <a:spcBef>
                <a:spcPts val="385"/>
              </a:spcBef>
            </a:pPr>
            <a:r>
              <a:rPr b="1" spc="-10" dirty="0">
                <a:latin typeface="Calibri"/>
                <a:cs typeface="Calibri"/>
              </a:rPr>
              <a:t>Orientation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45" dirty="0">
                <a:latin typeface="Calibri"/>
                <a:cs typeface="Calibri"/>
              </a:rPr>
              <a:t> </a:t>
            </a:r>
            <a:r>
              <a:rPr sz="1600" b="1" spc="-65" dirty="0">
                <a:solidFill>
                  <a:srgbClr val="0000FF"/>
                </a:solidFill>
                <a:latin typeface="Consolas"/>
                <a:cs typeface="Consolas"/>
              </a:rPr>
              <a:t>layout</a:t>
            </a:r>
            <a:r>
              <a:rPr sz="1600" b="1" u="sng" spc="-65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-</a:t>
            </a:r>
            <a:r>
              <a:rPr sz="1600" b="1" u="sng" spc="-55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land</a:t>
            </a:r>
            <a:r>
              <a:rPr sz="1600" b="1" spc="-5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pc="-70" dirty="0">
                <a:latin typeface="Calibri"/>
                <a:cs typeface="Calibri"/>
              </a:rPr>
              <a:t>versions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b="1" spc="-70" dirty="0">
                <a:latin typeface="Calibri"/>
                <a:cs typeface="Calibri"/>
              </a:rPr>
              <a:t>paysage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des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layouts</a:t>
            </a:r>
            <a:endParaRPr>
              <a:latin typeface="Calibri"/>
              <a:cs typeface="Calibri"/>
            </a:endParaRPr>
          </a:p>
          <a:p>
            <a:pPr marL="355600" marR="5080">
              <a:lnSpc>
                <a:spcPct val="117800"/>
              </a:lnSpc>
            </a:pPr>
            <a:r>
              <a:rPr b="1" dirty="0">
                <a:latin typeface="Calibri"/>
                <a:cs typeface="Calibri"/>
              </a:rPr>
              <a:t>Densité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45" dirty="0">
                <a:latin typeface="Calibri"/>
                <a:cs typeface="Calibri"/>
              </a:rPr>
              <a:t> </a:t>
            </a:r>
            <a:r>
              <a:rPr sz="1600" b="1" spc="-65" dirty="0">
                <a:solidFill>
                  <a:srgbClr val="0000FF"/>
                </a:solidFill>
                <a:latin typeface="Consolas"/>
                <a:cs typeface="Consolas"/>
              </a:rPr>
              <a:t>mipmap-</a:t>
            </a:r>
            <a:r>
              <a:rPr sz="1600" b="1" spc="-60" dirty="0">
                <a:solidFill>
                  <a:srgbClr val="0000FF"/>
                </a:solidFill>
                <a:latin typeface="Consolas"/>
                <a:cs typeface="Consolas"/>
              </a:rPr>
              <a:t>xxhdpi</a:t>
            </a:r>
            <a:r>
              <a:rPr sz="1600" b="1" spc="-5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pc="-70" dirty="0">
                <a:latin typeface="Calibri"/>
                <a:cs typeface="Calibri"/>
              </a:rPr>
              <a:t>icônes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pour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des</a:t>
            </a:r>
            <a:r>
              <a:rPr spc="-110" dirty="0">
                <a:latin typeface="Calibri"/>
                <a:cs typeface="Calibri"/>
              </a:rPr>
              <a:t> </a:t>
            </a:r>
            <a:r>
              <a:rPr spc="-70" dirty="0">
                <a:latin typeface="Calibri"/>
                <a:cs typeface="Calibri"/>
              </a:rPr>
              <a:t>écrans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45" dirty="0">
                <a:latin typeface="Calibri"/>
                <a:cs typeface="Calibri"/>
              </a:rPr>
              <a:t>de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70" dirty="0">
                <a:latin typeface="Calibri"/>
                <a:cs typeface="Calibri"/>
              </a:rPr>
              <a:t>densité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xxhdpi </a:t>
            </a:r>
            <a:r>
              <a:rPr b="1" spc="-20" dirty="0">
                <a:latin typeface="Calibri"/>
                <a:cs typeface="Calibri"/>
              </a:rPr>
              <a:t>Taille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45" dirty="0">
                <a:latin typeface="Calibri"/>
                <a:cs typeface="Calibri"/>
              </a:rPr>
              <a:t> </a:t>
            </a:r>
            <a:r>
              <a:rPr sz="1600" b="1" spc="-70" dirty="0">
                <a:solidFill>
                  <a:srgbClr val="0000FF"/>
                </a:solidFill>
                <a:latin typeface="Consolas"/>
                <a:cs typeface="Consolas"/>
              </a:rPr>
              <a:t>layout-</a:t>
            </a:r>
            <a:r>
              <a:rPr sz="1600" b="1" spc="-60" dirty="0">
                <a:solidFill>
                  <a:srgbClr val="0000FF"/>
                </a:solidFill>
                <a:latin typeface="Consolas"/>
                <a:cs typeface="Consolas"/>
              </a:rPr>
              <a:t>large</a:t>
            </a:r>
            <a:r>
              <a:rPr sz="1600" b="1" spc="-5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pc="-75" dirty="0">
                <a:latin typeface="Calibri"/>
                <a:cs typeface="Calibri"/>
              </a:rPr>
              <a:t>layouts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pour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des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-70" dirty="0">
                <a:latin typeface="Calibri"/>
                <a:cs typeface="Calibri"/>
              </a:rPr>
              <a:t>écrans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-45" dirty="0">
                <a:latin typeface="Calibri"/>
                <a:cs typeface="Calibri"/>
              </a:rPr>
              <a:t>de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70" dirty="0">
                <a:latin typeface="Calibri"/>
                <a:cs typeface="Calibri"/>
              </a:rPr>
              <a:t>taille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large </a:t>
            </a:r>
            <a:r>
              <a:rPr b="1" dirty="0">
                <a:latin typeface="Calibri"/>
                <a:cs typeface="Calibri"/>
              </a:rPr>
              <a:t>Langue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55" dirty="0">
                <a:latin typeface="Calibri"/>
                <a:cs typeface="Calibri"/>
              </a:rPr>
              <a:t> </a:t>
            </a:r>
            <a:r>
              <a:rPr sz="1600" b="1" spc="-65" dirty="0">
                <a:solidFill>
                  <a:srgbClr val="0000FF"/>
                </a:solidFill>
                <a:latin typeface="Consolas"/>
                <a:cs typeface="Consolas"/>
              </a:rPr>
              <a:t>values-</a:t>
            </a:r>
            <a:r>
              <a:rPr sz="1600" b="1" spc="-70" dirty="0">
                <a:solidFill>
                  <a:srgbClr val="0000FF"/>
                </a:solidFill>
                <a:latin typeface="Consolas"/>
                <a:cs typeface="Consolas"/>
              </a:rPr>
              <a:t>ar/strings.xml</a:t>
            </a:r>
            <a:r>
              <a:rPr sz="1600" b="1" spc="-5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b="1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pc="-65" dirty="0">
                <a:latin typeface="Calibri"/>
                <a:cs typeface="Calibri"/>
              </a:rPr>
              <a:t>chaînes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45" dirty="0">
                <a:latin typeface="Calibri"/>
                <a:cs typeface="Calibri"/>
              </a:rPr>
              <a:t>de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80" dirty="0">
                <a:latin typeface="Calibri"/>
                <a:cs typeface="Calibri"/>
              </a:rPr>
              <a:t>caractères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45" dirty="0">
                <a:latin typeface="Calibri"/>
                <a:cs typeface="Calibri"/>
              </a:rPr>
              <a:t>en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arabe</a:t>
            </a:r>
            <a:endParaRPr>
              <a:latin typeface="Calibri"/>
              <a:cs typeface="Calibri"/>
            </a:endParaRPr>
          </a:p>
          <a:p>
            <a:pPr marL="355600">
              <a:spcBef>
                <a:spcPts val="385"/>
              </a:spcBef>
            </a:pPr>
            <a:r>
              <a:rPr spc="-25" dirty="0">
                <a:latin typeface="Calibri"/>
                <a:cs typeface="Calibri"/>
              </a:rPr>
              <a:t>...</a:t>
            </a:r>
            <a:endParaRPr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5989637"/>
            <a:ext cx="102107" cy="11277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Prise</a:t>
            </a:r>
            <a:r>
              <a:rPr spc="-75" dirty="0"/>
              <a:t> </a:t>
            </a:r>
            <a:r>
              <a:rPr dirty="0"/>
              <a:t>en</a:t>
            </a:r>
            <a:r>
              <a:rPr spc="-85" dirty="0"/>
              <a:t> </a:t>
            </a:r>
            <a:r>
              <a:rPr dirty="0"/>
              <a:t>charge</a:t>
            </a:r>
            <a:r>
              <a:rPr spc="-75" dirty="0"/>
              <a:t> </a:t>
            </a:r>
            <a:r>
              <a:rPr dirty="0"/>
              <a:t>des</a:t>
            </a:r>
            <a:r>
              <a:rPr spc="-80" dirty="0"/>
              <a:t> </a:t>
            </a:r>
            <a:r>
              <a:rPr spc="-20" dirty="0"/>
              <a:t>différentes</a:t>
            </a:r>
            <a:r>
              <a:rPr spc="-100" dirty="0"/>
              <a:t> </a:t>
            </a:r>
            <a:r>
              <a:rPr spc="-10" dirty="0"/>
              <a:t>configurations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8409431" y="854963"/>
            <a:ext cx="2125980" cy="5439410"/>
            <a:chOff x="6885431" y="854963"/>
            <a:chExt cx="2125980" cy="543941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1255" y="890811"/>
              <a:ext cx="1814215" cy="531405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90003" y="859535"/>
              <a:ext cx="2117090" cy="5430520"/>
            </a:xfrm>
            <a:custGeom>
              <a:avLst/>
              <a:gdLst/>
              <a:ahLst/>
              <a:cxnLst/>
              <a:rect l="l" t="t" r="r" b="b"/>
              <a:pathLst>
                <a:path w="2117090" h="5430520">
                  <a:moveTo>
                    <a:pt x="0" y="5430012"/>
                  </a:moveTo>
                  <a:lnTo>
                    <a:pt x="2116836" y="5430012"/>
                  </a:lnTo>
                  <a:lnTo>
                    <a:pt x="2116836" y="0"/>
                  </a:lnTo>
                  <a:lnTo>
                    <a:pt x="0" y="0"/>
                  </a:lnTo>
                  <a:lnTo>
                    <a:pt x="0" y="5430012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105911" y="1517903"/>
            <a:ext cx="2545080" cy="2216150"/>
            <a:chOff x="1581911" y="1517903"/>
            <a:chExt cx="2545080" cy="221615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1911" y="1517903"/>
              <a:ext cx="2545080" cy="221589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89225" y="1732025"/>
              <a:ext cx="480059" cy="273050"/>
            </a:xfrm>
            <a:custGeom>
              <a:avLst/>
              <a:gdLst/>
              <a:ahLst/>
              <a:cxnLst/>
              <a:rect l="l" t="t" r="r" b="b"/>
              <a:pathLst>
                <a:path w="480060" h="273050">
                  <a:moveTo>
                    <a:pt x="0" y="272796"/>
                  </a:moveTo>
                  <a:lnTo>
                    <a:pt x="480060" y="272796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437121" y="1493520"/>
            <a:ext cx="643255" cy="520065"/>
            <a:chOff x="5913120" y="1493519"/>
            <a:chExt cx="643255" cy="520065"/>
          </a:xfrm>
        </p:grpSpPr>
        <p:sp>
          <p:nvSpPr>
            <p:cNvPr id="18" name="object 18"/>
            <p:cNvSpPr/>
            <p:nvPr/>
          </p:nvSpPr>
          <p:spPr>
            <a:xfrm>
              <a:off x="5919216" y="1499615"/>
              <a:ext cx="631190" cy="508000"/>
            </a:xfrm>
            <a:custGeom>
              <a:avLst/>
              <a:gdLst/>
              <a:ahLst/>
              <a:cxnLst/>
              <a:rect l="l" t="t" r="r" b="b"/>
              <a:pathLst>
                <a:path w="631190" h="508000">
                  <a:moveTo>
                    <a:pt x="377189" y="0"/>
                  </a:moveTo>
                  <a:lnTo>
                    <a:pt x="377189" y="126873"/>
                  </a:lnTo>
                  <a:lnTo>
                    <a:pt x="0" y="126873"/>
                  </a:lnTo>
                  <a:lnTo>
                    <a:pt x="0" y="380619"/>
                  </a:lnTo>
                  <a:lnTo>
                    <a:pt x="377189" y="380619"/>
                  </a:lnTo>
                  <a:lnTo>
                    <a:pt x="377189" y="507492"/>
                  </a:lnTo>
                  <a:lnTo>
                    <a:pt x="630936" y="253746"/>
                  </a:lnTo>
                  <a:lnTo>
                    <a:pt x="377189" y="0"/>
                  </a:lnTo>
                  <a:close/>
                </a:path>
              </a:pathLst>
            </a:custGeom>
            <a:solidFill>
              <a:srgbClr val="3A8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19216" y="1499615"/>
              <a:ext cx="631190" cy="508000"/>
            </a:xfrm>
            <a:custGeom>
              <a:avLst/>
              <a:gdLst/>
              <a:ahLst/>
              <a:cxnLst/>
              <a:rect l="l" t="t" r="r" b="b"/>
              <a:pathLst>
                <a:path w="631190" h="508000">
                  <a:moveTo>
                    <a:pt x="0" y="126873"/>
                  </a:moveTo>
                  <a:lnTo>
                    <a:pt x="377189" y="126873"/>
                  </a:lnTo>
                  <a:lnTo>
                    <a:pt x="377189" y="0"/>
                  </a:lnTo>
                  <a:lnTo>
                    <a:pt x="630936" y="253746"/>
                  </a:lnTo>
                  <a:lnTo>
                    <a:pt x="377189" y="507492"/>
                  </a:lnTo>
                  <a:lnTo>
                    <a:pt x="377189" y="380619"/>
                  </a:lnTo>
                  <a:lnTo>
                    <a:pt x="0" y="380619"/>
                  </a:lnTo>
                  <a:lnTo>
                    <a:pt x="0" y="12687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7</a:t>
            </a:fld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690" y="1600580"/>
            <a:ext cx="88391" cy="990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45478" y="1429415"/>
            <a:ext cx="1898650" cy="181038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spcBef>
                <a:spcPts val="515"/>
              </a:spcBef>
            </a:pPr>
            <a:r>
              <a:rPr sz="1600" dirty="0">
                <a:latin typeface="Calibri"/>
                <a:cs typeface="Calibri"/>
              </a:rPr>
              <a:t>36 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36 </a:t>
            </a:r>
            <a:r>
              <a:rPr sz="1600" spc="-10" dirty="0">
                <a:latin typeface="Calibri"/>
                <a:cs typeface="Calibri"/>
              </a:rPr>
              <a:t>(0.75x)</a:t>
            </a:r>
            <a:endParaRPr sz="1600">
              <a:latin typeface="Calibri"/>
              <a:cs typeface="Calibri"/>
            </a:endParaRPr>
          </a:p>
          <a:p>
            <a:pPr marL="12700">
              <a:spcBef>
                <a:spcPts val="420"/>
              </a:spcBef>
            </a:pPr>
            <a:r>
              <a:rPr sz="1600" b="1" dirty="0">
                <a:latin typeface="Calibri"/>
                <a:cs typeface="Calibri"/>
              </a:rPr>
              <a:t>48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x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48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(1.0x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baseline)</a:t>
            </a:r>
            <a:endParaRPr sz="1600">
              <a:latin typeface="Calibri"/>
              <a:cs typeface="Calibri"/>
            </a:endParaRPr>
          </a:p>
          <a:p>
            <a:pPr marL="12700">
              <a:spcBef>
                <a:spcPts val="425"/>
              </a:spcBef>
            </a:pPr>
            <a:r>
              <a:rPr sz="1600" dirty="0">
                <a:latin typeface="Calibri"/>
                <a:cs typeface="Calibri"/>
              </a:rPr>
              <a:t>72 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72 </a:t>
            </a:r>
            <a:r>
              <a:rPr sz="1600" spc="-10" dirty="0">
                <a:latin typeface="Calibri"/>
                <a:cs typeface="Calibri"/>
              </a:rPr>
              <a:t>(1.5x)</a:t>
            </a:r>
            <a:endParaRPr sz="1600">
              <a:latin typeface="Calibri"/>
              <a:cs typeface="Calibri"/>
            </a:endParaRPr>
          </a:p>
          <a:p>
            <a:pPr marL="12700">
              <a:spcBef>
                <a:spcPts val="430"/>
              </a:spcBef>
            </a:pPr>
            <a:r>
              <a:rPr sz="1600" dirty="0">
                <a:latin typeface="Calibri"/>
                <a:cs typeface="Calibri"/>
              </a:rPr>
              <a:t>96 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96 </a:t>
            </a:r>
            <a:r>
              <a:rPr sz="1600" spc="-10" dirty="0">
                <a:latin typeface="Calibri"/>
                <a:cs typeface="Calibri"/>
              </a:rPr>
              <a:t>(2.0x)</a:t>
            </a:r>
            <a:endParaRPr sz="1600">
              <a:latin typeface="Calibri"/>
              <a:cs typeface="Calibri"/>
            </a:endParaRPr>
          </a:p>
          <a:p>
            <a:pPr marL="12700">
              <a:spcBef>
                <a:spcPts val="420"/>
              </a:spcBef>
            </a:pPr>
            <a:r>
              <a:rPr sz="1600" dirty="0">
                <a:latin typeface="Calibri"/>
                <a:cs typeface="Calibri"/>
              </a:rPr>
              <a:t>144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144</a:t>
            </a:r>
            <a:r>
              <a:rPr sz="1600" spc="-10" dirty="0">
                <a:latin typeface="Calibri"/>
                <a:cs typeface="Calibri"/>
              </a:rPr>
              <a:t> (3.0x)</a:t>
            </a:r>
            <a:endParaRPr sz="1600">
              <a:latin typeface="Calibri"/>
              <a:cs typeface="Calibri"/>
            </a:endParaRPr>
          </a:p>
          <a:p>
            <a:pPr marL="12700">
              <a:spcBef>
                <a:spcPts val="420"/>
              </a:spcBef>
            </a:pPr>
            <a:r>
              <a:rPr sz="1600" dirty="0">
                <a:latin typeface="Calibri"/>
                <a:cs typeface="Calibri"/>
              </a:rPr>
              <a:t>192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192</a:t>
            </a:r>
            <a:r>
              <a:rPr sz="1600" spc="-10" dirty="0">
                <a:latin typeface="Calibri"/>
                <a:cs typeface="Calibri"/>
              </a:rPr>
              <a:t> (4.0x)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690" y="1897760"/>
            <a:ext cx="88391" cy="990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690" y="2194814"/>
            <a:ext cx="88391" cy="99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690" y="2493645"/>
            <a:ext cx="88391" cy="990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690" y="2790825"/>
            <a:ext cx="88391" cy="990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690" y="3088004"/>
            <a:ext cx="88391" cy="990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87245" y="1023748"/>
            <a:ext cx="3319145" cy="22161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spcBef>
                <a:spcPts val="660"/>
              </a:spcBef>
            </a:pP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Images</a:t>
            </a:r>
            <a:r>
              <a:rPr sz="2200" b="1" spc="-114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matricielles</a:t>
            </a:r>
            <a:r>
              <a:rPr sz="2200" b="1" spc="-8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92405" marR="337820" algn="just">
              <a:lnSpc>
                <a:spcPts val="2340"/>
              </a:lnSpc>
              <a:spcBef>
                <a:spcPts val="140"/>
              </a:spcBef>
            </a:pPr>
            <a:r>
              <a:rPr sz="1600" spc="-10" dirty="0">
                <a:latin typeface="Consolas"/>
                <a:cs typeface="Consolas"/>
              </a:rPr>
              <a:t>drawable</a:t>
            </a:r>
            <a:r>
              <a:rPr sz="16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-ldpi</a:t>
            </a:r>
            <a:r>
              <a:rPr sz="1600" spc="-10" dirty="0">
                <a:latin typeface="Consolas"/>
                <a:cs typeface="Consolas"/>
              </a:rPr>
              <a:t>/graphic.png drawable-mdpi/graphic.png drawable-hdpi/graphic.png</a:t>
            </a:r>
            <a:endParaRPr sz="1600">
              <a:latin typeface="Consolas"/>
              <a:cs typeface="Consolas"/>
            </a:endParaRPr>
          </a:p>
          <a:p>
            <a:pPr marL="192405" marR="5080">
              <a:lnSpc>
                <a:spcPts val="2340"/>
              </a:lnSpc>
            </a:pPr>
            <a:r>
              <a:rPr sz="1600" spc="-10" dirty="0">
                <a:latin typeface="Consolas"/>
                <a:cs typeface="Consolas"/>
              </a:rPr>
              <a:t>drawable-xhdpi/graphic.png drawable-xxhdpi/graphic.png drawable-xxxhdpi/graphic.png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758" y="3799714"/>
            <a:ext cx="102108" cy="112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758" y="4104513"/>
            <a:ext cx="102108" cy="1051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9454" y="4004817"/>
            <a:ext cx="429768" cy="26060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689" y="5178933"/>
            <a:ext cx="102108" cy="11277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4274" y="5385816"/>
            <a:ext cx="454151" cy="27431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87245" y="3310604"/>
            <a:ext cx="6513195" cy="235140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spcBef>
                <a:spcPts val="330"/>
              </a:spcBef>
            </a:pPr>
            <a:r>
              <a:rPr dirty="0">
                <a:solidFill>
                  <a:srgbClr val="3A8B39"/>
                </a:solidFill>
                <a:latin typeface="Wingdings"/>
                <a:cs typeface="Wingdings"/>
              </a:rPr>
              <a:t></a:t>
            </a:r>
            <a:r>
              <a:rPr spc="-45" dirty="0">
                <a:solidFill>
                  <a:srgbClr val="3A8B3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Android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Drawable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Importer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(Plugin)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815340" marR="5080">
              <a:lnSpc>
                <a:spcPct val="108300"/>
              </a:lnSpc>
              <a:spcBef>
                <a:spcPts val="25"/>
              </a:spcBef>
              <a:tabLst>
                <a:tab pos="3484879" algn="l"/>
              </a:tabLst>
            </a:pP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Installation</a:t>
            </a:r>
            <a:r>
              <a:rPr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b="1" spc="-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Settings…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C00000"/>
                </a:solidFill>
                <a:latin typeface="Calibri"/>
                <a:cs typeface="Calibri"/>
              </a:rPr>
              <a:t>&gt; </a:t>
            </a:r>
            <a:r>
              <a:rPr sz="1700" b="1" dirty="0">
                <a:latin typeface="Calibri"/>
                <a:cs typeface="Calibri"/>
              </a:rPr>
              <a:t>Plugins</a:t>
            </a:r>
            <a:r>
              <a:rPr sz="1700" b="1" spc="-15" dirty="0"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17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Browse</a:t>
            </a:r>
            <a:r>
              <a:rPr sz="1700" b="1" spc="-4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repositories…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spc="-50" dirty="0">
                <a:solidFill>
                  <a:srgbClr val="C00000"/>
                </a:solidFill>
                <a:latin typeface="Calibri"/>
                <a:cs typeface="Calibri"/>
              </a:rPr>
              <a:t>&gt; </a:t>
            </a:r>
            <a:r>
              <a:rPr sz="1700" b="1" dirty="0">
                <a:solidFill>
                  <a:srgbClr val="3A8B39"/>
                </a:solidFill>
                <a:latin typeface="Calibri"/>
                <a:cs typeface="Calibri"/>
              </a:rPr>
              <a:t>Utilisation</a:t>
            </a:r>
            <a:r>
              <a:rPr sz="17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1700" b="1" spc="-1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res/drawable</a:t>
            </a:r>
            <a:r>
              <a:rPr b="1" dirty="0">
                <a:latin typeface="Calibri"/>
                <a:cs typeface="Calibri"/>
              </a:rPr>
              <a:t>	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New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Batch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Drawable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Import</a:t>
            </a:r>
            <a:endParaRPr>
              <a:latin typeface="Calibri"/>
              <a:cs typeface="Calibri"/>
            </a:endParaRPr>
          </a:p>
          <a:p>
            <a:pPr>
              <a:spcBef>
                <a:spcPts val="1830"/>
              </a:spcBef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ts val="2545"/>
              </a:lnSpc>
            </a:pP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Icônes</a:t>
            </a:r>
            <a:r>
              <a:rPr sz="22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vectorielles</a:t>
            </a:r>
            <a:r>
              <a:rPr sz="2200" b="1" spc="-1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22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(Material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ou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SVG)</a:t>
            </a:r>
            <a:endParaRPr sz="2000">
              <a:latin typeface="Calibri"/>
              <a:cs typeface="Calibri"/>
            </a:endParaRPr>
          </a:p>
          <a:p>
            <a:pPr marL="125095">
              <a:lnSpc>
                <a:spcPts val="2065"/>
              </a:lnSpc>
            </a:pPr>
            <a:r>
              <a:rPr b="1" spc="-20" dirty="0">
                <a:latin typeface="Calibri"/>
                <a:cs typeface="Calibri"/>
              </a:rPr>
              <a:t>drawable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-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anydpi</a:t>
            </a:r>
            <a:r>
              <a:rPr b="1" spc="-10" dirty="0">
                <a:latin typeface="Calibri"/>
                <a:cs typeface="Calibri"/>
              </a:rPr>
              <a:t>/graphic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.xml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175"/>
              </a:spcBef>
              <a:tabLst>
                <a:tab pos="3193415" algn="l"/>
              </a:tabLst>
            </a:pPr>
            <a:r>
              <a:rPr sz="1900" dirty="0">
                <a:solidFill>
                  <a:srgbClr val="3A8B39"/>
                </a:solidFill>
                <a:latin typeface="Wingdings"/>
                <a:cs typeface="Wingdings"/>
              </a:rPr>
              <a:t></a:t>
            </a:r>
            <a:r>
              <a:rPr sz="1900" spc="-85" dirty="0">
                <a:solidFill>
                  <a:srgbClr val="3A8B3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A8B39"/>
                </a:solidFill>
                <a:latin typeface="Calibri"/>
                <a:cs typeface="Calibri"/>
              </a:rPr>
              <a:t>Utilisation</a:t>
            </a:r>
            <a:r>
              <a:rPr sz="19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19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res/drawable</a:t>
            </a:r>
            <a:r>
              <a:rPr sz="1900" b="1" dirty="0">
                <a:latin typeface="Calibri"/>
                <a:cs typeface="Calibri"/>
              </a:rPr>
              <a:t>	</a:t>
            </a:r>
            <a:r>
              <a:rPr sz="1900"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19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New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19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Vector</a:t>
            </a:r>
            <a:r>
              <a:rPr sz="1900" b="1" spc="-10" dirty="0">
                <a:latin typeface="Calibri"/>
                <a:cs typeface="Calibri"/>
              </a:rPr>
              <a:t> Asset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10" dirty="0"/>
              <a:t>Drawables</a:t>
            </a:r>
            <a:r>
              <a:rPr spc="-65" dirty="0"/>
              <a:t> </a:t>
            </a:r>
            <a:r>
              <a:rPr dirty="0"/>
              <a:t>et</a:t>
            </a:r>
            <a:r>
              <a:rPr spc="-85" dirty="0"/>
              <a:t> </a:t>
            </a:r>
            <a:r>
              <a:rPr dirty="0"/>
              <a:t>densité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l’écran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27135" y="1251203"/>
            <a:ext cx="1876044" cy="190195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53629" y="3691128"/>
            <a:ext cx="598931" cy="3048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3871" y="1168909"/>
            <a:ext cx="787388" cy="45086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41217" y="4641861"/>
            <a:ext cx="877468" cy="65818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8</a:t>
            </a:fld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10" dirty="0"/>
              <a:t>Internationalisation</a:t>
            </a:r>
            <a:r>
              <a:rPr spc="-130" dirty="0"/>
              <a:t> </a:t>
            </a:r>
            <a:r>
              <a:rPr spc="-10" dirty="0"/>
              <a:t>(1/2)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69948" y="1966010"/>
            <a:ext cx="8570595" cy="1753870"/>
            <a:chOff x="345947" y="1966010"/>
            <a:chExt cx="8570595" cy="1753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39" y="1996200"/>
              <a:ext cx="3874818" cy="4995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1966010"/>
              <a:ext cx="3173730" cy="6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2011680"/>
              <a:ext cx="3726179" cy="350520"/>
            </a:xfrm>
            <a:custGeom>
              <a:avLst/>
              <a:gdLst/>
              <a:ahLst/>
              <a:cxnLst/>
              <a:rect l="l" t="t" r="r" b="b"/>
              <a:pathLst>
                <a:path w="3726179" h="350519">
                  <a:moveTo>
                    <a:pt x="3564763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7"/>
                  </a:lnTo>
                  <a:lnTo>
                    <a:pt x="0" y="350520"/>
                  </a:lnTo>
                  <a:lnTo>
                    <a:pt x="3726180" y="350520"/>
                  </a:lnTo>
                  <a:lnTo>
                    <a:pt x="3726180" y="161417"/>
                  </a:lnTo>
                  <a:lnTo>
                    <a:pt x="3720414" y="118503"/>
                  </a:lnTo>
                  <a:lnTo>
                    <a:pt x="3704143" y="79944"/>
                  </a:lnTo>
                  <a:lnTo>
                    <a:pt x="3678904" y="47275"/>
                  </a:lnTo>
                  <a:lnTo>
                    <a:pt x="3646235" y="22036"/>
                  </a:lnTo>
                  <a:lnTo>
                    <a:pt x="3607676" y="5765"/>
                  </a:lnTo>
                  <a:lnTo>
                    <a:pt x="3564763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2333244"/>
              <a:ext cx="8570214" cy="13235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523" y="2385059"/>
              <a:ext cx="5087874" cy="1334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4903" y="2362200"/>
              <a:ext cx="8394700" cy="1148080"/>
            </a:xfrm>
            <a:custGeom>
              <a:avLst/>
              <a:gdLst/>
              <a:ahLst/>
              <a:cxnLst/>
              <a:rect l="l" t="t" r="r" b="b"/>
              <a:pathLst>
                <a:path w="8394700" h="1148079">
                  <a:moveTo>
                    <a:pt x="8164195" y="0"/>
                  </a:moveTo>
                  <a:lnTo>
                    <a:pt x="0" y="0"/>
                  </a:lnTo>
                  <a:lnTo>
                    <a:pt x="0" y="917575"/>
                  </a:lnTo>
                  <a:lnTo>
                    <a:pt x="4671" y="963920"/>
                  </a:lnTo>
                  <a:lnTo>
                    <a:pt x="18069" y="1007090"/>
                  </a:lnTo>
                  <a:lnTo>
                    <a:pt x="39270" y="1046158"/>
                  </a:lnTo>
                  <a:lnTo>
                    <a:pt x="67348" y="1080198"/>
                  </a:lnTo>
                  <a:lnTo>
                    <a:pt x="101379" y="1108285"/>
                  </a:lnTo>
                  <a:lnTo>
                    <a:pt x="140438" y="1129494"/>
                  </a:lnTo>
                  <a:lnTo>
                    <a:pt x="183602" y="1142898"/>
                  </a:lnTo>
                  <a:lnTo>
                    <a:pt x="229946" y="1147572"/>
                  </a:lnTo>
                  <a:lnTo>
                    <a:pt x="8394192" y="1147572"/>
                  </a:lnTo>
                  <a:lnTo>
                    <a:pt x="8394192" y="229997"/>
                  </a:lnTo>
                  <a:lnTo>
                    <a:pt x="8389518" y="183651"/>
                  </a:lnTo>
                  <a:lnTo>
                    <a:pt x="8376114" y="140481"/>
                  </a:lnTo>
                  <a:lnTo>
                    <a:pt x="8354905" y="101413"/>
                  </a:lnTo>
                  <a:lnTo>
                    <a:pt x="8326818" y="67373"/>
                  </a:lnTo>
                  <a:lnTo>
                    <a:pt x="8292778" y="39286"/>
                  </a:lnTo>
                  <a:lnTo>
                    <a:pt x="8253710" y="18077"/>
                  </a:lnTo>
                  <a:lnTo>
                    <a:pt x="8210540" y="4673"/>
                  </a:lnTo>
                  <a:lnTo>
                    <a:pt x="8164195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2215421" y="1327620"/>
            <a:ext cx="9545320" cy="2139084"/>
          </a:xfrm>
          <a:prstGeom prst="rect">
            <a:avLst/>
          </a:prstGeom>
        </p:spPr>
        <p:txBody>
          <a:bodyPr vert="horz" wrap="square" lIns="0" tIns="718857" rIns="0" bIns="0" rtlCol="0">
            <a:spAutoFit/>
          </a:bodyPr>
          <a:lstStyle/>
          <a:p>
            <a:pPr>
              <a:spcBef>
                <a:spcPts val="105"/>
              </a:spcBef>
            </a:pPr>
            <a:r>
              <a:rPr sz="1700" spc="-10" dirty="0">
                <a:solidFill>
                  <a:srgbClr val="FFFFFF"/>
                </a:solidFill>
                <a:latin typeface="Consolas"/>
                <a:cs typeface="Consolas"/>
              </a:rPr>
              <a:t>/res/values/strings.xml</a:t>
            </a:r>
            <a:endParaRPr sz="1700">
              <a:latin typeface="Consolas"/>
              <a:cs typeface="Consolas"/>
            </a:endParaRPr>
          </a:p>
          <a:p>
            <a:pPr marL="14604">
              <a:spcBef>
                <a:spcPts val="1250"/>
              </a:spcBef>
            </a:pPr>
            <a:r>
              <a:rPr sz="1600" b="0" spc="-10" dirty="0">
                <a:solidFill>
                  <a:srgbClr val="0000FF"/>
                </a:solidFill>
                <a:latin typeface="Consolas"/>
                <a:cs typeface="Consolas"/>
              </a:rPr>
              <a:t>&lt;resources&gt;</a:t>
            </a:r>
            <a:endParaRPr sz="1600">
              <a:latin typeface="Consolas"/>
              <a:cs typeface="Consolas"/>
            </a:endParaRPr>
          </a:p>
          <a:p>
            <a:pPr marL="570865"/>
            <a:r>
              <a:rPr sz="1600" b="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&lt;string</a:t>
            </a:r>
            <a:r>
              <a:rPr sz="1600" b="0" u="sng" spc="-6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b="0" u="sng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name=</a:t>
            </a:r>
            <a:r>
              <a:rPr sz="1600" b="0" u="sng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"hello"</a:t>
            </a:r>
            <a:r>
              <a:rPr sz="1600" b="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&gt;</a:t>
            </a:r>
            <a:r>
              <a:rPr sz="1600" b="0" u="sng" spc="-45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b="0" u="sng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Hello</a:t>
            </a:r>
            <a:r>
              <a:rPr sz="1600" b="0" u="sng" spc="-45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b="0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&lt;/string&gt;</a:t>
            </a:r>
            <a:endParaRPr sz="1600">
              <a:latin typeface="Consolas"/>
              <a:cs typeface="Consolas"/>
            </a:endParaRPr>
          </a:p>
          <a:p>
            <a:pPr marL="570865"/>
            <a:r>
              <a:rPr sz="1600" b="0" spc="-25" dirty="0">
                <a:solidFill>
                  <a:srgbClr val="000000"/>
                </a:solidFill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14604"/>
            <a:r>
              <a:rPr sz="1600" b="0" spc="-10" dirty="0">
                <a:solidFill>
                  <a:srgbClr val="0000FF"/>
                </a:solidFill>
                <a:latin typeface="Consolas"/>
                <a:cs typeface="Consolas"/>
              </a:rPr>
              <a:t>&lt;/resources&gt;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05829" y="937261"/>
            <a:ext cx="3287395" cy="1251585"/>
            <a:chOff x="5481828" y="937260"/>
            <a:chExt cx="3287395" cy="125158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1828" y="937260"/>
              <a:ext cx="3287268" cy="12512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85126" y="1369314"/>
              <a:ext cx="1024255" cy="283845"/>
            </a:xfrm>
            <a:custGeom>
              <a:avLst/>
              <a:gdLst/>
              <a:ahLst/>
              <a:cxnLst/>
              <a:rect l="l" t="t" r="r" b="b"/>
              <a:pathLst>
                <a:path w="1024254" h="283844">
                  <a:moveTo>
                    <a:pt x="0" y="283463"/>
                  </a:moveTo>
                  <a:lnTo>
                    <a:pt x="1024127" y="283463"/>
                  </a:lnTo>
                  <a:lnTo>
                    <a:pt x="1024127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906525" y="4032555"/>
            <a:ext cx="8570595" cy="1755139"/>
            <a:chOff x="382524" y="4032554"/>
            <a:chExt cx="8570595" cy="1755139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231" y="4062744"/>
              <a:ext cx="3838210" cy="4995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8" y="4032554"/>
              <a:ext cx="3531870" cy="6285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1480" y="4078223"/>
              <a:ext cx="3689985" cy="350520"/>
            </a:xfrm>
            <a:custGeom>
              <a:avLst/>
              <a:gdLst/>
              <a:ahLst/>
              <a:cxnLst/>
              <a:rect l="l" t="t" r="r" b="b"/>
              <a:pathLst>
                <a:path w="3689985" h="350520">
                  <a:moveTo>
                    <a:pt x="3528187" y="0"/>
                  </a:moveTo>
                  <a:lnTo>
                    <a:pt x="161417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7"/>
                  </a:lnTo>
                  <a:lnTo>
                    <a:pt x="0" y="350519"/>
                  </a:lnTo>
                  <a:lnTo>
                    <a:pt x="3689604" y="350519"/>
                  </a:lnTo>
                  <a:lnTo>
                    <a:pt x="3689604" y="161417"/>
                  </a:lnTo>
                  <a:lnTo>
                    <a:pt x="3683838" y="118503"/>
                  </a:lnTo>
                  <a:lnTo>
                    <a:pt x="3667567" y="79944"/>
                  </a:lnTo>
                  <a:lnTo>
                    <a:pt x="3642328" y="47275"/>
                  </a:lnTo>
                  <a:lnTo>
                    <a:pt x="3609659" y="22036"/>
                  </a:lnTo>
                  <a:lnTo>
                    <a:pt x="3571100" y="5765"/>
                  </a:lnTo>
                  <a:lnTo>
                    <a:pt x="3528187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524" y="4399787"/>
              <a:ext cx="8570214" cy="13235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9100" y="4453140"/>
              <a:ext cx="4831842" cy="13342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1480" y="4428743"/>
              <a:ext cx="8394700" cy="1148080"/>
            </a:xfrm>
            <a:custGeom>
              <a:avLst/>
              <a:gdLst/>
              <a:ahLst/>
              <a:cxnLst/>
              <a:rect l="l" t="t" r="r" b="b"/>
              <a:pathLst>
                <a:path w="8394700" h="1148079">
                  <a:moveTo>
                    <a:pt x="8164195" y="0"/>
                  </a:moveTo>
                  <a:lnTo>
                    <a:pt x="0" y="0"/>
                  </a:lnTo>
                  <a:lnTo>
                    <a:pt x="0" y="917574"/>
                  </a:lnTo>
                  <a:lnTo>
                    <a:pt x="4671" y="963920"/>
                  </a:lnTo>
                  <a:lnTo>
                    <a:pt x="18069" y="1007090"/>
                  </a:lnTo>
                  <a:lnTo>
                    <a:pt x="39270" y="1046158"/>
                  </a:lnTo>
                  <a:lnTo>
                    <a:pt x="67348" y="1080198"/>
                  </a:lnTo>
                  <a:lnTo>
                    <a:pt x="101379" y="1108285"/>
                  </a:lnTo>
                  <a:lnTo>
                    <a:pt x="140438" y="1129494"/>
                  </a:lnTo>
                  <a:lnTo>
                    <a:pt x="183602" y="1142898"/>
                  </a:lnTo>
                  <a:lnTo>
                    <a:pt x="229946" y="1147571"/>
                  </a:lnTo>
                  <a:lnTo>
                    <a:pt x="8394192" y="1147571"/>
                  </a:lnTo>
                  <a:lnTo>
                    <a:pt x="8394192" y="229996"/>
                  </a:lnTo>
                  <a:lnTo>
                    <a:pt x="8389518" y="183651"/>
                  </a:lnTo>
                  <a:lnTo>
                    <a:pt x="8376114" y="140481"/>
                  </a:lnTo>
                  <a:lnTo>
                    <a:pt x="8354905" y="101413"/>
                  </a:lnTo>
                  <a:lnTo>
                    <a:pt x="8326818" y="67373"/>
                  </a:lnTo>
                  <a:lnTo>
                    <a:pt x="8292778" y="39286"/>
                  </a:lnTo>
                  <a:lnTo>
                    <a:pt x="8253710" y="18077"/>
                  </a:lnTo>
                  <a:lnTo>
                    <a:pt x="8210540" y="4673"/>
                  </a:lnTo>
                  <a:lnTo>
                    <a:pt x="8164195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61464" y="4100321"/>
            <a:ext cx="4458335" cy="1419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b="1" spc="-20" dirty="0">
                <a:solidFill>
                  <a:srgbClr val="FFFFFF"/>
                </a:solidFill>
                <a:latin typeface="Consolas"/>
                <a:cs typeface="Consolas"/>
              </a:rPr>
              <a:t>/res/values</a:t>
            </a:r>
            <a:r>
              <a:rPr sz="1700" b="1" u="sng" spc="-20" dirty="0">
                <a:solidFill>
                  <a:srgbClr val="FFFF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-</a:t>
            </a:r>
            <a:r>
              <a:rPr sz="1700" b="1" u="sng" spc="-10" dirty="0">
                <a:solidFill>
                  <a:srgbClr val="FFFF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ar</a:t>
            </a: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/strings.xml</a:t>
            </a:r>
            <a:endParaRPr sz="1700">
              <a:latin typeface="Consolas"/>
              <a:cs typeface="Consolas"/>
            </a:endParaRPr>
          </a:p>
          <a:p>
            <a:pPr marL="32384">
              <a:spcBef>
                <a:spcPts val="1255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&lt;resources&gt;</a:t>
            </a:r>
            <a:endParaRPr sz="1600">
              <a:latin typeface="Consolas"/>
              <a:cs typeface="Consolas"/>
            </a:endParaRPr>
          </a:p>
          <a:p>
            <a:pPr marL="588645">
              <a:lnSpc>
                <a:spcPts val="1914"/>
              </a:lnSpc>
              <a:spcBef>
                <a:spcPts val="15"/>
              </a:spcBef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&lt;string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name=</a:t>
            </a:r>
            <a:r>
              <a:rPr sz="1600" u="sng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"hello"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&gt;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0" dirty="0"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مالس</a:t>
            </a:r>
            <a:r>
              <a:rPr sz="1600" u="sng" spc="325" dirty="0"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&lt;/string&gt;</a:t>
            </a:r>
            <a:endParaRPr sz="1600">
              <a:latin typeface="Consolas"/>
              <a:cs typeface="Consolas"/>
            </a:endParaRPr>
          </a:p>
          <a:p>
            <a:pPr marL="588645">
              <a:lnSpc>
                <a:spcPts val="1914"/>
              </a:lnSpc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2384"/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&lt;/resources&gt;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9</a:t>
            </a:fld>
            <a:endParaRPr spc="-25" dirty="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10" dirty="0"/>
              <a:t>Internationalisation</a:t>
            </a:r>
            <a:r>
              <a:rPr spc="-130" dirty="0"/>
              <a:t> </a:t>
            </a:r>
            <a:r>
              <a:rPr spc="-10" dirty="0"/>
              <a:t>(2/2)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69948" y="2186990"/>
            <a:ext cx="8570595" cy="3640454"/>
            <a:chOff x="345947" y="2186990"/>
            <a:chExt cx="8570595" cy="36404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39" y="2217180"/>
              <a:ext cx="3874818" cy="4995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2186990"/>
              <a:ext cx="3292602" cy="6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2232659"/>
              <a:ext cx="3726179" cy="350520"/>
            </a:xfrm>
            <a:custGeom>
              <a:avLst/>
              <a:gdLst/>
              <a:ahLst/>
              <a:cxnLst/>
              <a:rect l="l" t="t" r="r" b="b"/>
              <a:pathLst>
                <a:path w="3726179" h="350519">
                  <a:moveTo>
                    <a:pt x="3564763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726180" y="350519"/>
                  </a:lnTo>
                  <a:lnTo>
                    <a:pt x="3726180" y="161416"/>
                  </a:lnTo>
                  <a:lnTo>
                    <a:pt x="3720414" y="118503"/>
                  </a:lnTo>
                  <a:lnTo>
                    <a:pt x="3704143" y="79944"/>
                  </a:lnTo>
                  <a:lnTo>
                    <a:pt x="3678904" y="47275"/>
                  </a:lnTo>
                  <a:lnTo>
                    <a:pt x="3646235" y="22036"/>
                  </a:lnTo>
                  <a:lnTo>
                    <a:pt x="3607676" y="5765"/>
                  </a:lnTo>
                  <a:lnTo>
                    <a:pt x="3564763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2554223"/>
              <a:ext cx="8570214" cy="32727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667" y="2615171"/>
              <a:ext cx="6643878" cy="30411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4903" y="2583179"/>
              <a:ext cx="8394700" cy="3096895"/>
            </a:xfrm>
            <a:custGeom>
              <a:avLst/>
              <a:gdLst/>
              <a:ahLst/>
              <a:cxnLst/>
              <a:rect l="l" t="t" r="r" b="b"/>
              <a:pathLst>
                <a:path w="8394700" h="3096895">
                  <a:moveTo>
                    <a:pt x="8133842" y="0"/>
                  </a:moveTo>
                  <a:lnTo>
                    <a:pt x="0" y="0"/>
                  </a:lnTo>
                  <a:lnTo>
                    <a:pt x="0" y="2836418"/>
                  </a:lnTo>
                  <a:lnTo>
                    <a:pt x="4194" y="2883210"/>
                  </a:lnTo>
                  <a:lnTo>
                    <a:pt x="16289" y="2927253"/>
                  </a:lnTo>
                  <a:lnTo>
                    <a:pt x="35548" y="2967811"/>
                  </a:lnTo>
                  <a:lnTo>
                    <a:pt x="61236" y="3004148"/>
                  </a:lnTo>
                  <a:lnTo>
                    <a:pt x="92618" y="3035529"/>
                  </a:lnTo>
                  <a:lnTo>
                    <a:pt x="128958" y="3061217"/>
                  </a:lnTo>
                  <a:lnTo>
                    <a:pt x="169521" y="3080477"/>
                  </a:lnTo>
                  <a:lnTo>
                    <a:pt x="213572" y="3092572"/>
                  </a:lnTo>
                  <a:lnTo>
                    <a:pt x="260375" y="3096768"/>
                  </a:lnTo>
                  <a:lnTo>
                    <a:pt x="8394192" y="3096768"/>
                  </a:lnTo>
                  <a:lnTo>
                    <a:pt x="8394192" y="260350"/>
                  </a:lnTo>
                  <a:lnTo>
                    <a:pt x="8389996" y="213557"/>
                  </a:lnTo>
                  <a:lnTo>
                    <a:pt x="8377901" y="169514"/>
                  </a:lnTo>
                  <a:lnTo>
                    <a:pt x="8358641" y="128956"/>
                  </a:lnTo>
                  <a:lnTo>
                    <a:pt x="8332953" y="92619"/>
                  </a:lnTo>
                  <a:lnTo>
                    <a:pt x="8301572" y="61238"/>
                  </a:lnTo>
                  <a:lnTo>
                    <a:pt x="8265235" y="35550"/>
                  </a:lnTo>
                  <a:lnTo>
                    <a:pt x="8224677" y="16290"/>
                  </a:lnTo>
                  <a:lnTo>
                    <a:pt x="8180634" y="4195"/>
                  </a:lnTo>
                  <a:lnTo>
                    <a:pt x="8133842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24887" y="2253743"/>
            <a:ext cx="6169660" cy="3136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/java/LoginActivity.java</a:t>
            </a:r>
            <a:endParaRPr sz="1700">
              <a:latin typeface="Consolas"/>
              <a:cs typeface="Consolas"/>
            </a:endParaRPr>
          </a:p>
          <a:p>
            <a:pPr marL="41275">
              <a:spcBef>
                <a:spcPts val="1320"/>
              </a:spcBef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41275"/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Locale</a:t>
            </a:r>
            <a:r>
              <a:rPr sz="16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myLocale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new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Locale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(</a:t>
            </a:r>
            <a:r>
              <a:rPr sz="1600" u="sng" spc="-10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"ar"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41275" marR="5080"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DisplayMetrics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dm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getResources().getDisplayMetrics();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Configuration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conf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getResources().getConfiguration();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conf.locale</a:t>
            </a:r>
            <a:r>
              <a:rPr sz="1600" u="sng" spc="-4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=</a:t>
            </a:r>
            <a:r>
              <a:rPr sz="1600" u="sng" spc="-4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myLocale</a:t>
            </a:r>
            <a:r>
              <a:rPr sz="1600" spc="-10" dirty="0">
                <a:latin typeface="Consolas"/>
                <a:cs typeface="Consolas"/>
              </a:rPr>
              <a:t>; getResources()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.updateConfiguration(conf,</a:t>
            </a:r>
            <a:r>
              <a:rPr sz="1600" u="sng" spc="18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2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dm)</a:t>
            </a:r>
            <a:r>
              <a:rPr sz="1600" spc="-2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41275"/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41275"/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refresh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LoginActivity</a:t>
            </a:r>
            <a:r>
              <a:rPr sz="1600" spc="-10" dirty="0">
                <a:latin typeface="Consolas"/>
                <a:cs typeface="Consolas"/>
              </a:rPr>
              <a:t>.class);</a:t>
            </a:r>
            <a:endParaRPr sz="1600">
              <a:latin typeface="Consolas"/>
              <a:cs typeface="Consolas"/>
            </a:endParaRPr>
          </a:p>
          <a:p>
            <a:pPr marL="41275"/>
            <a:r>
              <a:rPr sz="1600" spc="-10" dirty="0">
                <a:latin typeface="Consolas"/>
                <a:cs typeface="Consolas"/>
              </a:rPr>
              <a:t>startActivity(refresh);</a:t>
            </a:r>
            <a:endParaRPr sz="1600">
              <a:latin typeface="Consolas"/>
              <a:cs typeface="Consolas"/>
            </a:endParaRPr>
          </a:p>
          <a:p>
            <a:pPr marL="41275"/>
            <a:r>
              <a:rPr sz="1600" spc="-10" dirty="0">
                <a:latin typeface="Consolas"/>
                <a:cs typeface="Consolas"/>
              </a:rPr>
              <a:t>finish();</a:t>
            </a:r>
            <a:endParaRPr sz="1600">
              <a:latin typeface="Consolas"/>
              <a:cs typeface="Consolas"/>
            </a:endParaRPr>
          </a:p>
          <a:p>
            <a:pPr marL="41275"/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9968" y="1413510"/>
            <a:ext cx="71774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Pour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changer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langue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dynamiquement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(par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programmation)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7" y="1569085"/>
            <a:ext cx="126492" cy="13716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10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Layouts</a:t>
            </a:r>
            <a:r>
              <a:rPr spc="-95" dirty="0"/>
              <a:t> </a:t>
            </a:r>
            <a:r>
              <a:rPr dirty="0"/>
              <a:t>:</a:t>
            </a:r>
            <a:r>
              <a:rPr spc="-85" dirty="0"/>
              <a:t> </a:t>
            </a:r>
            <a:r>
              <a:rPr sz="2800" spc="-10" dirty="0">
                <a:latin typeface="Consolas"/>
                <a:cs typeface="Consolas"/>
              </a:rPr>
              <a:t>RelativeLayout</a:t>
            </a:r>
            <a:endParaRPr sz="2800">
              <a:latin typeface="Consolas"/>
              <a:cs typeface="Consolas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2204974"/>
            <a:ext cx="102107" cy="1051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2502155"/>
            <a:ext cx="102107" cy="10515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2799334"/>
            <a:ext cx="102107" cy="1051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3105658"/>
            <a:ext cx="102107" cy="10515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4081017"/>
            <a:ext cx="102107" cy="1051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4378197"/>
            <a:ext cx="102107" cy="1051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4675378"/>
            <a:ext cx="102107" cy="10515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4971034"/>
            <a:ext cx="102107" cy="10515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82573" y="685039"/>
            <a:ext cx="8176259" cy="444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Attributs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 </a:t>
            </a:r>
            <a:r>
              <a:rPr sz="2200" b="1" spc="-20" dirty="0">
                <a:solidFill>
                  <a:srgbClr val="252525"/>
                </a:solidFill>
                <a:latin typeface="Consolas"/>
                <a:cs typeface="Consolas"/>
              </a:rPr>
              <a:t>RelativeLayout</a:t>
            </a:r>
            <a:r>
              <a:rPr sz="2200" b="1" spc="-750" dirty="0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(1/2)</a:t>
            </a:r>
            <a:endParaRPr sz="2400">
              <a:latin typeface="Calibri Light"/>
              <a:cs typeface="Calibri Light"/>
            </a:endParaRPr>
          </a:p>
          <a:p>
            <a:pPr>
              <a:spcBef>
                <a:spcPts val="2075"/>
              </a:spcBef>
            </a:pPr>
            <a:endParaRPr sz="2400">
              <a:latin typeface="Calibri Light"/>
              <a:cs typeface="Calibri Light"/>
            </a:endParaRPr>
          </a:p>
          <a:p>
            <a:pPr marL="659765" marR="962025" indent="-342900">
              <a:lnSpc>
                <a:spcPct val="115300"/>
              </a:lnSpc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Aligner</a:t>
            </a:r>
            <a:r>
              <a:rPr sz="20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par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rapport</a:t>
            </a:r>
            <a:r>
              <a:rPr sz="20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une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autre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vue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(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"@[+][package:]type:name"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)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above</a:t>
            </a:r>
            <a:r>
              <a:rPr sz="1700" spc="-10" dirty="0">
                <a:latin typeface="Consolas"/>
                <a:cs typeface="Consolas"/>
              </a:rPr>
              <a:t>,</a:t>
            </a:r>
            <a:r>
              <a:rPr sz="1700" spc="-60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below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alignStart</a:t>
            </a:r>
            <a:r>
              <a:rPr sz="1700" spc="-10" dirty="0">
                <a:latin typeface="Consolas"/>
                <a:cs typeface="Consolas"/>
              </a:rPr>
              <a:t>,</a:t>
            </a:r>
            <a:r>
              <a:rPr sz="1700" spc="-55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alignEnd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alignTop</a:t>
            </a:r>
            <a:r>
              <a:rPr sz="1700" spc="-10" dirty="0">
                <a:latin typeface="Consolas"/>
                <a:cs typeface="Consolas"/>
              </a:rPr>
              <a:t>,</a:t>
            </a:r>
            <a:r>
              <a:rPr sz="1700" spc="-65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alignBottom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alignLeft</a:t>
            </a:r>
            <a:r>
              <a:rPr sz="1700" spc="-10" dirty="0">
                <a:latin typeface="Consolas"/>
                <a:cs typeface="Consolas"/>
              </a:rPr>
              <a:t>,</a:t>
            </a:r>
            <a:r>
              <a:rPr sz="1700" spc="-50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alignRight</a:t>
            </a:r>
            <a:endParaRPr sz="1700">
              <a:latin typeface="Consolas"/>
              <a:cs typeface="Consolas"/>
            </a:endParaRPr>
          </a:p>
          <a:p>
            <a:pPr>
              <a:spcBef>
                <a:spcPts val="585"/>
              </a:spcBef>
            </a:pPr>
            <a:endParaRPr sz="1700">
              <a:latin typeface="Consolas"/>
              <a:cs typeface="Consolas"/>
            </a:endParaRPr>
          </a:p>
          <a:p>
            <a:pPr marL="659765" marR="5080" indent="-342900">
              <a:lnSpc>
                <a:spcPct val="114300"/>
              </a:lnSpc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Aligner</a:t>
            </a:r>
            <a:r>
              <a:rPr sz="20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par</a:t>
            </a:r>
            <a:r>
              <a:rPr sz="2000" b="1" spc="-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rapport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au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parent</a:t>
            </a:r>
            <a:r>
              <a:rPr sz="2000" b="1" spc="-2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(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"true"</a:t>
            </a:r>
            <a:r>
              <a:rPr b="1" spc="-53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ou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"false"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)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alignParentStart</a:t>
            </a:r>
            <a:r>
              <a:rPr sz="1700" spc="-10" dirty="0">
                <a:latin typeface="Consolas"/>
                <a:cs typeface="Consolas"/>
              </a:rPr>
              <a:t>,</a:t>
            </a:r>
            <a:r>
              <a:rPr sz="1700" spc="-80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alignParentEnd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alignParentTop</a:t>
            </a:r>
            <a:r>
              <a:rPr sz="1700" spc="-10" dirty="0">
                <a:latin typeface="Consolas"/>
                <a:cs typeface="Consolas"/>
              </a:rPr>
              <a:t>,</a:t>
            </a:r>
            <a:r>
              <a:rPr sz="1700" spc="-75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alignParentBottom </a:t>
            </a:r>
            <a:r>
              <a:rPr sz="1700" dirty="0">
                <a:latin typeface="Consolas"/>
                <a:cs typeface="Consolas"/>
              </a:rPr>
              <a:t>android:layout_</a:t>
            </a:r>
            <a:r>
              <a:rPr sz="1700" dirty="0">
                <a:solidFill>
                  <a:srgbClr val="FF0000"/>
                </a:solidFill>
                <a:latin typeface="Consolas"/>
                <a:cs typeface="Consolas"/>
              </a:rPr>
              <a:t>alignParentLeft</a:t>
            </a:r>
            <a:r>
              <a:rPr sz="1700" dirty="0">
                <a:latin typeface="Consolas"/>
                <a:cs typeface="Consolas"/>
              </a:rPr>
              <a:t>,</a:t>
            </a:r>
            <a:r>
              <a:rPr sz="1700" spc="-114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alignParentRight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alignWithParentIfMissing</a:t>
            </a:r>
            <a:endParaRPr sz="1700">
              <a:latin typeface="Consolas"/>
              <a:cs typeface="Consola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43908" y="2470334"/>
            <a:ext cx="1581276" cy="117361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11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Layouts</a:t>
            </a:r>
            <a:r>
              <a:rPr spc="-95" dirty="0"/>
              <a:t> </a:t>
            </a:r>
            <a:r>
              <a:rPr dirty="0"/>
              <a:t>:</a:t>
            </a:r>
            <a:r>
              <a:rPr spc="-85" dirty="0"/>
              <a:t> </a:t>
            </a:r>
            <a:r>
              <a:rPr sz="2800" spc="-10" dirty="0">
                <a:latin typeface="Consolas"/>
                <a:cs typeface="Consolas"/>
              </a:rPr>
              <a:t>RelativeLayout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2573" y="685038"/>
            <a:ext cx="4352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Attributs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 </a:t>
            </a:r>
            <a:r>
              <a:rPr sz="2200" b="1" spc="-20" dirty="0">
                <a:solidFill>
                  <a:srgbClr val="252525"/>
                </a:solidFill>
                <a:latin typeface="Consolas"/>
                <a:cs typeface="Consolas"/>
              </a:rPr>
              <a:t>RelativeLayout</a:t>
            </a:r>
            <a:r>
              <a:rPr sz="2200" b="1" spc="-750" dirty="0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endParaRPr sz="2400">
              <a:latin typeface="Calibri Light"/>
              <a:cs typeface="Calibri 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2413001"/>
            <a:ext cx="102107" cy="10515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2710180"/>
            <a:ext cx="102107" cy="1051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3007361"/>
            <a:ext cx="102107" cy="10515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4288916"/>
            <a:ext cx="102107" cy="1051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8" y="4586096"/>
            <a:ext cx="102107" cy="10515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087067" y="1892758"/>
            <a:ext cx="7550784" cy="28530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marR="2165985" indent="-342900">
              <a:lnSpc>
                <a:spcPct val="114399"/>
              </a:lnSpc>
              <a:spcBef>
                <a:spcPts val="130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Centrer</a:t>
            </a:r>
            <a:r>
              <a:rPr sz="2000" b="1" spc="-7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par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rapport</a:t>
            </a:r>
            <a:r>
              <a:rPr sz="20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au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parent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(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"true"</a:t>
            </a:r>
            <a:r>
              <a:rPr b="1" spc="-53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ou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"false"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)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centerHorizontal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centerVertical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centerInParent</a:t>
            </a:r>
            <a:endParaRPr sz="17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700">
              <a:latin typeface="Consolas"/>
              <a:cs typeface="Consolas"/>
            </a:endParaRPr>
          </a:p>
          <a:p>
            <a:pPr>
              <a:spcBef>
                <a:spcPts val="1005"/>
              </a:spcBef>
            </a:pPr>
            <a:endParaRPr sz="1700">
              <a:latin typeface="Consolas"/>
              <a:cs typeface="Consolas"/>
            </a:endParaRPr>
          </a:p>
          <a:p>
            <a:pPr marL="355600" marR="5080" indent="-342900">
              <a:lnSpc>
                <a:spcPct val="114199"/>
              </a:lnSpc>
              <a:spcBef>
                <a:spcPts val="5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Positionner</a:t>
            </a:r>
            <a:r>
              <a:rPr sz="20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par</a:t>
            </a:r>
            <a:r>
              <a:rPr sz="20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rapport</a:t>
            </a:r>
            <a:r>
              <a:rPr sz="20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à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une</a:t>
            </a:r>
            <a:r>
              <a:rPr sz="20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autre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vue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(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"@[+][package:]type:name"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) </a:t>
            </a:r>
            <a:r>
              <a:rPr sz="1700" dirty="0">
                <a:latin typeface="Consolas"/>
                <a:cs typeface="Consolas"/>
              </a:rPr>
              <a:t>android:layout_</a:t>
            </a:r>
            <a:r>
              <a:rPr sz="1700" dirty="0">
                <a:solidFill>
                  <a:srgbClr val="FF0000"/>
                </a:solidFill>
                <a:latin typeface="Consolas"/>
                <a:cs typeface="Consolas"/>
              </a:rPr>
              <a:t>toStartOf</a:t>
            </a:r>
            <a:r>
              <a:rPr sz="1700" dirty="0">
                <a:latin typeface="Consolas"/>
                <a:cs typeface="Consolas"/>
              </a:rPr>
              <a:t>,</a:t>
            </a:r>
            <a:r>
              <a:rPr sz="1700" spc="-75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toEndOf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toLeftOf</a:t>
            </a:r>
            <a:r>
              <a:rPr sz="1700" spc="-10" dirty="0">
                <a:latin typeface="Consolas"/>
                <a:cs typeface="Consolas"/>
              </a:rPr>
              <a:t>,</a:t>
            </a:r>
            <a:r>
              <a:rPr sz="1700" spc="-65" dirty="0"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android:layout_</a:t>
            </a:r>
            <a:r>
              <a:rPr sz="1700" spc="-10" dirty="0">
                <a:solidFill>
                  <a:srgbClr val="FF0000"/>
                </a:solidFill>
                <a:latin typeface="Consolas"/>
                <a:cs typeface="Consolas"/>
              </a:rPr>
              <a:t>toRightOf</a:t>
            </a:r>
            <a:endParaRPr sz="1700">
              <a:latin typeface="Consolas"/>
              <a:cs typeface="Consola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43908" y="2470334"/>
            <a:ext cx="1581276" cy="1173618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12</a:t>
            </a:fld>
            <a:endParaRPr spc="-25"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7" y="2627629"/>
            <a:ext cx="126492" cy="1371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9627" y="3055873"/>
            <a:ext cx="126492" cy="1371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87067" y="1949638"/>
            <a:ext cx="5598160" cy="131127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spcBef>
                <a:spcPts val="835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Créer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une</a:t>
            </a:r>
            <a:r>
              <a:rPr sz="2200" b="1" spc="-6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activité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nsolas"/>
                <a:cs typeface="Consolas"/>
              </a:rPr>
              <a:t>ComplexActivity</a:t>
            </a:r>
            <a:endParaRPr sz="2000">
              <a:latin typeface="Consolas"/>
              <a:cs typeface="Consolas"/>
            </a:endParaRPr>
          </a:p>
          <a:p>
            <a:pPr marL="355600">
              <a:spcBef>
                <a:spcPts val="735"/>
              </a:spcBef>
            </a:pPr>
            <a:r>
              <a:rPr sz="2200" b="1" dirty="0">
                <a:latin typeface="Calibri"/>
                <a:cs typeface="Calibri"/>
              </a:rPr>
              <a:t>Créer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8</a:t>
            </a:r>
            <a:r>
              <a:rPr sz="2200" b="1" spc="-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A8B39"/>
                </a:solidFill>
                <a:latin typeface="Calibri"/>
                <a:cs typeface="Calibri"/>
              </a:rPr>
              <a:t>Boutons</a:t>
            </a:r>
            <a:endParaRPr sz="2200">
              <a:latin typeface="Calibri"/>
              <a:cs typeface="Calibri"/>
            </a:endParaRPr>
          </a:p>
          <a:p>
            <a:pPr marL="355600">
              <a:spcBef>
                <a:spcPts val="730"/>
              </a:spcBef>
            </a:pPr>
            <a:r>
              <a:rPr sz="2200" b="1" dirty="0">
                <a:latin typeface="Calibri"/>
                <a:cs typeface="Calibri"/>
              </a:rPr>
              <a:t>Aligner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les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boutons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dans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un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nsolas"/>
                <a:cs typeface="Consolas"/>
              </a:rPr>
              <a:t>RelativeLayout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Layouts</a:t>
            </a:r>
            <a:r>
              <a:rPr spc="-95" dirty="0"/>
              <a:t> </a:t>
            </a:r>
            <a:r>
              <a:rPr dirty="0"/>
              <a:t>:</a:t>
            </a:r>
            <a:r>
              <a:rPr spc="-85" dirty="0"/>
              <a:t> </a:t>
            </a:r>
            <a:r>
              <a:rPr sz="2800" spc="-10" dirty="0">
                <a:latin typeface="Consolas"/>
                <a:cs typeface="Consolas"/>
              </a:rPr>
              <a:t>RelativeLayout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2573" y="683514"/>
            <a:ext cx="10236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Exercice</a:t>
            </a:r>
            <a:endParaRPr sz="2400">
              <a:latin typeface="Calibri Light"/>
              <a:cs typeface="Calibri Ligh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46719" y="1909572"/>
            <a:ext cx="2136648" cy="378866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13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Layouts</a:t>
            </a:r>
            <a:r>
              <a:rPr spc="-95" dirty="0"/>
              <a:t> </a:t>
            </a:r>
            <a:r>
              <a:rPr dirty="0"/>
              <a:t>:</a:t>
            </a:r>
            <a:r>
              <a:rPr spc="-85" dirty="0"/>
              <a:t> </a:t>
            </a:r>
            <a:r>
              <a:rPr sz="2800" spc="-10" dirty="0">
                <a:latin typeface="Consolas"/>
                <a:cs typeface="Consolas"/>
              </a:rPr>
              <a:t>RelativeLayout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14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1034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Solution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5719" y="1359534"/>
            <a:ext cx="3339465" cy="5638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10820" marR="5080" indent="-198120">
              <a:lnSpc>
                <a:spcPct val="97100"/>
              </a:lnSpc>
              <a:spcBef>
                <a:spcPts val="140"/>
              </a:spcBef>
            </a:pPr>
            <a:r>
              <a:rPr sz="1200" spc="-10" dirty="0">
                <a:latin typeface="Consolas"/>
                <a:cs typeface="Consolas"/>
              </a:rPr>
              <a:t>&lt;RelativeLayout android:layout_width="match_parent" android:layout_height="match_parent"&gt;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5718" y="2071243"/>
            <a:ext cx="3252470" cy="742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0820" marR="5080" indent="-198120">
              <a:lnSpc>
                <a:spcPct val="97300"/>
              </a:lnSpc>
              <a:spcBef>
                <a:spcPts val="135"/>
              </a:spcBef>
            </a:pPr>
            <a:r>
              <a:rPr sz="1200" dirty="0">
                <a:latin typeface="Consolas"/>
                <a:cs typeface="Consolas"/>
              </a:rPr>
              <a:t>&lt;Button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ONE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latin typeface="Consolas"/>
                <a:cs typeface="Consolas"/>
              </a:rPr>
              <a:t> android:layout_width="wrap_content" android:layout_height="wrap_content" </a:t>
            </a:r>
            <a:r>
              <a:rPr sz="1200" dirty="0">
                <a:latin typeface="Consolas"/>
                <a:cs typeface="Consolas"/>
              </a:rPr>
              <a:t>android:id="@+id/Button01"</a:t>
            </a:r>
            <a:r>
              <a:rPr sz="1200" spc="-125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719" y="2959990"/>
            <a:ext cx="3673475" cy="920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0820" marR="5080" indent="-198120">
              <a:lnSpc>
                <a:spcPct val="97300"/>
              </a:lnSpc>
              <a:spcBef>
                <a:spcPts val="135"/>
              </a:spcBef>
            </a:pPr>
            <a:r>
              <a:rPr sz="1200" dirty="0">
                <a:latin typeface="Consolas"/>
                <a:cs typeface="Consolas"/>
              </a:rPr>
              <a:t>&lt;Button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TWO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latin typeface="Consolas"/>
                <a:cs typeface="Consolas"/>
              </a:rPr>
              <a:t> android:layout_width="wrap_content" android:layout_height="wrap_content" android:id="@+id/Button02" </a:t>
            </a:r>
            <a:r>
              <a:rPr sz="1200" spc="-10" dirty="0">
                <a:solidFill>
                  <a:srgbClr val="FF0000"/>
                </a:solidFill>
                <a:latin typeface="Consolas"/>
                <a:cs typeface="Consolas"/>
              </a:rPr>
              <a:t>android:layout_centerHorizontal="true"</a:t>
            </a:r>
            <a:r>
              <a:rPr sz="1200" spc="1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15719" y="4027171"/>
            <a:ext cx="3673475" cy="920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0820" marR="5080" indent="-198120">
              <a:lnSpc>
                <a:spcPct val="97300"/>
              </a:lnSpc>
              <a:spcBef>
                <a:spcPts val="135"/>
              </a:spcBef>
            </a:pPr>
            <a:r>
              <a:rPr sz="1200" dirty="0">
                <a:latin typeface="Consolas"/>
                <a:cs typeface="Consolas"/>
              </a:rPr>
              <a:t>&lt;Button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THREE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latin typeface="Consolas"/>
                <a:cs typeface="Consolas"/>
              </a:rPr>
              <a:t> android:layout_width="wrap_content" android:layout_height="wrap_content" android:id="@+id/Button03" </a:t>
            </a:r>
            <a:r>
              <a:rPr sz="1200" dirty="0">
                <a:solidFill>
                  <a:srgbClr val="FF0000"/>
                </a:solidFill>
                <a:latin typeface="Consolas"/>
                <a:cs typeface="Consolas"/>
              </a:rPr>
              <a:t>android:layout_alignParentRight="true"</a:t>
            </a:r>
            <a:r>
              <a:rPr sz="1200" spc="-16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5718" y="5093970"/>
            <a:ext cx="3505200" cy="10972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10820" marR="5080" indent="-198120">
              <a:lnSpc>
                <a:spcPct val="97200"/>
              </a:lnSpc>
              <a:spcBef>
                <a:spcPts val="140"/>
              </a:spcBef>
            </a:pPr>
            <a:r>
              <a:rPr sz="1200" dirty="0">
                <a:latin typeface="Consolas"/>
                <a:cs typeface="Consolas"/>
              </a:rPr>
              <a:t>&lt;Button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FOUR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latin typeface="Consolas"/>
                <a:cs typeface="Consolas"/>
              </a:rPr>
              <a:t> android:layout_width="wrap_content" android:layout_height="wrap_content" android:id="@+id/Button04" </a:t>
            </a:r>
            <a:r>
              <a:rPr sz="1200" spc="-10" dirty="0">
                <a:solidFill>
                  <a:srgbClr val="FF0000"/>
                </a:solidFill>
                <a:latin typeface="Consolas"/>
                <a:cs typeface="Consolas"/>
              </a:rPr>
              <a:t>android:layout_toLeftOf="@+id/Button05" </a:t>
            </a:r>
            <a:r>
              <a:rPr sz="1200" dirty="0">
                <a:solidFill>
                  <a:srgbClr val="FF0000"/>
                </a:solidFill>
                <a:latin typeface="Consolas"/>
                <a:cs typeface="Consolas"/>
              </a:rPr>
              <a:t>android:layout_centerVertical="true"</a:t>
            </a:r>
            <a:r>
              <a:rPr sz="1200" spc="-15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63767" y="1389380"/>
            <a:ext cx="3505835" cy="920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0820" marR="5080" indent="-198120">
              <a:lnSpc>
                <a:spcPct val="97300"/>
              </a:lnSpc>
              <a:spcBef>
                <a:spcPts val="135"/>
              </a:spcBef>
            </a:pPr>
            <a:r>
              <a:rPr sz="1200" dirty="0">
                <a:solidFill>
                  <a:srgbClr val="404040"/>
                </a:solidFill>
                <a:latin typeface="Consolas"/>
                <a:cs typeface="Consolas"/>
              </a:rPr>
              <a:t>&lt;Button</a:t>
            </a:r>
            <a:r>
              <a:rPr sz="1200" spc="-40" dirty="0">
                <a:solidFill>
                  <a:srgbClr val="404040"/>
                </a:solidFill>
                <a:latin typeface="Consolas"/>
                <a:cs typeface="Consolas"/>
              </a:rPr>
              <a:t> 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FIVE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solidFill>
                  <a:srgbClr val="404040"/>
                </a:solidFill>
                <a:latin typeface="Consolas"/>
                <a:cs typeface="Consolas"/>
              </a:rPr>
              <a:t> android:layout_width="wrap_content" android:layout_height="wrap_content" android:id="@+id/Button05" </a:t>
            </a:r>
            <a:r>
              <a:rPr sz="1200" dirty="0">
                <a:solidFill>
                  <a:srgbClr val="FF0000"/>
                </a:solidFill>
                <a:latin typeface="Consolas"/>
                <a:cs typeface="Consolas"/>
              </a:rPr>
              <a:t>android:layout_centerInParent="true"</a:t>
            </a:r>
            <a:r>
              <a:rPr sz="1200" spc="-15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40404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63767" y="2456434"/>
            <a:ext cx="3588385" cy="10972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10820" marR="5080" indent="-198120">
              <a:lnSpc>
                <a:spcPct val="97200"/>
              </a:lnSpc>
              <a:spcBef>
                <a:spcPts val="140"/>
              </a:spcBef>
            </a:pPr>
            <a:r>
              <a:rPr sz="1200" dirty="0">
                <a:solidFill>
                  <a:srgbClr val="404040"/>
                </a:solidFill>
                <a:latin typeface="Consolas"/>
                <a:cs typeface="Consolas"/>
              </a:rPr>
              <a:t>&lt;Button</a:t>
            </a:r>
            <a:r>
              <a:rPr sz="1200" spc="-40" dirty="0">
                <a:solidFill>
                  <a:srgbClr val="404040"/>
                </a:solidFill>
                <a:latin typeface="Consolas"/>
                <a:cs typeface="Consolas"/>
              </a:rPr>
              <a:t> 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SIX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solidFill>
                  <a:srgbClr val="404040"/>
                </a:solidFill>
                <a:latin typeface="Consolas"/>
                <a:cs typeface="Consolas"/>
              </a:rPr>
              <a:t> android:layout_width="wrap_content" android:layout_height="wrap_content" android:id="@+id/Button06" </a:t>
            </a:r>
            <a:r>
              <a:rPr sz="1200" spc="-10" dirty="0">
                <a:solidFill>
                  <a:srgbClr val="FF0000"/>
                </a:solidFill>
                <a:latin typeface="Consolas"/>
                <a:cs typeface="Consolas"/>
              </a:rPr>
              <a:t>android:layout_toRightOf="@+id/Button05" </a:t>
            </a:r>
            <a:r>
              <a:rPr sz="1200" dirty="0">
                <a:solidFill>
                  <a:srgbClr val="FF0000"/>
                </a:solidFill>
                <a:latin typeface="Consolas"/>
                <a:cs typeface="Consolas"/>
              </a:rPr>
              <a:t>android:layout_centerVertical="true"</a:t>
            </a:r>
            <a:r>
              <a:rPr sz="1200" spc="-15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40404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63767" y="3701542"/>
            <a:ext cx="3673475" cy="10972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10820" marR="5080" indent="-198120">
              <a:lnSpc>
                <a:spcPct val="97200"/>
              </a:lnSpc>
              <a:spcBef>
                <a:spcPts val="140"/>
              </a:spcBef>
            </a:pPr>
            <a:r>
              <a:rPr sz="1200" dirty="0">
                <a:solidFill>
                  <a:srgbClr val="404040"/>
                </a:solidFill>
                <a:latin typeface="Consolas"/>
                <a:cs typeface="Consolas"/>
              </a:rPr>
              <a:t>&lt;Button</a:t>
            </a:r>
            <a:r>
              <a:rPr sz="1200" spc="-40" dirty="0">
                <a:solidFill>
                  <a:srgbClr val="404040"/>
                </a:solidFill>
                <a:latin typeface="Consolas"/>
                <a:cs typeface="Consolas"/>
              </a:rPr>
              <a:t> 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SEVEN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solidFill>
                  <a:srgbClr val="404040"/>
                </a:solidFill>
                <a:latin typeface="Consolas"/>
                <a:cs typeface="Consolas"/>
              </a:rPr>
              <a:t> android:layout_width="wrap_content" android:layout_height="wrap_content" android:id="@+id/Button07" </a:t>
            </a:r>
            <a:r>
              <a:rPr sz="1200" spc="-10" dirty="0">
                <a:solidFill>
                  <a:srgbClr val="FF0000"/>
                </a:solidFill>
                <a:latin typeface="Consolas"/>
                <a:cs typeface="Consolas"/>
              </a:rPr>
              <a:t>android:layout_above="@+id/Button08" </a:t>
            </a:r>
            <a:r>
              <a:rPr sz="1200" dirty="0">
                <a:solidFill>
                  <a:srgbClr val="FF0000"/>
                </a:solidFill>
                <a:latin typeface="Consolas"/>
                <a:cs typeface="Consolas"/>
              </a:rPr>
              <a:t>android:layout_centerHorizontal="true"</a:t>
            </a:r>
            <a:r>
              <a:rPr sz="1200" spc="-16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40404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63767" y="4945507"/>
            <a:ext cx="3757295" cy="920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0820" marR="5080" indent="-198120">
              <a:lnSpc>
                <a:spcPct val="97300"/>
              </a:lnSpc>
              <a:spcBef>
                <a:spcPts val="135"/>
              </a:spcBef>
            </a:pPr>
            <a:r>
              <a:rPr sz="1200" dirty="0">
                <a:solidFill>
                  <a:srgbClr val="404040"/>
                </a:solidFill>
                <a:latin typeface="Consolas"/>
                <a:cs typeface="Consolas"/>
              </a:rPr>
              <a:t>&lt;Button</a:t>
            </a:r>
            <a:r>
              <a:rPr sz="1200" spc="-40" dirty="0">
                <a:solidFill>
                  <a:srgbClr val="404040"/>
                </a:solidFill>
                <a:latin typeface="Consolas"/>
                <a:cs typeface="Consolas"/>
              </a:rPr>
              <a:t> 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android:text="</a:t>
            </a:r>
            <a:r>
              <a:rPr sz="12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EIGHT</a:t>
            </a:r>
            <a:r>
              <a:rPr sz="12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nsolas"/>
                <a:cs typeface="Consolas"/>
              </a:rPr>
              <a:t>"</a:t>
            </a:r>
            <a:r>
              <a:rPr sz="1200" spc="-10" dirty="0">
                <a:solidFill>
                  <a:srgbClr val="404040"/>
                </a:solidFill>
                <a:latin typeface="Consolas"/>
                <a:cs typeface="Consolas"/>
              </a:rPr>
              <a:t> android:layout_width="match_parent" android:layout_height="wrap_content" android:id="@+id/Button08" </a:t>
            </a:r>
            <a:r>
              <a:rPr sz="1200" spc="-10" dirty="0">
                <a:solidFill>
                  <a:srgbClr val="FF0000"/>
                </a:solidFill>
                <a:latin typeface="Consolas"/>
                <a:cs typeface="Consolas"/>
              </a:rPr>
              <a:t>android:layout_alignParentBottom="true"</a:t>
            </a:r>
            <a:r>
              <a:rPr sz="1200" spc="2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40404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3766" y="6012586"/>
            <a:ext cx="14554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onsolas"/>
                <a:cs typeface="Consolas"/>
              </a:rPr>
              <a:t>&lt;/RelativeLayout&gt;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50673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291080" algn="l"/>
                <a:tab pos="2945130" algn="l"/>
              </a:tabLst>
            </a:pPr>
            <a:r>
              <a:rPr dirty="0"/>
              <a:t>Vue</a:t>
            </a:r>
            <a:r>
              <a:rPr spc="-110" dirty="0"/>
              <a:t> </a:t>
            </a:r>
            <a:r>
              <a:rPr spc="-10" dirty="0"/>
              <a:t>portrait</a:t>
            </a:r>
            <a:r>
              <a:rPr dirty="0"/>
              <a:t>	</a:t>
            </a:r>
            <a:r>
              <a:rPr spc="-25" dirty="0"/>
              <a:t>vs.</a:t>
            </a:r>
            <a:r>
              <a:rPr dirty="0"/>
              <a:t>	vue</a:t>
            </a:r>
            <a:r>
              <a:rPr spc="-65" dirty="0"/>
              <a:t> </a:t>
            </a:r>
            <a:r>
              <a:rPr spc="-10" dirty="0"/>
              <a:t>paysage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14004" y="2796540"/>
            <a:ext cx="1918970" cy="1106805"/>
            <a:chOff x="6890004" y="2796539"/>
            <a:chExt cx="1918970" cy="1106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8960" y="2825495"/>
              <a:ext cx="1860803" cy="10485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04482" y="2811017"/>
              <a:ext cx="1889760" cy="1077595"/>
            </a:xfrm>
            <a:custGeom>
              <a:avLst/>
              <a:gdLst/>
              <a:ahLst/>
              <a:cxnLst/>
              <a:rect l="l" t="t" r="r" b="b"/>
              <a:pathLst>
                <a:path w="1889759" h="1077595">
                  <a:moveTo>
                    <a:pt x="0" y="1077467"/>
                  </a:moveTo>
                  <a:lnTo>
                    <a:pt x="1889760" y="1077467"/>
                  </a:lnTo>
                  <a:lnTo>
                    <a:pt x="1889760" y="0"/>
                  </a:lnTo>
                  <a:lnTo>
                    <a:pt x="0" y="0"/>
                  </a:lnTo>
                  <a:lnTo>
                    <a:pt x="0" y="1077467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941576" y="2394205"/>
            <a:ext cx="1187450" cy="2068195"/>
            <a:chOff x="417576" y="2394204"/>
            <a:chExt cx="1187450" cy="20681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32" y="2423160"/>
              <a:ext cx="1129284" cy="20101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2054" y="2408682"/>
              <a:ext cx="1158240" cy="2039620"/>
            </a:xfrm>
            <a:custGeom>
              <a:avLst/>
              <a:gdLst/>
              <a:ahLst/>
              <a:cxnLst/>
              <a:rect l="l" t="t" r="r" b="b"/>
              <a:pathLst>
                <a:path w="1158240" h="2039620">
                  <a:moveTo>
                    <a:pt x="0" y="2039112"/>
                  </a:moveTo>
                  <a:lnTo>
                    <a:pt x="1158239" y="2039112"/>
                  </a:lnTo>
                  <a:lnTo>
                    <a:pt x="1158239" y="0"/>
                  </a:lnTo>
                  <a:lnTo>
                    <a:pt x="0" y="0"/>
                  </a:lnTo>
                  <a:lnTo>
                    <a:pt x="0" y="2039112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368040" y="2830067"/>
            <a:ext cx="1876425" cy="1275080"/>
            <a:chOff x="1844039" y="2830067"/>
            <a:chExt cx="1876425" cy="12750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7755" y="2843783"/>
              <a:ext cx="1847088" cy="12609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58517" y="2844545"/>
              <a:ext cx="1847214" cy="1031875"/>
            </a:xfrm>
            <a:custGeom>
              <a:avLst/>
              <a:gdLst/>
              <a:ahLst/>
              <a:cxnLst/>
              <a:rect l="l" t="t" r="r" b="b"/>
              <a:pathLst>
                <a:path w="1847214" h="1031875">
                  <a:moveTo>
                    <a:pt x="0" y="1031747"/>
                  </a:moveTo>
                  <a:lnTo>
                    <a:pt x="1847087" y="1031747"/>
                  </a:lnTo>
                  <a:lnTo>
                    <a:pt x="1847087" y="0"/>
                  </a:lnTo>
                  <a:lnTo>
                    <a:pt x="0" y="0"/>
                  </a:lnTo>
                  <a:lnTo>
                    <a:pt x="0" y="1031747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606796" y="2938272"/>
            <a:ext cx="990600" cy="789940"/>
            <a:chOff x="4082796" y="2938272"/>
            <a:chExt cx="990600" cy="789940"/>
          </a:xfrm>
        </p:grpSpPr>
        <p:sp>
          <p:nvSpPr>
            <p:cNvPr id="13" name="object 13"/>
            <p:cNvSpPr/>
            <p:nvPr/>
          </p:nvSpPr>
          <p:spPr>
            <a:xfrm>
              <a:off x="4088892" y="2944368"/>
              <a:ext cx="978535" cy="777240"/>
            </a:xfrm>
            <a:custGeom>
              <a:avLst/>
              <a:gdLst/>
              <a:ahLst/>
              <a:cxnLst/>
              <a:rect l="l" t="t" r="r" b="b"/>
              <a:pathLst>
                <a:path w="978535" h="777239">
                  <a:moveTo>
                    <a:pt x="589788" y="0"/>
                  </a:moveTo>
                  <a:lnTo>
                    <a:pt x="589788" y="194310"/>
                  </a:lnTo>
                  <a:lnTo>
                    <a:pt x="0" y="194310"/>
                  </a:lnTo>
                  <a:lnTo>
                    <a:pt x="0" y="582930"/>
                  </a:lnTo>
                  <a:lnTo>
                    <a:pt x="589788" y="582930"/>
                  </a:lnTo>
                  <a:lnTo>
                    <a:pt x="589788" y="777240"/>
                  </a:lnTo>
                  <a:lnTo>
                    <a:pt x="978408" y="388620"/>
                  </a:lnTo>
                  <a:lnTo>
                    <a:pt x="589788" y="0"/>
                  </a:lnTo>
                  <a:close/>
                </a:path>
              </a:pathLst>
            </a:custGeom>
            <a:solidFill>
              <a:srgbClr val="3A8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8892" y="2944368"/>
              <a:ext cx="978535" cy="777240"/>
            </a:xfrm>
            <a:custGeom>
              <a:avLst/>
              <a:gdLst/>
              <a:ahLst/>
              <a:cxnLst/>
              <a:rect l="l" t="t" r="r" b="b"/>
              <a:pathLst>
                <a:path w="978535" h="777239">
                  <a:moveTo>
                    <a:pt x="0" y="194310"/>
                  </a:moveTo>
                  <a:lnTo>
                    <a:pt x="589788" y="194310"/>
                  </a:lnTo>
                  <a:lnTo>
                    <a:pt x="589788" y="0"/>
                  </a:lnTo>
                  <a:lnTo>
                    <a:pt x="978408" y="388620"/>
                  </a:lnTo>
                  <a:lnTo>
                    <a:pt x="589788" y="777240"/>
                  </a:lnTo>
                  <a:lnTo>
                    <a:pt x="589788" y="582930"/>
                  </a:lnTo>
                  <a:lnTo>
                    <a:pt x="0" y="582930"/>
                  </a:lnTo>
                  <a:lnTo>
                    <a:pt x="0" y="19431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014971" y="2394205"/>
            <a:ext cx="1188720" cy="2068195"/>
            <a:chOff x="5490971" y="2394204"/>
            <a:chExt cx="1188720" cy="206819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9927" y="2423160"/>
              <a:ext cx="1130807" cy="20101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505449" y="2408682"/>
              <a:ext cx="1160145" cy="2039620"/>
            </a:xfrm>
            <a:custGeom>
              <a:avLst/>
              <a:gdLst/>
              <a:ahLst/>
              <a:cxnLst/>
              <a:rect l="l" t="t" r="r" b="b"/>
              <a:pathLst>
                <a:path w="1160145" h="2039620">
                  <a:moveTo>
                    <a:pt x="0" y="2039112"/>
                  </a:moveTo>
                  <a:lnTo>
                    <a:pt x="1159763" y="2039112"/>
                  </a:lnTo>
                  <a:lnTo>
                    <a:pt x="1159763" y="0"/>
                  </a:lnTo>
                  <a:lnTo>
                    <a:pt x="0" y="0"/>
                  </a:lnTo>
                  <a:lnTo>
                    <a:pt x="0" y="2039112"/>
                  </a:lnTo>
                  <a:close/>
                </a:path>
              </a:pathLst>
            </a:custGeom>
            <a:ln w="289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15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1696593"/>
            <a:ext cx="114300" cy="124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2123314"/>
            <a:ext cx="114300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2549906"/>
            <a:ext cx="114300" cy="1249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87067" y="961615"/>
            <a:ext cx="7646670" cy="1794081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spcBef>
                <a:spcPts val="1150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Créer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une</a:t>
            </a:r>
            <a:r>
              <a:rPr sz="2200" b="1" spc="-7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version</a:t>
            </a:r>
            <a:r>
              <a:rPr sz="2200" b="1" spc="-7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"paysage"</a:t>
            </a:r>
            <a:r>
              <a:rPr sz="2200" b="1" spc="-6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de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nsolas"/>
                <a:cs typeface="Consolas"/>
              </a:rPr>
              <a:t>LoginActivity</a:t>
            </a:r>
            <a:endParaRPr sz="2000">
              <a:latin typeface="Consolas"/>
              <a:cs typeface="Consolas"/>
            </a:endParaRPr>
          </a:p>
          <a:p>
            <a:pPr marL="276225">
              <a:spcBef>
                <a:spcPts val="969"/>
              </a:spcBef>
            </a:pPr>
            <a:r>
              <a:rPr sz="2000" dirty="0">
                <a:latin typeface="Calibri"/>
                <a:cs typeface="Calibri"/>
              </a:rPr>
              <a:t>Créer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package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onsolas"/>
                <a:cs typeface="Consolas"/>
              </a:rPr>
              <a:t>"layout-land"</a:t>
            </a:r>
            <a:endParaRPr>
              <a:latin typeface="Consolas"/>
              <a:cs typeface="Consolas"/>
            </a:endParaRPr>
          </a:p>
          <a:p>
            <a:pPr marL="276225">
              <a:spcBef>
                <a:spcPts val="960"/>
              </a:spcBef>
            </a:pPr>
            <a:r>
              <a:rPr sz="2000" dirty="0">
                <a:latin typeface="Calibri"/>
                <a:cs typeface="Calibri"/>
              </a:rPr>
              <a:t>Copier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fichier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"layout_login.xml"</a:t>
            </a:r>
            <a:r>
              <a:rPr b="1" spc="-49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onsolas"/>
                <a:cs typeface="Consolas"/>
              </a:rPr>
              <a:t>"layout-land"</a:t>
            </a:r>
            <a:endParaRPr>
              <a:latin typeface="Consolas"/>
              <a:cs typeface="Consolas"/>
            </a:endParaRPr>
          </a:p>
          <a:p>
            <a:pPr marL="276225">
              <a:spcBef>
                <a:spcPts val="960"/>
              </a:spcBef>
            </a:pPr>
            <a:r>
              <a:rPr sz="2000" dirty="0">
                <a:latin typeface="Calibri"/>
                <a:cs typeface="Calibri"/>
              </a:rPr>
              <a:t>Modifier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55A11"/>
                </a:solidFill>
                <a:latin typeface="Consolas"/>
                <a:cs typeface="Consolas"/>
              </a:rPr>
              <a:t>"layout_login.xml"</a:t>
            </a:r>
            <a:r>
              <a:rPr b="1" spc="-48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avoir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l'affichage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suivant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TP1b</a:t>
            </a:r>
            <a:r>
              <a:rPr spc="-65" dirty="0"/>
              <a:t> </a:t>
            </a:r>
            <a:r>
              <a:rPr dirty="0"/>
              <a:t>:</a:t>
            </a:r>
            <a:r>
              <a:rPr spc="-55" dirty="0"/>
              <a:t> </a:t>
            </a:r>
            <a:r>
              <a:rPr dirty="0"/>
              <a:t>Vue</a:t>
            </a:r>
            <a:r>
              <a:rPr spc="-65" dirty="0"/>
              <a:t> </a:t>
            </a:r>
            <a:r>
              <a:rPr spc="-10" dirty="0"/>
              <a:t>paysage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z="2800" spc="-10" dirty="0">
                <a:latin typeface="Consolas"/>
                <a:cs typeface="Consolas"/>
              </a:rPr>
              <a:t>LoginActivity</a:t>
            </a:r>
            <a:endParaRPr sz="2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88892" y="3358897"/>
            <a:ext cx="4014470" cy="2266315"/>
            <a:chOff x="2564892" y="3358896"/>
            <a:chExt cx="4014470" cy="22663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4036" y="3368040"/>
              <a:ext cx="3995927" cy="2247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69464" y="3363468"/>
              <a:ext cx="4005579" cy="2257425"/>
            </a:xfrm>
            <a:custGeom>
              <a:avLst/>
              <a:gdLst/>
              <a:ahLst/>
              <a:cxnLst/>
              <a:rect l="l" t="t" r="r" b="b"/>
              <a:pathLst>
                <a:path w="4005579" h="2257425">
                  <a:moveTo>
                    <a:pt x="0" y="2257043"/>
                  </a:moveTo>
                  <a:lnTo>
                    <a:pt x="4005072" y="2257043"/>
                  </a:lnTo>
                  <a:lnTo>
                    <a:pt x="4005072" y="0"/>
                  </a:lnTo>
                  <a:lnTo>
                    <a:pt x="0" y="0"/>
                  </a:lnTo>
                  <a:lnTo>
                    <a:pt x="0" y="2257043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0168" y="3962400"/>
              <a:ext cx="2534412" cy="9144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16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1608201"/>
            <a:ext cx="114300" cy="124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1945005"/>
            <a:ext cx="114300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2990470"/>
            <a:ext cx="114300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3327273"/>
            <a:ext cx="114300" cy="124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4365117"/>
            <a:ext cx="102107" cy="1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7" y="4956428"/>
            <a:ext cx="114300" cy="1249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87068" y="1058475"/>
            <a:ext cx="5719445" cy="413318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spcBef>
                <a:spcPts val="390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Documents</a:t>
            </a:r>
            <a:r>
              <a:rPr sz="2200" b="1" spc="-9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sont</a:t>
            </a:r>
            <a:r>
              <a:rPr sz="2200" b="1" spc="-9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accessibles</a:t>
            </a:r>
            <a:r>
              <a:rPr sz="2200" b="1" spc="-9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355600">
              <a:spcBef>
                <a:spcPts val="270"/>
              </a:spcBef>
            </a:pPr>
            <a:r>
              <a:rPr sz="2000" b="1" spc="-10" dirty="0">
                <a:latin typeface="Calibri"/>
                <a:cs typeface="Calibri"/>
              </a:rPr>
              <a:t>Plateforme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e-</a:t>
            </a:r>
            <a:r>
              <a:rPr sz="2000" b="1" dirty="0">
                <a:latin typeface="Calibri"/>
                <a:cs typeface="Calibri"/>
              </a:rPr>
              <a:t>learning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l’université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Constantine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254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Lien</a:t>
            </a:r>
            <a:r>
              <a:rPr sz="2000" b="1" spc="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2000" b="1" spc="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16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nsolas"/>
                <a:cs typeface="Consolas"/>
                <a:hlinkClick r:id="rId3"/>
              </a:rPr>
              <a:t>http://elearning.univ-constantine2.dz/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1045"/>
              </a:spcBef>
            </a:pPr>
            <a:endParaRPr sz="1600">
              <a:latin typeface="Consolas"/>
              <a:cs typeface="Consolas"/>
            </a:endParaRPr>
          </a:p>
          <a:p>
            <a:pPr marL="12700"/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Rendus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du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TP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1</a:t>
            </a:r>
            <a:r>
              <a:rPr sz="2200" b="1" spc="-1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355600">
              <a:spcBef>
                <a:spcPts val="275"/>
              </a:spcBef>
            </a:pPr>
            <a:r>
              <a:rPr sz="2000" b="1" spc="-10" dirty="0">
                <a:latin typeface="Calibri"/>
                <a:cs typeface="Calibri"/>
              </a:rPr>
              <a:t>Avant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Samedi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17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novembre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à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23h59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250"/>
              </a:spcBef>
            </a:pPr>
            <a:r>
              <a:rPr sz="2000" b="1" dirty="0">
                <a:latin typeface="Calibri"/>
                <a:cs typeface="Calibri"/>
              </a:rPr>
              <a:t>À</a:t>
            </a:r>
            <a:r>
              <a:rPr sz="2000" b="1" spc="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ac.chaouche@misc-umc.org</a:t>
            </a:r>
            <a:endParaRPr sz="2000">
              <a:latin typeface="Calibri"/>
              <a:cs typeface="Calibri"/>
            </a:endParaRPr>
          </a:p>
          <a:p>
            <a:pPr>
              <a:spcBef>
                <a:spcPts val="480"/>
              </a:spcBef>
            </a:pPr>
            <a:endParaRPr sz="2000">
              <a:latin typeface="Calibri"/>
              <a:cs typeface="Calibri"/>
            </a:endParaRPr>
          </a:p>
          <a:p>
            <a:pPr marL="12700"/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Nom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du</a:t>
            </a:r>
            <a:r>
              <a:rPr sz="2200" b="1" spc="-6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fichier</a:t>
            </a:r>
            <a:r>
              <a:rPr sz="2200" b="1" spc="-4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à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rendre</a:t>
            </a:r>
            <a:r>
              <a:rPr sz="2200" b="1" spc="-3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035"/>
              </a:lnSpc>
              <a:spcBef>
                <a:spcPts val="305"/>
              </a:spcBef>
            </a:pPr>
            <a:r>
              <a:rPr b="1" spc="-10" dirty="0">
                <a:latin typeface="Consolas"/>
                <a:cs typeface="Consolas"/>
              </a:rPr>
              <a:t>DAM_TP1_G%_NOMBINOME1_NOMBINOME2.zip</a:t>
            </a:r>
            <a:endParaRPr>
              <a:latin typeface="Consolas"/>
              <a:cs typeface="Consolas"/>
            </a:endParaRPr>
          </a:p>
          <a:p>
            <a:pPr marL="355600">
              <a:lnSpc>
                <a:spcPts val="2275"/>
              </a:lnSpc>
            </a:pPr>
            <a:r>
              <a:rPr sz="2000" b="1" dirty="0"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Ex</a:t>
            </a:r>
            <a:r>
              <a:rPr sz="2000" b="1" spc="3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2000" b="1" spc="32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latin typeface="Consolas"/>
                <a:cs typeface="Consolas"/>
              </a:rPr>
              <a:t>DAM_TP1_G1_CHAOUCHE_NECIBI.zip</a:t>
            </a:r>
            <a:r>
              <a:rPr sz="2000" b="1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254"/>
              </a:spcBef>
            </a:pPr>
            <a:r>
              <a:rPr sz="2000" b="1" dirty="0">
                <a:latin typeface="Calibri"/>
                <a:cs typeface="Calibri"/>
              </a:rPr>
              <a:t>Le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fichier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zip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doit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contenir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seulement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dossier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src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17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Documents</a:t>
            </a:r>
            <a:r>
              <a:rPr spc="-100" dirty="0"/>
              <a:t> </a:t>
            </a:r>
            <a:r>
              <a:rPr dirty="0"/>
              <a:t>et</a:t>
            </a:r>
            <a:r>
              <a:rPr spc="-114" dirty="0"/>
              <a:t> </a:t>
            </a:r>
            <a:r>
              <a:rPr spc="-10" dirty="0"/>
              <a:t>Rendus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926" y="1914779"/>
            <a:ext cx="88391" cy="99060"/>
          </a:xfrm>
          <a:prstGeom prst="rect">
            <a:avLst/>
          </a:prstGeom>
        </p:spPr>
      </p:pic>
      <p:pic>
        <p:nvPicPr>
          <p:cNvPr id="3" name="object 3">
            <a:hlinkClick r:id="rId4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926" y="2816986"/>
            <a:ext cx="88391" cy="99060"/>
          </a:xfrm>
          <a:prstGeom prst="rect">
            <a:avLst/>
          </a:prstGeom>
        </p:spPr>
      </p:pic>
      <p:pic>
        <p:nvPicPr>
          <p:cNvPr id="4" name="object 4">
            <a:hlinkClick r:id="rId5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926" y="3719195"/>
            <a:ext cx="88391" cy="990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215421" y="1327620"/>
            <a:ext cx="9545320" cy="253018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spcBef>
                <a:spcPts val="710"/>
              </a:spcBef>
            </a:pPr>
            <a:r>
              <a:rPr spc="-10" dirty="0"/>
              <a:t>Configurations</a:t>
            </a:r>
            <a:r>
              <a:rPr spc="-65" dirty="0"/>
              <a:t> </a:t>
            </a:r>
            <a:r>
              <a:rPr spc="-25" dirty="0"/>
              <a:t>d’écran</a:t>
            </a:r>
            <a:r>
              <a:rPr spc="-90" dirty="0"/>
              <a:t> </a:t>
            </a:r>
            <a:r>
              <a:rPr spc="-50" dirty="0"/>
              <a:t>:</a:t>
            </a:r>
          </a:p>
          <a:p>
            <a:pPr marL="570230">
              <a:spcBef>
                <a:spcPts val="440"/>
              </a:spcBef>
            </a:pPr>
            <a:r>
              <a:rPr sz="1600" b="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http://developer.android.com/guide/topics/resources/providing-</a:t>
            </a:r>
            <a:r>
              <a:rPr sz="1600" b="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resources.html</a:t>
            </a:r>
            <a:endParaRPr sz="1600"/>
          </a:p>
          <a:p>
            <a:pPr>
              <a:spcBef>
                <a:spcPts val="150"/>
              </a:spcBef>
            </a:pPr>
            <a:endParaRPr sz="1600"/>
          </a:p>
          <a:p>
            <a:pPr marL="12700"/>
            <a:r>
              <a:rPr spc="-10" dirty="0"/>
              <a:t>Drawables</a:t>
            </a:r>
            <a:r>
              <a:rPr spc="-85" dirty="0"/>
              <a:t> </a:t>
            </a:r>
            <a:r>
              <a:rPr spc="-50" dirty="0"/>
              <a:t>:</a:t>
            </a:r>
          </a:p>
          <a:p>
            <a:pPr marL="570230">
              <a:spcBef>
                <a:spcPts val="445"/>
              </a:spcBef>
            </a:pPr>
            <a:r>
              <a:rPr sz="1600" b="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/>
              </a:rPr>
              <a:t>http://vogella.developpez.com/tutoriels/android/utilisation-drawable/</a:t>
            </a:r>
            <a:endParaRPr sz="1600"/>
          </a:p>
          <a:p>
            <a:pPr>
              <a:spcBef>
                <a:spcPts val="145"/>
              </a:spcBef>
            </a:pPr>
            <a:endParaRPr sz="1600"/>
          </a:p>
          <a:p>
            <a:pPr marL="12700">
              <a:spcBef>
                <a:spcPts val="5"/>
              </a:spcBef>
            </a:pPr>
            <a:r>
              <a:rPr dirty="0"/>
              <a:t>Android</a:t>
            </a:r>
            <a:r>
              <a:rPr spc="-65" dirty="0"/>
              <a:t> </a:t>
            </a:r>
            <a:r>
              <a:rPr spc="-10" dirty="0"/>
              <a:t>Drawable</a:t>
            </a:r>
            <a:r>
              <a:rPr spc="-45" dirty="0"/>
              <a:t> </a:t>
            </a:r>
            <a:r>
              <a:rPr dirty="0"/>
              <a:t>Import</a:t>
            </a:r>
            <a:r>
              <a:rPr spc="-60" dirty="0"/>
              <a:t> </a:t>
            </a:r>
            <a:r>
              <a:rPr dirty="0"/>
              <a:t>(Plugin)</a:t>
            </a:r>
            <a:r>
              <a:rPr spc="-75" dirty="0"/>
              <a:t> </a:t>
            </a:r>
            <a:r>
              <a:rPr spc="-50" dirty="0"/>
              <a:t>:</a:t>
            </a:r>
          </a:p>
          <a:p>
            <a:pPr marL="570230">
              <a:spcBef>
                <a:spcPts val="445"/>
              </a:spcBef>
            </a:pPr>
            <a:r>
              <a:rPr sz="1600" b="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/>
              </a:rPr>
              <a:t>https://plugins.jetbrains.com/plugin/7658-android-</a:t>
            </a:r>
            <a:r>
              <a:rPr sz="1600" b="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/>
              </a:rPr>
              <a:t>drawable-</a:t>
            </a:r>
            <a:r>
              <a:rPr sz="1600" b="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/>
              </a:rPr>
              <a:t>importer</a:t>
            </a:r>
            <a:endParaRPr sz="1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18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Quelques</a:t>
            </a:r>
            <a:r>
              <a:rPr spc="-25" dirty="0"/>
              <a:t> </a:t>
            </a:r>
            <a:r>
              <a:rPr dirty="0"/>
              <a:t>liens</a:t>
            </a:r>
            <a:r>
              <a:rPr spc="-30" dirty="0"/>
              <a:t> </a:t>
            </a:r>
            <a:r>
              <a:rPr spc="-10" dirty="0"/>
              <a:t>utiles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9968" y="1273688"/>
            <a:ext cx="7280275" cy="31299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spcBef>
                <a:spcPts val="885"/>
              </a:spcBef>
            </a:pPr>
            <a:r>
              <a:rPr dirty="0">
                <a:latin typeface="Calibri"/>
                <a:cs typeface="Calibri"/>
              </a:rPr>
              <a:t>Google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Inc.,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«Google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Play»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6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Juillet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2017.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https://play.google.com.</a:t>
            </a:r>
            <a:endParaRPr>
              <a:latin typeface="Calibri"/>
              <a:cs typeface="Calibri"/>
            </a:endParaRPr>
          </a:p>
          <a:p>
            <a:pPr marL="12700" marR="713105">
              <a:lnSpc>
                <a:spcPts val="1939"/>
              </a:lnSpc>
              <a:spcBef>
                <a:spcPts val="1030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«Supporting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Multiple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Screens».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https://developer.android.com/guide/practices/screens_support.html.</a:t>
            </a:r>
            <a:endParaRPr>
              <a:latin typeface="Calibri"/>
              <a:cs typeface="Calibri"/>
            </a:endParaRPr>
          </a:p>
          <a:p>
            <a:pPr marL="12700" marR="80010">
              <a:lnSpc>
                <a:spcPts val="1939"/>
              </a:lnSpc>
              <a:spcBef>
                <a:spcPts val="1015"/>
              </a:spcBef>
            </a:pPr>
            <a:r>
              <a:rPr dirty="0">
                <a:latin typeface="Calibri"/>
                <a:cs typeface="Calibri"/>
              </a:rPr>
              <a:t>M.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Seguy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5" dirty="0">
                <a:latin typeface="Calibri"/>
                <a:cs typeface="Calibri"/>
              </a:rPr>
              <a:t>Y.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Bergès,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Android,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Complete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Course,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Basics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80"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Enterprise </a:t>
            </a:r>
            <a:r>
              <a:rPr dirty="0">
                <a:latin typeface="Calibri"/>
                <a:cs typeface="Calibri"/>
              </a:rPr>
              <a:t>Edition,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Édition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Française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éd.,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2011,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279.</a:t>
            </a:r>
            <a:endParaRPr>
              <a:latin typeface="Calibri"/>
              <a:cs typeface="Calibri"/>
            </a:endParaRPr>
          </a:p>
          <a:p>
            <a:pPr marL="12700" marR="48260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S.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Walter,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«Android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script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Photoshop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pour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exporter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ldpi,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hdpi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xhdpi»,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5 </a:t>
            </a:r>
            <a:r>
              <a:rPr dirty="0">
                <a:latin typeface="Calibri"/>
                <a:cs typeface="Calibri"/>
              </a:rPr>
              <a:t>Janvier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2012.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https://blog.stephaniewalter.fr/android-</a:t>
            </a:r>
            <a:r>
              <a:rPr spc="-10" dirty="0">
                <a:latin typeface="Calibri"/>
                <a:cs typeface="Calibri"/>
              </a:rPr>
              <a:t>script-photoshop- pour-exporter-en-ldpi-hdpi-et-xhdpi/.</a:t>
            </a:r>
            <a:endParaRPr>
              <a:latin typeface="Calibri"/>
              <a:cs typeface="Calibri"/>
            </a:endParaRPr>
          </a:p>
          <a:p>
            <a:pPr marL="12700" marR="5080">
              <a:lnSpc>
                <a:spcPts val="1939"/>
              </a:lnSpc>
              <a:spcBef>
                <a:spcPts val="1010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28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Relative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Layout».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https://developer.android.com/guide/topics/ui/layout/relative.html.</a:t>
            </a:r>
            <a:endParaRPr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1437895"/>
            <a:ext cx="102107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1811148"/>
            <a:ext cx="102107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2433067"/>
            <a:ext cx="102107" cy="112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3053334"/>
            <a:ext cx="102107" cy="1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628" y="3920491"/>
            <a:ext cx="102107" cy="112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20" dirty="0"/>
              <a:t>Références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19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8" y="1536318"/>
            <a:ext cx="57994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Chapitre</a:t>
            </a:r>
            <a:r>
              <a:rPr sz="2200" b="1" spc="-2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6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Gestion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des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évènements</a:t>
            </a:r>
            <a:r>
              <a:rPr sz="2200" b="1" spc="-2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et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intentions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3206751"/>
            <a:ext cx="114300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3545205"/>
            <a:ext cx="114300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3882009"/>
            <a:ext cx="114300" cy="1249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7068" y="2730556"/>
            <a:ext cx="5441315" cy="17513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algn="just">
              <a:spcBef>
                <a:spcPts val="390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Objectifs</a:t>
            </a:r>
            <a:r>
              <a:rPr sz="2200" b="1" spc="-114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 marR="5080" algn="just">
              <a:lnSpc>
                <a:spcPct val="110800"/>
              </a:lnSpc>
              <a:spcBef>
                <a:spcPts val="10"/>
              </a:spcBef>
            </a:pPr>
            <a:r>
              <a:rPr sz="2000" dirty="0">
                <a:latin typeface="Calibri"/>
                <a:cs typeface="Calibri"/>
              </a:rPr>
              <a:t>Gérer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évènements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(click,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key,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...) </a:t>
            </a:r>
            <a:r>
              <a:rPr sz="2000" dirty="0">
                <a:latin typeface="Calibri"/>
                <a:cs typeface="Calibri"/>
              </a:rPr>
              <a:t>Afficher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Toasts </a:t>
            </a:r>
            <a:r>
              <a:rPr sz="2000" dirty="0">
                <a:latin typeface="Calibri"/>
                <a:cs typeface="Calibri"/>
              </a:rPr>
              <a:t>Comprendre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gestion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activités</a:t>
            </a:r>
            <a:endParaRPr sz="2000">
              <a:latin typeface="Calibri"/>
              <a:cs typeface="Calibri"/>
            </a:endParaRPr>
          </a:p>
          <a:p>
            <a:pPr marL="570230" algn="just">
              <a:spcBef>
                <a:spcPts val="265"/>
              </a:spcBef>
            </a:pPr>
            <a:r>
              <a:rPr sz="2000" dirty="0">
                <a:latin typeface="Calibri"/>
                <a:cs typeface="Calibri"/>
              </a:rPr>
              <a:t>Changer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d’activité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transférer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données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9375" y="4220336"/>
            <a:ext cx="114300" cy="1249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Prochain</a:t>
            </a:r>
            <a:r>
              <a:rPr spc="-145" dirty="0"/>
              <a:t> </a:t>
            </a:r>
            <a:r>
              <a:rPr spc="-10" dirty="0"/>
              <a:t>chapitre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0253" y="1212481"/>
            <a:ext cx="1617062" cy="101835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20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9376" y="2368551"/>
            <a:ext cx="102107" cy="112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9376" y="3285998"/>
            <a:ext cx="102107" cy="112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9376" y="3596894"/>
            <a:ext cx="102107" cy="1127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9376" y="4127247"/>
            <a:ext cx="102107" cy="1127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87068" y="1817967"/>
            <a:ext cx="5688965" cy="27254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spcBef>
                <a:spcPts val="470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Créer un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ScrollView</a:t>
            </a:r>
            <a:r>
              <a:rPr b="1" spc="-5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dans</a:t>
            </a:r>
            <a:r>
              <a:rPr sz="2200" b="1" spc="-1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la</a:t>
            </a:r>
            <a:r>
              <a:rPr sz="2200" b="1" spc="-1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racine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305"/>
              </a:spcBef>
            </a:pPr>
            <a:r>
              <a:rPr dirty="0">
                <a:latin typeface="Calibri"/>
                <a:cs typeface="Calibri"/>
              </a:rPr>
              <a:t>pour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gérer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dépassement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l’écran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2120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Améliorer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les</a:t>
            </a:r>
            <a:r>
              <a:rPr sz="2200" b="1" spc="-7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champs</a:t>
            </a:r>
            <a:r>
              <a:rPr sz="2200" b="1" spc="-6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de</a:t>
            </a:r>
            <a:r>
              <a:rPr sz="2200" b="1" spc="-7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texte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305"/>
              </a:spcBef>
            </a:pPr>
            <a:r>
              <a:rPr dirty="0">
                <a:latin typeface="Calibri"/>
                <a:cs typeface="Calibri"/>
              </a:rPr>
              <a:t>Supprimer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TextView</a:t>
            </a:r>
            <a:endParaRPr sz="1600">
              <a:latin typeface="Consolas"/>
              <a:cs typeface="Consolas"/>
            </a:endParaRPr>
          </a:p>
          <a:p>
            <a:pPr marL="570230">
              <a:lnSpc>
                <a:spcPts val="2075"/>
              </a:lnSpc>
              <a:spcBef>
                <a:spcPts val="285"/>
              </a:spcBef>
            </a:pPr>
            <a:r>
              <a:rPr dirty="0">
                <a:latin typeface="Calibri"/>
                <a:cs typeface="Calibri"/>
              </a:rPr>
              <a:t>Englober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EditText</a:t>
            </a:r>
            <a:r>
              <a:rPr sz="1600" b="1" spc="-4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>
                <a:latin typeface="Calibri"/>
                <a:cs typeface="Calibri"/>
              </a:rPr>
              <a:t>dans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balise</a:t>
            </a:r>
            <a:endParaRPr>
              <a:latin typeface="Calibri"/>
              <a:cs typeface="Calibri"/>
            </a:endParaRPr>
          </a:p>
          <a:p>
            <a:pPr marL="570230">
              <a:lnSpc>
                <a:spcPts val="1835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android.support.design.widget.TextInputLayout</a:t>
            </a:r>
            <a:endParaRPr sz="1600">
              <a:latin typeface="Consolas"/>
              <a:cs typeface="Consolas"/>
            </a:endParaRPr>
          </a:p>
          <a:p>
            <a:pPr marL="570230" marR="5080">
              <a:lnSpc>
                <a:spcPts val="1930"/>
              </a:lnSpc>
              <a:spcBef>
                <a:spcPts val="525"/>
              </a:spcBef>
            </a:pPr>
            <a:r>
              <a:rPr dirty="0">
                <a:latin typeface="Calibri"/>
                <a:cs typeface="Calibri"/>
              </a:rPr>
              <a:t>Rajouter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l’attribut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android:hint</a:t>
            </a:r>
            <a:r>
              <a:rPr sz="1600" b="1" spc="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>
                <a:latin typeface="Calibri"/>
                <a:cs typeface="Calibri"/>
              </a:rPr>
              <a:t>dans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EditText</a:t>
            </a:r>
            <a:r>
              <a:rPr sz="1600" b="1" spc="-4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pc="-25" dirty="0">
                <a:latin typeface="Calibri"/>
                <a:cs typeface="Calibri"/>
              </a:rPr>
              <a:t>qui </a:t>
            </a:r>
            <a:r>
              <a:rPr dirty="0">
                <a:latin typeface="Calibri"/>
                <a:cs typeface="Calibri"/>
              </a:rPr>
              <a:t>remplace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TextView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25" dirty="0"/>
              <a:t>Annexe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2573" y="683514"/>
            <a:ext cx="4587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Améliorer</a:t>
            </a:r>
            <a:r>
              <a:rPr sz="2400" spc="-4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Calibri Light"/>
                <a:cs typeface="Calibri Light"/>
              </a:rPr>
              <a:t>l’ergonomie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5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vue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(1/2)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43671" y="1530097"/>
            <a:ext cx="2148840" cy="3813175"/>
            <a:chOff x="6519671" y="1530096"/>
            <a:chExt cx="2148840" cy="381317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8815" y="1539240"/>
              <a:ext cx="2130551" cy="37947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24243" y="1534668"/>
              <a:ext cx="2139950" cy="3804285"/>
            </a:xfrm>
            <a:custGeom>
              <a:avLst/>
              <a:gdLst/>
              <a:ahLst/>
              <a:cxnLst/>
              <a:rect l="l" t="t" r="r" b="b"/>
              <a:pathLst>
                <a:path w="2139950" h="3804285">
                  <a:moveTo>
                    <a:pt x="0" y="3803904"/>
                  </a:moveTo>
                  <a:lnTo>
                    <a:pt x="2139696" y="3803904"/>
                  </a:lnTo>
                  <a:lnTo>
                    <a:pt x="2139696" y="0"/>
                  </a:lnTo>
                  <a:lnTo>
                    <a:pt x="0" y="0"/>
                  </a:lnTo>
                  <a:lnTo>
                    <a:pt x="0" y="3803904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21</a:t>
            </a:fld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9376" y="1899793"/>
            <a:ext cx="102107" cy="112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9375" y="2811018"/>
            <a:ext cx="114300" cy="12496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6444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25" dirty="0"/>
              <a:t>Annexe</a:t>
            </a: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34655" y="2395091"/>
            <a:ext cx="2717292" cy="128384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9821418" y="2765299"/>
            <a:ext cx="279400" cy="247015"/>
          </a:xfrm>
          <a:custGeom>
            <a:avLst/>
            <a:gdLst/>
            <a:ahLst/>
            <a:cxnLst/>
            <a:rect l="l" t="t" r="r" b="b"/>
            <a:pathLst>
              <a:path w="279400" h="247014">
                <a:moveTo>
                  <a:pt x="0" y="246887"/>
                </a:moveTo>
                <a:lnTo>
                  <a:pt x="278892" y="246887"/>
                </a:lnTo>
                <a:lnTo>
                  <a:pt x="278892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979677" y="3973005"/>
            <a:ext cx="8570595" cy="2232025"/>
            <a:chOff x="455676" y="3973004"/>
            <a:chExt cx="8570595" cy="223202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379" y="4004832"/>
              <a:ext cx="5604535" cy="4995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4820" y="3973004"/>
              <a:ext cx="5436870" cy="6301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4632" y="4020311"/>
              <a:ext cx="5455920" cy="350520"/>
            </a:xfrm>
            <a:custGeom>
              <a:avLst/>
              <a:gdLst/>
              <a:ahLst/>
              <a:cxnLst/>
              <a:rect l="l" t="t" r="r" b="b"/>
              <a:pathLst>
                <a:path w="5455920" h="350520">
                  <a:moveTo>
                    <a:pt x="5294503" y="0"/>
                  </a:moveTo>
                  <a:lnTo>
                    <a:pt x="161417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7"/>
                  </a:lnTo>
                  <a:lnTo>
                    <a:pt x="0" y="350519"/>
                  </a:lnTo>
                  <a:lnTo>
                    <a:pt x="5455920" y="350519"/>
                  </a:lnTo>
                  <a:lnTo>
                    <a:pt x="5455920" y="161417"/>
                  </a:lnTo>
                  <a:lnTo>
                    <a:pt x="5450154" y="118503"/>
                  </a:lnTo>
                  <a:lnTo>
                    <a:pt x="5433883" y="79944"/>
                  </a:lnTo>
                  <a:lnTo>
                    <a:pt x="5408644" y="47275"/>
                  </a:lnTo>
                  <a:lnTo>
                    <a:pt x="5375975" y="22036"/>
                  </a:lnTo>
                  <a:lnTo>
                    <a:pt x="5337416" y="5765"/>
                  </a:lnTo>
                  <a:lnTo>
                    <a:pt x="5294503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5676" y="4341863"/>
              <a:ext cx="8570214" cy="181889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1584" y="4383011"/>
              <a:ext cx="6310121" cy="182194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4632" y="4370831"/>
              <a:ext cx="8394700" cy="1643380"/>
            </a:xfrm>
            <a:custGeom>
              <a:avLst/>
              <a:gdLst/>
              <a:ahLst/>
              <a:cxnLst/>
              <a:rect l="l" t="t" r="r" b="b"/>
              <a:pathLst>
                <a:path w="8394700" h="1643379">
                  <a:moveTo>
                    <a:pt x="8203565" y="0"/>
                  </a:moveTo>
                  <a:lnTo>
                    <a:pt x="0" y="0"/>
                  </a:lnTo>
                  <a:lnTo>
                    <a:pt x="0" y="1452283"/>
                  </a:lnTo>
                  <a:lnTo>
                    <a:pt x="5033" y="1495982"/>
                  </a:lnTo>
                  <a:lnTo>
                    <a:pt x="19371" y="1536098"/>
                  </a:lnTo>
                  <a:lnTo>
                    <a:pt x="41870" y="1571486"/>
                  </a:lnTo>
                  <a:lnTo>
                    <a:pt x="71385" y="1601001"/>
                  </a:lnTo>
                  <a:lnTo>
                    <a:pt x="106773" y="1623500"/>
                  </a:lnTo>
                  <a:lnTo>
                    <a:pt x="146889" y="1637838"/>
                  </a:lnTo>
                  <a:lnTo>
                    <a:pt x="190588" y="1642872"/>
                  </a:lnTo>
                  <a:lnTo>
                    <a:pt x="8394192" y="1642872"/>
                  </a:lnTo>
                  <a:lnTo>
                    <a:pt x="8394192" y="190627"/>
                  </a:lnTo>
                  <a:lnTo>
                    <a:pt x="8389157" y="146917"/>
                  </a:lnTo>
                  <a:lnTo>
                    <a:pt x="8374816" y="106792"/>
                  </a:lnTo>
                  <a:lnTo>
                    <a:pt x="8352314" y="71398"/>
                  </a:lnTo>
                  <a:lnTo>
                    <a:pt x="8322793" y="41877"/>
                  </a:lnTo>
                  <a:lnTo>
                    <a:pt x="8287399" y="19375"/>
                  </a:lnTo>
                  <a:lnTo>
                    <a:pt x="8247274" y="5034"/>
                  </a:lnTo>
                  <a:lnTo>
                    <a:pt x="8203565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2573" y="683515"/>
            <a:ext cx="7745095" cy="525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Améliorer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Calibri Light"/>
                <a:cs typeface="Calibri Light"/>
              </a:rPr>
              <a:t>l’ergonomie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5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vue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endParaRPr sz="2400">
              <a:latin typeface="Calibri Light"/>
              <a:cs typeface="Calibri Light"/>
            </a:endParaRPr>
          </a:p>
          <a:p>
            <a:pPr>
              <a:spcBef>
                <a:spcPts val="310"/>
              </a:spcBef>
            </a:pPr>
            <a:endParaRPr sz="2400">
              <a:latin typeface="Calibri Light"/>
              <a:cs typeface="Calibri Light"/>
            </a:endParaRPr>
          </a:p>
          <a:p>
            <a:pPr marL="316865"/>
            <a:r>
              <a:rPr dirty="0">
                <a:latin typeface="Calibri"/>
                <a:cs typeface="Calibri"/>
              </a:rPr>
              <a:t>Pour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utiliser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vue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android.support.design.widget.TextInputLayout</a:t>
            </a:r>
            <a:endParaRPr>
              <a:latin typeface="Consolas"/>
              <a:cs typeface="Consolas"/>
            </a:endParaRPr>
          </a:p>
          <a:p>
            <a:pPr marL="874394">
              <a:spcBef>
                <a:spcPts val="275"/>
              </a:spcBef>
            </a:pPr>
            <a:r>
              <a:rPr dirty="0">
                <a:latin typeface="Calibri"/>
                <a:cs typeface="Calibri"/>
              </a:rPr>
              <a:t>Ajouter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dépendances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com.android.support:design:26.+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275"/>
              </a:spcBef>
            </a:pPr>
            <a:endParaRPr sz="1600">
              <a:latin typeface="Consolas"/>
              <a:cs typeface="Consolas"/>
            </a:endParaRPr>
          </a:p>
          <a:p>
            <a:pPr marL="316865">
              <a:spcBef>
                <a:spcPts val="5"/>
              </a:spcBef>
            </a:pP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Méthode</a:t>
            </a:r>
            <a:r>
              <a:rPr sz="20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1</a:t>
            </a:r>
            <a:r>
              <a:rPr sz="2000" b="1" spc="-2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874394" marR="3150235">
              <a:lnSpc>
                <a:spcPts val="2160"/>
              </a:lnSpc>
              <a:spcBef>
                <a:spcPts val="630"/>
              </a:spcBef>
            </a:pP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Structure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2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2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Calibri"/>
                <a:cs typeface="Calibri"/>
              </a:rPr>
              <a:t>&gt; </a:t>
            </a:r>
            <a:r>
              <a:rPr sz="2000" dirty="0">
                <a:latin typeface="Calibri"/>
                <a:cs typeface="Calibri"/>
              </a:rPr>
              <a:t>Onglet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Depenendencies</a:t>
            </a:r>
            <a:endParaRPr sz="2000">
              <a:latin typeface="Calibri"/>
              <a:cs typeface="Calibri"/>
            </a:endParaRPr>
          </a:p>
          <a:p>
            <a:pPr>
              <a:spcBef>
                <a:spcPts val="290"/>
              </a:spcBef>
            </a:pPr>
            <a:endParaRPr sz="2000">
              <a:latin typeface="Calibri"/>
              <a:cs typeface="Calibri"/>
            </a:endParaRPr>
          </a:p>
          <a:p>
            <a:pPr marL="316865"/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Méthode</a:t>
            </a:r>
            <a:r>
              <a:rPr sz="20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2</a:t>
            </a:r>
            <a:r>
              <a:rPr sz="2000" b="1" spc="-1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r>
              <a:rPr sz="2000" b="1" spc="-2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(dans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Gradle)</a:t>
            </a:r>
            <a:endParaRPr sz="2000">
              <a:latin typeface="Calibri"/>
              <a:cs typeface="Calibri"/>
            </a:endParaRPr>
          </a:p>
          <a:p>
            <a:pPr marL="363855">
              <a:spcBef>
                <a:spcPts val="1095"/>
              </a:spcBef>
            </a:pPr>
            <a:r>
              <a:rPr sz="1700" b="1" dirty="0">
                <a:solidFill>
                  <a:srgbClr val="FFFFFF"/>
                </a:solidFill>
                <a:latin typeface="Consolas"/>
                <a:cs typeface="Consolas"/>
              </a:rPr>
              <a:t>/Gradle</a:t>
            </a:r>
            <a:r>
              <a:rPr sz="1700" b="1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Consolas"/>
                <a:cs typeface="Consolas"/>
              </a:rPr>
              <a:t>Scripts/build.gradle</a:t>
            </a:r>
            <a:r>
              <a:rPr sz="1700" b="1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700" b="1" dirty="0">
                <a:solidFill>
                  <a:srgbClr val="BEBEBE"/>
                </a:solidFill>
                <a:latin typeface="Consolas"/>
                <a:cs typeface="Consolas"/>
              </a:rPr>
              <a:t>(Module:</a:t>
            </a:r>
            <a:r>
              <a:rPr sz="1700" b="1" spc="-30" dirty="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sz="1700" b="1" spc="-20" dirty="0">
                <a:solidFill>
                  <a:srgbClr val="BEBEBE"/>
                </a:solidFill>
                <a:latin typeface="Consolas"/>
                <a:cs typeface="Consolas"/>
              </a:rPr>
              <a:t>app)</a:t>
            </a:r>
            <a:endParaRPr sz="1700">
              <a:latin typeface="Consolas"/>
              <a:cs typeface="Consolas"/>
            </a:endParaRPr>
          </a:p>
          <a:p>
            <a:pPr marL="372745">
              <a:spcBef>
                <a:spcPts val="1165"/>
              </a:spcBef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72745"/>
            <a:r>
              <a:rPr sz="1600" dirty="0">
                <a:latin typeface="Consolas"/>
                <a:cs typeface="Consolas"/>
              </a:rPr>
              <a:t>dependencies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817880" marR="1471295"/>
            <a:r>
              <a:rPr sz="1600" dirty="0">
                <a:latin typeface="Consolas"/>
                <a:cs typeface="Consolas"/>
              </a:rPr>
              <a:t>compile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fileTree(dir: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'libs'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include: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[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'*.jar'</a:t>
            </a:r>
            <a:r>
              <a:rPr sz="1600" spc="-10" dirty="0">
                <a:latin typeface="Consolas"/>
                <a:cs typeface="Consolas"/>
              </a:rPr>
              <a:t>])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compile</a:t>
            </a:r>
            <a:r>
              <a:rPr sz="1600" u="sng" spc="165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'com.android.support:appcompat-v7:26.+'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compile</a:t>
            </a:r>
            <a:r>
              <a:rPr sz="1600" u="sng" spc="-35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'com.android.support:design:26.+'</a:t>
            </a:r>
            <a:endParaRPr sz="1600">
              <a:latin typeface="Consolas"/>
              <a:cs typeface="Consolas"/>
            </a:endParaRPr>
          </a:p>
          <a:p>
            <a:pPr marL="372745"/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fld id="{81D60167-4931-47E6-BA6A-407CBD079E47}" type="slidenum">
              <a:rPr spc="-25" dirty="0"/>
              <a:pPr marL="12700">
                <a:lnSpc>
                  <a:spcPts val="1614"/>
                </a:lnSpc>
              </a:pPr>
              <a:t>22</a:t>
            </a:fld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ater Transport Infographics by Slidesgo">
  <a:themeElements>
    <a:clrScheme name="Personnalisé 3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B0D0E2"/>
      </a:accent1>
      <a:accent2>
        <a:srgbClr val="C0000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1914</Words>
  <Application>Microsoft Office PowerPoint</Application>
  <PresentationFormat>Grand écran</PresentationFormat>
  <Paragraphs>263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Fira Sans Extra Condensed</vt:lpstr>
      <vt:lpstr>Roboto</vt:lpstr>
      <vt:lpstr>Times New Roman</vt:lpstr>
      <vt:lpstr>Wingdings</vt:lpstr>
      <vt:lpstr>Office Theme</vt:lpstr>
      <vt:lpstr>Water Transport Infographics by Slidesgo</vt:lpstr>
      <vt:lpstr>Cours de Développement Mobile</vt:lpstr>
      <vt:lpstr>Résumé</vt:lpstr>
      <vt:lpstr>Taille et densité des écrans</vt:lpstr>
      <vt:lpstr>Taille et densité des écrans</vt:lpstr>
      <vt:lpstr>Taille et densité des écrans</vt:lpstr>
      <vt:lpstr>Vue portrait vs. vue paysage</vt:lpstr>
      <vt:lpstr>Prise en charge des différentes configurations</vt:lpstr>
      <vt:lpstr>Drawables et densité de l’écran</vt:lpstr>
      <vt:lpstr>Internationalisation (1/2)</vt:lpstr>
      <vt:lpstr>Internationalisation (2/2)</vt:lpstr>
      <vt:lpstr>Layouts : RelativeLayout</vt:lpstr>
      <vt:lpstr>Layouts : RelativeLayout</vt:lpstr>
      <vt:lpstr>Layouts : RelativeLayout</vt:lpstr>
      <vt:lpstr>Layouts : RelativeLayout</vt:lpstr>
      <vt:lpstr>Vue portrait vs. vue paysage</vt:lpstr>
      <vt:lpstr>TP1b : Vue paysage de LoginActivity</vt:lpstr>
      <vt:lpstr>Documents et Rendus</vt:lpstr>
      <vt:lpstr>Quelques liens utiles</vt:lpstr>
      <vt:lpstr>Références</vt:lpstr>
      <vt:lpstr>Prochain chapitre</vt:lpstr>
      <vt:lpstr>Annexe</vt:lpstr>
      <vt:lpstr>Annexe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Ahmed-Chawki Chaouche</dc:creator>
  <cp:lastModifiedBy>AMINA.ABOULMIRA</cp:lastModifiedBy>
  <cp:revision>1</cp:revision>
  <dcterms:created xsi:type="dcterms:W3CDTF">2025-06-09T11:34:20Z</dcterms:created>
  <dcterms:modified xsi:type="dcterms:W3CDTF">2026-01-15T10:31:14Z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2025-06-09T00:00:00Z</vt:filetime>
  </property>
  <property fmtid="{D5CDD505-2E9C-101B-9397-08002B2CF9AE}" pid="5" name="Producer">
    <vt:lpwstr>Microsoft® PowerPoint® 2016</vt:lpwstr>
  </property>
</Properties>
</file>